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43eea4ffae40f1" /><Relationship Type="http://schemas.openxmlformats.org/officeDocument/2006/relationships/extended-properties" Target="/docProps/app.xml" Id="Rae4a6f9a410a4eec" /><Relationship Type="http://schemas.openxmlformats.org/officeDocument/2006/relationships/officeDocument" Target="/ppt/presentation.xml" Id="Rf578e51e3c314dc8" /></Relationships>
</file>

<file path=ppt/presentation.xml><?xml version="1.0" encoding="utf-8"?>
<p:presentation xmlns:p="http://schemas.openxmlformats.org/presentationml/2006/main">
  <p:sldMasterIdLst>
    <p:sldMasterId xmlns:r="http://schemas.openxmlformats.org/officeDocument/2006/relationships" id="2147483648" r:id="Rf7d098c9a7654dbd"/>
    <p:sldMasterId xmlns:r="http://schemas.openxmlformats.org/officeDocument/2006/relationships" id="2147483658" r:id="R7d0b517101ee4305"/>
  </p:sldMasterIdLst>
  <p:notesMasterIdLst>
    <p:notesMasterId xmlns:r="http://schemas.openxmlformats.org/officeDocument/2006/relationships" r:id="Ra74b3e1463c042d8"/>
  </p:notesMasterIdLst>
  <p:sldIdLst>
    <p:sldId xmlns:r="http://schemas.openxmlformats.org/officeDocument/2006/relationships" id="256" r:id="R14ad0653b6634469"/>
    <p:sldId xmlns:r="http://schemas.openxmlformats.org/officeDocument/2006/relationships" id="257" r:id="R301d44049d854f38"/>
    <p:sldId xmlns:r="http://schemas.openxmlformats.org/officeDocument/2006/relationships" id="258" r:id="Ra3d8c992cefd4692"/>
    <p:sldId xmlns:r="http://schemas.openxmlformats.org/officeDocument/2006/relationships" id="259" r:id="R1371aa9bebab4e59"/>
    <p:sldId xmlns:r="http://schemas.openxmlformats.org/officeDocument/2006/relationships" id="260" r:id="Ref7a408561e64714"/>
    <p:sldId xmlns:r="http://schemas.openxmlformats.org/officeDocument/2006/relationships" id="261" r:id="R1c91243a2dbf4112"/>
    <p:sldId xmlns:r="http://schemas.openxmlformats.org/officeDocument/2006/relationships" id="262" r:id="R3bc3b4bea8764a56"/>
    <p:sldId xmlns:r="http://schemas.openxmlformats.org/officeDocument/2006/relationships" id="263" r:id="Rb9973d0309644e5b"/>
    <p:sldId xmlns:r="http://schemas.openxmlformats.org/officeDocument/2006/relationships" id="264" r:id="R50bd6080dc8343e2"/>
    <p:sldId xmlns:r="http://schemas.openxmlformats.org/officeDocument/2006/relationships" id="265" r:id="Rb402a75dbad94bed"/>
    <p:sldId xmlns:r="http://schemas.openxmlformats.org/officeDocument/2006/relationships" id="266" r:id="R302edb0a36aa4814"/>
    <p:sldId xmlns:r="http://schemas.openxmlformats.org/officeDocument/2006/relationships" id="267" r:id="R7caf2c23077748a0"/>
    <p:sldId xmlns:r="http://schemas.openxmlformats.org/officeDocument/2006/relationships" id="268" r:id="Rb990a778708a4117"/>
    <p:sldId xmlns:r="http://schemas.openxmlformats.org/officeDocument/2006/relationships" id="269" r:id="R205b364407ac492a"/>
    <p:sldId xmlns:r="http://schemas.openxmlformats.org/officeDocument/2006/relationships" id="270" r:id="Rc03fc862c8f54a6e"/>
    <p:sldId xmlns:r="http://schemas.openxmlformats.org/officeDocument/2006/relationships" id="271" r:id="R6b0e14c8c43544ff"/>
    <p:sldId xmlns:r="http://schemas.openxmlformats.org/officeDocument/2006/relationships" id="272" r:id="R8804f668506c49ac"/>
    <p:sldId xmlns:r="http://schemas.openxmlformats.org/officeDocument/2006/relationships" id="273" r:id="R53b6bbb762ab437c"/>
    <p:sldId xmlns:r="http://schemas.openxmlformats.org/officeDocument/2006/relationships" id="274" r:id="R6ca4f0f8e0ca4e18"/>
    <p:sldId xmlns:r="http://schemas.openxmlformats.org/officeDocument/2006/relationships" id="275" r:id="R3032a715ceb64a2e"/>
    <p:sldId xmlns:r="http://schemas.openxmlformats.org/officeDocument/2006/relationships" id="276" r:id="R18381f9836554278"/>
    <p:sldId xmlns:r="http://schemas.openxmlformats.org/officeDocument/2006/relationships" id="277" r:id="Rb3cecdb4f24b4ea3"/>
    <p:sldId xmlns:r="http://schemas.openxmlformats.org/officeDocument/2006/relationships" id="278" r:id="R945044e5cddc4160"/>
    <p:sldId xmlns:r="http://schemas.openxmlformats.org/officeDocument/2006/relationships" id="279" r:id="R749a6905205c4e6c"/>
    <p:sldId xmlns:r="http://schemas.openxmlformats.org/officeDocument/2006/relationships" id="280" r:id="Re2d083810e83418a"/>
    <p:sldId xmlns:r="http://schemas.openxmlformats.org/officeDocument/2006/relationships" id="281" r:id="Rad2c5d5cd7f4453a"/>
    <p:sldId xmlns:r="http://schemas.openxmlformats.org/officeDocument/2006/relationships" id="282" r:id="R626927f1dcaa48c6"/>
    <p:sldId xmlns:r="http://schemas.openxmlformats.org/officeDocument/2006/relationships" id="283" r:id="Re6354ad44ef64dfd"/>
    <p:sldId xmlns:r="http://schemas.openxmlformats.org/officeDocument/2006/relationships" id="284" r:id="R94348c86c6534d68"/>
    <p:sldId xmlns:r="http://schemas.openxmlformats.org/officeDocument/2006/relationships" id="285" r:id="Ra23d80dea06941bc"/>
    <p:sldId xmlns:r="http://schemas.openxmlformats.org/officeDocument/2006/relationships" id="286" r:id="R02593c8227534578"/>
    <p:sldId xmlns:r="http://schemas.openxmlformats.org/officeDocument/2006/relationships" id="287" r:id="R714789b4b7244225"/>
    <p:sldId xmlns:r="http://schemas.openxmlformats.org/officeDocument/2006/relationships" id="288" r:id="Rc1308463028d437c"/>
    <p:sldId xmlns:r="http://schemas.openxmlformats.org/officeDocument/2006/relationships" id="289" r:id="R312a2fa7d60747b6"/>
    <p:sldId xmlns:r="http://schemas.openxmlformats.org/officeDocument/2006/relationships" id="290" r:id="R37dbe1e78a474fac"/>
    <p:sldId xmlns:r="http://schemas.openxmlformats.org/officeDocument/2006/relationships" id="291" r:id="Re99a15a6a84147ab"/>
    <p:sldId xmlns:r="http://schemas.openxmlformats.org/officeDocument/2006/relationships" id="292" r:id="R2ece3c92c2084053"/>
  </p:sldIdLst>
  <p:sldSz cx="9144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b1a7c1b333c4dad" /><Relationship Type="http://schemas.openxmlformats.org/officeDocument/2006/relationships/slideMaster" Target="/ppt/slideMasters/slideMaster1.xml" Id="Rf7d098c9a7654dbd" /><Relationship Type="http://schemas.openxmlformats.org/officeDocument/2006/relationships/slideMaster" Target="/ppt/slideMasters/slideMaster2.xml" Id="R7d0b517101ee4305" /><Relationship Type="http://schemas.openxmlformats.org/officeDocument/2006/relationships/notesMaster" Target="/ppt/notesMasters/notesMaster1.xml" Id="Ra74b3e1463c042d8" /><Relationship Type="http://schemas.openxmlformats.org/officeDocument/2006/relationships/presProps" Target="/ppt/presProps.xml" Id="Rd1ad485383424d09" /><Relationship Type="http://schemas.openxmlformats.org/officeDocument/2006/relationships/viewProps" Target="/ppt/viewProps.xml" Id="Rd8ac5885aca342ee" /><Relationship Type="http://schemas.openxmlformats.org/officeDocument/2006/relationships/tableStyles" Target="/ppt/tableStyles.xml" Id="R55eab319d3cc48dd" /><Relationship Type="http://schemas.openxmlformats.org/officeDocument/2006/relationships/slide" Target="/ppt/slides/slide1.xml" Id="R14ad0653b6634469" /><Relationship Type="http://schemas.openxmlformats.org/officeDocument/2006/relationships/slide" Target="/ppt/slides/slide2.xml" Id="R301d44049d854f38" /><Relationship Type="http://schemas.openxmlformats.org/officeDocument/2006/relationships/slide" Target="/ppt/slides/slide3.xml" Id="Ra3d8c992cefd4692" /><Relationship Type="http://schemas.openxmlformats.org/officeDocument/2006/relationships/slide" Target="/ppt/slides/slide4.xml" Id="R1371aa9bebab4e59" /><Relationship Type="http://schemas.openxmlformats.org/officeDocument/2006/relationships/slide" Target="/ppt/slides/slide5.xml" Id="Ref7a408561e64714" /><Relationship Type="http://schemas.openxmlformats.org/officeDocument/2006/relationships/slide" Target="/ppt/slides/slide6.xml" Id="R1c91243a2dbf4112" /><Relationship Type="http://schemas.openxmlformats.org/officeDocument/2006/relationships/slide" Target="/ppt/slides/slide7.xml" Id="R3bc3b4bea8764a56" /><Relationship Type="http://schemas.openxmlformats.org/officeDocument/2006/relationships/slide" Target="/ppt/slides/slide8.xml" Id="Rb9973d0309644e5b" /><Relationship Type="http://schemas.openxmlformats.org/officeDocument/2006/relationships/slide" Target="/ppt/slides/slide9.xml" Id="R50bd6080dc8343e2" /><Relationship Type="http://schemas.openxmlformats.org/officeDocument/2006/relationships/slide" Target="/ppt/slides/slide10.xml" Id="Rb402a75dbad94bed" /><Relationship Type="http://schemas.openxmlformats.org/officeDocument/2006/relationships/slide" Target="/ppt/slides/slide11.xml" Id="R302edb0a36aa4814" /><Relationship Type="http://schemas.openxmlformats.org/officeDocument/2006/relationships/slide" Target="/ppt/slides/slide12.xml" Id="R7caf2c23077748a0" /><Relationship Type="http://schemas.openxmlformats.org/officeDocument/2006/relationships/slide" Target="/ppt/slides/slide13.xml" Id="Rb990a778708a4117" /><Relationship Type="http://schemas.openxmlformats.org/officeDocument/2006/relationships/slide" Target="/ppt/slides/slide14.xml" Id="R205b364407ac492a" /><Relationship Type="http://schemas.openxmlformats.org/officeDocument/2006/relationships/slide" Target="/ppt/slides/slide15.xml" Id="Rc03fc862c8f54a6e" /><Relationship Type="http://schemas.openxmlformats.org/officeDocument/2006/relationships/slide" Target="/ppt/slides/slide16.xml" Id="R6b0e14c8c43544ff" /><Relationship Type="http://schemas.openxmlformats.org/officeDocument/2006/relationships/slide" Target="/ppt/slides/slide17.xml" Id="R8804f668506c49ac" /><Relationship Type="http://schemas.openxmlformats.org/officeDocument/2006/relationships/slide" Target="/ppt/slides/slide18.xml" Id="R53b6bbb762ab437c" /><Relationship Type="http://schemas.openxmlformats.org/officeDocument/2006/relationships/slide" Target="/ppt/slides/slide19.xml" Id="R6ca4f0f8e0ca4e18" /><Relationship Type="http://schemas.openxmlformats.org/officeDocument/2006/relationships/slide" Target="/ppt/slides/slide20.xml" Id="R3032a715ceb64a2e" /><Relationship Type="http://schemas.openxmlformats.org/officeDocument/2006/relationships/slide" Target="/ppt/slides/slide21.xml" Id="R18381f9836554278" /><Relationship Type="http://schemas.openxmlformats.org/officeDocument/2006/relationships/slide" Target="/ppt/slides/slide22.xml" Id="Rb3cecdb4f24b4ea3" /><Relationship Type="http://schemas.openxmlformats.org/officeDocument/2006/relationships/slide" Target="/ppt/slides/slide23.xml" Id="R945044e5cddc4160" /><Relationship Type="http://schemas.openxmlformats.org/officeDocument/2006/relationships/slide" Target="/ppt/slides/slide24.xml" Id="R749a6905205c4e6c" /><Relationship Type="http://schemas.openxmlformats.org/officeDocument/2006/relationships/slide" Target="/ppt/slides/slide25.xml" Id="Re2d083810e83418a" /><Relationship Type="http://schemas.openxmlformats.org/officeDocument/2006/relationships/slide" Target="/ppt/slides/slide26.xml" Id="Rad2c5d5cd7f4453a" /><Relationship Type="http://schemas.openxmlformats.org/officeDocument/2006/relationships/slide" Target="/ppt/slides/slide27.xml" Id="R626927f1dcaa48c6" /><Relationship Type="http://schemas.openxmlformats.org/officeDocument/2006/relationships/slide" Target="/ppt/slides/slide28.xml" Id="Re6354ad44ef64dfd" /><Relationship Type="http://schemas.openxmlformats.org/officeDocument/2006/relationships/slide" Target="/ppt/slides/slide29.xml" Id="R94348c86c6534d68" /><Relationship Type="http://schemas.openxmlformats.org/officeDocument/2006/relationships/slide" Target="/ppt/slides/slide30.xml" Id="Ra23d80dea06941bc" /><Relationship Type="http://schemas.openxmlformats.org/officeDocument/2006/relationships/slide" Target="/ppt/slides/slide31.xml" Id="R02593c8227534578" /><Relationship Type="http://schemas.openxmlformats.org/officeDocument/2006/relationships/slide" Target="/ppt/slides/slide32.xml" Id="R714789b4b7244225" /><Relationship Type="http://schemas.openxmlformats.org/officeDocument/2006/relationships/slide" Target="/ppt/slides/slide33.xml" Id="Rc1308463028d437c" /><Relationship Type="http://schemas.openxmlformats.org/officeDocument/2006/relationships/slide" Target="/ppt/slides/slide34.xml" Id="R312a2fa7d60747b6" /><Relationship Type="http://schemas.openxmlformats.org/officeDocument/2006/relationships/slide" Target="/ppt/slides/slide35.xml" Id="R37dbe1e78a474fac" /><Relationship Type="http://schemas.openxmlformats.org/officeDocument/2006/relationships/slide" Target="/ppt/slides/slide36.xml" Id="Re99a15a6a84147ab" /><Relationship Type="http://schemas.openxmlformats.org/officeDocument/2006/relationships/slide" Target="/ppt/slides/slide37.xml" Id="R2ece3c92c20840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fab86138f5742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2b0a0fcdc94001" /><Relationship Type="http://schemas.openxmlformats.org/officeDocument/2006/relationships/notesMaster" Target="/ppt/notesMasters/notesMaster1.xml" Id="R68a0fd75498740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8b2ad3a8d34cf2" /><Relationship Type="http://schemas.openxmlformats.org/officeDocument/2006/relationships/notesMaster" Target="/ppt/notesMasters/notesMaster1.xml" Id="R9c5234639a5940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073f216b8f43c3" /><Relationship Type="http://schemas.openxmlformats.org/officeDocument/2006/relationships/notesMaster" Target="/ppt/notesMasters/notesMaster1.xml" Id="R3866c16c272f4a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8ed14d3c9a4047" /><Relationship Type="http://schemas.openxmlformats.org/officeDocument/2006/relationships/notesMaster" Target="/ppt/notesMasters/notesMaster1.xml" Id="R1dccd2910a1e42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9adf86bd49472f" /><Relationship Type="http://schemas.openxmlformats.org/officeDocument/2006/relationships/notesMaster" Target="/ppt/notesMasters/notesMaster1.xml" Id="R8740089993d24f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37c617454a410a" /><Relationship Type="http://schemas.openxmlformats.org/officeDocument/2006/relationships/notesMaster" Target="/ppt/notesMasters/notesMaster1.xml" Id="R462694324e5d45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e94376181844ec" /><Relationship Type="http://schemas.openxmlformats.org/officeDocument/2006/relationships/notesMaster" Target="/ppt/notesMasters/notesMaster1.xml" Id="Ra9d804817fb340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0b7217dcf34eb8" /><Relationship Type="http://schemas.openxmlformats.org/officeDocument/2006/relationships/notesMaster" Target="/ppt/notesMasters/notesMaster1.xml" Id="R0f6cf5e621f64f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78aeb1c9bd42b0" /><Relationship Type="http://schemas.openxmlformats.org/officeDocument/2006/relationships/notesMaster" Target="/ppt/notesMasters/notesMaster1.xml" Id="R3ba353a203ec45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930ba05d2b40ee" /><Relationship Type="http://schemas.openxmlformats.org/officeDocument/2006/relationships/notesMaster" Target="/ppt/notesMasters/notesMaster1.xml" Id="Rc058df3793bd48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7e744cbe784df7" /><Relationship Type="http://schemas.openxmlformats.org/officeDocument/2006/relationships/notesMaster" Target="/ppt/notesMasters/notesMaster1.xml" Id="Rf626eb32e5cf41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e7ddb9f11c434b" /><Relationship Type="http://schemas.openxmlformats.org/officeDocument/2006/relationships/notesMaster" Target="/ppt/notesMasters/notesMaster1.xml" Id="R5c353f01465344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50b62d99eb4a87" /><Relationship Type="http://schemas.openxmlformats.org/officeDocument/2006/relationships/notesMaster" Target="/ppt/notesMasters/notesMaster1.xml" Id="Rba9288a9ccaa4b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18e3e0747d43dd" /><Relationship Type="http://schemas.openxmlformats.org/officeDocument/2006/relationships/notesMaster" Target="/ppt/notesMasters/notesMaster1.xml" Id="Rc4a26ba127df47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27ea08d010c4967" /><Relationship Type="http://schemas.openxmlformats.org/officeDocument/2006/relationships/notesMaster" Target="/ppt/notesMasters/notesMaster1.xml" Id="R4760092f791c46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6f5b9c95bb4d9d" /><Relationship Type="http://schemas.openxmlformats.org/officeDocument/2006/relationships/notesMaster" Target="/ppt/notesMasters/notesMaster1.xml" Id="Rc6dff264f04f45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431e1910967455c" /><Relationship Type="http://schemas.openxmlformats.org/officeDocument/2006/relationships/notesMaster" Target="/ppt/notesMasters/notesMaster1.xml" Id="Re1e7753f825f489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ca1006fa1c462a" /><Relationship Type="http://schemas.openxmlformats.org/officeDocument/2006/relationships/notesMaster" Target="/ppt/notesMasters/notesMaster1.xml" Id="Rf5ab2ccb6fa34e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aadc70a33d4128" /><Relationship Type="http://schemas.openxmlformats.org/officeDocument/2006/relationships/notesMaster" Target="/ppt/notesMasters/notesMaster1.xml" Id="R58e61191846347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09dafa2edb44aeb" /><Relationship Type="http://schemas.openxmlformats.org/officeDocument/2006/relationships/notesMaster" Target="/ppt/notesMasters/notesMaster1.xml" Id="R363b20f4e79944a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a73a45e6f084013" /><Relationship Type="http://schemas.openxmlformats.org/officeDocument/2006/relationships/notesMaster" Target="/ppt/notesMasters/notesMaster1.xml" Id="R2a33aca6375149b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d089f8c3bcb48ee" /><Relationship Type="http://schemas.openxmlformats.org/officeDocument/2006/relationships/notesMaster" Target="/ppt/notesMasters/notesMaster1.xml" Id="R08125b54b08b4b4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9916217f97b4537" /><Relationship Type="http://schemas.openxmlformats.org/officeDocument/2006/relationships/notesMaster" Target="/ppt/notesMasters/notesMaster1.xml" Id="Rc1e08f88964b4a3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a13bdbe74024e8f" /><Relationship Type="http://schemas.openxmlformats.org/officeDocument/2006/relationships/notesMaster" Target="/ppt/notesMasters/notesMaster1.xml" Id="Rc5f38cdfbf104db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9003883487d43a1" /><Relationship Type="http://schemas.openxmlformats.org/officeDocument/2006/relationships/notesMaster" Target="/ppt/notesMasters/notesMaster1.xml" Id="Rb5bdcdb58c67403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05d77e35d814acd" /><Relationship Type="http://schemas.openxmlformats.org/officeDocument/2006/relationships/notesMaster" Target="/ppt/notesMasters/notesMaster1.xml" Id="R50b5c75f3e08458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106f6ded9394bb1" /><Relationship Type="http://schemas.openxmlformats.org/officeDocument/2006/relationships/notesMaster" Target="/ppt/notesMasters/notesMaster1.xml" Id="Re464ecbe81c4403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b87ad4bd19847d2" /><Relationship Type="http://schemas.openxmlformats.org/officeDocument/2006/relationships/notesMaster" Target="/ppt/notesMasters/notesMaster1.xml" Id="Ra21b7b75fb114c1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78dd805acff4713" /><Relationship Type="http://schemas.openxmlformats.org/officeDocument/2006/relationships/notesMaster" Target="/ppt/notesMasters/notesMaster1.xml" Id="R8ba38944c08043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13fa9d03b40481c" /><Relationship Type="http://schemas.openxmlformats.org/officeDocument/2006/relationships/notesMaster" Target="/ppt/notesMasters/notesMaster1.xml" Id="R8e9251c35bc046b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fd35d3324f4cc5" /><Relationship Type="http://schemas.openxmlformats.org/officeDocument/2006/relationships/notesMaster" Target="/ppt/notesMasters/notesMaster1.xml" Id="Rfa87f158ba8b41d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d1aac176591415c" /><Relationship Type="http://schemas.openxmlformats.org/officeDocument/2006/relationships/notesMaster" Target="/ppt/notesMasters/notesMaster1.xml" Id="R00d51b377a5a45a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ea664c74c854715" /><Relationship Type="http://schemas.openxmlformats.org/officeDocument/2006/relationships/notesMaster" Target="/ppt/notesMasters/notesMaster1.xml" Id="R296d6cc9cfa4473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43a5166258e46d0" /><Relationship Type="http://schemas.openxmlformats.org/officeDocument/2006/relationships/notesMaster" Target="/ppt/notesMasters/notesMaster1.xml" Id="R084ed49a4192445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1f1eb42d78f4693" /><Relationship Type="http://schemas.openxmlformats.org/officeDocument/2006/relationships/notesMaster" Target="/ppt/notesMasters/notesMaster1.xml" Id="R4f5ab8967f49463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38ef8a0646741a9" /><Relationship Type="http://schemas.openxmlformats.org/officeDocument/2006/relationships/notesMaster" Target="/ppt/notesMasters/notesMaster1.xml" Id="Rc3eeffa729444a2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830102548f24c43" /><Relationship Type="http://schemas.openxmlformats.org/officeDocument/2006/relationships/notesMaster" Target="/ppt/notesMasters/notesMaster1.xml" Id="R8549cb4d3a0a46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Exploratory evidence: https://github.com/garypagangit/praxis/blob/praxis-research/experiments/final-praxis-autonomous-ai-apt/pipeline/REAL_FEASIBILITY.md . These are group-balanced accuracy values from separate controller-command archives, not the prospective target-side macro-F1 experiment. XGBoost, decision tree and transformer were not included in that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https://orbit.dtu.dk/en/publications/honey-for-the-agent-cyber-deception-and-behavioral-fingerprinting/ . Accepted/in-press status retained. This is a focused metadata/abstract synthesis, not a claim of full-text systematic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Author-provided model artifacts: huihui_ai/qwen2.5-coder-abliterate:32b, short ID 36711483afce, displayed size 19 GB; gemma4-ablit:latest, short ID 63f914bef7f4, displayed size 16 GB. These do not verify full digests or lineage. The author selected GOAD and ARTEMIS for a preliminary test case on October 24, 2026. Integration, deployment and pilot execution are pending. ARTEMIS reference: https://arxiv.org/abs/2512.09882 . GOAD: https://github.com/Orange-Cyberdefense/GOAD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planning dates: November 14 and December 1, 2026. GW terminology and process: https://online.engineering.gwu.edu/policies-procedures-doctoral . Confirm the booking and submission requirements. Working paper: https://github.com/garypagangit/praxis/tree/praxis-research/paper/working-praxis-20261024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approved framing and prospective methods: https://github.com/garypagangit/praxis/blob/praxis-research/PRAXIS_RESEARCH_DESIGN.md . Working paper and source references: https://github.com/garypagangit/praxis/tree/praxis-research/paper/working-praxis-20261024 . Formal results remain pending as of October 24,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Graphical model representation from the October 24 working Praxis, Chapter 3. Operator, task and range affect behavior. Behavior, environment and sensor quality affect telemetry. Features support prediction. No fitted Bayesian network or causal-effect estimate is claimed. Source: https://github.com/garypagangit/praxis/tree/praxis-research/paper/working-praxis-20261024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https://github.com/garypagangit/praxis/blob/praxis-research/experiments/final-praxis-autonomous-ai-apt/pipeline/REAL_FEASIBILITY.md . Scores are exploratory group-balanced accuracy, not primary trial macro-F1. The AI-source probe separates Honey from COCHISE, both AI. Its 0.988 score indicates confounding. No GOAD/ARTEMIS pilot execution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GOAD and ARTEMIS preliminary test selection: author instruction, October 24, 2026. Milestones are user planning dates. GW Academic Integrity Review terminology: https://online.engineering.gwu.edu/policies-procedures-doctoral . Working manuscript: https://github.com/garypagangit/praxis/tree/praxis-research/paper/working-praxis-20261024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d389ad16bc46fc" /><Relationship Type="http://schemas.openxmlformats.org/officeDocument/2006/relationships/image" Target="/ppt/media/image2.jpeg" Id="Rc7641c6d387c42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c6792121674d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281a11d77a4e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6cc42418804a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5eb32955034c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1342e7c19b432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58143f170fa40c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e63ac602e23498f" /><Relationship Type="http://schemas.openxmlformats.org/officeDocument/2006/relationships/image" Target="/ppt/media/image3.jpeg" Id="Rd9ae7d407fa7490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3bb73af27324443" /><Relationship Type="http://schemas.openxmlformats.org/officeDocument/2006/relationships/image" Target="/ppt/media/image4.jpeg" Id="R687eef5095c3406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1ff2148b673643b5" /><Relationship Type="http://schemas.openxmlformats.org/officeDocument/2006/relationships/image" Target="/ppt/media/image2.jpeg" Id="R5246673fac234b3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f13c46025b1f485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7c40f9e31c2946ff"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e67744f3656e40fc"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c83ea3bcb234420d"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334cc5f2cdf04a87"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cbe68afa12e94ca2"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1797754ee18545c5" /><Relationship Type="http://schemas.openxmlformats.org/officeDocument/2006/relationships/image" Target="/ppt/media/image3.jpeg" Id="R700b9bdbb498403c"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a1a572f2516f4093" /><Relationship Type="http://schemas.openxmlformats.org/officeDocument/2006/relationships/image" Target="/ppt/media/image4.jpeg" Id="R4473bfde94a34d7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pic>
        <p:nvPicPr>
          <p:cNvPr id="2" name="Picture 1">
            <a:extLst xmlns:a="http://schemas.openxmlformats.org/drawingml/2006/main">
              <a:ext uri="{FF2B5EF4-FFF2-40B4-BE49-F238E27FC236}">
                <a16:creationId xmlns:a16="http://schemas.microsoft.com/office/drawing/2014/main" id="{1A17025D-7B8C-4BDA-A70B-1AC8F8E4CBA9}"/>
              </a:ext>
            </a:extLst>
          </p:cNvPr>
          <p:cNvPicPr>
            <a:picLocks xmlns:a="http://schemas.openxmlformats.org/drawingml/2006/main" noChangeAspect="1"/>
          </p:cNvPicPr>
          <p:nvPr/>
        </p:nvPicPr>
        <p:blipFill>
          <a:blip xmlns:r="http://schemas.openxmlformats.org/officeDocument/2006/relationships" xmlns:a="http://schemas.openxmlformats.org/drawingml/2006/main" r:embed="Rc7641c6d387c42dc"/>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8" name="Title 1">
            <a:extLst xmlns:a="http://schemas.openxmlformats.org/drawingml/2006/main">
              <a:ext uri="{FF2B5EF4-FFF2-40B4-BE49-F238E27FC236}">
                <a16:creationId xmlns:a16="http://schemas.microsoft.com/office/drawing/2014/main" id="{5AC51907-F0E4-47FB-8A9F-BD14A053D8AF}"/>
              </a:ext>
            </a:extLst>
          </p:cNvPr>
          <p:cNvSpPr>
            <a:spLocks xmlns:a="http://schemas.openxmlformats.org/drawingml/2006/main" noGrp="1"/>
          </p:cNvSpPr>
          <p:nvPr>
            <p:ph type="ctrTitle" idx="0" hasCustomPrompt="1"/>
          </p:nvPr>
        </p:nvSpPr>
        <p:spPr>
          <a:xfrm xmlns:a="http://schemas.openxmlformats.org/drawingml/2006/main">
            <a:off x="360379" y="601091"/>
            <a:ext cx="4301269" cy="2305339"/>
          </a:xfrm>
          <a:prstGeom xmlns:a="http://schemas.openxmlformats.org/drawingml/2006/main" prst="rect">
            <a:avLst/>
          </a:prstGeom>
        </p:spPr>
        <p:txBody>
          <a:bodyPr xmlns:a="http://schemas.openxmlformats.org/drawingml/2006/main" anchor="b"/>
          <a:lstStyle xmlns:a="http://schemas.openxmlformats.org/drawingml/2006/main">
            <a:lvl1pPr algn="l">
              <a:buNone/>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Arial"/>
                <a:cs typeface="Arial"/>
              </a:defRPr>
            </a:lvl1pPr>
          </a:lstStyle>
          <a:p xmlns:a="http://schemas.openxmlformats.org/drawingml/2006/main">
            <a:r>
              <a:t>Click to edit </a:t>
            </a:r>
            <a:br/>
            <a:r>
              <a:t>Master title style</a:t>
            </a:r>
          </a:p>
        </p:txBody>
      </p:sp>
      <p:sp>
        <p:nvSpPr>
          <p:cNvPr id="9" name="Subtitle 2">
            <a:extLst xmlns:a="http://schemas.openxmlformats.org/drawingml/2006/main">
              <a:ext uri="{FF2B5EF4-FFF2-40B4-BE49-F238E27FC236}">
                <a16:creationId xmlns:a16="http://schemas.microsoft.com/office/drawing/2014/main" id="{1F466A05-6DC2-4C1F-908E-E39C15CE4339}"/>
              </a:ext>
            </a:extLst>
          </p:cNvPr>
          <p:cNvSpPr>
            <a:spLocks xmlns:a="http://schemas.openxmlformats.org/drawingml/2006/main" noGrp="1"/>
          </p:cNvSpPr>
          <p:nvPr>
            <p:ph type="subTitle" idx="1" hasCustomPrompt="1"/>
          </p:nvPr>
        </p:nvSpPr>
        <p:spPr>
          <a:xfrm xmlns:a="http://schemas.openxmlformats.org/drawingml/2006/main">
            <a:off x="360379" y="3137687"/>
            <a:ext cx="4301269" cy="1752600"/>
          </a:xfrm>
          <a:prstGeom xmlns:a="http://schemas.openxmlformats.org/drawingml/2006/main" prst="rect">
            <a:avLst/>
          </a:prstGeom>
        </p:spPr>
        <p:txBody>
          <a:bodyPr xmlns:a="http://schemas.openxmlformats.org/drawingml/2006/main"/>
          <a:lstStyle xmlns:a="http://schemas.openxmlformats.org/drawingml/2006/main">
            <a:lvl1pPr marL="0" indent="0" algn="l">
              <a:buNone/>
              <a:defRPr>
                <a:solidFill>
                  <a:srgbClr val="ECE9C6"/>
                </a:solidFill>
                <a:effectLst>
                  <a:outerShdw blurRad="34925" dist="12700" dir="14400000" rotWithShape="0">
                    <a:prstClr val="black">
                      <a:alpha val="21000"/>
                    </a:prstClr>
                  </a:outerShdw>
                </a:effectLst>
                <a:latin typeface="Arial"/>
                <a:ea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a:t>
            </a:r>
            <a:br/>
            <a:r>
              <a:t>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7" name="Content Placeholder 2">
            <a:extLst xmlns:a="http://schemas.openxmlformats.org/drawingml/2006/main">
              <a:ext uri="{FF2B5EF4-FFF2-40B4-BE49-F238E27FC236}">
                <a16:creationId xmlns:a16="http://schemas.microsoft.com/office/drawing/2014/main" id="{8E73BD5D-C758-4285-BB43-0E2E58340BF7}"/>
              </a:ext>
            </a:extLst>
          </p:cNvPr>
          <p:cNvSpPr>
            <a:spLocks xmlns:a="http://schemas.openxmlformats.org/drawingml/2006/main" noGrp="1"/>
          </p:cNvSpPr>
          <p:nvPr>
            <p:ph idx="1"/>
          </p:nvPr>
        </p:nvSpPr>
        <p:spPr>
          <a:xfrm xmlns:a="http://schemas.openxmlformats.org/drawingml/2006/main">
            <a:off x="699248" y="1861441"/>
            <a:ext cx="7745505" cy="3170264"/>
          </a:xfrm>
          <a:prstGeom xmlns:a="http://schemas.openxmlformats.org/drawingml/2006/main" prst="rect">
            <a:avLst/>
          </a:prstGeom>
        </p:spPr>
        <p:txBody>
          <a:bodyPr xmlns:a="http://schemas.openxmlformats.org/drawingml/2006/main"/>
          <a:lstStyle xmlns:a="http://schemas.openxmlformats.org/drawingml/2006/main">
            <a:lvl1pPr>
              <a:buNone/>
              <a:defRPr>
                <a:solidFill>
                  <a:srgbClr val="595959"/>
                </a:solidFill>
                <a:latin typeface="Arial"/>
                <a:ea typeface="Arial"/>
                <a:cs typeface="Arial"/>
              </a:defRPr>
            </a:lvl1pPr>
            <a:lvl2pPr>
              <a:buNone/>
              <a:defRPr>
                <a:latin typeface="Arial"/>
                <a:ea typeface="Arial"/>
                <a:cs typeface="Arial"/>
              </a:defRPr>
            </a:lvl2pPr>
            <a:lvl3pPr>
              <a:buNone/>
              <a:defRPr>
                <a:latin typeface="Arial"/>
                <a:ea typeface="Arial"/>
                <a:cs typeface="Arial"/>
              </a:defRPr>
            </a:lvl3pPr>
            <a:lvl4pPr>
              <a:buNone/>
              <a:defRPr>
                <a:latin typeface="Arial"/>
                <a:ea typeface="Arial"/>
                <a:cs typeface="Arial"/>
              </a:defRPr>
            </a:lvl4pPr>
            <a:lvl5pPr>
              <a:buNone/>
              <a:defRPr>
                <a:latin typeface="Arial"/>
                <a:ea typeface="Arial"/>
                <a:cs typeface="Arial"/>
              </a:defRPr>
            </a:lvl5pPr>
          </a:lstStyle>
          <a:p xmlns:a="http://schemas.openxmlformats.org/drawingml/2006/main">
            <a:pPr lvl="0">
              <a:buNone/>
            </a:pPr>
            <a:r>
              <a:t>Click to edit Master text styles</a:t>
            </a:r>
          </a:p>
        </p:txBody>
      </p:sp>
      <p:sp>
        <p:nvSpPr>
          <p:cNvPr id="8" name="Title 10">
            <a:extLst xmlns:a="http://schemas.openxmlformats.org/drawingml/2006/main">
              <a:ext uri="{FF2B5EF4-FFF2-40B4-BE49-F238E27FC236}">
                <a16:creationId xmlns:a16="http://schemas.microsoft.com/office/drawing/2014/main" id="{09A693BC-E068-44E9-9A22-80030549DBB8}"/>
              </a:ext>
            </a:extLst>
          </p:cNvPr>
          <p:cNvSpPr>
            <a:spLocks xmlns:a="http://schemas.openxmlformats.org/drawingml/2006/main" noGrp="1"/>
          </p:cNvSpPr>
          <p:nvPr>
            <p:ph type="title" idx="0"/>
          </p:nvPr>
        </p:nvSpPr>
        <p:spPr>
          <a:xfrm xmlns:a="http://schemas.openxmlformats.org/drawingml/2006/main">
            <a:off x="688490" y="570156"/>
            <a:ext cx="7756263" cy="1054250"/>
          </a:xfrm>
          <a:prstGeom xmlns:a="http://schemas.openxmlformats.org/drawingml/2006/main" prst="rect">
            <a:avLst/>
          </a:prstGeom>
        </p:spPr>
        <p:txBody>
          <a:bodyPr xmlns:a="http://schemas.openxmlformats.org/drawingml/2006/main"/>
          <a:lstStyle xmlns:a="http://schemas.openxmlformats.org/drawingml/2006/main">
            <a:lvl1pPr algn="l">
              <a:buNone/>
              <a:defRPr sz="4000" b="1">
                <a:solidFill>
                  <a:schemeClr val="tx1">
                    <a:lumMod val="75000"/>
                    <a:lumOff val="25000"/>
                  </a:schemeClr>
                </a:solidFill>
                <a:latin typeface="Arial"/>
                <a:ea typeface="Arial"/>
                <a:cs typeface="Arial"/>
              </a:defRPr>
            </a:lvl1pPr>
          </a:lstStyle>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Section Header">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CC7FFA67-065F-4022-B621-2295AAF1AC4B}"/>
              </a:ext>
            </a:extLst>
          </p:cNvPr>
          <p:cNvSpPr>
            <a:spLocks xmlns:a="http://schemas.openxmlformats.org/drawingml/2006/main" noGrp="1"/>
          </p:cNvSpPr>
          <p:nvPr>
            <p:ph type="title" idx="0"/>
          </p:nvPr>
        </p:nvSpPr>
        <p:spPr>
          <a:xfrm xmlns:a="http://schemas.openxmlformats.org/drawingml/2006/main">
            <a:off x="690041" y="1204857"/>
            <a:ext cx="7754713" cy="1910716"/>
          </a:xfrm>
          <a:prstGeom xmlns:a="http://schemas.openxmlformats.org/drawingml/2006/main" prst="rect">
            <a:avLst/>
          </a:prstGeom>
        </p:spPr>
        <p:txBody>
          <a:bodyPr xmlns:a="http://schemas.openxmlformats.org/drawingml/2006/main" anchor="b"/>
          <a:lstStyle xmlns:a="http://schemas.openxmlformats.org/drawingml/2006/main">
            <a:lvl1pPr algn="ctr">
              <a:buNone/>
              <a:defRPr sz="5400" b="1" cap="none" baseline="0">
                <a:solidFill>
                  <a:srgbClr val="595959"/>
                </a:solidFill>
                <a:latin typeface="Arial"/>
                <a:ea typeface="Arial"/>
                <a:cs typeface="Arial"/>
              </a:defRPr>
            </a:lvl1pPr>
          </a:lstStyle>
          <a:p xmlns:a="http://schemas.openxmlformats.org/drawingml/2006/main">
            <a:r>
              <a:t>Click to edit Master title style</a:t>
            </a:r>
          </a:p>
        </p:txBody>
      </p:sp>
      <p:sp>
        <p:nvSpPr>
          <p:cNvPr id="9" name="Text Placeholder 2">
            <a:extLst xmlns:a="http://schemas.openxmlformats.org/drawingml/2006/main">
              <a:ext uri="{FF2B5EF4-FFF2-40B4-BE49-F238E27FC236}">
                <a16:creationId xmlns:a16="http://schemas.microsoft.com/office/drawing/2014/main" id="{C2EE6E36-2282-4FA9-B5A1-E4ACFD669925}"/>
              </a:ext>
            </a:extLst>
          </p:cNvPr>
          <p:cNvSpPr>
            <a:spLocks xmlns:a="http://schemas.openxmlformats.org/drawingml/2006/main" noGrp="1"/>
          </p:cNvSpPr>
          <p:nvPr>
            <p:ph type="body" idx="1"/>
          </p:nvPr>
        </p:nvSpPr>
        <p:spPr>
          <a:xfrm xmlns:a="http://schemas.openxmlformats.org/drawingml/2006/main">
            <a:off x="699248" y="3324433"/>
            <a:ext cx="7734747" cy="1500187"/>
          </a:xfrm>
          <a:prstGeom xmlns:a="http://schemas.openxmlformats.org/drawingml/2006/main" prst="rect">
            <a:avLst/>
          </a:prstGeom>
        </p:spPr>
        <p:txBody>
          <a:bodyPr xmlns:a="http://schemas.openxmlformats.org/drawingml/2006/main" anchor="t"/>
          <a:lstStyle xmlns:a="http://schemas.openxmlformats.org/drawingml/2006/main">
            <a:lvl1pPr marL="0" indent="0" algn="ctr">
              <a:buNone/>
              <a:defRPr sz="2000">
                <a:solidFill>
                  <a:srgbClr val="595959"/>
                </a:solidFill>
                <a:latin typeface="Arial"/>
                <a:ea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Tree>
  </p:cSld>
</p:sldLayout>
</file>

<file path=ppt/slideLayouts/slideLayout4.xml><?xml version="1.0" encoding="utf-8"?>
<p:sldLayout xmlns:p="http://schemas.openxmlformats.org/presentationml/2006/main" preserve="1" userDrawn="1">
  <p:cSld name="Two Content Areas">
    <p:spTree>
      <p:nvGrpSpPr>
        <p:cNvPr id="1" name=""/>
        <p:cNvGrpSpPr/>
        <p:nvPr/>
      </p:nvGrpSpPr>
      <p:grpSpPr>
        <a:xfrm xmlns:a="http://schemas.openxmlformats.org/drawingml/2006/main"/>
      </p:grpSpPr>
      <p:sp>
        <p:nvSpPr>
          <p:cNvPr id="10" name="Title 11">
            <a:extLst xmlns:a="http://schemas.openxmlformats.org/drawingml/2006/main">
              <a:ext uri="{FF2B5EF4-FFF2-40B4-BE49-F238E27FC236}">
                <a16:creationId xmlns:a16="http://schemas.microsoft.com/office/drawing/2014/main" id="{CF2231ED-A99E-4C71-9D88-31661D56242F}"/>
              </a:ext>
            </a:extLst>
          </p:cNvPr>
          <p:cNvSpPr>
            <a:spLocks xmlns:a="http://schemas.openxmlformats.org/drawingml/2006/main" noGrp="1"/>
          </p:cNvSpPr>
          <p:nvPr>
            <p:ph type="title" idx="0"/>
          </p:nvPr>
        </p:nvSpPr>
        <p:spPr>
          <a:xfrm xmlns:a="http://schemas.openxmlformats.org/drawingml/2006/main">
            <a:off x="688490" y="570156"/>
            <a:ext cx="7756263" cy="1054250"/>
          </a:xfrm>
          <a:prstGeom xmlns:a="http://schemas.openxmlformats.org/drawingml/2006/main" prst="rect">
            <a:avLst/>
          </a:prstGeom>
        </p:spPr>
        <p:txBody>
          <a:bodyPr xmlns:a="http://schemas.openxmlformats.org/drawingml/2006/main"/>
          <a:lstStyle xmlns:a="http://schemas.openxmlformats.org/drawingml/2006/main">
            <a:lvl1pPr>
              <a:buNone/>
              <a:defRPr sz="4300" b="1">
                <a:solidFill>
                  <a:srgbClr val="595959"/>
                </a:solidFill>
                <a:latin typeface="Arial"/>
                <a:ea typeface="Arial"/>
                <a:cs typeface="Arial"/>
              </a:defRPr>
            </a:lvl1pPr>
          </a:lstStyle>
          <a:p xmlns:a="http://schemas.openxmlformats.org/drawingml/2006/main">
            <a:r>
              <a:t>Click to edit Master title style</a:t>
            </a:r>
          </a:p>
        </p:txBody>
      </p:sp>
      <p:sp>
        <p:nvSpPr>
          <p:cNvPr id="11" name="Content Placeholder 7">
            <a:extLst xmlns:a="http://schemas.openxmlformats.org/drawingml/2006/main">
              <a:ext uri="{FF2B5EF4-FFF2-40B4-BE49-F238E27FC236}">
                <a16:creationId xmlns:a16="http://schemas.microsoft.com/office/drawing/2014/main" id="{6310887D-54E8-489E-B948-15F329B3A999}"/>
              </a:ext>
            </a:extLst>
          </p:cNvPr>
          <p:cNvSpPr>
            <a:spLocks xmlns:a="http://schemas.openxmlformats.org/drawingml/2006/main" noGrp="1"/>
          </p:cNvSpPr>
          <p:nvPr>
            <p:ph idx="13"/>
          </p:nvPr>
        </p:nvSpPr>
        <p:spPr>
          <a:xfrm xmlns:a="http://schemas.openxmlformats.org/drawingml/2006/main">
            <a:off x="685800" y="1845482"/>
            <a:ext cx="3803904" cy="343447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stStyle>
          <a:p xmlns:a="http://schemas.openxmlformats.org/drawingml/2006/main">
            <a:pPr lvl="0">
              <a:buNone/>
            </a:pPr>
            <a:r>
              <a:t>Click to edit Master text styles</a:t>
            </a:r>
          </a:p>
        </p:txBody>
      </p:sp>
      <p:sp>
        <p:nvSpPr>
          <p:cNvPr id="12" name="Content Placeholder 9">
            <a:extLst xmlns:a="http://schemas.openxmlformats.org/drawingml/2006/main">
              <a:ext uri="{FF2B5EF4-FFF2-40B4-BE49-F238E27FC236}">
                <a16:creationId xmlns:a16="http://schemas.microsoft.com/office/drawing/2014/main" id="{781E3D85-15A6-4EFC-9487-DD2936AE8B6D}"/>
              </a:ext>
            </a:extLst>
          </p:cNvPr>
          <p:cNvSpPr>
            <a:spLocks xmlns:a="http://schemas.openxmlformats.org/drawingml/2006/main" noGrp="1"/>
          </p:cNvSpPr>
          <p:nvPr>
            <p:ph idx="14"/>
          </p:nvPr>
        </p:nvSpPr>
        <p:spPr>
          <a:xfrm xmlns:a="http://schemas.openxmlformats.org/drawingml/2006/main">
            <a:off x="4645151" y="1845482"/>
            <a:ext cx="3803904" cy="343447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stStyle>
          <a:p xmlns:a="http://schemas.openxmlformats.org/drawingml/2006/main">
            <a:pPr lvl="0">
              <a:buNone/>
            </a:pPr>
            <a:r>
              <a:t>Click to edit Master text styles</a:t>
            </a:r>
          </a:p>
        </p:txBody>
      </p:sp>
    </p:spTree>
  </p:cSld>
</p:sldLayout>
</file>

<file path=ppt/slideLayouts/slideLayout5.xml><?xml version="1.0" encoding="utf-8"?>
<p:sldLayout xmlns:p="http://schemas.openxmlformats.org/presentationml/2006/main" preserve="1" userDrawn="1">
  <p:cSld name="Two Columns with Subtitles">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F6B2C559-6421-40C1-9D20-FEC95B4CC93A}"/>
              </a:ext>
            </a:extLst>
          </p:cNvPr>
          <p:cNvSpPr>
            <a:spLocks xmlns:a="http://schemas.openxmlformats.org/drawingml/2006/main" noGrp="1"/>
          </p:cNvSpPr>
          <p:nvPr>
            <p:ph type="title" idx="0"/>
          </p:nvPr>
        </p:nvSpPr>
        <p:spPr>
          <a:xfrm xmlns:a="http://schemas.openxmlformats.org/drawingml/2006/main">
            <a:off x="688490" y="570156"/>
            <a:ext cx="7756263" cy="1054250"/>
          </a:xfrm>
          <a:prstGeom xmlns:a="http://schemas.openxmlformats.org/drawingml/2006/main" prst="rect">
            <a:avLst/>
          </a:prstGeom>
        </p:spPr>
        <p:txBody>
          <a:bodyPr xmlns:a="http://schemas.openxmlformats.org/drawingml/2006/main"/>
          <a:lstStyle xmlns:a="http://schemas.openxmlformats.org/drawingml/2006/main">
            <a:lvl1pPr>
              <a:buNone/>
              <a:defRPr sz="4300" b="1">
                <a:solidFill>
                  <a:srgbClr val="595959"/>
                </a:solidFill>
                <a:latin typeface="Arial"/>
                <a:ea typeface="Arial"/>
                <a:cs typeface="Arial"/>
              </a:defRPr>
            </a:lvl1pPr>
          </a:lstStyle>
          <a:p xmlns:a="http://schemas.openxmlformats.org/drawingml/2006/main">
            <a:r>
              <a:t>Click to edit Master title style</a:t>
            </a:r>
          </a:p>
        </p:txBody>
      </p:sp>
      <p:sp>
        <p:nvSpPr>
          <p:cNvPr id="7" name="Text Placeholder 2">
            <a:extLst xmlns:a="http://schemas.openxmlformats.org/drawingml/2006/main">
              <a:ext uri="{FF2B5EF4-FFF2-40B4-BE49-F238E27FC236}">
                <a16:creationId xmlns:a16="http://schemas.microsoft.com/office/drawing/2014/main" id="{0EFFC88F-D697-4DD9-9B16-27433725E38F}"/>
              </a:ext>
            </a:extLst>
          </p:cNvPr>
          <p:cNvSpPr>
            <a:spLocks xmlns:a="http://schemas.openxmlformats.org/drawingml/2006/main" noGrp="1"/>
          </p:cNvSpPr>
          <p:nvPr>
            <p:ph type="body" idx="1"/>
          </p:nvPr>
        </p:nvSpPr>
        <p:spPr>
          <a:xfrm xmlns:a="http://schemas.openxmlformats.org/drawingml/2006/main">
            <a:off x="688491" y="1783601"/>
            <a:ext cx="3621929" cy="658368"/>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lgn="l">
              <a:buNone/>
              <a:defRPr sz="2500" b="1">
                <a:solidFill>
                  <a:srgbClr val="595959"/>
                </a:solidFill>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 name="Content Placeholder 3">
            <a:extLst xmlns:a="http://schemas.openxmlformats.org/drawingml/2006/main">
              <a:ext uri="{FF2B5EF4-FFF2-40B4-BE49-F238E27FC236}">
                <a16:creationId xmlns:a16="http://schemas.microsoft.com/office/drawing/2014/main" id="{4036419F-348B-4293-B066-AFECC7C12365}"/>
              </a:ext>
            </a:extLst>
          </p:cNvPr>
          <p:cNvSpPr>
            <a:spLocks xmlns:a="http://schemas.openxmlformats.org/drawingml/2006/main" noGrp="1"/>
          </p:cNvSpPr>
          <p:nvPr>
            <p:ph idx="2"/>
          </p:nvPr>
        </p:nvSpPr>
        <p:spPr>
          <a:xfrm xmlns:a="http://schemas.openxmlformats.org/drawingml/2006/main">
            <a:off x="688489" y="2622290"/>
            <a:ext cx="3621931" cy="2595107"/>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vl2pPr>
              <a:buNone/>
              <a:defRPr sz="2000">
                <a:latin typeface="Arial"/>
                <a:ea typeface="Arial"/>
                <a:cs typeface="Arial"/>
              </a:defRPr>
            </a:lvl2pPr>
            <a:lvl3pPr>
              <a:buNone/>
              <a:defRPr sz="2000">
                <a:latin typeface="Arial"/>
                <a:ea typeface="Arial"/>
                <a:cs typeface="Arial"/>
              </a:defRPr>
            </a:lvl3pPr>
            <a:lvl4pPr>
              <a:buNone/>
              <a:defRPr sz="2000">
                <a:latin typeface="Arial"/>
                <a:ea typeface="Arial"/>
                <a:cs typeface="Arial"/>
              </a:defRPr>
            </a:lvl4pPr>
            <a:lvl5pPr>
              <a:buNone/>
              <a:defRPr sz="2000">
                <a:latin typeface="Arial"/>
                <a:ea typeface="Arial"/>
                <a:cs typeface="Arial"/>
              </a:defRPr>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p:txBody>
      </p:sp>
      <p:sp>
        <p:nvSpPr>
          <p:cNvPr id="9" name="Text Placeholder 4">
            <a:extLst xmlns:a="http://schemas.openxmlformats.org/drawingml/2006/main">
              <a:ext uri="{FF2B5EF4-FFF2-40B4-BE49-F238E27FC236}">
                <a16:creationId xmlns:a16="http://schemas.microsoft.com/office/drawing/2014/main" id="{658E7595-8991-40D8-B39D-E0EB48F90D07}"/>
              </a:ext>
            </a:extLst>
          </p:cNvPr>
          <p:cNvSpPr>
            <a:spLocks xmlns:a="http://schemas.openxmlformats.org/drawingml/2006/main" noGrp="1"/>
          </p:cNvSpPr>
          <p:nvPr>
            <p:ph type="body" idx="3"/>
          </p:nvPr>
        </p:nvSpPr>
        <p:spPr>
          <a:xfrm xmlns:a="http://schemas.openxmlformats.org/drawingml/2006/main">
            <a:off x="4785879" y="1783601"/>
            <a:ext cx="3663716" cy="658368"/>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lgn="l">
              <a:buNone/>
              <a:defRPr sz="2500" b="1">
                <a:solidFill>
                  <a:srgbClr val="595959"/>
                </a:solidFill>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 name="Content Placeholder 5">
            <a:extLst xmlns:a="http://schemas.openxmlformats.org/drawingml/2006/main">
              <a:ext uri="{FF2B5EF4-FFF2-40B4-BE49-F238E27FC236}">
                <a16:creationId xmlns:a16="http://schemas.microsoft.com/office/drawing/2014/main" id="{2041B5B4-12EB-447A-9897-70BEA93E6D6D}"/>
              </a:ext>
            </a:extLst>
          </p:cNvPr>
          <p:cNvSpPr>
            <a:spLocks xmlns:a="http://schemas.openxmlformats.org/drawingml/2006/main" noGrp="1"/>
          </p:cNvSpPr>
          <p:nvPr>
            <p:ph idx="4"/>
          </p:nvPr>
        </p:nvSpPr>
        <p:spPr>
          <a:xfrm xmlns:a="http://schemas.openxmlformats.org/drawingml/2006/main">
            <a:off x="4785878" y="2619063"/>
            <a:ext cx="3658875" cy="2595107"/>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p:txBody>
      </p:sp>
    </p:spTree>
  </p:cSld>
</p:sldLayout>
</file>

<file path=ppt/slideLayouts/slideLayout6.xml><?xml version="1.0" encoding="utf-8"?>
<p:sldLayout xmlns:p="http://schemas.openxmlformats.org/presentationml/2006/main" preserve="1" userDrawn="1">
  <p:cSld name="Content with Caption">
    <p:spTree>
      <p:nvGrpSpPr>
        <p:cNvPr id="1" name=""/>
        <p:cNvGrpSpPr/>
        <p:nvPr/>
      </p:nvGrpSpPr>
      <p:grpSpPr>
        <a:xfrm xmlns:a="http://schemas.openxmlformats.org/drawingml/2006/main"/>
      </p:grpSpPr>
      <p:sp>
        <p:nvSpPr>
          <p:cNvPr id="5" name="Content Placeholder 2">
            <a:extLst xmlns:a="http://schemas.openxmlformats.org/drawingml/2006/main">
              <a:ext uri="{FF2B5EF4-FFF2-40B4-BE49-F238E27FC236}">
                <a16:creationId xmlns:a16="http://schemas.microsoft.com/office/drawing/2014/main" id="{AEB94DFF-42E7-424A-A1D6-4A2F218C9E9C}"/>
              </a:ext>
            </a:extLst>
          </p:cNvPr>
          <p:cNvSpPr>
            <a:spLocks xmlns:a="http://schemas.openxmlformats.org/drawingml/2006/main" noGrp="1"/>
          </p:cNvSpPr>
          <p:nvPr>
            <p:ph idx="1"/>
          </p:nvPr>
        </p:nvSpPr>
        <p:spPr>
          <a:xfrm xmlns:a="http://schemas.openxmlformats.org/drawingml/2006/main">
            <a:off x="692003" y="559401"/>
            <a:ext cx="3580882" cy="4414019"/>
          </a:xfrm>
          <a:prstGeom xmlns:a="http://schemas.openxmlformats.org/drawingml/2006/main" prst="rect">
            <a:avLst/>
          </a:prstGeom>
        </p:spPr>
        <p:txBody>
          <a:bodyPr xmlns:a="http://schemas.openxmlformats.org/drawingml/2006/main" anchor="t">
            <a:normAutofit/>
          </a:bodyPr>
          <a:lstStyle xmlns:a="http://schemas.openxmlformats.org/drawingml/2006/main">
            <a:lvl1pPr marL="0" indent="0" algn="l">
              <a:buNone/>
              <a:defRPr sz="2000">
                <a:solidFill>
                  <a:srgbClr val="595959"/>
                </a:solidFill>
                <a:latin typeface="Arial"/>
                <a:ea typeface="Arial"/>
                <a:cs typeface="Arial"/>
              </a:defRPr>
            </a:lvl1pPr>
            <a:lvl2pPr algn="l">
              <a:buNone/>
              <a:defRPr sz="2000">
                <a:latin typeface="Arial"/>
                <a:ea typeface="Arial"/>
                <a:cs typeface="Arial"/>
              </a:defRPr>
            </a:lvl2pPr>
            <a:lvl3pPr algn="l">
              <a:buNone/>
              <a:defRPr sz="2000">
                <a:latin typeface="Arial"/>
                <a:ea typeface="Arial"/>
                <a:cs typeface="Arial"/>
              </a:defRPr>
            </a:lvl3pPr>
            <a:lvl4pPr algn="l">
              <a:buNone/>
              <a:defRPr sz="2000">
                <a:latin typeface="Arial"/>
                <a:ea typeface="Arial"/>
                <a:cs typeface="Arial"/>
              </a:defRPr>
            </a:lvl4pPr>
            <a:lvl5pPr algn="l">
              <a:buNone/>
              <a:defRPr sz="2000">
                <a:latin typeface="Arial"/>
                <a:ea typeface="Arial"/>
                <a:cs typeface="Arial"/>
              </a:defRPr>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p:txBody>
      </p:sp>
      <p:sp>
        <p:nvSpPr>
          <p:cNvPr id="6" name="Text Placeholder 3">
            <a:extLst xmlns:a="http://schemas.openxmlformats.org/drawingml/2006/main">
              <a:ext uri="{FF2B5EF4-FFF2-40B4-BE49-F238E27FC236}">
                <a16:creationId xmlns:a16="http://schemas.microsoft.com/office/drawing/2014/main" id="{8FDC5413-58B7-4F05-9253-23195B01026E}"/>
              </a:ext>
            </a:extLst>
          </p:cNvPr>
          <p:cNvSpPr>
            <a:spLocks xmlns:a="http://schemas.openxmlformats.org/drawingml/2006/main" noGrp="1"/>
          </p:cNvSpPr>
          <p:nvPr>
            <p:ph type="body" idx="2"/>
          </p:nvPr>
        </p:nvSpPr>
        <p:spPr>
          <a:xfrm xmlns:a="http://schemas.openxmlformats.org/drawingml/2006/main">
            <a:off x="4889813" y="562026"/>
            <a:ext cx="3580882" cy="4414018"/>
          </a:xfrm>
          <a:prstGeom xmlns:a="http://schemas.openxmlformats.org/drawingml/2006/main" prst="rect">
            <a:avLst/>
          </a:prstGeom>
        </p:spPr>
        <p:txBody>
          <a:bodyPr xmlns:a="http://schemas.openxmlformats.org/drawingml/2006/main">
            <a:normAutofit/>
          </a:bodyPr>
          <a:lstStyle xmlns:a="http://schemas.openxmlformats.org/drawingml/2006/main">
            <a:lvl1pPr marL="0" indent="0">
              <a:buNone/>
              <a:defRPr sz="2000">
                <a:solidFill>
                  <a:srgbClr val="595959"/>
                </a:solidFill>
                <a:latin typeface="Arial"/>
                <a:ea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Tree>
  </p:cSld>
</p:sldLayout>
</file>

<file path=ppt/slideLayouts/slideLayout7.xml><?xml version="1.0" encoding="utf-8"?>
<p:sldLayout xmlns:p="http://schemas.openxmlformats.org/presentationml/2006/main" preserve="1" userDrawn="1">
  <p:cSld name="Photo with Caption">
    <p:spTree>
      <p:nvGrpSpPr>
        <p:cNvPr id="1" name=""/>
        <p:cNvGrpSpPr/>
        <p:nvPr/>
      </p:nvGrpSpPr>
      <p:grpSpPr>
        <a:xfrm xmlns:a="http://schemas.openxmlformats.org/drawingml/2006/main"/>
      </p:grpSpPr>
      <p:sp>
        <p:nvSpPr>
          <p:cNvPr id="8" name="Picture Placeholder 2">
            <a:extLst xmlns:a="http://schemas.openxmlformats.org/drawingml/2006/main">
              <a:ext uri="{FF2B5EF4-FFF2-40B4-BE49-F238E27FC236}">
                <a16:creationId xmlns:a16="http://schemas.microsoft.com/office/drawing/2014/main" id="{EC18B0EF-6367-4D1D-B8CA-64D4744E9498}"/>
              </a:ext>
            </a:extLst>
          </p:cNvPr>
          <p:cNvSpPr>
            <a:spLocks xmlns:a="http://schemas.openxmlformats.org/drawingml/2006/main" noGrp="1"/>
          </p:cNvSpPr>
          <p:nvPr>
            <p:ph type="pic" idx="1"/>
          </p:nvPr>
        </p:nvSpPr>
        <p:spPr>
          <a:xfrm xmlns:a="http://schemas.openxmlformats.org/drawingml/2006/main" rot="344365">
            <a:off x="773476" y="536674"/>
            <a:ext cx="7578326" cy="3491307"/>
          </a:xfrm>
          <a:prstGeom xmlns:a="http://schemas.openxmlformats.org/drawingml/2006/main" prst="rect">
            <a:avLst/>
          </a:prstGeom>
          <a:solidFill xmlns:a="http://schemas.openxmlformats.org/drawingml/2006/main">
            <a:srgbClr val="FFFFFF">
              <a:shade val="85000"/>
            </a:srgbClr>
          </a:solidFill>
          <a:ln xmlns:a="http://schemas.openxmlformats.org/drawingml/2006/main" w="190500" cap="sq">
            <a:solidFill>
              <a:srgbClr val="FFFFFF"/>
            </a:solidFill>
            <a:miter/>
          </a:ln>
        </p:spPr>
        <p:txBody>
          <a:bodyPr xmlns:a="http://schemas.openxmlformats.org/drawingml/2006/main">
            <a:normAutofit/>
          </a:bodyPr>
          <a:lstStyle xmlns:a="http://schemas.openxmlformats.org/drawingml/2006/main">
            <a:lvl1pPr marL="0" indent="0">
              <a:buNone/>
              <a:defRPr sz="2000">
                <a:latin typeface="Arial"/>
                <a:ea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Drag picture to placeholder or click icon to add</a:t>
            </a:r>
          </a:p>
        </p:txBody>
      </p:sp>
      <p:sp>
        <p:nvSpPr>
          <p:cNvPr id="9" name="Text Placeholder 3">
            <a:extLst xmlns:a="http://schemas.openxmlformats.org/drawingml/2006/main">
              <a:ext uri="{FF2B5EF4-FFF2-40B4-BE49-F238E27FC236}">
                <a16:creationId xmlns:a16="http://schemas.microsoft.com/office/drawing/2014/main" id="{FA13194D-8018-48FB-8239-0ED4DD19E946}"/>
              </a:ext>
            </a:extLst>
          </p:cNvPr>
          <p:cNvSpPr>
            <a:spLocks xmlns:a="http://schemas.openxmlformats.org/drawingml/2006/main" noGrp="1"/>
          </p:cNvSpPr>
          <p:nvPr>
            <p:ph type="body" idx="2"/>
          </p:nvPr>
        </p:nvSpPr>
        <p:spPr>
          <a:xfrm xmlns:a="http://schemas.openxmlformats.org/drawingml/2006/main">
            <a:off x="688490" y="4486019"/>
            <a:ext cx="7756264" cy="804862"/>
          </a:xfrm>
          <a:prstGeom xmlns:a="http://schemas.openxmlformats.org/drawingml/2006/main" prst="rect">
            <a:avLst/>
          </a:prstGeom>
        </p:spPr>
        <p:txBody>
          <a:bodyPr xmlns:a="http://schemas.openxmlformats.org/drawingml/2006/main">
            <a:normAutofit/>
          </a:bodyPr>
          <a:lstStyle xmlns:a="http://schemas.openxmlformats.org/drawingml/2006/main">
            <a:lvl1pPr marL="0" indent="0" algn="ctr">
              <a:buNone/>
              <a:defRPr sz="1600" b="0">
                <a:solidFill>
                  <a:srgbClr val="595959"/>
                </a:solidFill>
                <a:latin typeface="Arial"/>
                <a:ea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Tree>
  </p:cSld>
</p:sldLayout>
</file>

<file path=ppt/slideLayouts/slideLayout8.xml><?xml version="1.0" encoding="utf-8"?>
<p:sldLayout xmlns:p="http://schemas.openxmlformats.org/presentationml/2006/main" preserve="1" userDrawn="1">
  <p:cSld name="Closing Slide">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48237231-6502-4E63-94C8-CE43EE9B90FB}"/>
              </a:ext>
            </a:extLst>
          </p:cNvPr>
          <p:cNvPicPr>
            <a:picLocks xmlns:a="http://schemas.openxmlformats.org/drawingml/2006/main" noChangeAspect="1"/>
          </p:cNvPicPr>
          <p:nvPr/>
        </p:nvPicPr>
        <p:blipFill>
          <a:blip xmlns:r="http://schemas.openxmlformats.org/officeDocument/2006/relationships" xmlns:a="http://schemas.openxmlformats.org/drawingml/2006/main" r:embed="Rd9ae7d407fa7490b"/>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cSld>
</p:sldLayout>
</file>

<file path=ppt/slideLayouts/slideLayout9.xml><?xml version="1.0" encoding="utf-8"?>
<p:sldLayout xmlns:p="http://schemas.openxmlformats.org/presentationml/2006/main" preserve="1" userDrawn="1">
  <p:cSld name="Title with Custom Photo">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AA35375E-29AF-4C9C-96DE-A1FF1A44C7F0}"/>
              </a:ext>
            </a:extLst>
          </p:cNvPr>
          <p:cNvPicPr>
            <a:picLocks xmlns:a="http://schemas.openxmlformats.org/drawingml/2006/main" noChangeAspect="1"/>
          </p:cNvPicPr>
          <p:nvPr/>
        </p:nvPicPr>
        <p:blipFill>
          <a:blip xmlns:r="http://schemas.openxmlformats.org/officeDocument/2006/relationships" xmlns:a="http://schemas.openxmlformats.org/drawingml/2006/main" r:embed="R687eef5095c34068"/>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8" name="Subtitle 2">
            <a:extLst xmlns:a="http://schemas.openxmlformats.org/drawingml/2006/main">
              <a:ext uri="{FF2B5EF4-FFF2-40B4-BE49-F238E27FC236}">
                <a16:creationId xmlns:a16="http://schemas.microsoft.com/office/drawing/2014/main" id="{50E4851B-0115-4DED-9F46-605E26897A90}"/>
              </a:ext>
            </a:extLst>
          </p:cNvPr>
          <p:cNvSpPr>
            <a:spLocks xmlns:a="http://schemas.openxmlformats.org/drawingml/2006/main" noGrp="1"/>
          </p:cNvSpPr>
          <p:nvPr>
            <p:ph type="subTitle" idx="1" hasCustomPrompt="1"/>
          </p:nvPr>
        </p:nvSpPr>
        <p:spPr>
          <a:xfrm xmlns:a="http://schemas.openxmlformats.org/drawingml/2006/main">
            <a:off x="360378" y="3137687"/>
            <a:ext cx="3658798" cy="1752600"/>
          </a:xfrm>
          <a:prstGeom xmlns:a="http://schemas.openxmlformats.org/drawingml/2006/main" prst="rect">
            <a:avLst/>
          </a:prstGeom>
        </p:spPr>
        <p:txBody>
          <a:bodyPr xmlns:a="http://schemas.openxmlformats.org/drawingml/2006/main"/>
          <a:lstStyle xmlns:a="http://schemas.openxmlformats.org/drawingml/2006/main">
            <a:lvl1pPr marL="0" indent="0" algn="l">
              <a:buNone/>
              <a:defRPr>
                <a:solidFill>
                  <a:schemeClr val="bg2"/>
                </a:solidFill>
                <a:effectLst>
                  <a:outerShdw blurRad="34925" dist="12700" dir="14400000" rotWithShape="0">
                    <a:prstClr val="black">
                      <a:alpha val="21000"/>
                    </a:prstClr>
                  </a:outerShdw>
                </a:effectLst>
                <a:latin typeface="Arial"/>
                <a:ea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a:t>
            </a:r>
            <a:br/>
            <a:r>
              <a:t>subtitle style</a:t>
            </a:r>
          </a:p>
        </p:txBody>
      </p:sp>
      <p:sp>
        <p:nvSpPr>
          <p:cNvPr id="9" name="Title 1">
            <a:extLst xmlns:a="http://schemas.openxmlformats.org/drawingml/2006/main">
              <a:ext uri="{FF2B5EF4-FFF2-40B4-BE49-F238E27FC236}">
                <a16:creationId xmlns:a16="http://schemas.microsoft.com/office/drawing/2014/main" id="{F1077E48-FCE3-4CB8-AF87-683E54581A08}"/>
              </a:ext>
            </a:extLst>
          </p:cNvPr>
          <p:cNvSpPr>
            <a:spLocks xmlns:a="http://schemas.openxmlformats.org/drawingml/2006/main" noGrp="1"/>
          </p:cNvSpPr>
          <p:nvPr>
            <p:ph type="ctrTitle" idx="0" hasCustomPrompt="1"/>
          </p:nvPr>
        </p:nvSpPr>
        <p:spPr>
          <a:xfrm xmlns:a="http://schemas.openxmlformats.org/drawingml/2006/main">
            <a:off x="360379" y="601091"/>
            <a:ext cx="4480563" cy="2305339"/>
          </a:xfrm>
          <a:prstGeom xmlns:a="http://schemas.openxmlformats.org/drawingml/2006/main" prst="rect">
            <a:avLst/>
          </a:prstGeom>
        </p:spPr>
        <p:txBody>
          <a:bodyPr xmlns:a="http://schemas.openxmlformats.org/drawingml/2006/main" anchor="b"/>
          <a:lstStyle xmlns:a="http://schemas.openxmlformats.org/drawingml/2006/main">
            <a:lvl1pPr algn="l">
              <a:buNone/>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Arial"/>
                <a:cs typeface="Arial"/>
              </a:defRPr>
            </a:lvl1pPr>
          </a:lstStyle>
          <a:p xmlns:a="http://schemas.openxmlformats.org/drawingml/2006/main">
            <a:r>
              <a:t>Click to edit </a:t>
            </a:r>
            <a:br/>
            <a:r>
              <a:t>Master title style</a:t>
            </a:r>
          </a:p>
        </p:txBody>
      </p:sp>
      <p:sp>
        <p:nvSpPr>
          <p:cNvPr id="10" name="Picture Placeholder 8">
            <a:extLst xmlns:a="http://schemas.openxmlformats.org/drawingml/2006/main">
              <a:ext uri="{FF2B5EF4-FFF2-40B4-BE49-F238E27FC236}">
                <a16:creationId xmlns:a16="http://schemas.microsoft.com/office/drawing/2014/main" id="{6C3EBD9D-8DB5-485F-8954-9D39342C3CFE}"/>
              </a:ext>
            </a:extLst>
          </p:cNvPr>
          <p:cNvSpPr>
            <a:spLocks xmlns:a="http://schemas.openxmlformats.org/drawingml/2006/main" noGrp="1"/>
          </p:cNvSpPr>
          <p:nvPr>
            <p:ph type="pic" idx="10" hasCustomPrompt="1"/>
          </p:nvPr>
        </p:nvSpPr>
        <p:spPr>
          <a:xfrm xmlns:a="http://schemas.openxmlformats.org/drawingml/2006/main">
            <a:off x="1954870" y="0"/>
            <a:ext cx="7201580" cy="6858000"/>
          </a:xfrm>
          <a:custGeom xmlns:a="http://schemas.openxmlformats.org/drawingml/2006/main">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rect l="l" t="t" r="r" b="b"/>
            <a:pathLst>
              <a:path w="7201580" h="6858000">
                <a:moveTo>
                  <a:pt x="5020236" y="14941"/>
                </a:moveTo>
                <a:lnTo>
                  <a:pt x="7201580" y="0"/>
                </a:lnTo>
                <a:lnTo>
                  <a:pt x="7201580" y="6858000"/>
                </a:lnTo>
                <a:lnTo>
                  <a:pt x="0" y="6858000"/>
                </a:lnTo>
                <a:lnTo>
                  <a:pt x="5020236" y="14941"/>
                </a:lnTo>
                <a:close/>
              </a:path>
            </a:pathLst>
          </a:custGeom>
        </p:spPr>
        <p:txBody>
          <a:bodyPr xmlns:a="http://schemas.openxmlformats.org/drawingml/2006/main" vert="horz" anchor="ctr"/>
          <a:lstStyle xmlns:a="http://schemas.openxmlformats.org/drawingml/2006/main">
            <a:lvl1pPr algn="r">
              <a:lnSpc>
                <a:spcPct val="100000"/>
              </a:lnSpc>
              <a:buNone/>
              <a:defRPr sz="2000">
                <a:solidFill>
                  <a:srgbClr val="ECE9C6"/>
                </a:solidFill>
                <a:latin typeface="Arial"/>
                <a:ea typeface="Arial"/>
                <a:cs typeface="Arial"/>
              </a:defRPr>
            </a:lvl1pPr>
          </a:lstStyle>
          <a:p xmlns:a="http://schemas.openxmlformats.org/drawingml/2006/main">
            <a:r>
              <a:t>Drag picture to placeholder </a:t>
            </a:r>
            <a:br/>
            <a:r>
              <a:t>or click icon to add</a:t>
            </a:r>
          </a:p>
        </p:txBody>
      </p:sp>
    </p:spTree>
  </p:cSld>
</p:sldLayout>
</file>

<file path=ppt/slideLayouts/slideLayout10.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pic>
        <p:nvPicPr>
          <p:cNvPr id="2" name="Picture 1">
            <a:extLst xmlns:a="http://schemas.openxmlformats.org/drawingml/2006/main">
              <a:ext uri="{FF2B5EF4-FFF2-40B4-BE49-F238E27FC236}">
                <a16:creationId xmlns:a16="http://schemas.microsoft.com/office/drawing/2014/main" id="{E4FEEF16-9E06-4663-8058-B03A9297B279}"/>
              </a:ext>
            </a:extLst>
          </p:cNvPr>
          <p:cNvPicPr>
            <a:picLocks xmlns:a="http://schemas.openxmlformats.org/drawingml/2006/main" noChangeAspect="1"/>
          </p:cNvPicPr>
          <p:nvPr/>
        </p:nvPicPr>
        <p:blipFill>
          <a:blip xmlns:r="http://schemas.openxmlformats.org/officeDocument/2006/relationships" xmlns:a="http://schemas.openxmlformats.org/drawingml/2006/main" r:embed="R5246673fac234b3c"/>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8" name="Title 1">
            <a:extLst xmlns:a="http://schemas.openxmlformats.org/drawingml/2006/main">
              <a:ext uri="{FF2B5EF4-FFF2-40B4-BE49-F238E27FC236}">
                <a16:creationId xmlns:a16="http://schemas.microsoft.com/office/drawing/2014/main" id="{1C9A80FC-7CD8-4CBD-824B-538451139561}"/>
              </a:ext>
            </a:extLst>
          </p:cNvPr>
          <p:cNvSpPr>
            <a:spLocks xmlns:a="http://schemas.openxmlformats.org/drawingml/2006/main" noGrp="1"/>
          </p:cNvSpPr>
          <p:nvPr>
            <p:ph type="ctrTitle" idx="0" hasCustomPrompt="1"/>
          </p:nvPr>
        </p:nvSpPr>
        <p:spPr>
          <a:xfrm xmlns:a="http://schemas.openxmlformats.org/drawingml/2006/main">
            <a:off x="360379" y="601091"/>
            <a:ext cx="4301269" cy="2305339"/>
          </a:xfrm>
          <a:prstGeom xmlns:a="http://schemas.openxmlformats.org/drawingml/2006/main" prst="rect">
            <a:avLst/>
          </a:prstGeom>
        </p:spPr>
        <p:txBody>
          <a:bodyPr xmlns:a="http://schemas.openxmlformats.org/drawingml/2006/main" anchor="b"/>
          <a:lstStyle xmlns:a="http://schemas.openxmlformats.org/drawingml/2006/main">
            <a:lvl1pPr algn="l">
              <a:buNone/>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Arial"/>
                <a:cs typeface="Arial"/>
              </a:defRPr>
            </a:lvl1pPr>
          </a:lstStyle>
          <a:p xmlns:a="http://schemas.openxmlformats.org/drawingml/2006/main">
            <a:r>
              <a:t>Click to edit </a:t>
            </a:r>
            <a:br/>
            <a:r>
              <a:t>Master title style</a:t>
            </a:r>
          </a:p>
        </p:txBody>
      </p:sp>
      <p:sp>
        <p:nvSpPr>
          <p:cNvPr id="9" name="Subtitle 2">
            <a:extLst xmlns:a="http://schemas.openxmlformats.org/drawingml/2006/main">
              <a:ext uri="{FF2B5EF4-FFF2-40B4-BE49-F238E27FC236}">
                <a16:creationId xmlns:a16="http://schemas.microsoft.com/office/drawing/2014/main" id="{44C8DE7C-337F-470C-B4EA-F2ACEBD050C9}"/>
              </a:ext>
            </a:extLst>
          </p:cNvPr>
          <p:cNvSpPr>
            <a:spLocks xmlns:a="http://schemas.openxmlformats.org/drawingml/2006/main" noGrp="1"/>
          </p:cNvSpPr>
          <p:nvPr>
            <p:ph type="subTitle" idx="1" hasCustomPrompt="1"/>
          </p:nvPr>
        </p:nvSpPr>
        <p:spPr>
          <a:xfrm xmlns:a="http://schemas.openxmlformats.org/drawingml/2006/main">
            <a:off x="360379" y="3137687"/>
            <a:ext cx="4301269" cy="1752600"/>
          </a:xfrm>
          <a:prstGeom xmlns:a="http://schemas.openxmlformats.org/drawingml/2006/main" prst="rect">
            <a:avLst/>
          </a:prstGeom>
        </p:spPr>
        <p:txBody>
          <a:bodyPr xmlns:a="http://schemas.openxmlformats.org/drawingml/2006/main"/>
          <a:lstStyle xmlns:a="http://schemas.openxmlformats.org/drawingml/2006/main">
            <a:lvl1pPr marL="0" indent="0" algn="l">
              <a:buNone/>
              <a:defRPr>
                <a:solidFill>
                  <a:srgbClr val="ECE9C6"/>
                </a:solidFill>
                <a:effectLst>
                  <a:outerShdw blurRad="34925" dist="12700" dir="14400000" rotWithShape="0">
                    <a:prstClr val="black">
                      <a:alpha val="21000"/>
                    </a:prstClr>
                  </a:outerShdw>
                </a:effectLst>
                <a:latin typeface="Arial"/>
                <a:ea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a:t>
            </a:r>
            <a:br/>
            <a:r>
              <a:t>subtitle style</a:t>
            </a:r>
          </a:p>
        </p:txBody>
      </p:sp>
    </p:spTree>
  </p:cSld>
</p:sldLayout>
</file>

<file path=ppt/slideLayouts/slideLayout11.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7" name="Content Placeholder 2">
            <a:extLst xmlns:a="http://schemas.openxmlformats.org/drawingml/2006/main">
              <a:ext uri="{FF2B5EF4-FFF2-40B4-BE49-F238E27FC236}">
                <a16:creationId xmlns:a16="http://schemas.microsoft.com/office/drawing/2014/main" id="{81DC8505-A585-4158-8512-9D3B223FB0E3}"/>
              </a:ext>
            </a:extLst>
          </p:cNvPr>
          <p:cNvSpPr>
            <a:spLocks xmlns:a="http://schemas.openxmlformats.org/drawingml/2006/main" noGrp="1"/>
          </p:cNvSpPr>
          <p:nvPr>
            <p:ph idx="1"/>
          </p:nvPr>
        </p:nvSpPr>
        <p:spPr>
          <a:xfrm xmlns:a="http://schemas.openxmlformats.org/drawingml/2006/main">
            <a:off x="699248" y="1264358"/>
            <a:ext cx="7745505" cy="4007555"/>
          </a:xfrm>
          <a:prstGeom xmlns:a="http://schemas.openxmlformats.org/drawingml/2006/main" prst="rect">
            <a:avLst/>
          </a:prstGeom>
        </p:spPr>
        <p:txBody>
          <a:bodyPr xmlns:a="http://schemas.openxmlformats.org/drawingml/2006/main"/>
          <a:lstStyle xmlns:a="http://schemas.openxmlformats.org/drawingml/2006/main">
            <a:lvl1pPr>
              <a:buNone/>
              <a:defRPr>
                <a:solidFill>
                  <a:srgbClr val="595959"/>
                </a:solidFill>
                <a:latin typeface="Arial"/>
                <a:ea typeface="Arial"/>
                <a:cs typeface="Arial"/>
              </a:defRPr>
            </a:lvl1pPr>
            <a:lvl2pPr>
              <a:buNone/>
              <a:defRPr>
                <a:latin typeface="Arial"/>
                <a:ea typeface="Arial"/>
                <a:cs typeface="Arial"/>
              </a:defRPr>
            </a:lvl2pPr>
            <a:lvl3pPr>
              <a:buNone/>
              <a:defRPr>
                <a:latin typeface="Arial"/>
                <a:ea typeface="Arial"/>
                <a:cs typeface="Arial"/>
              </a:defRPr>
            </a:lvl3pPr>
            <a:lvl4pPr>
              <a:buNone/>
              <a:defRPr>
                <a:latin typeface="Arial"/>
                <a:ea typeface="Arial"/>
                <a:cs typeface="Arial"/>
              </a:defRPr>
            </a:lvl4pPr>
            <a:lvl5pPr>
              <a:buNone/>
              <a:defRPr>
                <a:latin typeface="Arial"/>
                <a:ea typeface="Arial"/>
                <a:cs typeface="Arial"/>
              </a:defRPr>
            </a:lvl5pPr>
          </a:lstStyle>
          <a:p xmlns:a="http://schemas.openxmlformats.org/drawingml/2006/main">
            <a:pPr lvl="0">
              <a:buNone/>
            </a:pPr>
            <a:r>
              <a:t>Click to edit Master text styles</a:t>
            </a:r>
          </a:p>
        </p:txBody>
      </p:sp>
      <p:sp>
        <p:nvSpPr>
          <p:cNvPr id="8" name="Title 10">
            <a:extLst xmlns:a="http://schemas.openxmlformats.org/drawingml/2006/main">
              <a:ext uri="{FF2B5EF4-FFF2-40B4-BE49-F238E27FC236}">
                <a16:creationId xmlns:a16="http://schemas.microsoft.com/office/drawing/2014/main" id="{DD398E29-1AA6-461A-84A7-051A1B6FD85B}"/>
              </a:ext>
            </a:extLst>
          </p:cNvPr>
          <p:cNvSpPr>
            <a:spLocks xmlns:a="http://schemas.openxmlformats.org/drawingml/2006/main" noGrp="1"/>
          </p:cNvSpPr>
          <p:nvPr>
            <p:ph type="title" idx="0"/>
          </p:nvPr>
        </p:nvSpPr>
        <p:spPr>
          <a:xfrm xmlns:a="http://schemas.openxmlformats.org/drawingml/2006/main">
            <a:off x="688490" y="366958"/>
            <a:ext cx="7756263" cy="739355"/>
          </a:xfrm>
          <a:prstGeom xmlns:a="http://schemas.openxmlformats.org/drawingml/2006/main" prst="rect">
            <a:avLst/>
          </a:prstGeom>
        </p:spPr>
        <p:txBody>
          <a:bodyPr xmlns:a="http://schemas.openxmlformats.org/drawingml/2006/main"/>
          <a:lstStyle xmlns:a="http://schemas.openxmlformats.org/drawingml/2006/main">
            <a:lvl1pPr algn="l">
              <a:buNone/>
              <a:defRPr sz="4000" b="1">
                <a:solidFill>
                  <a:schemeClr val="tx1">
                    <a:lumMod val="75000"/>
                    <a:lumOff val="25000"/>
                  </a:schemeClr>
                </a:solidFill>
                <a:latin typeface="Arial"/>
                <a:ea typeface="Arial"/>
                <a:cs typeface="Arial"/>
              </a:defRPr>
            </a:lvl1pPr>
          </a:lstStyle>
          <a:p xmlns:a="http://schemas.openxmlformats.org/drawingml/2006/main">
            <a:r>
              <a:t>Click to edit Master title style</a:t>
            </a:r>
          </a:p>
        </p:txBody>
      </p:sp>
    </p:spTree>
  </p:cSld>
</p:sldLayout>
</file>

<file path=ppt/slideLayouts/slideLayout12.xml><?xml version="1.0" encoding="utf-8"?>
<p:sldLayout xmlns:p="http://schemas.openxmlformats.org/presentationml/2006/main" preserve="1" userDrawn="1">
  <p:cSld name="Section Header">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DAC53C68-B645-4C56-9073-8825A858ECED}"/>
              </a:ext>
            </a:extLst>
          </p:cNvPr>
          <p:cNvSpPr>
            <a:spLocks xmlns:a="http://schemas.openxmlformats.org/drawingml/2006/main" noGrp="1"/>
          </p:cNvSpPr>
          <p:nvPr>
            <p:ph type="title" idx="0"/>
          </p:nvPr>
        </p:nvSpPr>
        <p:spPr>
          <a:xfrm xmlns:a="http://schemas.openxmlformats.org/drawingml/2006/main">
            <a:off x="690041" y="1204857"/>
            <a:ext cx="7754713" cy="1910716"/>
          </a:xfrm>
          <a:prstGeom xmlns:a="http://schemas.openxmlformats.org/drawingml/2006/main" prst="rect">
            <a:avLst/>
          </a:prstGeom>
        </p:spPr>
        <p:txBody>
          <a:bodyPr xmlns:a="http://schemas.openxmlformats.org/drawingml/2006/main" anchor="b"/>
          <a:lstStyle xmlns:a="http://schemas.openxmlformats.org/drawingml/2006/main">
            <a:lvl1pPr algn="ctr">
              <a:buNone/>
              <a:defRPr sz="5400" b="1" cap="none" baseline="0">
                <a:solidFill>
                  <a:srgbClr val="595959"/>
                </a:solidFill>
                <a:latin typeface="Arial"/>
                <a:ea typeface="Arial"/>
                <a:cs typeface="Arial"/>
              </a:defRPr>
            </a:lvl1pPr>
          </a:lstStyle>
          <a:p xmlns:a="http://schemas.openxmlformats.org/drawingml/2006/main">
            <a:r>
              <a:t>Click to edit Master title style</a:t>
            </a:r>
          </a:p>
        </p:txBody>
      </p:sp>
      <p:sp>
        <p:nvSpPr>
          <p:cNvPr id="9" name="Text Placeholder 2">
            <a:extLst xmlns:a="http://schemas.openxmlformats.org/drawingml/2006/main">
              <a:ext uri="{FF2B5EF4-FFF2-40B4-BE49-F238E27FC236}">
                <a16:creationId xmlns:a16="http://schemas.microsoft.com/office/drawing/2014/main" id="{5C408B1F-0A46-4786-87F1-2CCAEA2979C9}"/>
              </a:ext>
            </a:extLst>
          </p:cNvPr>
          <p:cNvSpPr>
            <a:spLocks xmlns:a="http://schemas.openxmlformats.org/drawingml/2006/main" noGrp="1"/>
          </p:cNvSpPr>
          <p:nvPr>
            <p:ph type="body" idx="1"/>
          </p:nvPr>
        </p:nvSpPr>
        <p:spPr>
          <a:xfrm xmlns:a="http://schemas.openxmlformats.org/drawingml/2006/main">
            <a:off x="699248" y="3324433"/>
            <a:ext cx="7734747" cy="1500187"/>
          </a:xfrm>
          <a:prstGeom xmlns:a="http://schemas.openxmlformats.org/drawingml/2006/main" prst="rect">
            <a:avLst/>
          </a:prstGeom>
        </p:spPr>
        <p:txBody>
          <a:bodyPr xmlns:a="http://schemas.openxmlformats.org/drawingml/2006/main" anchor="t"/>
          <a:lstStyle xmlns:a="http://schemas.openxmlformats.org/drawingml/2006/main">
            <a:lvl1pPr marL="0" indent="0" algn="ctr">
              <a:buNone/>
              <a:defRPr sz="2000">
                <a:solidFill>
                  <a:srgbClr val="595959"/>
                </a:solidFill>
                <a:latin typeface="Arial"/>
                <a:ea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Tree>
  </p:cSld>
</p:sldLayout>
</file>

<file path=ppt/slideLayouts/slideLayout13.xml><?xml version="1.0" encoding="utf-8"?>
<p:sldLayout xmlns:p="http://schemas.openxmlformats.org/presentationml/2006/main" preserve="1" userDrawn="1">
  <p:cSld name="Two Content Areas">
    <p:spTree>
      <p:nvGrpSpPr>
        <p:cNvPr id="1" name=""/>
        <p:cNvGrpSpPr/>
        <p:nvPr/>
      </p:nvGrpSpPr>
      <p:grpSpPr>
        <a:xfrm xmlns:a="http://schemas.openxmlformats.org/drawingml/2006/main"/>
      </p:grpSpPr>
      <p:sp>
        <p:nvSpPr>
          <p:cNvPr id="10" name="Title 11">
            <a:extLst xmlns:a="http://schemas.openxmlformats.org/drawingml/2006/main">
              <a:ext uri="{FF2B5EF4-FFF2-40B4-BE49-F238E27FC236}">
                <a16:creationId xmlns:a16="http://schemas.microsoft.com/office/drawing/2014/main" id="{2645845B-C9D4-488F-9B48-081B6EB984AC}"/>
              </a:ext>
            </a:extLst>
          </p:cNvPr>
          <p:cNvSpPr>
            <a:spLocks xmlns:a="http://schemas.openxmlformats.org/drawingml/2006/main" noGrp="1"/>
          </p:cNvSpPr>
          <p:nvPr>
            <p:ph type="title" idx="0"/>
          </p:nvPr>
        </p:nvSpPr>
        <p:spPr>
          <a:xfrm xmlns:a="http://schemas.openxmlformats.org/drawingml/2006/main">
            <a:off x="688490" y="570156"/>
            <a:ext cx="7756263" cy="1054250"/>
          </a:xfrm>
          <a:prstGeom xmlns:a="http://schemas.openxmlformats.org/drawingml/2006/main" prst="rect">
            <a:avLst/>
          </a:prstGeom>
        </p:spPr>
        <p:txBody>
          <a:bodyPr xmlns:a="http://schemas.openxmlformats.org/drawingml/2006/main"/>
          <a:lstStyle xmlns:a="http://schemas.openxmlformats.org/drawingml/2006/main">
            <a:lvl1pPr>
              <a:buNone/>
              <a:defRPr sz="4300" b="1">
                <a:solidFill>
                  <a:srgbClr val="595959"/>
                </a:solidFill>
                <a:latin typeface="Arial"/>
                <a:ea typeface="Arial"/>
                <a:cs typeface="Arial"/>
              </a:defRPr>
            </a:lvl1pPr>
          </a:lstStyle>
          <a:p xmlns:a="http://schemas.openxmlformats.org/drawingml/2006/main">
            <a:r>
              <a:t>Click to edit Master title style</a:t>
            </a:r>
          </a:p>
        </p:txBody>
      </p:sp>
      <p:sp>
        <p:nvSpPr>
          <p:cNvPr id="11" name="Content Placeholder 7">
            <a:extLst xmlns:a="http://schemas.openxmlformats.org/drawingml/2006/main">
              <a:ext uri="{FF2B5EF4-FFF2-40B4-BE49-F238E27FC236}">
                <a16:creationId xmlns:a16="http://schemas.microsoft.com/office/drawing/2014/main" id="{55A2E5EA-4980-4CCF-A784-AE2F6FFD8017}"/>
              </a:ext>
            </a:extLst>
          </p:cNvPr>
          <p:cNvSpPr>
            <a:spLocks xmlns:a="http://schemas.openxmlformats.org/drawingml/2006/main" noGrp="1"/>
          </p:cNvSpPr>
          <p:nvPr>
            <p:ph idx="13"/>
          </p:nvPr>
        </p:nvSpPr>
        <p:spPr>
          <a:xfrm xmlns:a="http://schemas.openxmlformats.org/drawingml/2006/main">
            <a:off x="685800" y="1845482"/>
            <a:ext cx="3803904" cy="343447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stStyle>
          <a:p xmlns:a="http://schemas.openxmlformats.org/drawingml/2006/main">
            <a:pPr lvl="0">
              <a:buNone/>
            </a:pPr>
            <a:r>
              <a:t>Click to edit Master text styles</a:t>
            </a:r>
          </a:p>
        </p:txBody>
      </p:sp>
      <p:sp>
        <p:nvSpPr>
          <p:cNvPr id="12" name="Content Placeholder 9">
            <a:extLst xmlns:a="http://schemas.openxmlformats.org/drawingml/2006/main">
              <a:ext uri="{FF2B5EF4-FFF2-40B4-BE49-F238E27FC236}">
                <a16:creationId xmlns:a16="http://schemas.microsoft.com/office/drawing/2014/main" id="{0BCF8462-B331-4899-8B87-E22E6E4EE744}"/>
              </a:ext>
            </a:extLst>
          </p:cNvPr>
          <p:cNvSpPr>
            <a:spLocks xmlns:a="http://schemas.openxmlformats.org/drawingml/2006/main" noGrp="1"/>
          </p:cNvSpPr>
          <p:nvPr>
            <p:ph idx="14"/>
          </p:nvPr>
        </p:nvSpPr>
        <p:spPr>
          <a:xfrm xmlns:a="http://schemas.openxmlformats.org/drawingml/2006/main">
            <a:off x="4645151" y="1845482"/>
            <a:ext cx="3803904" cy="3434474"/>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stStyle>
          <a:p xmlns:a="http://schemas.openxmlformats.org/drawingml/2006/main">
            <a:pPr lvl="0">
              <a:buNone/>
            </a:pPr>
            <a:r>
              <a:t>Click to edit Master text styles</a:t>
            </a:r>
          </a:p>
        </p:txBody>
      </p:sp>
    </p:spTree>
  </p:cSld>
</p:sldLayout>
</file>

<file path=ppt/slideLayouts/slideLayout14.xml><?xml version="1.0" encoding="utf-8"?>
<p:sldLayout xmlns:p="http://schemas.openxmlformats.org/presentationml/2006/main" preserve="1" userDrawn="1">
  <p:cSld name="Two Columns with Subtitles">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C3FC863D-EFCC-477E-96CB-96822A75E6FB}"/>
              </a:ext>
            </a:extLst>
          </p:cNvPr>
          <p:cNvSpPr>
            <a:spLocks xmlns:a="http://schemas.openxmlformats.org/drawingml/2006/main" noGrp="1"/>
          </p:cNvSpPr>
          <p:nvPr>
            <p:ph type="title" idx="0"/>
          </p:nvPr>
        </p:nvSpPr>
        <p:spPr>
          <a:xfrm xmlns:a="http://schemas.openxmlformats.org/drawingml/2006/main">
            <a:off x="688490" y="570156"/>
            <a:ext cx="7756263" cy="1054250"/>
          </a:xfrm>
          <a:prstGeom xmlns:a="http://schemas.openxmlformats.org/drawingml/2006/main" prst="rect">
            <a:avLst/>
          </a:prstGeom>
        </p:spPr>
        <p:txBody>
          <a:bodyPr xmlns:a="http://schemas.openxmlformats.org/drawingml/2006/main"/>
          <a:lstStyle xmlns:a="http://schemas.openxmlformats.org/drawingml/2006/main">
            <a:lvl1pPr>
              <a:buNone/>
              <a:defRPr sz="4300" b="1">
                <a:solidFill>
                  <a:srgbClr val="595959"/>
                </a:solidFill>
                <a:latin typeface="Arial"/>
                <a:ea typeface="Arial"/>
                <a:cs typeface="Arial"/>
              </a:defRPr>
            </a:lvl1pPr>
          </a:lstStyle>
          <a:p xmlns:a="http://schemas.openxmlformats.org/drawingml/2006/main">
            <a:r>
              <a:t>Click to edit Master title style</a:t>
            </a:r>
          </a:p>
        </p:txBody>
      </p:sp>
      <p:sp>
        <p:nvSpPr>
          <p:cNvPr id="7" name="Text Placeholder 2">
            <a:extLst xmlns:a="http://schemas.openxmlformats.org/drawingml/2006/main">
              <a:ext uri="{FF2B5EF4-FFF2-40B4-BE49-F238E27FC236}">
                <a16:creationId xmlns:a16="http://schemas.microsoft.com/office/drawing/2014/main" id="{D6D9F1B6-A707-406F-BCF9-62E809057E71}"/>
              </a:ext>
            </a:extLst>
          </p:cNvPr>
          <p:cNvSpPr>
            <a:spLocks xmlns:a="http://schemas.openxmlformats.org/drawingml/2006/main" noGrp="1"/>
          </p:cNvSpPr>
          <p:nvPr>
            <p:ph type="body" idx="1"/>
          </p:nvPr>
        </p:nvSpPr>
        <p:spPr>
          <a:xfrm xmlns:a="http://schemas.openxmlformats.org/drawingml/2006/main">
            <a:off x="688491" y="1783601"/>
            <a:ext cx="3621929" cy="658368"/>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lgn="l">
              <a:buNone/>
              <a:defRPr sz="2500" b="1">
                <a:solidFill>
                  <a:srgbClr val="595959"/>
                </a:solidFill>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 name="Content Placeholder 3">
            <a:extLst xmlns:a="http://schemas.openxmlformats.org/drawingml/2006/main">
              <a:ext uri="{FF2B5EF4-FFF2-40B4-BE49-F238E27FC236}">
                <a16:creationId xmlns:a16="http://schemas.microsoft.com/office/drawing/2014/main" id="{0DCB9339-6641-4774-B9D6-B8DE1E070C3F}"/>
              </a:ext>
            </a:extLst>
          </p:cNvPr>
          <p:cNvSpPr>
            <a:spLocks xmlns:a="http://schemas.openxmlformats.org/drawingml/2006/main" noGrp="1"/>
          </p:cNvSpPr>
          <p:nvPr>
            <p:ph idx="2"/>
          </p:nvPr>
        </p:nvSpPr>
        <p:spPr>
          <a:xfrm xmlns:a="http://schemas.openxmlformats.org/drawingml/2006/main">
            <a:off x="688489" y="2622290"/>
            <a:ext cx="3621931" cy="2595107"/>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vl2pPr>
              <a:buNone/>
              <a:defRPr sz="2000">
                <a:latin typeface="Arial"/>
                <a:ea typeface="Arial"/>
                <a:cs typeface="Arial"/>
              </a:defRPr>
            </a:lvl2pPr>
            <a:lvl3pPr>
              <a:buNone/>
              <a:defRPr sz="2000">
                <a:latin typeface="Arial"/>
                <a:ea typeface="Arial"/>
                <a:cs typeface="Arial"/>
              </a:defRPr>
            </a:lvl3pPr>
            <a:lvl4pPr>
              <a:buNone/>
              <a:defRPr sz="2000">
                <a:latin typeface="Arial"/>
                <a:ea typeface="Arial"/>
                <a:cs typeface="Arial"/>
              </a:defRPr>
            </a:lvl4pPr>
            <a:lvl5pPr>
              <a:buNone/>
              <a:defRPr sz="2000">
                <a:latin typeface="Arial"/>
                <a:ea typeface="Arial"/>
                <a:cs typeface="Arial"/>
              </a:defRPr>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p:txBody>
      </p:sp>
      <p:sp>
        <p:nvSpPr>
          <p:cNvPr id="9" name="Text Placeholder 4">
            <a:extLst xmlns:a="http://schemas.openxmlformats.org/drawingml/2006/main">
              <a:ext uri="{FF2B5EF4-FFF2-40B4-BE49-F238E27FC236}">
                <a16:creationId xmlns:a16="http://schemas.microsoft.com/office/drawing/2014/main" id="{43E0F981-BC45-41C8-A67E-2D8629A37591}"/>
              </a:ext>
            </a:extLst>
          </p:cNvPr>
          <p:cNvSpPr>
            <a:spLocks xmlns:a="http://schemas.openxmlformats.org/drawingml/2006/main" noGrp="1"/>
          </p:cNvSpPr>
          <p:nvPr>
            <p:ph type="body" idx="3"/>
          </p:nvPr>
        </p:nvSpPr>
        <p:spPr>
          <a:xfrm xmlns:a="http://schemas.openxmlformats.org/drawingml/2006/main">
            <a:off x="4785879" y="1783601"/>
            <a:ext cx="3663716" cy="658368"/>
          </a:xfrm>
          <a:prstGeom xmlns:a="http://schemas.openxmlformats.org/drawingml/2006/main" prst="rect">
            <a:avLst/>
          </a:prstGeom>
        </p:spPr>
        <p:txBody>
          <a:bodyPr xmlns:a="http://schemas.openxmlformats.org/drawingml/2006/main" anchor="b">
            <a:noAutofit/>
          </a:bodyPr>
          <a:lstStyle xmlns:a="http://schemas.openxmlformats.org/drawingml/2006/main">
            <a:lvl1pPr marL="0" indent="0" algn="l">
              <a:buNone/>
              <a:defRPr sz="2500" b="1">
                <a:solidFill>
                  <a:srgbClr val="595959"/>
                </a:solidFill>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 name="Content Placeholder 5">
            <a:extLst xmlns:a="http://schemas.openxmlformats.org/drawingml/2006/main">
              <a:ext uri="{FF2B5EF4-FFF2-40B4-BE49-F238E27FC236}">
                <a16:creationId xmlns:a16="http://schemas.microsoft.com/office/drawing/2014/main" id="{8CE5AE99-17B2-4313-9528-D291790E3017}"/>
              </a:ext>
            </a:extLst>
          </p:cNvPr>
          <p:cNvSpPr>
            <a:spLocks xmlns:a="http://schemas.openxmlformats.org/drawingml/2006/main" noGrp="1"/>
          </p:cNvSpPr>
          <p:nvPr>
            <p:ph idx="4"/>
          </p:nvPr>
        </p:nvSpPr>
        <p:spPr>
          <a:xfrm xmlns:a="http://schemas.openxmlformats.org/drawingml/2006/main">
            <a:off x="4785878" y="2619063"/>
            <a:ext cx="3658875" cy="2595107"/>
          </a:xfrm>
          <a:prstGeom xmlns:a="http://schemas.openxmlformats.org/drawingml/2006/main" prst="rect">
            <a:avLst/>
          </a:prstGeom>
        </p:spPr>
        <p:txBody>
          <a:bodyPr xmlns:a="http://schemas.openxmlformats.org/drawingml/2006/main">
            <a:normAutofit/>
          </a:bodyPr>
          <a:lstStyle xmlns:a="http://schemas.openxmlformats.org/drawingml/2006/main">
            <a:lvl1pPr>
              <a:buNone/>
              <a:defRPr sz="2000">
                <a:solidFill>
                  <a:srgbClr val="595959"/>
                </a:solidFill>
                <a:latin typeface="Arial"/>
                <a:ea typeface="Arial"/>
                <a:cs typeface="Arial"/>
              </a:defRPr>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p:txBody>
      </p:sp>
    </p:spTree>
  </p:cSld>
</p:sldLayout>
</file>

<file path=ppt/slideLayouts/slideLayout15.xml><?xml version="1.0" encoding="utf-8"?>
<p:sldLayout xmlns:p="http://schemas.openxmlformats.org/presentationml/2006/main" preserve="1" userDrawn="1">
  <p:cSld name="Content with Caption">
    <p:spTree>
      <p:nvGrpSpPr>
        <p:cNvPr id="1" name=""/>
        <p:cNvGrpSpPr/>
        <p:nvPr/>
      </p:nvGrpSpPr>
      <p:grpSpPr>
        <a:xfrm xmlns:a="http://schemas.openxmlformats.org/drawingml/2006/main"/>
      </p:grpSpPr>
      <p:sp>
        <p:nvSpPr>
          <p:cNvPr id="5" name="Content Placeholder 2">
            <a:extLst xmlns:a="http://schemas.openxmlformats.org/drawingml/2006/main">
              <a:ext uri="{FF2B5EF4-FFF2-40B4-BE49-F238E27FC236}">
                <a16:creationId xmlns:a16="http://schemas.microsoft.com/office/drawing/2014/main" id="{34352449-9F1D-4FBA-86D2-0D091D5BF088}"/>
              </a:ext>
            </a:extLst>
          </p:cNvPr>
          <p:cNvSpPr>
            <a:spLocks xmlns:a="http://schemas.openxmlformats.org/drawingml/2006/main" noGrp="1"/>
          </p:cNvSpPr>
          <p:nvPr>
            <p:ph idx="1"/>
          </p:nvPr>
        </p:nvSpPr>
        <p:spPr>
          <a:xfrm xmlns:a="http://schemas.openxmlformats.org/drawingml/2006/main">
            <a:off x="692003" y="559401"/>
            <a:ext cx="3580882" cy="4414019"/>
          </a:xfrm>
          <a:prstGeom xmlns:a="http://schemas.openxmlformats.org/drawingml/2006/main" prst="rect">
            <a:avLst/>
          </a:prstGeom>
        </p:spPr>
        <p:txBody>
          <a:bodyPr xmlns:a="http://schemas.openxmlformats.org/drawingml/2006/main" anchor="t">
            <a:normAutofit/>
          </a:bodyPr>
          <a:lstStyle xmlns:a="http://schemas.openxmlformats.org/drawingml/2006/main">
            <a:lvl1pPr marL="0" indent="0" algn="l">
              <a:buNone/>
              <a:defRPr sz="2000">
                <a:solidFill>
                  <a:srgbClr val="595959"/>
                </a:solidFill>
                <a:latin typeface="Arial"/>
                <a:ea typeface="Arial"/>
                <a:cs typeface="Arial"/>
              </a:defRPr>
            </a:lvl1pPr>
            <a:lvl2pPr algn="l">
              <a:buNone/>
              <a:defRPr sz="2000">
                <a:latin typeface="Arial"/>
                <a:ea typeface="Arial"/>
                <a:cs typeface="Arial"/>
              </a:defRPr>
            </a:lvl2pPr>
            <a:lvl3pPr algn="l">
              <a:buNone/>
              <a:defRPr sz="2000">
                <a:latin typeface="Arial"/>
                <a:ea typeface="Arial"/>
                <a:cs typeface="Arial"/>
              </a:defRPr>
            </a:lvl3pPr>
            <a:lvl4pPr algn="l">
              <a:buNone/>
              <a:defRPr sz="2000">
                <a:latin typeface="Arial"/>
                <a:ea typeface="Arial"/>
                <a:cs typeface="Arial"/>
              </a:defRPr>
            </a:lvl4pPr>
            <a:lvl5pPr algn="l">
              <a:buNone/>
              <a:defRPr sz="2000">
                <a:latin typeface="Arial"/>
                <a:ea typeface="Arial"/>
                <a:cs typeface="Arial"/>
              </a:defRPr>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p:txBody>
      </p:sp>
      <p:sp>
        <p:nvSpPr>
          <p:cNvPr id="6" name="Text Placeholder 3">
            <a:extLst xmlns:a="http://schemas.openxmlformats.org/drawingml/2006/main">
              <a:ext uri="{FF2B5EF4-FFF2-40B4-BE49-F238E27FC236}">
                <a16:creationId xmlns:a16="http://schemas.microsoft.com/office/drawing/2014/main" id="{33EAA795-5580-44D8-B0BB-6D6657BF249E}"/>
              </a:ext>
            </a:extLst>
          </p:cNvPr>
          <p:cNvSpPr>
            <a:spLocks xmlns:a="http://schemas.openxmlformats.org/drawingml/2006/main" noGrp="1"/>
          </p:cNvSpPr>
          <p:nvPr>
            <p:ph type="body" idx="2"/>
          </p:nvPr>
        </p:nvSpPr>
        <p:spPr>
          <a:xfrm xmlns:a="http://schemas.openxmlformats.org/drawingml/2006/main">
            <a:off x="4889813" y="562026"/>
            <a:ext cx="3580882" cy="4414018"/>
          </a:xfrm>
          <a:prstGeom xmlns:a="http://schemas.openxmlformats.org/drawingml/2006/main" prst="rect">
            <a:avLst/>
          </a:prstGeom>
        </p:spPr>
        <p:txBody>
          <a:bodyPr xmlns:a="http://schemas.openxmlformats.org/drawingml/2006/main">
            <a:normAutofit/>
          </a:bodyPr>
          <a:lstStyle xmlns:a="http://schemas.openxmlformats.org/drawingml/2006/main">
            <a:lvl1pPr marL="0" indent="0">
              <a:buNone/>
              <a:defRPr sz="2000">
                <a:solidFill>
                  <a:srgbClr val="595959"/>
                </a:solidFill>
                <a:latin typeface="Arial"/>
                <a:ea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Tree>
  </p:cSld>
</p:sldLayout>
</file>

<file path=ppt/slideLayouts/slideLayout16.xml><?xml version="1.0" encoding="utf-8"?>
<p:sldLayout xmlns:p="http://schemas.openxmlformats.org/presentationml/2006/main" preserve="1" userDrawn="1">
  <p:cSld name="Photo with Caption">
    <p:spTree>
      <p:nvGrpSpPr>
        <p:cNvPr id="1" name=""/>
        <p:cNvGrpSpPr/>
        <p:nvPr/>
      </p:nvGrpSpPr>
      <p:grpSpPr>
        <a:xfrm xmlns:a="http://schemas.openxmlformats.org/drawingml/2006/main"/>
      </p:grpSpPr>
      <p:sp>
        <p:nvSpPr>
          <p:cNvPr id="8" name="Picture Placeholder 2">
            <a:extLst xmlns:a="http://schemas.openxmlformats.org/drawingml/2006/main">
              <a:ext uri="{FF2B5EF4-FFF2-40B4-BE49-F238E27FC236}">
                <a16:creationId xmlns:a16="http://schemas.microsoft.com/office/drawing/2014/main" id="{5E3698C6-4C5C-45E3-AA6A-F43FBA7D2C83}"/>
              </a:ext>
            </a:extLst>
          </p:cNvPr>
          <p:cNvSpPr>
            <a:spLocks xmlns:a="http://schemas.openxmlformats.org/drawingml/2006/main" noGrp="1"/>
          </p:cNvSpPr>
          <p:nvPr>
            <p:ph type="pic" idx="1"/>
          </p:nvPr>
        </p:nvSpPr>
        <p:spPr>
          <a:xfrm xmlns:a="http://schemas.openxmlformats.org/drawingml/2006/main" rot="344365">
            <a:off x="773476" y="536674"/>
            <a:ext cx="7578326" cy="3491307"/>
          </a:xfrm>
          <a:prstGeom xmlns:a="http://schemas.openxmlformats.org/drawingml/2006/main" prst="rect">
            <a:avLst/>
          </a:prstGeom>
          <a:solidFill xmlns:a="http://schemas.openxmlformats.org/drawingml/2006/main">
            <a:srgbClr val="FFFFFF">
              <a:shade val="85000"/>
            </a:srgbClr>
          </a:solidFill>
          <a:ln xmlns:a="http://schemas.openxmlformats.org/drawingml/2006/main" w="190500" cap="sq">
            <a:solidFill>
              <a:srgbClr val="FFFFFF"/>
            </a:solidFill>
            <a:miter/>
          </a:ln>
        </p:spPr>
        <p:txBody>
          <a:bodyPr xmlns:a="http://schemas.openxmlformats.org/drawingml/2006/main">
            <a:normAutofit/>
          </a:bodyPr>
          <a:lstStyle xmlns:a="http://schemas.openxmlformats.org/drawingml/2006/main">
            <a:lvl1pPr marL="0" indent="0">
              <a:buNone/>
              <a:defRPr sz="2000">
                <a:latin typeface="Arial"/>
                <a:ea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Drag picture to placeholder or click icon to add</a:t>
            </a:r>
          </a:p>
        </p:txBody>
      </p:sp>
      <p:sp>
        <p:nvSpPr>
          <p:cNvPr id="9" name="Text Placeholder 3">
            <a:extLst xmlns:a="http://schemas.openxmlformats.org/drawingml/2006/main">
              <a:ext uri="{FF2B5EF4-FFF2-40B4-BE49-F238E27FC236}">
                <a16:creationId xmlns:a16="http://schemas.microsoft.com/office/drawing/2014/main" id="{D8843B6A-7448-4795-982E-B4CEA964B785}"/>
              </a:ext>
            </a:extLst>
          </p:cNvPr>
          <p:cNvSpPr>
            <a:spLocks xmlns:a="http://schemas.openxmlformats.org/drawingml/2006/main" noGrp="1"/>
          </p:cNvSpPr>
          <p:nvPr>
            <p:ph type="body" idx="2"/>
          </p:nvPr>
        </p:nvSpPr>
        <p:spPr>
          <a:xfrm xmlns:a="http://schemas.openxmlformats.org/drawingml/2006/main">
            <a:off x="688490" y="4486019"/>
            <a:ext cx="7756264" cy="804862"/>
          </a:xfrm>
          <a:prstGeom xmlns:a="http://schemas.openxmlformats.org/drawingml/2006/main" prst="rect">
            <a:avLst/>
          </a:prstGeom>
        </p:spPr>
        <p:txBody>
          <a:bodyPr xmlns:a="http://schemas.openxmlformats.org/drawingml/2006/main">
            <a:normAutofit/>
          </a:bodyPr>
          <a:lstStyle xmlns:a="http://schemas.openxmlformats.org/drawingml/2006/main">
            <a:lvl1pPr marL="0" indent="0" algn="ctr">
              <a:buNone/>
              <a:defRPr sz="1600" b="0">
                <a:solidFill>
                  <a:srgbClr val="595959"/>
                </a:solidFill>
                <a:latin typeface="Arial"/>
                <a:ea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Tree>
  </p:cSld>
</p:sldLayout>
</file>

<file path=ppt/slideLayouts/slideLayout17.xml><?xml version="1.0" encoding="utf-8"?>
<p:sldLayout xmlns:p="http://schemas.openxmlformats.org/presentationml/2006/main" preserve="1" userDrawn="1">
  <p:cSld name="Closing Slide">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66DA890D-4FB8-432B-BBF9-22AA0B712D88}"/>
              </a:ext>
            </a:extLst>
          </p:cNvPr>
          <p:cNvPicPr>
            <a:picLocks xmlns:a="http://schemas.openxmlformats.org/drawingml/2006/main" noChangeAspect="1"/>
          </p:cNvPicPr>
          <p:nvPr/>
        </p:nvPicPr>
        <p:blipFill>
          <a:blip xmlns:r="http://schemas.openxmlformats.org/officeDocument/2006/relationships" xmlns:a="http://schemas.openxmlformats.org/drawingml/2006/main" r:embed="R700b9bdbb498403c"/>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cSld>
</p:sldLayout>
</file>

<file path=ppt/slideLayouts/slideLayout18.xml><?xml version="1.0" encoding="utf-8"?>
<p:sldLayout xmlns:p="http://schemas.openxmlformats.org/presentationml/2006/main" preserve="1" userDrawn="1">
  <p:cSld name="Title with Custom Photo">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58C2C5F1-B63C-446E-B344-E028FE062FD7}"/>
              </a:ext>
            </a:extLst>
          </p:cNvPr>
          <p:cNvPicPr>
            <a:picLocks xmlns:a="http://schemas.openxmlformats.org/drawingml/2006/main" noChangeAspect="1"/>
          </p:cNvPicPr>
          <p:nvPr/>
        </p:nvPicPr>
        <p:blipFill>
          <a:blip xmlns:r="http://schemas.openxmlformats.org/officeDocument/2006/relationships" xmlns:a="http://schemas.openxmlformats.org/drawingml/2006/main" r:embed="R4473bfde94a34d77"/>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8" name="Subtitle 2">
            <a:extLst xmlns:a="http://schemas.openxmlformats.org/drawingml/2006/main">
              <a:ext uri="{FF2B5EF4-FFF2-40B4-BE49-F238E27FC236}">
                <a16:creationId xmlns:a16="http://schemas.microsoft.com/office/drawing/2014/main" id="{A34D2FA5-FAC8-4BD5-B6A2-8ACF0875CE69}"/>
              </a:ext>
            </a:extLst>
          </p:cNvPr>
          <p:cNvSpPr>
            <a:spLocks xmlns:a="http://schemas.openxmlformats.org/drawingml/2006/main" noGrp="1"/>
          </p:cNvSpPr>
          <p:nvPr>
            <p:ph type="subTitle" idx="1" hasCustomPrompt="1"/>
          </p:nvPr>
        </p:nvSpPr>
        <p:spPr>
          <a:xfrm xmlns:a="http://schemas.openxmlformats.org/drawingml/2006/main">
            <a:off x="360378" y="3137687"/>
            <a:ext cx="3658798" cy="1752600"/>
          </a:xfrm>
          <a:prstGeom xmlns:a="http://schemas.openxmlformats.org/drawingml/2006/main" prst="rect">
            <a:avLst/>
          </a:prstGeom>
        </p:spPr>
        <p:txBody>
          <a:bodyPr xmlns:a="http://schemas.openxmlformats.org/drawingml/2006/main"/>
          <a:lstStyle xmlns:a="http://schemas.openxmlformats.org/drawingml/2006/main">
            <a:lvl1pPr marL="0" indent="0" algn="l">
              <a:buNone/>
              <a:defRPr>
                <a:solidFill>
                  <a:schemeClr val="bg2"/>
                </a:solidFill>
                <a:effectLst>
                  <a:outerShdw blurRad="34925" dist="12700" dir="14400000" rotWithShape="0">
                    <a:prstClr val="black">
                      <a:alpha val="21000"/>
                    </a:prstClr>
                  </a:outerShdw>
                </a:effectLst>
                <a:latin typeface="Arial"/>
                <a:ea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a:t>
            </a:r>
            <a:br/>
            <a:r>
              <a:t>subtitle style</a:t>
            </a:r>
          </a:p>
        </p:txBody>
      </p:sp>
      <p:sp>
        <p:nvSpPr>
          <p:cNvPr id="9" name="Title 1">
            <a:extLst xmlns:a="http://schemas.openxmlformats.org/drawingml/2006/main">
              <a:ext uri="{FF2B5EF4-FFF2-40B4-BE49-F238E27FC236}">
                <a16:creationId xmlns:a16="http://schemas.microsoft.com/office/drawing/2014/main" id="{6BC8B04F-9514-42BD-9B97-52BC801F09A9}"/>
              </a:ext>
            </a:extLst>
          </p:cNvPr>
          <p:cNvSpPr>
            <a:spLocks xmlns:a="http://schemas.openxmlformats.org/drawingml/2006/main" noGrp="1"/>
          </p:cNvSpPr>
          <p:nvPr>
            <p:ph type="ctrTitle" idx="0" hasCustomPrompt="1"/>
          </p:nvPr>
        </p:nvSpPr>
        <p:spPr>
          <a:xfrm xmlns:a="http://schemas.openxmlformats.org/drawingml/2006/main">
            <a:off x="360379" y="601091"/>
            <a:ext cx="4480563" cy="2305339"/>
          </a:xfrm>
          <a:prstGeom xmlns:a="http://schemas.openxmlformats.org/drawingml/2006/main" prst="rect">
            <a:avLst/>
          </a:prstGeom>
        </p:spPr>
        <p:txBody>
          <a:bodyPr xmlns:a="http://schemas.openxmlformats.org/drawingml/2006/main" anchor="b"/>
          <a:lstStyle xmlns:a="http://schemas.openxmlformats.org/drawingml/2006/main">
            <a:lvl1pPr algn="l">
              <a:buNone/>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ea typeface="Arial"/>
                <a:cs typeface="Arial"/>
              </a:defRPr>
            </a:lvl1pPr>
          </a:lstStyle>
          <a:p xmlns:a="http://schemas.openxmlformats.org/drawingml/2006/main">
            <a:r>
              <a:t>Click to edit </a:t>
            </a:r>
            <a:br/>
            <a:r>
              <a:t>Master title style</a:t>
            </a:r>
          </a:p>
        </p:txBody>
      </p:sp>
      <p:sp>
        <p:nvSpPr>
          <p:cNvPr id="10" name="Picture Placeholder 8">
            <a:extLst xmlns:a="http://schemas.openxmlformats.org/drawingml/2006/main">
              <a:ext uri="{FF2B5EF4-FFF2-40B4-BE49-F238E27FC236}">
                <a16:creationId xmlns:a16="http://schemas.microsoft.com/office/drawing/2014/main" id="{BA0BCC35-ABF9-446B-A98F-40393AA12F5F}"/>
              </a:ext>
            </a:extLst>
          </p:cNvPr>
          <p:cNvSpPr>
            <a:spLocks xmlns:a="http://schemas.openxmlformats.org/drawingml/2006/main" noGrp="1"/>
          </p:cNvSpPr>
          <p:nvPr>
            <p:ph type="pic" idx="10" hasCustomPrompt="1"/>
          </p:nvPr>
        </p:nvSpPr>
        <p:spPr>
          <a:xfrm xmlns:a="http://schemas.openxmlformats.org/drawingml/2006/main">
            <a:off x="1954870" y="0"/>
            <a:ext cx="7201580" cy="6858000"/>
          </a:xfrm>
          <a:custGeom xmlns:a="http://schemas.openxmlformats.org/drawingml/2006/main">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rect l="l" t="t" r="r" b="b"/>
            <a:pathLst>
              <a:path w="7201580" h="6858000">
                <a:moveTo>
                  <a:pt x="5020236" y="14941"/>
                </a:moveTo>
                <a:lnTo>
                  <a:pt x="7201580" y="0"/>
                </a:lnTo>
                <a:lnTo>
                  <a:pt x="7201580" y="6858000"/>
                </a:lnTo>
                <a:lnTo>
                  <a:pt x="0" y="6858000"/>
                </a:lnTo>
                <a:lnTo>
                  <a:pt x="5020236" y="14941"/>
                </a:lnTo>
                <a:close/>
              </a:path>
            </a:pathLst>
          </a:custGeom>
        </p:spPr>
        <p:txBody>
          <a:bodyPr xmlns:a="http://schemas.openxmlformats.org/drawingml/2006/main" vert="horz" anchor="ctr"/>
          <a:lstStyle xmlns:a="http://schemas.openxmlformats.org/drawingml/2006/main">
            <a:lvl1pPr algn="r">
              <a:lnSpc>
                <a:spcPct val="100000"/>
              </a:lnSpc>
              <a:buNone/>
              <a:defRPr sz="2000">
                <a:solidFill>
                  <a:srgbClr val="ECE9C6"/>
                </a:solidFill>
                <a:latin typeface="Arial"/>
                <a:ea typeface="Arial"/>
                <a:cs typeface="Arial"/>
              </a:defRPr>
            </a:lvl1pPr>
          </a:lstStyle>
          <a:p xmlns:a="http://schemas.openxmlformats.org/drawingml/2006/main">
            <a:r>
              <a:t>Drag picture to placeholder </a:t>
            </a:r>
            <a:br/>
            <a:r>
              <a:t>or click icon to add</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jpeg" Id="Rb262e2f4b5894605" /><Relationship Type="http://schemas.openxmlformats.org/officeDocument/2006/relationships/theme" Target="/ppt/slideMasters/theme/theme2.xml" Id="R103630e073794c75" /><Relationship Type="http://schemas.openxmlformats.org/officeDocument/2006/relationships/slideLayout" Target="/ppt/slideLayouts/slideLayout1.xml" Id="Rab5d2f7bd7e3499b" /><Relationship Type="http://schemas.openxmlformats.org/officeDocument/2006/relationships/slideLayout" Target="/ppt/slideLayouts/slideLayout2.xml" Id="R22ddf3992938461e" /><Relationship Type="http://schemas.openxmlformats.org/officeDocument/2006/relationships/slideLayout" Target="/ppt/slideLayouts/slideLayout3.xml" Id="R43973b9121364030" /><Relationship Type="http://schemas.openxmlformats.org/officeDocument/2006/relationships/slideLayout" Target="/ppt/slideLayouts/slideLayout4.xml" Id="Ref70fa241c9441b9" /><Relationship Type="http://schemas.openxmlformats.org/officeDocument/2006/relationships/slideLayout" Target="/ppt/slideLayouts/slideLayout5.xml" Id="R5419931660f6454d" /><Relationship Type="http://schemas.openxmlformats.org/officeDocument/2006/relationships/slideLayout" Target="/ppt/slideLayouts/slideLayout6.xml" Id="Rbbdb220b783a44c2" /><Relationship Type="http://schemas.openxmlformats.org/officeDocument/2006/relationships/slideLayout" Target="/ppt/slideLayouts/slideLayout7.xml" Id="R53986af09aba4e98" /><Relationship Type="http://schemas.openxmlformats.org/officeDocument/2006/relationships/slideLayout" Target="/ppt/slideLayouts/slideLayout8.xml" Id="Rd980a65b35094ac4" /><Relationship Type="http://schemas.openxmlformats.org/officeDocument/2006/relationships/slideLayout" Target="/ppt/slideLayouts/slideLayout9.xml" Id="Rb15facceaf404dbe" /></Relationships>
</file>

<file path=ppt/slideMasters/_rels/slideMaster2.xml.rels>&#65279;<?xml version="1.0" encoding="utf-8"?><Relationships xmlns="http://schemas.openxmlformats.org/package/2006/relationships"><Relationship Type="http://schemas.openxmlformats.org/officeDocument/2006/relationships/image" Target="/ppt/media/image.jpeg" Id="R8a8b79a8803146fe" /><Relationship Type="http://schemas.openxmlformats.org/officeDocument/2006/relationships/theme" Target="/ppt/slideMasters/theme/theme3.xml" Id="R49cdd11aef894100" /><Relationship Type="http://schemas.openxmlformats.org/officeDocument/2006/relationships/slideLayout" Target="/ppt/slideLayouts/slideLayout10.xml" Id="R5f736f9100c64ffd" /><Relationship Type="http://schemas.openxmlformats.org/officeDocument/2006/relationships/slideLayout" Target="/ppt/slideLayouts/slideLayout11.xml" Id="Rb311e299d9ed442b" /><Relationship Type="http://schemas.openxmlformats.org/officeDocument/2006/relationships/slideLayout" Target="/ppt/slideLayouts/slideLayout12.xml" Id="Rd2f15a0333a240d7" /><Relationship Type="http://schemas.openxmlformats.org/officeDocument/2006/relationships/slideLayout" Target="/ppt/slideLayouts/slideLayout13.xml" Id="R5e14611450c14f52" /><Relationship Type="http://schemas.openxmlformats.org/officeDocument/2006/relationships/slideLayout" Target="/ppt/slideLayouts/slideLayout14.xml" Id="Rbd803f7d4fc74c21" /><Relationship Type="http://schemas.openxmlformats.org/officeDocument/2006/relationships/slideLayout" Target="/ppt/slideLayouts/slideLayout15.xml" Id="Rb7ce74f9b9fc4ce1" /><Relationship Type="http://schemas.openxmlformats.org/officeDocument/2006/relationships/slideLayout" Target="/ppt/slideLayouts/slideLayout16.xml" Id="Rb8b16778336348fc" /><Relationship Type="http://schemas.openxmlformats.org/officeDocument/2006/relationships/slideLayout" Target="/ppt/slideLayouts/slideLayout17.xml" Id="R41ab696726e94e85" /><Relationship Type="http://schemas.openxmlformats.org/officeDocument/2006/relationships/slideLayout" Target="/ppt/slideLayouts/slideLayout18.xml" Id="Rc6230390843f42f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B2B098FC-1AEE-46FE-AD4C-A795BC21A08B}"/>
              </a:ext>
            </a:extLst>
          </p:cNvPr>
          <p:cNvPicPr>
            <a:picLocks xmlns:a="http://schemas.openxmlformats.org/drawingml/2006/main" noChangeAspect="1"/>
          </p:cNvPicPr>
          <p:nvPr/>
        </p:nvPicPr>
        <p:blipFill>
          <a:blip xmlns:r="http://schemas.openxmlformats.org/officeDocument/2006/relationships" xmlns:a="http://schemas.openxmlformats.org/drawingml/2006/main" r:embed="Rb262e2f4b5894605"/>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5d2f7bd7e3499b"/>
    <p:sldLayoutId xmlns:r="http://schemas.openxmlformats.org/officeDocument/2006/relationships" id="2147483650" r:id="R22ddf3992938461e"/>
    <p:sldLayoutId xmlns:r="http://schemas.openxmlformats.org/officeDocument/2006/relationships" id="2147483651" r:id="R43973b9121364030"/>
    <p:sldLayoutId xmlns:r="http://schemas.openxmlformats.org/officeDocument/2006/relationships" id="2147483652" r:id="Ref70fa241c9441b9"/>
    <p:sldLayoutId xmlns:r="http://schemas.openxmlformats.org/officeDocument/2006/relationships" id="2147483653" r:id="R5419931660f6454d"/>
    <p:sldLayoutId xmlns:r="http://schemas.openxmlformats.org/officeDocument/2006/relationships" id="2147483654" r:id="Rbbdb220b783a44c2"/>
    <p:sldLayoutId xmlns:r="http://schemas.openxmlformats.org/officeDocument/2006/relationships" id="2147483655" r:id="R53986af09aba4e98"/>
    <p:sldLayoutId xmlns:r="http://schemas.openxmlformats.org/officeDocument/2006/relationships" id="2147483656" r:id="Rd980a65b35094ac4"/>
    <p:sldLayoutId xmlns:r="http://schemas.openxmlformats.org/officeDocument/2006/relationships" id="2147483657" r:id="Rb15facceaf404dbe"/>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pic>
        <p:nvPicPr>
          <p:cNvPr id="7" name="Picture 6">
            <a:extLst xmlns:a="http://schemas.openxmlformats.org/drawingml/2006/main">
              <a:ext uri="{FF2B5EF4-FFF2-40B4-BE49-F238E27FC236}">
                <a16:creationId xmlns:a16="http://schemas.microsoft.com/office/drawing/2014/main" id="{522B6A7D-436E-4F73-8864-9D7A447DEC87}"/>
              </a:ext>
            </a:extLst>
          </p:cNvPr>
          <p:cNvPicPr>
            <a:picLocks xmlns:a="http://schemas.openxmlformats.org/drawingml/2006/main" noChangeAspect="1"/>
          </p:cNvPicPr>
          <p:nvPr/>
        </p:nvPicPr>
        <p:blipFill>
          <a:blip xmlns:r="http://schemas.openxmlformats.org/officeDocument/2006/relationships" xmlns:a="http://schemas.openxmlformats.org/drawingml/2006/main" r:embed="R8a8b79a8803146fe"/>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59" r:id="R5f736f9100c64ffd"/>
    <p:sldLayoutId xmlns:r="http://schemas.openxmlformats.org/officeDocument/2006/relationships" id="2147483660" r:id="Rb311e299d9ed442b"/>
    <p:sldLayoutId xmlns:r="http://schemas.openxmlformats.org/officeDocument/2006/relationships" id="2147483661" r:id="Rd2f15a0333a240d7"/>
    <p:sldLayoutId xmlns:r="http://schemas.openxmlformats.org/officeDocument/2006/relationships" id="2147483662" r:id="R5e14611450c14f52"/>
    <p:sldLayoutId xmlns:r="http://schemas.openxmlformats.org/officeDocument/2006/relationships" id="2147483663" r:id="Rbd803f7d4fc74c21"/>
    <p:sldLayoutId xmlns:r="http://schemas.openxmlformats.org/officeDocument/2006/relationships" id="2147483664" r:id="Rb7ce74f9b9fc4ce1"/>
    <p:sldLayoutId xmlns:r="http://schemas.openxmlformats.org/officeDocument/2006/relationships" id="2147483665" r:id="Rb8b16778336348fc"/>
    <p:sldLayoutId xmlns:r="http://schemas.openxmlformats.org/officeDocument/2006/relationships" id="2147483666" r:id="R41ab696726e94e85"/>
    <p:sldLayoutId xmlns:r="http://schemas.openxmlformats.org/officeDocument/2006/relationships" id="2147483667" r:id="Rc6230390843f42fb"/>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3aaaccd5dc490e" /><Relationship Type="http://schemas.openxmlformats.org/officeDocument/2006/relationships/notesSlide" Target="/ppt/notesSlides/notesSlide1.xml" Id="R436cd23a36c242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2cb67198f1342b2" /><Relationship Type="http://schemas.openxmlformats.org/officeDocument/2006/relationships/notesSlide" Target="/ppt/notesSlides/notesSlide2.xml" Id="R013d4141ac224b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620d1c3cb7b4d41" /><Relationship Type="http://schemas.openxmlformats.org/officeDocument/2006/relationships/notesSlide" Target="/ppt/notesSlides/notesSlide3.xml" Id="R14254f134a7748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ed30c0f887e418a" /><Relationship Type="http://schemas.openxmlformats.org/officeDocument/2006/relationships/notesSlide" Target="/ppt/notesSlides/notesSlide4.xml" Id="R404f777b10ab4b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13a911c4c5f4d8a" /><Relationship Type="http://schemas.openxmlformats.org/officeDocument/2006/relationships/notesSlide" Target="/ppt/notesSlides/notesSlide5.xml" Id="Ra94d0c51f42d4a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fd529e9561847b4" /><Relationship Type="http://schemas.openxmlformats.org/officeDocument/2006/relationships/notesSlide" Target="/ppt/notesSlides/notesSlide6.xml" Id="R0f5a3f9965b944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ee108dfe4714767" /><Relationship Type="http://schemas.openxmlformats.org/officeDocument/2006/relationships/notesSlide" Target="/ppt/notesSlides/notesSlide7.xml" Id="R6b78e5cd10da44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957cf12efd94a94" /><Relationship Type="http://schemas.openxmlformats.org/officeDocument/2006/relationships/notesSlide" Target="/ppt/notesSlides/notesSlide8.xml" Id="R9abb4a5ab5a04c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468c879e26c4e46" /><Relationship Type="http://schemas.openxmlformats.org/officeDocument/2006/relationships/notesSlide" Target="/ppt/notesSlides/notesSlide9.xml" Id="Ra017ca821a8d42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4463ca51adf4673" /><Relationship Type="http://schemas.openxmlformats.org/officeDocument/2006/relationships/notesSlide" Target="/ppt/notesSlides/notesSlide10.xml" Id="R746dc885009743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43b52e7748f48dc" /><Relationship Type="http://schemas.openxmlformats.org/officeDocument/2006/relationships/notesSlide" Target="/ppt/notesSlides/notesSlide11.xml" Id="Re5b4669734ea4a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bbe181067c64b45" /><Relationship Type="http://schemas.openxmlformats.org/officeDocument/2006/relationships/notesSlide" Target="/ppt/notesSlides/notesSlide12.xml" Id="Rb145bc0b80da4f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831459532804a7d" /><Relationship Type="http://schemas.openxmlformats.org/officeDocument/2006/relationships/notesSlide" Target="/ppt/notesSlides/notesSlide13.xml" Id="R5de50f652f3c45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1c1be4844774c8d" /><Relationship Type="http://schemas.openxmlformats.org/officeDocument/2006/relationships/notesSlide" Target="/ppt/notesSlides/notesSlide14.xml" Id="Rc9f979c329b14320" /></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2.xml" Id="R68f02793e13f4fa3"/><Relationship Type="http://schemas.openxmlformats.org/officeDocument/2006/relationships/notesSlide" Target="/ppt/notesSlides/notesSlide15.xml" Id="R9eef2ed72ece4a45"/><Relationship Id="updatedReference1_0" Type="http://schemas.openxmlformats.org/officeDocument/2006/relationships/hyperlink" Target="https://repository.rit.edu/theses/12605/" TargetMode="External"/><Relationship Id="updatedReference2_0" Type="http://schemas.openxmlformats.org/officeDocument/2006/relationships/hyperlink" Target="https://arxiv.org/abs/2605.01186" TargetMode="External"/><Relationship Id="updatedReference3_0" Type="http://schemas.openxmlformats.org/officeDocument/2006/relationships/hyperlink" Target="https://orbit.dtu.dk/en/publications/honey-for-the-agent-cyber-deception-and-behavioral-fingerprinting/" TargetMode="External"/><Relationship Id="updatedReference4_0" Type="http://schemas.openxmlformats.org/officeDocument/2006/relationships/hyperlink" Target="https://arxiv.org/abs/2606.21037" TargetMode="External"/><Relationship Id="updatedReference4_1" Type="http://schemas.openxmlformats.org/officeDocument/2006/relationships/hyperlink" Target="https://arxiv.org/abs/2609.26555" TargetMode="Externa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2.xml" Id="Re9ac4749a58c4f2a"/><Relationship Type="http://schemas.openxmlformats.org/officeDocument/2006/relationships/notesSlide" Target="/ppt/notesSlides/notesSlide16.xml" Id="Rbb14e2ab92024ed1"/><Relationship Id="updatedReference1_0" Type="http://schemas.openxmlformats.org/officeDocument/2006/relationships/hyperlink" Target="https://arxiv.org/abs/2508.20963" TargetMode="External"/><Relationship Id="updatedReference2_0" Type="http://schemas.openxmlformats.org/officeDocument/2006/relationships/hyperlink" Target="https://arxiv.org/abs/2605.11671" TargetMode="External"/><Relationship Id="updatedReference3_0" Type="http://schemas.openxmlformats.org/officeDocument/2006/relationships/hyperlink" Target="https://github.com/Orange-Cyberdefense/GOAD" TargetMode="External"/><Relationship Id="updatedReference3_1" Type="http://schemas.openxmlformats.org/officeDocument/2006/relationships/hyperlink" Target="https://arxiv.org/abs/2512.09882" TargetMode="External"/></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1df8d7402ea4c58" /><Relationship Type="http://schemas.openxmlformats.org/officeDocument/2006/relationships/notesSlide" Target="/ppt/notesSlides/notesSlide17.xml" Id="Ra610ca0f3f114ba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0fa1b3ae48f6441a" /><Relationship Type="http://schemas.openxmlformats.org/officeDocument/2006/relationships/notesSlide" Target="/ppt/notesSlides/notesSlide18.xml" Id="R753b6f3fabfb4e4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f514992b9af4fe2" /><Relationship Type="http://schemas.openxmlformats.org/officeDocument/2006/relationships/notesSlide" Target="/ppt/notesSlides/notesSlide19.xml" Id="R3e5c6ce29d034e8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cdd8a55119094d49" /><Relationship Type="http://schemas.openxmlformats.org/officeDocument/2006/relationships/notesSlide" Target="/ppt/notesSlides/notesSlide20.xml" Id="Rb80360d338844e0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611794b70ba9450d" /><Relationship Type="http://schemas.openxmlformats.org/officeDocument/2006/relationships/notesSlide" Target="/ppt/notesSlides/notesSlide21.xml" Id="Rae393e5c2da6487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62327f2235c4cd1" /><Relationship Type="http://schemas.openxmlformats.org/officeDocument/2006/relationships/notesSlide" Target="/ppt/notesSlides/notesSlide22.xml" Id="R2c6aca26185e4ce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ac0490e78bab49c5" /><Relationship Type="http://schemas.openxmlformats.org/officeDocument/2006/relationships/notesSlide" Target="/ppt/notesSlides/notesSlide23.xml" Id="Rc2f7568f7da345b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39a51fd7872841c3" /><Relationship Type="http://schemas.openxmlformats.org/officeDocument/2006/relationships/notesSlide" Target="/ppt/notesSlides/notesSlide24.xml" Id="R73609aa6b533440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7bbd16bb0dac47d7" /><Relationship Type="http://schemas.openxmlformats.org/officeDocument/2006/relationships/notesSlide" Target="/ppt/notesSlides/notesSlide25.xml" Id="Refe4e0c9789043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446680e12f85437d" /><Relationship Type="http://schemas.openxmlformats.org/officeDocument/2006/relationships/notesSlide" Target="/ppt/notesSlides/notesSlide26.xml" Id="R112b5e105ec3477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f84c61d0ba7341c6" /><Relationship Type="http://schemas.openxmlformats.org/officeDocument/2006/relationships/notesSlide" Target="/ppt/notesSlides/notesSlide27.xml" Id="R031e56c8396d44d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387378d971914b23" /><Relationship Type="http://schemas.openxmlformats.org/officeDocument/2006/relationships/notesSlide" Target="/ppt/notesSlides/notesSlide28.xml" Id="R177d9f1d4892470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a0456b2720914a67" /><Relationship Type="http://schemas.openxmlformats.org/officeDocument/2006/relationships/notesSlide" Target="/ppt/notesSlides/notesSlide29.xml" Id="Rc265326359f143d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ed7ced19e1e247ce" /><Relationship Type="http://schemas.openxmlformats.org/officeDocument/2006/relationships/notesSlide" Target="/ppt/notesSlides/notesSlide30.xml" Id="R9bc0b03c5fb34fb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ad1cf0977022406b" /><Relationship Type="http://schemas.openxmlformats.org/officeDocument/2006/relationships/notesSlide" Target="/ppt/notesSlides/notesSlide31.xml" Id="Rc9a64a503d87425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4d916f9117d74d40" /><Relationship Type="http://schemas.openxmlformats.org/officeDocument/2006/relationships/notesSlide" Target="/ppt/notesSlides/notesSlide32.xml" Id="R5b6a39d5c832444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26d1f307b1b248ef" /><Relationship Type="http://schemas.openxmlformats.org/officeDocument/2006/relationships/notesSlide" Target="/ppt/notesSlides/notesSlide33.xml" Id="R93ad6ecb79064f5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a60dd77fd0f94935" /><Relationship Type="http://schemas.openxmlformats.org/officeDocument/2006/relationships/notesSlide" Target="/ppt/notesSlides/notesSlide34.xml" Id="R30fee48574444d0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54935f01f63c4977" /><Relationship Type="http://schemas.openxmlformats.org/officeDocument/2006/relationships/notesSlide" Target="/ppt/notesSlides/notesSlide35.xml" Id="Ra7efac3a6c164f1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6e72c8409a304518" /><Relationship Type="http://schemas.openxmlformats.org/officeDocument/2006/relationships/notesSlide" Target="/ppt/notesSlides/notesSlide36.xml" Id="Rc2af0d37e20b4ef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1593a3fdab0c4785" /><Relationship Type="http://schemas.openxmlformats.org/officeDocument/2006/relationships/notesSlide" Target="/ppt/notesSlides/notesSlide37.xml" Id="Rf5e595d37b35458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04D675-44D4-4B4F-A2F7-463F75741D35}"/>
              </a:ext>
            </a:extLst>
          </p:cNvPr>
          <p:cNvSpPr>
            <a:spLocks xmlns:a="http://schemas.openxmlformats.org/drawingml/2006/main" noGrp="1"/>
          </p:cNvSpPr>
          <p:nvPr>
            <p:ph type="ctrTitle" idx="0"/>
          </p:nvPr>
        </p:nvSpPr>
        <p:spPr>
          <a:xfrm xmlns:a="http://schemas.openxmlformats.org/drawingml/2006/main">
            <a:off x="334500" y="2209817"/>
            <a:ext cx="4301269" cy="2305339"/>
          </a:xfrm>
        </p:spPr>
        <p:txBody>
          <a:bodyPr xmlns:a="http://schemas.openxmlformats.org/drawingml/2006/main" wrap="square"/>
          <a:lstStyle xmlns:a="http://schemas.openxmlformats.org/drawingml/2006/main"/>
          <a:p xmlns:a="http://schemas.openxmlformats.org/drawingml/2006/main">
            <a:r>
              <a:rPr sz="2200" b="0"/>
              <a:t>Identifying Autonomous AI APT</a:t>
            </a:r>
            <a:endParaRPr sz="2200" b="0"/>
          </a:p>
          <a:p xmlns:a="http://schemas.openxmlformats.org/drawingml/2006/main">
            <a:r>
              <a:rPr sz="2200" b="0"/>
              <a:t>Human versus autonomous AI classification</a:t>
            </a:r>
            <a:endParaRPr sz="2200" b="0"/>
          </a:p>
          <a:p xmlns:a="http://schemas.openxmlformats.org/drawingml/2006/main">
            <a:r>
              <a:rPr sz="2200" b="0"/>
              <a:t/>
            </a:r>
            <a:endParaRPr sz="2200" b="0"/>
          </a:p>
          <a:p xmlns:a="http://schemas.openxmlformats.org/drawingml/2006/main">
            <a:r>
              <a:rPr sz="2200" b="0"/>
              <a:t>Gary Pagan</a:t>
            </a:r>
            <a:endParaRPr sz="2200" b="0"/>
          </a:p>
          <a:p xmlns:a="http://schemas.openxmlformats.org/drawingml/2006/main">
            <a:r>
              <a:rPr sz="2200" b="0"/>
              <a:t>Advisor update V003</a:t>
            </a:r>
            <a:endParaRPr sz="2200" b="0"/>
          </a:p>
          <a:p xmlns:a="http://schemas.openxmlformats.org/drawingml/2006/main">
            <a:r>
              <a:rPr sz="2200" b="0"/>
              <a:t>October 24, 2026</a:t>
            </a:r>
            <a:endParaRPr sz="2200" b="0"/>
          </a:p>
        </p:txBody>
      </p:sp>
    </p:spTree>
    <p:extLst>
      <p:ext uri="{BB962C8B-B14F-4D97-AF65-F5344CB8AC3E}">
        <p14:creationId xmlns:p14="http://schemas.microsoft.com/office/powerpoint/2010/main" val="175578442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CC34CE69-31AF-46BF-B35E-5ABB1DFB1BAF}"/>
              </a:ext>
            </a:extLst>
          </p:cNvPr>
          <p:cNvSpPr>
            <a:spLocks xmlns:a="http://schemas.openxmlformats.org/drawingml/2006/main" noGrp="1"/>
          </p:cNvSpPr>
          <p:nvPr>
            <p:ph type="title" idx="0"/>
          </p:nvPr>
        </p:nvSpPr>
        <p:spPr>
          <a:xfrm xmlns:a="http://schemas.openxmlformats.org/drawingml/2006/main">
            <a:off x="164592" y="0"/>
            <a:ext cx="7772400" cy="548640"/>
          </a:xfrm>
        </p:spPr>
        <p:txBody>
          <a:bodyPr xmlns:a="http://schemas.openxmlformats.org/drawingml/2006/main" wrap="square"/>
          <a:lstStyle xmlns:a="http://schemas.openxmlformats.org/drawingml/2006/main"/>
          <a:p xmlns:a="http://schemas.openxmlformats.org/drawingml/2006/main">
            <a:r>
              <a:rPr sz="1600" b="1" u="sng">
                <a:solidFill>
                  <a:srgbClr val="000000"/>
                </a:solidFill>
              </a:rPr>
              <a:t>Problem Statement:</a:t>
            </a:r>
          </a:p>
        </p:txBody>
      </p:sp>
      <p:graphicFrame>
        <p:nvGraphicFramePr>
          <p:cNvPr id="4" name="Table 3">
            <a:extLst xmlns:a="http://schemas.openxmlformats.org/drawingml/2006/main">
              <a:ext uri="{FF2B5EF4-FFF2-40B4-BE49-F238E27FC236}">
                <a16:creationId xmlns:a16="http://schemas.microsoft.com/office/drawing/2014/main" id="{2DDA4064-6AA6-468B-97A7-5D6E5CFC20E5}"/>
              </a:ext>
            </a:extLst>
          </p:cNvPr>
          <p:cNvGraphicFramePr/>
          <p:nvPr/>
        </p:nvGraphicFramePr>
        <p:xfrm>
          <a:off xmlns:a="http://schemas.openxmlformats.org/drawingml/2006/main" x="164592" y="566928"/>
          <a:ext xmlns:a="http://schemas.openxmlformats.org/drawingml/2006/main" cx="8814815" cy="4864605"/>
        </p:xfrm>
        <a:graphic xmlns:a="http://schemas.openxmlformats.org/drawingml/2006/main">
          <a:graphicData uri="http://schemas.openxmlformats.org/drawingml/2006/table">
            <a:tbl>
              <a:tblPr firstRow="1" bandRow="1">
                <a:tableStyleId>{5C22544A-7EE6-4342-B048-85BDC9FD1C3A}</a:tableStyleId>
              </a:tblPr>
              <a:tblGrid>
                <a:gridCol w="1606867"/>
                <a:gridCol w="6519291"/>
                <a:gridCol w="688657"/>
              </a:tblGrid>
              <a:tr h="256031">
                <a:tc>
                  <a:txBody>
                    <a:bodyPr/>
                    <a:lstStyle/>
                    <a:p>
                      <a:r>
                        <a:rPr sz="1200" b="1"/>
                        <a:t>Deliverable</a:t>
                      </a:r>
                    </a:p>
                  </a:txBody>
                  <a:tcPr marL="54864" marR="54864" marT="27432" marB="27432" anchor="ctr"/>
                </a:tc>
                <a:tc>
                  <a:txBody>
                    <a:bodyPr/>
                    <a:lstStyle/>
                    <a:p>
                      <a:pPr algn="ctr">
                        <a:buNone/>
                      </a:pPr>
                      <a:r>
                        <a:rPr sz="1200" b="1"/>
                        <a:t>Current research framing</a:t>
                      </a:r>
                    </a:p>
                  </a:txBody>
                  <a:tcPr marL="54864" marR="54864" marT="27432" marB="27432" anchor="ctr"/>
                </a:tc>
                <a:tc>
                  <a:txBody>
                    <a:bodyPr/>
                    <a:lstStyle/>
                    <a:p>
                      <a:pPr algn="ctr">
                        <a:buNone/>
                      </a:pPr>
                      <a:r>
                        <a:rPr sz="1200" b="1"/>
                        <a:t>WC</a:t>
                      </a:r>
                    </a:p>
                  </a:txBody>
                  <a:tcPr marL="54864" marR="54864" marT="27432" marB="27432" anchor="ctr"/>
                </a:tc>
              </a:tr>
              <a:tr h="621792">
                <a:tc>
                  <a:txBody>
                    <a:bodyPr/>
                    <a:lstStyle/>
                    <a:p>
                      <a:r>
                        <a:rPr sz="1200" b="1"/>
                        <a:t>Issue</a:t>
                      </a:r>
                    </a:p>
                  </a:txBody>
                  <a:tcPr marL="54864" marR="54864" marT="27432" marB="27432"/>
                </a:tc>
                <a:tc>
                  <a:txBody>
                    <a:bodyPr/>
                    <a:lstStyle/>
                    <a:p>
                      <a:r>
                        <a:rPr sz="1200"/>
                        <a:t>Existing studies establish automation classes and AI fingerprints. Matched target-side evidence across unseen human operators and autonomous AI configurations remains limited.</a:t>
                      </a:r>
                    </a:p>
                  </a:txBody>
                  <a:tcPr marL="54864" marR="54864" marT="27432" marB="27432"/>
                </a:tc>
                <a:tc>
                  <a:txBody>
                    <a:bodyPr/>
                    <a:lstStyle/>
                    <a:p>
                      <a:pPr algn="ctr">
                        <a:buNone/>
                      </a:pPr>
                      <a:r>
                        <a:rPr sz="1200"/>
                        <a:t>21</a:t>
                      </a:r>
                      <a:endParaRPr sz="1200"/>
                    </a:p>
                  </a:txBody>
                  <a:tcPr marL="54864" marR="54864" marT="27432" marB="27432"/>
                </a:tc>
              </a:tr>
              <a:tr h="621792">
                <a:tc>
                  <a:txBody>
                    <a:bodyPr/>
                    <a:lstStyle/>
                    <a:p>
                      <a:r>
                        <a:rPr sz="1200" b="1"/>
                        <a:t>Reference</a:t>
                      </a:r>
                    </a:p>
                  </a:txBody>
                  <a:tcPr marL="54864" marR="54864" marT="27432" marB="27432"/>
                </a:tc>
                <a:tc>
                  <a:txBody>
                    <a:bodyPr/>
                    <a:lstStyle/>
                    <a:p>
                      <a:r>
                        <a:rPr sz="1200"/>
                        <a:t>Alt (2026), Beyond anomaly detection. https://repository.rit.edu/theses/12605/</a:t>
                      </a:r>
                    </a:p>
                  </a:txBody>
                  <a:tcPr marL="54864" marR="54864" marT="27432" marB="27432"/>
                </a:tc>
                <a:tc>
                  <a:txBody>
                    <a:bodyPr/>
                    <a:lstStyle/>
                    <a:p>
                      <a:pPr algn="ctr">
                        <a:buNone/>
                      </a:pPr>
                      <a:r>
                        <a:rPr sz="1200"/>
                        <a:t>NA</a:t>
                      </a:r>
                    </a:p>
                  </a:txBody>
                  <a:tcPr marL="54864" marR="54864" marT="27432" marB="27432"/>
                </a:tc>
              </a:tr>
              <a:tr h="438912">
                <a:tc>
                  <a:txBody>
                    <a:bodyPr/>
                    <a:lstStyle/>
                    <a:p>
                      <a:r>
                        <a:rPr sz="1200" b="1"/>
                        <a:t>Why it matters</a:t>
                      </a:r>
                    </a:p>
                  </a:txBody>
                  <a:tcPr marL="54864" marR="54864" marT="27432" marB="27432"/>
                </a:tc>
                <a:tc>
                  <a:txBody>
                    <a:bodyPr/>
                    <a:lstStyle/>
                    <a:p>
                      <a:r>
                        <a:rPr sz="1200"/>
                        <a:t>A classifier that recognizes collection artifacts may mislabel humans and fail on a different AI configuration.</a:t>
                      </a:r>
                    </a:p>
                  </a:txBody>
                  <a:tcPr marL="54864" marR="54864" marT="27432" marB="27432"/>
                </a:tc>
                <a:tc>
                  <a:txBody>
                    <a:bodyPr/>
                    <a:lstStyle/>
                    <a:p>
                      <a:pPr algn="ctr">
                        <a:buNone/>
                      </a:pPr>
                      <a:r>
                        <a:rPr sz="1200"/>
                        <a:t>16</a:t>
                      </a:r>
                      <a:endParaRPr sz="1200"/>
                    </a:p>
                  </a:txBody>
                  <a:tcPr marL="54864" marR="54864" marT="27432" marB="27432"/>
                </a:tc>
              </a:tr>
              <a:tr h="621792">
                <a:tc>
                  <a:txBody>
                    <a:bodyPr/>
                    <a:lstStyle/>
                    <a:p>
                      <a:r>
                        <a:rPr sz="1200" b="1"/>
                        <a:t>Reference</a:t>
                      </a:r>
                    </a:p>
                  </a:txBody>
                  <a:tcPr marL="54864" marR="54864" marT="27432" marB="27432"/>
                </a:tc>
                <a:tc>
                  <a:txBody>
                    <a:bodyPr/>
                    <a:lstStyle/>
                    <a:p>
                      <a:r>
                        <a:rPr sz="1200"/>
                        <a:t>Ediga &amp; Chattopadhyay (2026), Trace [Preprint]. https://arxiv.org/abs/2605.01186</a:t>
                      </a:r>
                    </a:p>
                  </a:txBody>
                  <a:tcPr marL="54864" marR="54864" marT="27432" marB="27432"/>
                </a:tc>
                <a:tc>
                  <a:txBody>
                    <a:bodyPr/>
                    <a:lstStyle/>
                    <a:p>
                      <a:pPr algn="ctr">
                        <a:buNone/>
                      </a:pPr>
                      <a:r>
                        <a:rPr sz="1200"/>
                        <a:t>NA</a:t>
                      </a:r>
                    </a:p>
                  </a:txBody>
                  <a:tcPr marL="54864" marR="54864" marT="27432" marB="27432"/>
                </a:tc>
              </a:tr>
              <a:tr h="804671">
                <a:tc>
                  <a:txBody>
                    <a:bodyPr/>
                    <a:lstStyle/>
                    <a:p>
                      <a:r>
                        <a:rPr sz="1200" b="1"/>
                        <a:t>Problem statement</a:t>
                      </a:r>
                    </a:p>
                  </a:txBody>
                  <a:tcPr marL="54864" marR="54864" marT="27432" marB="27432"/>
                </a:tc>
                <a:tc>
                  <a:txBody>
                    <a:bodyPr/>
                    <a:lstStyle/>
                    <a:p>
                      <a:r>
                        <a:rPr sz="1200"/>
                        <a:t>It remains uncertain which defender-visible host and network behaviors reliably distinguish human-operated from autonomous-AI APT-like activity in a matched multi-host laboratory, and whether classifiers transfer to unseen operators and AI configurations rather than exploiting collection artifacts.</a:t>
                      </a:r>
                    </a:p>
                  </a:txBody>
                  <a:tcPr marL="54864" marR="54864" marT="27432" marB="27432"/>
                </a:tc>
                <a:tc>
                  <a:txBody>
                    <a:bodyPr/>
                    <a:lstStyle/>
                    <a:p>
                      <a:pPr algn="ctr">
                        <a:buNone/>
                      </a:pPr>
                      <a:r>
                        <a:rPr sz="1200"/>
                        <a:t>36</a:t>
                      </a:r>
                      <a:endParaRPr sz="1200"/>
                    </a:p>
                  </a:txBody>
                  <a:tcPr marL="54864" marR="54864" marT="27432" marB="27432"/>
                </a:tc>
              </a:tr>
              <a:tr h="256031">
                <a:tc>
                  <a:txBody>
                    <a:bodyPr/>
                    <a:lstStyle/>
                    <a:p>
                      <a:r>
                        <a:rPr sz="1200" b="1"/>
                        <a:t>Industry</a:t>
                      </a:r>
                    </a:p>
                  </a:txBody>
                  <a:tcPr marL="54864" marR="54864" marT="27432" marB="27432"/>
                </a:tc>
                <a:tc>
                  <a:txBody>
                    <a:bodyPr/>
                    <a:lstStyle/>
                    <a:p>
                      <a:r>
                        <a:rPr sz="1200"/>
                        <a:t>Enterprise security operations, incident response and controlled cyber ranges</a:t>
                      </a:r>
                    </a:p>
                  </a:txBody>
                  <a:tcPr marL="54864" marR="54864" marT="27432" marB="27432"/>
                </a:tc>
                <a:tc>
                  <a:txBody>
                    <a:bodyPr/>
                    <a:lstStyle/>
                    <a:p>
                      <a:pPr algn="ctr">
                        <a:buNone/>
                      </a:pPr>
                      <a:r>
                        <a:rPr sz="1200"/>
                        <a:t>9</a:t>
                      </a:r>
                    </a:p>
                  </a:txBody>
                  <a:tcPr marL="54864" marR="54864" marT="27432" marB="27432"/>
                </a:tc>
              </a:tr>
              <a:tr h="621792">
                <a:tc>
                  <a:txBody>
                    <a:bodyPr/>
                    <a:lstStyle/>
                    <a:p>
                      <a:r>
                        <a:rPr sz="1200" b="1"/>
                        <a:t>Scope of gap</a:t>
                      </a:r>
                    </a:p>
                  </a:txBody>
                  <a:tcPr marL="54864" marR="54864" marT="27432" marB="27432"/>
                </a:tc>
                <a:tc>
                  <a:txBody>
                    <a:bodyPr/>
                    <a:lstStyle/>
                    <a:p>
                      <a:r>
                        <a:rPr sz="1200"/>
                        <a:t>Test autonomous agents and humans under matched objectives, access conditions and target sensors. Quantify transfer and shortcut dependence.</a:t>
                      </a:r>
                    </a:p>
                  </a:txBody>
                  <a:tcPr marL="54864" marR="54864" marT="27432" marB="27432"/>
                </a:tc>
                <a:tc>
                  <a:txBody>
                    <a:bodyPr/>
                    <a:lstStyle/>
                    <a:p>
                      <a:pPr algn="ctr">
                        <a:buNone/>
                      </a:pPr>
                      <a:r>
                        <a:rPr sz="1200"/>
                        <a:t>18</a:t>
                      </a:r>
                    </a:p>
                  </a:txBody>
                  <a:tcPr marL="54864" marR="54864" marT="27432" marB="27432"/>
                </a:tc>
              </a:tr>
              <a:tr h="621792">
                <a:tc>
                  <a:txBody>
                    <a:bodyPr/>
                    <a:lstStyle/>
                    <a:p>
                      <a:r>
                        <a:rPr sz="1200" b="1"/>
                        <a:t>Claim boundary</a:t>
                      </a:r>
                    </a:p>
                  </a:txBody>
                  <a:tcPr marL="54864" marR="54864" marT="27432" marB="27432"/>
                </a:tc>
                <a:tc>
                  <a:txBody>
                    <a:bodyPr/>
                    <a:lstStyle/>
                    <a:p>
                      <a:r>
                        <a:rPr sz="1200"/>
                        <a:t>Operator-type classification among controlled attack trials. General intrusion detection, campaign attribution and universal AI identification remain outside the claim.</a:t>
                      </a:r>
                    </a:p>
                  </a:txBody>
                  <a:tcPr marL="54864" marR="54864" marT="27432" marB="27432"/>
                </a:tc>
                <a:tc>
                  <a:txBody>
                    <a:bodyPr/>
                    <a:lstStyle/>
                    <a:p>
                      <a:pPr algn="ctr">
                        <a:buNone/>
                      </a:pPr>
                      <a:r>
                        <a:rPr sz="1200"/>
                        <a:t>19</a:t>
                      </a:r>
                    </a:p>
                  </a:txBody>
                  <a:tcPr marL="54864" marR="54864" marT="27432" marB="27432"/>
                </a:tc>
              </a:tr>
            </a:tbl>
          </a:graphicData>
        </a:graphic>
      </p:graphicFrame>
    </p:spTree>
    <p:extLst>
      <p:ext uri="{BB962C8B-B14F-4D97-AF65-F5344CB8AC3E}">
        <p14:creationId xmlns:p14="http://schemas.microsoft.com/office/powerpoint/2010/main" val="68834354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A3AC68AE-E27B-4727-82EB-ABD69829D9FC}"/>
              </a:ext>
            </a:extLst>
          </p:cNvPr>
          <p:cNvSpPr>
            <a:spLocks xmlns:a="http://schemas.openxmlformats.org/drawingml/2006/main" noGrp="1"/>
          </p:cNvSpPr>
          <p:nvPr>
            <p:ph type="title" idx="0"/>
          </p:nvPr>
        </p:nvSpPr>
        <p:spPr>
          <a:xfrm xmlns:a="http://schemas.openxmlformats.org/drawingml/2006/main">
            <a:off x="164592" y="0"/>
            <a:ext cx="7772400" cy="548640"/>
          </a:xfrm>
        </p:spPr>
        <p:txBody>
          <a:bodyPr xmlns:a="http://schemas.openxmlformats.org/drawingml/2006/main" wrap="square"/>
          <a:lstStyle xmlns:a="http://schemas.openxmlformats.org/drawingml/2006/main"/>
          <a:p xmlns:a="http://schemas.openxmlformats.org/drawingml/2006/main">
            <a:r>
              <a:rPr sz="1600" b="1" u="sng">
                <a:solidFill>
                  <a:srgbClr val="000000"/>
                </a:solidFill>
              </a:rPr>
              <a:t>Thesis Statement</a:t>
            </a:r>
          </a:p>
        </p:txBody>
      </p:sp>
      <p:graphicFrame>
        <p:nvGraphicFramePr>
          <p:cNvPr id="4" name="Table 3">
            <a:extLst xmlns:a="http://schemas.openxmlformats.org/drawingml/2006/main">
              <a:ext uri="{FF2B5EF4-FFF2-40B4-BE49-F238E27FC236}">
                <a16:creationId xmlns:a16="http://schemas.microsoft.com/office/drawing/2014/main" id="{301B0EA1-BA6A-4D36-A50F-84A4C8000D09}"/>
              </a:ext>
            </a:extLst>
          </p:cNvPr>
          <p:cNvGraphicFramePr/>
          <p:nvPr/>
        </p:nvGraphicFramePr>
        <p:xfrm>
          <a:off xmlns:a="http://schemas.openxmlformats.org/drawingml/2006/main" x="164592" y="566928"/>
          <a:ext xmlns:a="http://schemas.openxmlformats.org/drawingml/2006/main" cx="8814815" cy="4730496"/>
        </p:xfrm>
        <a:graphic xmlns:a="http://schemas.openxmlformats.org/drawingml/2006/main">
          <a:graphicData uri="http://schemas.openxmlformats.org/drawingml/2006/table">
            <a:tbl>
              <a:tblPr firstRow="1" bandRow="1">
                <a:tableStyleId>{5C22544A-7EE6-4342-B048-85BDC9FD1C3A}</a:tableStyleId>
              </a:tblPr>
              <a:tblGrid>
                <a:gridCol w="1606867"/>
                <a:gridCol w="6519291"/>
                <a:gridCol w="688657"/>
              </a:tblGrid>
              <a:tr h="240791">
                <a:tc>
                  <a:txBody>
                    <a:bodyPr/>
                    <a:lstStyle/>
                    <a:p>
                      <a:r>
                        <a:rPr sz="1100" b="1"/>
                        <a:t>Deliverable</a:t>
                      </a:r>
                    </a:p>
                  </a:txBody>
                  <a:tcPr marL="54864" marR="54864" marT="27432" marB="27432" anchor="ctr"/>
                </a:tc>
                <a:tc>
                  <a:txBody>
                    <a:bodyPr/>
                    <a:lstStyle/>
                    <a:p>
                      <a:pPr algn="ctr">
                        <a:buNone/>
                      </a:pPr>
                      <a:r>
                        <a:t>Working thesis and research product</a:t>
                      </a:r>
                      <a:endParaRPr/>
                    </a:p>
                  </a:txBody>
                  <a:tcPr marL="54864" marR="54864" marT="27432" marB="27432" anchor="ctr"/>
                </a:tc>
                <a:tc>
                  <a:txBody>
                    <a:bodyPr/>
                    <a:lstStyle/>
                    <a:p>
                      <a:pPr algn="ctr">
                        <a:buNone/>
                      </a:pPr>
                      <a:r>
                        <a:rPr sz="1100" b="1"/>
                        <a:t>WC</a:t>
                      </a:r>
                    </a:p>
                  </a:txBody>
                  <a:tcPr marL="54864" marR="54864" marT="27432" marB="27432" anchor="ctr"/>
                </a:tc>
              </a:tr>
              <a:tr h="408432">
                <a:tc>
                  <a:txBody>
                    <a:bodyPr/>
                    <a:lstStyle/>
                    <a:p>
                      <a:r>
                        <a:rPr sz="1100" b="1"/>
                        <a:t>Thesis statement</a:t>
                      </a:r>
                    </a:p>
                  </a:txBody>
                  <a:tcPr marL="54864" marR="54864" marT="27432" marB="27432"/>
                </a:tc>
                <a:tc>
                  <a:txBody>
                    <a:bodyPr/>
                    <a:lstStyle/>
                    <a:p>
                      <a:r>
                        <a:rPr sz="1100"/>
                        <a:t>This study proposes that autonomous AI attacks produce measurable behavioral patterns that distinguish them from human-operated attacks, even when the human operator or AI configuration has not previously been observed. The study will test this proposition using target-side telemetry collected during matched, controlled APT-like laboratory trials.</a:t>
                      </a:r>
                      <a:endParaRPr sz="1100"/>
                    </a:p>
                  </a:txBody>
                  <a:tcPr marL="54864" marR="54864" marT="27432" marB="27432"/>
                </a:tc>
                <a:tc>
                  <a:txBody>
                    <a:bodyPr/>
                    <a:lstStyle/>
                    <a:p>
                      <a:pPr algn="ctr">
                        <a:buNone/>
                      </a:pPr>
                      <a:r>
                        <a:rPr sz="1100"/>
                        <a:t>46</a:t>
                      </a:r>
                      <a:endParaRPr sz="1100"/>
                    </a:p>
                  </a:txBody>
                  <a:tcPr marL="54864" marR="54864" marT="27432" marB="27432"/>
                </a:tc>
              </a:tr>
              <a:tr h="408432">
                <a:tc>
                  <a:txBody>
                    <a:bodyPr/>
                    <a:lstStyle/>
                    <a:p>
                      <a:r>
                        <a:rPr sz="1100" b="1"/>
                        <a:t>Research product</a:t>
                      </a:r>
                    </a:p>
                  </a:txBody>
                  <a:tcPr marL="54864" marR="54864" marT="27432" marB="27432"/>
                </a:tc>
                <a:tc>
                  <a:txBody>
                    <a:bodyPr/>
                    <a:lstStyle/>
                    <a:p>
                      <a:r>
                        <a:rPr sz="1100"/>
                        <a:t>A reproducible attribution study with target-side features, grouped transfer tests and a comparison of five primary classifiers.</a:t>
                      </a:r>
                    </a:p>
                  </a:txBody>
                  <a:tcPr marL="54864" marR="54864" marT="27432" marB="27432"/>
                </a:tc>
                <a:tc>
                  <a:txBody>
                    <a:bodyPr/>
                    <a:lstStyle/>
                    <a:p>
                      <a:pPr algn="ctr">
                        <a:buNone/>
                      </a:pPr>
                      <a:r>
                        <a:rPr sz="1100"/>
                        <a:t>17</a:t>
                      </a:r>
                    </a:p>
                  </a:txBody>
                  <a:tcPr marL="54864" marR="54864" marT="27432" marB="27432"/>
                </a:tc>
              </a:tr>
              <a:tr h="408432">
                <a:tc>
                  <a:txBody>
                    <a:bodyPr/>
                    <a:lstStyle/>
                    <a:p>
                      <a:r>
                        <a:rPr sz="1100" b="1"/>
                        <a:t>Format</a:t>
                      </a:r>
                    </a:p>
                  </a:txBody>
                  <a:tcPr marL="54864" marR="54864" marT="27432" marB="27432"/>
                </a:tc>
                <a:tc>
                  <a:txBody>
                    <a:bodyPr/>
                    <a:lstStyle/>
                    <a:p>
                      <a:r>
                        <a:rPr sz="1100"/>
                        <a:t>Matched laboratory trials, versioned telemetry and feature code, frozen group splits, prediction tables and a working Praxis.</a:t>
                      </a:r>
                    </a:p>
                  </a:txBody>
                  <a:tcPr marL="54864" marR="54864" marT="27432" marB="27432"/>
                </a:tc>
                <a:tc>
                  <a:txBody>
                    <a:bodyPr/>
                    <a:lstStyle/>
                    <a:p>
                      <a:pPr algn="ctr">
                        <a:buNone/>
                      </a:pPr>
                      <a:r>
                        <a:rPr sz="1100"/>
                        <a:t>17</a:t>
                      </a:r>
                    </a:p>
                  </a:txBody>
                  <a:tcPr marL="54864" marR="54864" marT="27432" marB="27432"/>
                </a:tc>
              </a:tr>
              <a:tr h="408432">
                <a:tc>
                  <a:txBody>
                    <a:bodyPr/>
                    <a:lstStyle/>
                    <a:p>
                      <a:r>
                        <a:rPr sz="1100" b="1"/>
                        <a:t>Deliverable usage</a:t>
                      </a:r>
                    </a:p>
                  </a:txBody>
                  <a:tcPr marL="54864" marR="54864" marT="27432" marB="27432"/>
                </a:tc>
                <a:tc>
                  <a:txBody>
                    <a:bodyPr/>
                    <a:lstStyle/>
                    <a:p>
                      <a:r>
                        <a:rPr sz="1100"/>
                        <a:t>Regenerate reported results from hashed evidence and frozen analysis inputs. Evaluate utility through human error rates and transfer.</a:t>
                      </a:r>
                    </a:p>
                  </a:txBody>
                  <a:tcPr marL="54864" marR="54864" marT="27432" marB="27432"/>
                </a:tc>
                <a:tc>
                  <a:txBody>
                    <a:bodyPr/>
                    <a:lstStyle/>
                    <a:p>
                      <a:pPr algn="ctr">
                        <a:buNone/>
                      </a:pPr>
                      <a:r>
                        <a:rPr sz="1100"/>
                        <a:t>18</a:t>
                      </a:r>
                    </a:p>
                  </a:txBody>
                  <a:tcPr marL="54864" marR="54864" marT="27432" marB="27432"/>
                </a:tc>
              </a:tr>
              <a:tr h="408432">
                <a:tc>
                  <a:txBody>
                    <a:bodyPr/>
                    <a:lstStyle/>
                    <a:p>
                      <a:r>
                        <a:rPr sz="1100" b="1"/>
                        <a:t>Tie to problem</a:t>
                      </a:r>
                    </a:p>
                  </a:txBody>
                  <a:tcPr marL="54864" marR="54864" marT="27432" marB="27432"/>
                </a:tc>
                <a:tc>
                  <a:txBody>
                    <a:bodyPr/>
                    <a:lstStyle/>
                    <a:p>
                      <a:r>
                        <a:rPr sz="1100"/>
                        <a:t>Determine whether learned signals describe operator behavior or the collection setting.</a:t>
                      </a:r>
                    </a:p>
                  </a:txBody>
                  <a:tcPr marL="54864" marR="54864" marT="27432" marB="27432"/>
                </a:tc>
                <a:tc>
                  <a:txBody>
                    <a:bodyPr/>
                    <a:lstStyle/>
                    <a:p>
                      <a:pPr algn="ctr">
                        <a:buNone/>
                      </a:pPr>
                      <a:r>
                        <a:rPr sz="1100"/>
                        <a:t>11</a:t>
                      </a:r>
                    </a:p>
                  </a:txBody>
                  <a:tcPr marL="54864" marR="54864" marT="27432" marB="27432"/>
                </a:tc>
              </a:tr>
              <a:tr h="408432">
                <a:tc>
                  <a:txBody>
                    <a:bodyPr/>
                    <a:lstStyle/>
                    <a:p>
                      <a:r>
                        <a:rPr sz="1100" b="1"/>
                        <a:t>Proposed contribution</a:t>
                      </a:r>
                    </a:p>
                  </a:txBody>
                  <a:tcPr marL="54864" marR="54864" marT="27432" marB="27432"/>
                </a:tc>
                <a:tc>
                  <a:txBody>
                    <a:bodyPr/>
                    <a:lstStyle/>
                    <a:p>
                      <a:r>
                        <a:rPr sz="1100"/>
                        <a:t>Integrate matched human/autonomous trials, multi-host telemetry, unseen-group evaluation and shortcut controls. Universal priority remains unverified.</a:t>
                      </a:r>
                    </a:p>
                  </a:txBody>
                  <a:tcPr marL="54864" marR="54864" marT="27432" marB="27432"/>
                </a:tc>
                <a:tc>
                  <a:txBody>
                    <a:bodyPr/>
                    <a:lstStyle/>
                    <a:p>
                      <a:pPr algn="ctr">
                        <a:buNone/>
                      </a:pPr>
                      <a:r>
                        <a:rPr sz="1100"/>
                        <a:t>15</a:t>
                      </a:r>
                    </a:p>
                  </a:txBody>
                  <a:tcPr marL="54864" marR="54864" marT="27432" marB="27432"/>
                </a:tc>
              </a:tr>
              <a:tr h="408432">
                <a:tc>
                  <a:txBody>
                    <a:bodyPr/>
                    <a:lstStyle/>
                    <a:p>
                      <a:r>
                        <a:rPr sz="1100" b="1"/>
                        <a:t>Scope</a:t>
                      </a:r>
                    </a:p>
                  </a:txBody>
                  <a:tcPr marL="54864" marR="54864" marT="27432" marB="27432"/>
                </a:tc>
                <a:tc>
                  <a:txBody>
                    <a:bodyPr/>
                    <a:lstStyle/>
                    <a:p>
                      <a:r>
                        <a:rPr sz="1100"/>
                        <a:t>Preliminary case: GOAD on AWS with an ARTEMIS agent on an external DGX Spark. Use the pilot to qualify instrumentation and design before full collection.</a:t>
                      </a:r>
                    </a:p>
                  </a:txBody>
                  <a:tcPr marL="54864" marR="54864" marT="27432" marB="27432"/>
                </a:tc>
                <a:tc>
                  <a:txBody>
                    <a:bodyPr/>
                    <a:lstStyle/>
                    <a:p>
                      <a:pPr algn="ctr">
                        <a:buNone/>
                      </a:pPr>
                      <a:r>
                        <a:rPr sz="1100"/>
                        <a:t>25</a:t>
                      </a:r>
                    </a:p>
                  </a:txBody>
                  <a:tcPr marL="54864" marR="54864" marT="27432" marB="27432"/>
                </a:tc>
              </a:tr>
              <a:tr h="408432">
                <a:tc>
                  <a:txBody>
                    <a:bodyPr/>
                    <a:lstStyle/>
                    <a:p>
                      <a:r>
                        <a:rPr sz="1100" b="1"/>
                        <a:t>Methodology</a:t>
                      </a:r>
                    </a:p>
                  </a:txBody>
                  <a:tcPr marL="54864" marR="54864" marT="27432" marB="27432"/>
                </a:tc>
                <a:tc>
                  <a:txBody>
                    <a:bodyPr/>
                    <a:lstStyle/>
                    <a:p>
                      <a:r>
                        <a:rPr sz="1100"/>
                        <a:t>RQ1 feature ablations, RQ2 reduced-feature logistic transfer, RQ3 common-feature model comparison, grouped uncertainty and robustness.</a:t>
                      </a:r>
                    </a:p>
                  </a:txBody>
                  <a:tcPr marL="54864" marR="54864" marT="27432" marB="27432"/>
                </a:tc>
                <a:tc>
                  <a:txBody>
                    <a:bodyPr/>
                    <a:lstStyle/>
                    <a:p>
                      <a:pPr algn="ctr">
                        <a:buNone/>
                      </a:pPr>
                      <a:r>
                        <a:rPr sz="1100"/>
                        <a:t>15</a:t>
                      </a:r>
                    </a:p>
                  </a:txBody>
                  <a:tcPr marL="54864" marR="54864" marT="27432" marB="27432"/>
                </a:tc>
              </a:tr>
              <a:tr h="408432">
                <a:tc>
                  <a:txBody>
                    <a:bodyPr/>
                    <a:lstStyle/>
                    <a:p>
                      <a:r>
                        <a:rPr sz="1100" b="1"/>
                        <a:t>Inputs</a:t>
                      </a:r>
                    </a:p>
                  </a:txBody>
                  <a:tcPr marL="54864" marR="54864" marT="27432" marB="27432"/>
                </a:tc>
                <a:tc>
                  <a:txBody>
                    <a:bodyPr/>
                    <a:lstStyle/>
                    <a:p>
                      <a:r>
                        <a:rPr sz="1100"/>
                        <a:t>Measured host/network telemetry from a synthetic laboratory scenario. Generated numeric records remain a separately labeled data type.</a:t>
                      </a:r>
                    </a:p>
                  </a:txBody>
                  <a:tcPr marL="54864" marR="54864" marT="27432" marB="27432"/>
                </a:tc>
                <a:tc>
                  <a:txBody>
                    <a:bodyPr/>
                    <a:lstStyle/>
                    <a:p>
                      <a:pPr algn="ctr">
                        <a:buNone/>
                      </a:pPr>
                      <a:r>
                        <a:rPr sz="1100"/>
                        <a:t>17</a:t>
                      </a:r>
                    </a:p>
                  </a:txBody>
                  <a:tcPr marL="54864" marR="54864" marT="27432" marB="27432"/>
                </a:tc>
              </a:tr>
              <a:tr h="576072">
                <a:tc>
                  <a:txBody>
                    <a:bodyPr/>
                    <a:lstStyle/>
                    <a:p>
                      <a:r>
                        <a:rPr sz="1100" b="1"/>
                        <a:t>Outputs</a:t>
                      </a:r>
                    </a:p>
                  </a:txBody>
                  <a:tcPr marL="54864" marR="54864" marT="27432" marB="27432"/>
                </a:tc>
                <a:tc>
                  <a:txBody>
                    <a:bodyPr/>
                    <a:lstStyle/>
                    <a:p>
                      <a:r>
                        <a:rPr sz="1100"/>
                        <a:t>Trial macro-F1, class recall/precision, human false-AI rate, balanced accuracy, calibration, feature stability and cost.</a:t>
                      </a:r>
                    </a:p>
                  </a:txBody>
                  <a:tcPr marL="54864" marR="54864" marT="27432" marB="27432"/>
                </a:tc>
                <a:tc>
                  <a:txBody>
                    <a:bodyPr/>
                    <a:lstStyle/>
                    <a:p>
                      <a:pPr algn="ctr">
                        <a:buNone/>
                      </a:pPr>
                      <a:r>
                        <a:rPr sz="1100"/>
                        <a:t>14</a:t>
                      </a:r>
                    </a:p>
                  </a:txBody>
                  <a:tcPr marL="54864" marR="54864" marT="27432" marB="27432"/>
                </a:tc>
              </a:tr>
            </a:tbl>
          </a:graphicData>
        </a:graphic>
      </p:graphicFrame>
    </p:spTree>
    <p:extLst>
      <p:ext uri="{BB962C8B-B14F-4D97-AF65-F5344CB8AC3E}">
        <p14:creationId xmlns:p14="http://schemas.microsoft.com/office/powerpoint/2010/main" val="168090605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9654478B-6354-4218-A5F6-BCE753936DEC}"/>
              </a:ext>
            </a:extLst>
          </p:cNvPr>
          <p:cNvSpPr>
            <a:spLocks xmlns:a="http://schemas.openxmlformats.org/drawingml/2006/main" noGrp="1"/>
          </p:cNvSpPr>
          <p:nvPr>
            <p:ph type="title" idx="0"/>
          </p:nvPr>
        </p:nvSpPr>
        <p:spPr>
          <a:xfrm xmlns:a="http://schemas.openxmlformats.org/drawingml/2006/main">
            <a:off x="164592" y="0"/>
            <a:ext cx="7772400" cy="548640"/>
          </a:xfrm>
        </p:spPr>
        <p:txBody>
          <a:bodyPr xmlns:a="http://schemas.openxmlformats.org/drawingml/2006/main" wrap="square"/>
          <a:lstStyle xmlns:a="http://schemas.openxmlformats.org/drawingml/2006/main"/>
          <a:p xmlns:a="http://schemas.openxmlformats.org/drawingml/2006/main">
            <a:r>
              <a:rPr sz="1600" b="1" u="sng">
                <a:solidFill>
                  <a:srgbClr val="000000"/>
                </a:solidFill>
              </a:rPr>
              <a:t>Research Questions</a:t>
            </a:r>
          </a:p>
        </p:txBody>
      </p:sp>
      <p:graphicFrame>
        <p:nvGraphicFramePr>
          <p:cNvPr id="4" name="Table 3">
            <a:extLst xmlns:a="http://schemas.openxmlformats.org/drawingml/2006/main">
              <a:ext uri="{FF2B5EF4-FFF2-40B4-BE49-F238E27FC236}">
                <a16:creationId xmlns:a16="http://schemas.microsoft.com/office/drawing/2014/main" id="{BBF8F703-F014-431A-985F-ADDAEAEB7A24}"/>
              </a:ext>
            </a:extLst>
          </p:cNvPr>
          <p:cNvGraphicFramePr/>
          <p:nvPr/>
        </p:nvGraphicFramePr>
        <p:xfrm>
          <a:off xmlns:a="http://schemas.openxmlformats.org/drawingml/2006/main" x="164592" y="566928"/>
          <a:ext xmlns:a="http://schemas.openxmlformats.org/drawingml/2006/main" cx="8814815" cy="2615183"/>
        </p:xfrm>
        <a:graphic xmlns:a="http://schemas.openxmlformats.org/drawingml/2006/main">
          <a:graphicData uri="http://schemas.openxmlformats.org/drawingml/2006/table">
            <a:tbl>
              <a:tblPr firstRow="1" bandRow="1">
                <a:tableStyleId>{5C22544A-7EE6-4342-B048-85BDC9FD1C3A}</a:tableStyleId>
              </a:tblPr>
              <a:tblGrid>
                <a:gridCol w="1928241"/>
                <a:gridCol w="6197917"/>
                <a:gridCol w="688657"/>
              </a:tblGrid>
              <a:tr h="256031">
                <a:tc>
                  <a:txBody>
                    <a:bodyPr/>
                    <a:lstStyle/>
                    <a:p>
                      <a:r>
                        <a:rPr sz="1200" b="1"/>
                        <a:t>Deliverable</a:t>
                      </a:r>
                    </a:p>
                  </a:txBody>
                  <a:tcPr marL="54864" marR="54864" marT="27432" marB="27432" anchor="ctr"/>
                </a:tc>
                <a:tc>
                  <a:txBody>
                    <a:bodyPr/>
                    <a:lstStyle/>
                    <a:p>
                      <a:pPr algn="ctr">
                        <a:buNone/>
                      </a:pPr>
                      <a:r>
                        <a:rPr sz="1200" b="1"/>
                        <a:t>Approved working questions</a:t>
                      </a:r>
                    </a:p>
                  </a:txBody>
                  <a:tcPr marL="54864" marR="54864" marT="27432" marB="27432" anchor="ctr"/>
                </a:tc>
                <a:tc>
                  <a:txBody>
                    <a:bodyPr/>
                    <a:lstStyle/>
                    <a:p>
                      <a:pPr algn="ctr">
                        <a:buNone/>
                      </a:pPr>
                      <a:r>
                        <a:rPr sz="1200" b="1"/>
                        <a:t>WC</a:t>
                      </a:r>
                    </a:p>
                  </a:txBody>
                  <a:tcPr marL="54864" marR="54864" marT="27432" marB="27432" anchor="ctr"/>
                </a:tc>
              </a:tr>
              <a:tr h="438912">
                <a:tc>
                  <a:txBody>
                    <a:bodyPr/>
                    <a:lstStyle/>
                    <a:p>
                      <a:r>
                        <a:rPr sz="1200" b="1"/>
                        <a:t>RQ1: feature identification</a:t>
                      </a:r>
                    </a:p>
                  </a:txBody>
                  <a:tcPr marL="54864" marR="54864" marT="27432" marB="27432"/>
                </a:tc>
                <a:tc>
                  <a:txBody>
                    <a:bodyPr/>
                    <a:lstStyle/>
                    <a:p>
                      <a:r>
                        <a:rPr sz="1200"/>
                        <a:t>Which target-side host and network behavioral feature families distinguish human-operated from autonomous-AI APT-like trials under matched conditions?</a:t>
                      </a:r>
                    </a:p>
                  </a:txBody>
                  <a:tcPr marL="54864" marR="54864" marT="27432" marB="27432"/>
                </a:tc>
                <a:tc>
                  <a:txBody>
                    <a:bodyPr/>
                    <a:lstStyle/>
                    <a:p>
                      <a:pPr algn="ctr">
                        <a:buNone/>
                      </a:pPr>
                      <a:r>
                        <a:rPr sz="1200"/>
                        <a:t>17</a:t>
                      </a:r>
                    </a:p>
                  </a:txBody>
                  <a:tcPr marL="54864" marR="54864" marT="27432" marB="27432"/>
                </a:tc>
              </a:tr>
              <a:tr h="438912">
                <a:tc>
                  <a:txBody>
                    <a:bodyPr/>
                    <a:lstStyle/>
                    <a:p>
                      <a:r>
                        <a:rPr sz="1200" b="1"/>
                        <a:t>RQ2: transfer and attributes</a:t>
                      </a:r>
                    </a:p>
                  </a:txBody>
                  <a:tcPr marL="54864" marR="54864" marT="27432" marB="27432"/>
                </a:tc>
                <a:tc>
                  <a:txBody>
                    <a:bodyPr/>
                    <a:lstStyle/>
                    <a:p>
                      <a:r>
                        <a:rPr sz="1200"/>
                        <a:t>Which classifiers retain useful behavioral attributes for classification performance on autonomous-AI APT data?</a:t>
                      </a:r>
                    </a:p>
                  </a:txBody>
                  <a:tcPr marL="54864" marR="54864" marT="27432" marB="27432"/>
                </a:tc>
                <a:tc>
                  <a:txBody>
                    <a:bodyPr/>
                    <a:lstStyle/>
                    <a:p>
                      <a:pPr algn="ctr">
                        <a:buNone/>
                      </a:pPr>
                      <a:r>
                        <a:rPr sz="1200"/>
                        <a:t>13</a:t>
                      </a:r>
                    </a:p>
                  </a:txBody>
                  <a:tcPr marL="54864" marR="54864" marT="27432" marB="27432"/>
                </a:tc>
              </a:tr>
              <a:tr h="438912">
                <a:tc>
                  <a:txBody>
                    <a:bodyPr/>
                    <a:lstStyle/>
                    <a:p>
                      <a:r>
                        <a:rPr sz="1200" b="1"/>
                        <a:t>RQ3: classifier comparison</a:t>
                      </a:r>
                    </a:p>
                  </a:txBody>
                  <a:tcPr marL="54864" marR="54864" marT="27432" marB="27432"/>
                </a:tc>
                <a:tc>
                  <a:txBody>
                    <a:bodyPr/>
                    <a:lstStyle/>
                    <a:p>
                      <a:r>
                        <a:rPr sz="1200"/>
                        <a:t>Among XGBoost, a decision tree, a random forest, SVM and a tabular transformer, which provides the strongest trial-level human-versus-autonomous-AI classification?</a:t>
                      </a:r>
                    </a:p>
                  </a:txBody>
                  <a:tcPr marL="54864" marR="54864" marT="27432" marB="27432"/>
                </a:tc>
                <a:tc>
                  <a:txBody>
                    <a:bodyPr/>
                    <a:lstStyle/>
                    <a:p>
                      <a:pPr algn="ctr">
                        <a:buNone/>
                      </a:pPr>
                      <a:r>
                        <a:rPr sz="1200"/>
                        <a:t>20</a:t>
                      </a:r>
                    </a:p>
                  </a:txBody>
                  <a:tcPr marL="54864" marR="54864" marT="27432" marB="27432"/>
                </a:tc>
              </a:tr>
              <a:tr h="438912">
                <a:tc>
                  <a:txBody>
                    <a:bodyPr/>
                    <a:lstStyle/>
                    <a:p>
                      <a:r>
                        <a:rPr sz="1200" b="1"/>
                        <a:t>Generalization design</a:t>
                      </a:r>
                    </a:p>
                  </a:txBody>
                  <a:tcPr marL="54864" marR="54864" marT="27432" marB="27432"/>
                </a:tc>
                <a:tc>
                  <a:txBody>
                    <a:bodyPr/>
                    <a:lstStyle/>
                    <a:p>
                      <a:r>
                        <a:rPr sz="1200"/>
                        <a:t>Unseen human operators and AI configurations belong in the primary design. Checkpoint-family transfer is a separate stress test.</a:t>
                      </a:r>
                    </a:p>
                  </a:txBody>
                  <a:tcPr marL="54864" marR="54864" marT="27432" marB="27432"/>
                </a:tc>
                <a:tc>
                  <a:txBody>
                    <a:bodyPr/>
                    <a:lstStyle/>
                    <a:p>
                      <a:pPr algn="ctr">
                        <a:buNone/>
                      </a:pPr>
                      <a:r>
                        <a:rPr sz="1200"/>
                        <a:t>18</a:t>
                      </a:r>
                    </a:p>
                  </a:txBody>
                  <a:tcPr marL="54864" marR="54864" marT="27432" marB="27432"/>
                </a:tc>
              </a:tr>
              <a:tr h="438912">
                <a:tc>
                  <a:txBody>
                    <a:bodyPr/>
                    <a:lstStyle/>
                    <a:p>
                      <a:r>
                        <a:rPr sz="1200" b="1">
                          <a:solidFill>
                            <a:srgbClr val="FF0000"/>
                          </a:solidFill>
                        </a:rPr>
                        <a:t>Robustness design</a:t>
                      </a:r>
                    </a:p>
                  </a:txBody>
                  <a:tcPr marL="54864" marR="54864" marT="27432" marB="27432"/>
                </a:tc>
                <a:tc>
                  <a:txBody>
                    <a:bodyPr/>
                    <a:lstStyle/>
                    <a:p>
                      <a:r>
                        <a:rPr sz="1200"/>
                        <a:t>Remove timing and tool proxies, control command length, test sensor loss and report scripted/benign controls separately.</a:t>
                      </a:r>
                    </a:p>
                  </a:txBody>
                  <a:tcPr marL="54864" marR="54864" marT="27432" marB="27432"/>
                </a:tc>
                <a:tc>
                  <a:txBody>
                    <a:bodyPr/>
                    <a:lstStyle/>
                    <a:p>
                      <a:pPr algn="ctr">
                        <a:buNone/>
                      </a:pPr>
                      <a:r>
                        <a:rPr sz="1200"/>
                        <a:t>16</a:t>
                      </a:r>
                    </a:p>
                  </a:txBody>
                  <a:tcPr marL="54864" marR="54864" marT="27432" marB="27432"/>
                </a:tc>
              </a:tr>
            </a:tbl>
          </a:graphicData>
        </a:graphic>
      </p:graphicFrame>
    </p:spTree>
    <p:extLst>
      <p:ext uri="{BB962C8B-B14F-4D97-AF65-F5344CB8AC3E}">
        <p14:creationId xmlns:p14="http://schemas.microsoft.com/office/powerpoint/2010/main" val="30220921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43320AFF-F293-4126-A4F2-FD2389C5F5D8}"/>
              </a:ext>
            </a:extLst>
          </p:cNvPr>
          <p:cNvSpPr>
            <a:spLocks xmlns:a="http://schemas.openxmlformats.org/drawingml/2006/main" noGrp="1"/>
          </p:cNvSpPr>
          <p:nvPr>
            <p:ph type="title" idx="0"/>
          </p:nvPr>
        </p:nvSpPr>
        <p:spPr>
          <a:xfrm xmlns:a="http://schemas.openxmlformats.org/drawingml/2006/main">
            <a:off x="164592" y="0"/>
            <a:ext cx="7772400" cy="548640"/>
          </a:xfrm>
        </p:spPr>
        <p:txBody>
          <a:bodyPr xmlns:a="http://schemas.openxmlformats.org/drawingml/2006/main" wrap="square"/>
          <a:lstStyle xmlns:a="http://schemas.openxmlformats.org/drawingml/2006/main"/>
          <a:p xmlns:a="http://schemas.openxmlformats.org/drawingml/2006/main">
            <a:r>
              <a:rPr sz="1600" b="1" u="sng">
                <a:solidFill>
                  <a:srgbClr val="000000"/>
                </a:solidFill>
              </a:rPr>
              <a:t>Research Hypotheses (1 of 2)</a:t>
            </a:r>
          </a:p>
        </p:txBody>
      </p:sp>
      <p:graphicFrame>
        <p:nvGraphicFramePr>
          <p:cNvPr id="4" name="Table 3">
            <a:extLst xmlns:a="http://schemas.openxmlformats.org/drawingml/2006/main">
              <a:ext uri="{FF2B5EF4-FFF2-40B4-BE49-F238E27FC236}">
                <a16:creationId xmlns:a16="http://schemas.microsoft.com/office/drawing/2014/main" id="{187E5B61-028C-4F04-94E1-369B6B7181F0}"/>
              </a:ext>
            </a:extLst>
          </p:cNvPr>
          <p:cNvGraphicFramePr/>
          <p:nvPr/>
        </p:nvGraphicFramePr>
        <p:xfrm>
          <a:off xmlns:a="http://schemas.openxmlformats.org/drawingml/2006/main" x="164592" y="566928"/>
          <a:ext xmlns:a="http://schemas.openxmlformats.org/drawingml/2006/main" cx="8814815" cy="3035803"/>
        </p:xfrm>
        <a:graphic xmlns:a="http://schemas.openxmlformats.org/drawingml/2006/main">
          <a:graphicData uri="http://schemas.openxmlformats.org/drawingml/2006/table">
            <a:tbl>
              <a:tblPr firstRow="1" bandRow="1">
                <a:tableStyleId>{5C22544A-7EE6-4342-B048-85BDC9FD1C3A}</a:tableStyleId>
              </a:tblPr>
              <a:tblGrid>
                <a:gridCol w="1606867"/>
                <a:gridCol w="6519291"/>
                <a:gridCol w="688657"/>
              </a:tblGrid>
              <a:tr h="256031">
                <a:tc>
                  <a:txBody>
                    <a:bodyPr/>
                    <a:lstStyle/>
                    <a:p>
                      <a:r>
                        <a:rPr sz="1200" b="1"/>
                        <a:t>Deliverable</a:t>
                      </a:r>
                    </a:p>
                  </a:txBody>
                  <a:tcPr marL="54864" marR="54864" marT="27432" marB="27432" anchor="ctr"/>
                </a:tc>
                <a:tc>
                  <a:txBody>
                    <a:bodyPr/>
                    <a:lstStyle/>
                    <a:p>
                      <a:pPr algn="ctr">
                        <a:buNone/>
                      </a:pPr>
                      <a:r>
                        <a:rPr sz="1200" b="1"/>
                        <a:t>Directional hypotheses, pending formal evidence</a:t>
                      </a:r>
                    </a:p>
                  </a:txBody>
                  <a:tcPr marL="54864" marR="54864" marT="27432" marB="27432" anchor="ctr"/>
                </a:tc>
                <a:tc>
                  <a:txBody>
                    <a:bodyPr/>
                    <a:lstStyle/>
                    <a:p>
                      <a:pPr algn="ctr">
                        <a:buNone/>
                      </a:pPr>
                      <a:r>
                        <a:rPr sz="1200" b="1"/>
                        <a:t>WC</a:t>
                      </a:r>
                    </a:p>
                  </a:txBody>
                  <a:tcPr marL="54864" marR="54864" marT="27432" marB="27432" anchor="ctr"/>
                </a:tc>
              </a:tr>
              <a:tr h="438912">
                <a:tc>
                  <a:txBody>
                    <a:bodyPr/>
                    <a:lstStyle/>
                    <a:p>
                      <a:r>
                        <a:rPr sz="1200" b="1"/>
                        <a:t>H1 / RQ1</a:t>
                      </a:r>
                    </a:p>
                  </a:txBody>
                  <a:tcPr marL="54864" marR="54864" marT="27432" marB="27432"/>
                </a:tc>
                <a:tc>
                  <a:txBody>
                    <a:bodyPr/>
                    <a:lstStyle/>
                    <a:p>
                      <a:r>
                        <a:rPr sz="1200"/>
                        <a:t>Command diversity and command-sequence transition entropy improve classification of human-operated versus autonomous-AI APT-like activity compared with a predefined baseline.</a:t>
                      </a:r>
                    </a:p>
                  </a:txBody>
                  <a:tcPr marL="54864" marR="54864" marT="27432" marB="27432"/>
                </a:tc>
                <a:tc>
                  <a:txBody>
                    <a:bodyPr/>
                    <a:lstStyle/>
                    <a:p>
                      <a:pPr algn="ctr">
                        <a:buNone/>
                      </a:pPr>
                      <a:r>
                        <a:rPr sz="1200"/>
                        <a:t>19</a:t>
                      </a:r>
                    </a:p>
                  </a:txBody>
                  <a:tcPr marL="54864" marR="54864" marT="27432" marB="27432"/>
                </a:tc>
              </a:tr>
              <a:tr h="256031">
                <a:tc>
                  <a:txBody>
                    <a:bodyPr/>
                    <a:lstStyle/>
                    <a:p>
                      <a:r>
                        <a:rPr sz="1200" b="1"/>
                        <a:t>Independent variables</a:t>
                      </a:r>
                    </a:p>
                  </a:txBody>
                  <a:tcPr marL="54864" marR="54864" marT="27432" marB="27432"/>
                </a:tc>
                <a:tc>
                  <a:txBody>
                    <a:bodyPr/>
                    <a:lstStyle/>
                    <a:p>
                      <a:r>
                        <a:rPr sz="1200"/>
                        <a:t>Feature inclusion: diversity, entropy, each separately and jointly. Freeze the baseline and definitions before scoring.</a:t>
                      </a:r>
                    </a:p>
                  </a:txBody>
                  <a:tcPr marL="54864" marR="54864" marT="27432" marB="27432"/>
                </a:tc>
                <a:tc>
                  <a:txBody>
                    <a:bodyPr/>
                    <a:lstStyle/>
                    <a:p>
                      <a:pPr algn="ctr">
                        <a:buNone/>
                      </a:pPr>
                      <a:r>
                        <a:rPr sz="1200"/>
                        <a:t>15</a:t>
                      </a:r>
                    </a:p>
                  </a:txBody>
                  <a:tcPr marL="54864" marR="54864" marT="27432" marB="27432"/>
                </a:tc>
              </a:tr>
              <a:tr h="256031">
                <a:tc>
                  <a:txBody>
                    <a:bodyPr/>
                    <a:lstStyle/>
                    <a:p>
                      <a:r>
                        <a:rPr sz="1200" b="1"/>
                        <a:t>Dependent variable</a:t>
                      </a:r>
                    </a:p>
                  </a:txBody>
                  <a:tcPr marL="54864" marR="54864" marT="27432" marB="27432"/>
                </a:tc>
                <a:tc>
                  <a:txBody>
                    <a:bodyPr/>
                    <a:lstStyle/>
                    <a:p>
                      <a:r>
                        <a:rPr sz="1200"/>
                        <a:t>Paired change in trial macro-F1 and group uncertainty.</a:t>
                      </a:r>
                    </a:p>
                  </a:txBody>
                  <a:tcPr marL="54864" marR="54864" marT="27432" marB="27432"/>
                </a:tc>
                <a:tc>
                  <a:txBody>
                    <a:bodyPr/>
                    <a:lstStyle/>
                    <a:p>
                      <a:pPr algn="ctr">
                        <a:buNone/>
                      </a:pPr>
                      <a:r>
                        <a:rPr sz="1200"/>
                        <a:t>8</a:t>
                      </a:r>
                    </a:p>
                  </a:txBody>
                  <a:tcPr marL="54864" marR="54864" marT="27432" marB="27432"/>
                </a:tc>
              </a:tr>
              <a:tr h="438912">
                <a:tc>
                  <a:txBody>
                    <a:bodyPr/>
                    <a:lstStyle/>
                    <a:p>
                      <a:r>
                        <a:rPr sz="1200" b="1"/>
                        <a:t>Test</a:t>
                      </a:r>
                    </a:p>
                  </a:txBody>
                  <a:tcPr marL="54864" marR="54864" marT="27432" marB="27432"/>
                </a:tc>
                <a:tc>
                  <a:txBody>
                    <a:bodyPr/>
                    <a:lstStyle/>
                    <a:p>
                      <a:r>
                        <a:rPr sz="1200"/>
                        <a:t>Retrain ablations on common grouped splits. Feature-family importance alone cannot establish benefit from both named features.</a:t>
                      </a:r>
                    </a:p>
                  </a:txBody>
                  <a:tcPr marL="54864" marR="54864" marT="27432" marB="27432"/>
                </a:tc>
                <a:tc>
                  <a:txBody>
                    <a:bodyPr/>
                    <a:lstStyle/>
                    <a:p>
                      <a:pPr algn="ctr">
                        <a:buNone/>
                      </a:pPr>
                      <a:r>
                        <a:rPr sz="1200"/>
                        <a:t>16</a:t>
                      </a:r>
                    </a:p>
                  </a:txBody>
                  <a:tcPr marL="54864" marR="54864" marT="27432" marB="27432"/>
                </a:tc>
              </a:tr>
              <a:tr h="438912">
                <a:tc>
                  <a:txBody>
                    <a:bodyPr/>
                    <a:lstStyle/>
                    <a:p>
                      <a:r>
                        <a:rPr sz="1200" b="1"/>
                        <a:t>H2 / RQ2</a:t>
                      </a:r>
                    </a:p>
                  </a:txBody>
                  <a:tcPr marL="54864" marR="54864" marT="27432" marB="27432"/>
                </a:tc>
                <a:tc>
                  <a:txBody>
                    <a:bodyPr/>
                    <a:lstStyle/>
                    <a:p>
                      <a:r>
                        <a:rPr sz="1200"/>
                        <a:t>Logistic regression retains useful behavioral attributes and achieves above-baseline classification performance on previously unseen autonomous-AI configurations and human operators.</a:t>
                      </a:r>
                    </a:p>
                  </a:txBody>
                  <a:tcPr marL="54864" marR="54864" marT="27432" marB="27432"/>
                </a:tc>
                <a:tc>
                  <a:txBody>
                    <a:bodyPr/>
                    <a:lstStyle/>
                    <a:p>
                      <a:pPr algn="ctr">
                        <a:buNone/>
                      </a:pPr>
                      <a:r>
                        <a:rPr sz="1200"/>
                        <a:t>19</a:t>
                      </a:r>
                    </a:p>
                  </a:txBody>
                  <a:tcPr marL="54864" marR="54864" marT="27432" marB="27432"/>
                </a:tc>
              </a:tr>
              <a:tr h="256031">
                <a:tc>
                  <a:txBody>
                    <a:bodyPr/>
                    <a:lstStyle/>
                    <a:p>
                      <a:r>
                        <a:rPr sz="1200" b="1"/>
                        <a:t>Independent variables</a:t>
                      </a:r>
                    </a:p>
                  </a:txBody>
                  <a:tcPr marL="54864" marR="54864" marT="27432" marB="27432"/>
                </a:tc>
                <a:tc>
                  <a:txBody>
                    <a:bodyPr/>
                    <a:lstStyle/>
                    <a:p>
                      <a:r>
                        <a:rPr sz="1200"/>
                        <a:t>Held-out human/configuration groups and full versus reduced behavioral representation.</a:t>
                      </a:r>
                    </a:p>
                  </a:txBody>
                  <a:tcPr marL="54864" marR="54864" marT="27432" marB="27432"/>
                </a:tc>
                <a:tc>
                  <a:txBody>
                    <a:bodyPr/>
                    <a:lstStyle/>
                    <a:p>
                      <a:pPr algn="ctr">
                        <a:buNone/>
                      </a:pPr>
                      <a:r>
                        <a:rPr sz="1200"/>
                        <a:t>9</a:t>
                      </a:r>
                    </a:p>
                  </a:txBody>
                  <a:tcPr marL="54864" marR="54864" marT="27432" marB="27432"/>
                </a:tc>
              </a:tr>
              <a:tr h="256031">
                <a:tc>
                  <a:txBody>
                    <a:bodyPr/>
                    <a:lstStyle/>
                    <a:p>
                      <a:r>
                        <a:rPr sz="1200" b="1"/>
                        <a:t>Dependent variable</a:t>
                      </a:r>
                    </a:p>
                  </a:txBody>
                  <a:tcPr marL="54864" marR="54864" marT="27432" marB="27432"/>
                </a:tc>
                <a:tc>
                  <a:txBody>
                    <a:bodyPr/>
                    <a:lstStyle/>
                    <a:p>
                      <a:r>
                        <a:rPr sz="1200"/>
                        <a:t>Above-baseline macro-F1, human false-AI rate, feature stability and transfer loss.</a:t>
                      </a:r>
                    </a:p>
                  </a:txBody>
                  <a:tcPr marL="54864" marR="54864" marT="27432" marB="27432"/>
                </a:tc>
                <a:tc>
                  <a:txBody>
                    <a:bodyPr/>
                    <a:lstStyle/>
                    <a:p>
                      <a:pPr algn="ctr">
                        <a:buNone/>
                      </a:pPr>
                      <a:r>
                        <a:rPr sz="1200"/>
                        <a:t>10</a:t>
                      </a:r>
                    </a:p>
                  </a:txBody>
                  <a:tcPr marL="54864" marR="54864" marT="27432" marB="27432"/>
                </a:tc>
              </a:tr>
              <a:tr h="438912">
                <a:tc>
                  <a:txBody>
                    <a:bodyPr/>
                    <a:lstStyle/>
                    <a:p>
                      <a:r>
                        <a:rPr sz="1200" b="1"/>
                        <a:t>Test</a:t>
                      </a:r>
                    </a:p>
                  </a:txBody>
                  <a:tcPr marL="54864" marR="54864" marT="27432" marB="27432"/>
                </a:tc>
                <a:tc>
                  <a:txBody>
                    <a:bodyPr/>
                    <a:lstStyle/>
                    <a:p>
                      <a:r>
                        <a:rPr sz="1200"/>
                        <a:t>Freeze logistic regression and the baseline. Fit preprocessing inside training folds. Test unseen groups with timing/tool controls.</a:t>
                      </a:r>
                    </a:p>
                  </a:txBody>
                  <a:tcPr marL="54864" marR="54864" marT="27432" marB="27432"/>
                </a:tc>
                <a:tc>
                  <a:txBody>
                    <a:bodyPr/>
                    <a:lstStyle/>
                    <a:p>
                      <a:pPr algn="ctr">
                        <a:buNone/>
                      </a:pPr>
                      <a:r>
                        <a:rPr sz="1200"/>
                        <a:t>17</a:t>
                      </a:r>
                    </a:p>
                  </a:txBody>
                  <a:tcPr marL="54864" marR="54864" marT="27432" marB="27432"/>
                </a:tc>
              </a:tr>
            </a:tbl>
          </a:graphicData>
        </a:graphic>
      </p:graphicFrame>
    </p:spTree>
    <p:extLst>
      <p:ext uri="{BB962C8B-B14F-4D97-AF65-F5344CB8AC3E}">
        <p14:creationId xmlns:p14="http://schemas.microsoft.com/office/powerpoint/2010/main" val="17854463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8A9B7F18-5328-4075-A306-069ECB9D1471}"/>
              </a:ext>
            </a:extLst>
          </p:cNvPr>
          <p:cNvSpPr>
            <a:spLocks xmlns:a="http://schemas.openxmlformats.org/drawingml/2006/main" noGrp="1"/>
          </p:cNvSpPr>
          <p:nvPr>
            <p:ph type="title" idx="0"/>
          </p:nvPr>
        </p:nvSpPr>
        <p:spPr>
          <a:xfrm xmlns:a="http://schemas.openxmlformats.org/drawingml/2006/main">
            <a:off x="164592" y="0"/>
            <a:ext cx="7772400" cy="548640"/>
          </a:xfrm>
        </p:spPr>
        <p:txBody>
          <a:bodyPr xmlns:a="http://schemas.openxmlformats.org/drawingml/2006/main" wrap="square"/>
          <a:lstStyle xmlns:a="http://schemas.openxmlformats.org/drawingml/2006/main"/>
          <a:p xmlns:a="http://schemas.openxmlformats.org/drawingml/2006/main">
            <a:r>
              <a:rPr sz="1600" b="1" u="sng">
                <a:solidFill>
                  <a:srgbClr val="000000"/>
                </a:solidFill>
              </a:rPr>
              <a:t>Research Hypotheses (2 of 2)</a:t>
            </a:r>
          </a:p>
        </p:txBody>
      </p:sp>
      <p:graphicFrame>
        <p:nvGraphicFramePr>
          <p:cNvPr id="4" name="Table 3">
            <a:extLst xmlns:a="http://schemas.openxmlformats.org/drawingml/2006/main">
              <a:ext uri="{FF2B5EF4-FFF2-40B4-BE49-F238E27FC236}">
                <a16:creationId xmlns:a16="http://schemas.microsoft.com/office/drawing/2014/main" id="{70D96099-EBD5-46BD-A8FB-A313A4128F60}"/>
              </a:ext>
            </a:extLst>
          </p:cNvPr>
          <p:cNvGraphicFramePr/>
          <p:nvPr/>
        </p:nvGraphicFramePr>
        <p:xfrm>
          <a:off xmlns:a="http://schemas.openxmlformats.org/drawingml/2006/main" x="164592" y="566928"/>
          <a:ext xmlns:a="http://schemas.openxmlformats.org/drawingml/2006/main" cx="8814815" cy="3364988"/>
        </p:xfrm>
        <a:graphic xmlns:a="http://schemas.openxmlformats.org/drawingml/2006/main">
          <a:graphicData uri="http://schemas.openxmlformats.org/drawingml/2006/table">
            <a:tbl>
              <a:tblPr firstRow="1" bandRow="1">
                <a:tableStyleId>{5C22544A-7EE6-4342-B048-85BDC9FD1C3A}</a:tableStyleId>
              </a:tblPr>
              <a:tblGrid>
                <a:gridCol w="1606867"/>
                <a:gridCol w="6519291"/>
                <a:gridCol w="688657"/>
              </a:tblGrid>
              <a:tr h="256031">
                <a:tc>
                  <a:txBody>
                    <a:bodyPr/>
                    <a:lstStyle/>
                    <a:p>
                      <a:r>
                        <a:rPr sz="1200" b="1"/>
                        <a:t>Deliverable</a:t>
                      </a:r>
                    </a:p>
                  </a:txBody>
                  <a:tcPr marL="54864" marR="54864" marT="27432" marB="27432" anchor="ctr"/>
                </a:tc>
                <a:tc>
                  <a:txBody>
                    <a:bodyPr/>
                    <a:lstStyle/>
                    <a:p>
                      <a:pPr algn="ctr">
                        <a:buNone/>
                      </a:pPr>
                      <a:r>
                        <a:rPr sz="1200" b="1"/>
                        <a:t>Model hypothesis and evidence status</a:t>
                      </a:r>
                    </a:p>
                  </a:txBody>
                  <a:tcPr marL="54864" marR="54864" marT="27432" marB="27432" anchor="ctr"/>
                </a:tc>
                <a:tc>
                  <a:txBody>
                    <a:bodyPr/>
                    <a:lstStyle/>
                    <a:p>
                      <a:pPr algn="ctr">
                        <a:buNone/>
                      </a:pPr>
                      <a:r>
                        <a:rPr sz="1200" b="1"/>
                        <a:t>WC</a:t>
                      </a:r>
                    </a:p>
                  </a:txBody>
                  <a:tcPr marL="54864" marR="54864" marT="27432" marB="27432" anchor="ctr"/>
                </a:tc>
              </a:tr>
              <a:tr h="438912">
                <a:tc>
                  <a:txBody>
                    <a:bodyPr/>
                    <a:lstStyle/>
                    <a:p>
                      <a:r>
                        <a:rPr sz="1200" b="1"/>
                        <a:t>H3 / RQ3</a:t>
                      </a:r>
                    </a:p>
                  </a:txBody>
                  <a:tcPr marL="54864" marR="54864" marT="27432" marB="27432"/>
                </a:tc>
                <a:tc>
                  <a:txBody>
                    <a:bodyPr/>
                    <a:lstStyle/>
                    <a:p>
                      <a:r>
                        <a:rPr sz="1200"/>
                        <a:t>SVM achieves higher trial-level macro-F1 than XGBoost, a decision tree, a random forest and a tabular transformer for human-versus-autonomous-AI classification.</a:t>
                      </a:r>
                    </a:p>
                  </a:txBody>
                  <a:tcPr marL="54864" marR="54864" marT="27432" marB="27432"/>
                </a:tc>
                <a:tc>
                  <a:txBody>
                    <a:bodyPr/>
                    <a:lstStyle/>
                    <a:p>
                      <a:pPr algn="ctr">
                        <a:buNone/>
                      </a:pPr>
                      <a:r>
                        <a:rPr sz="1200"/>
                        <a:t>20</a:t>
                      </a:r>
                    </a:p>
                  </a:txBody>
                  <a:tcPr marL="54864" marR="54864" marT="27432" marB="27432"/>
                </a:tc>
              </a:tr>
              <a:tr h="256031">
                <a:tc>
                  <a:txBody>
                    <a:bodyPr/>
                    <a:lstStyle/>
                    <a:p>
                      <a:r>
                        <a:rPr sz="1200" b="1"/>
                        <a:t>Independent variables</a:t>
                      </a:r>
                    </a:p>
                  </a:txBody>
                  <a:tcPr marL="54864" marR="54864" marT="27432" marB="27432"/>
                </a:tc>
                <a:tc>
                  <a:txBody>
                    <a:bodyPr/>
                    <a:lstStyle/>
                    <a:p>
                      <a:r>
                        <a:rPr sz="1200"/>
                        <a:t>Five primary classifiers using the same feature table, grouped splits and bounded tuning budgets.</a:t>
                      </a:r>
                    </a:p>
                  </a:txBody>
                  <a:tcPr marL="54864" marR="54864" marT="27432" marB="27432"/>
                </a:tc>
                <a:tc>
                  <a:txBody>
                    <a:bodyPr/>
                    <a:lstStyle/>
                    <a:p>
                      <a:pPr algn="ctr">
                        <a:buNone/>
                      </a:pPr>
                      <a:r>
                        <a:rPr sz="1200"/>
                        <a:t>14</a:t>
                      </a:r>
                    </a:p>
                  </a:txBody>
                  <a:tcPr marL="54864" marR="54864" marT="27432" marB="27432"/>
                </a:tc>
              </a:tr>
              <a:tr h="256031">
                <a:tc>
                  <a:txBody>
                    <a:bodyPr/>
                    <a:lstStyle/>
                    <a:p>
                      <a:r>
                        <a:rPr sz="1200" b="1"/>
                        <a:t>Dependent variable</a:t>
                      </a:r>
                    </a:p>
                  </a:txBody>
                  <a:tcPr marL="54864" marR="54864" marT="27432" marB="27432"/>
                </a:tc>
                <a:tc>
                  <a:txBody>
                    <a:bodyPr/>
                    <a:lstStyle/>
                    <a:p>
                      <a:r>
                        <a:rPr sz="1200"/>
                        <a:t>Trial macro-F1, paired score differences and corrected group uncertainty. Secondary metrics include errors, calibration and cost.</a:t>
                      </a:r>
                    </a:p>
                  </a:txBody>
                  <a:tcPr marL="54864" marR="54864" marT="27432" marB="27432"/>
                </a:tc>
                <a:tc>
                  <a:txBody>
                    <a:bodyPr/>
                    <a:lstStyle/>
                    <a:p>
                      <a:pPr algn="ctr">
                        <a:buNone/>
                      </a:pPr>
                      <a:r>
                        <a:rPr sz="1200"/>
                        <a:t>16</a:t>
                      </a:r>
                    </a:p>
                  </a:txBody>
                  <a:tcPr marL="54864" marR="54864" marT="27432" marB="27432"/>
                </a:tc>
              </a:tr>
              <a:tr h="438912">
                <a:tc>
                  <a:txBody>
                    <a:bodyPr/>
                    <a:lstStyle/>
                    <a:p>
                      <a:r>
                        <a:rPr sz="1200" b="1"/>
                        <a:t>Test</a:t>
                      </a:r>
                    </a:p>
                  </a:txBody>
                  <a:tcPr marL="54864" marR="54864" marT="27432" marB="27432"/>
                </a:tc>
                <a:tc>
                  <a:txBody>
                    <a:bodyPr/>
                    <a:lstStyle/>
                    <a:p>
                      <a:r>
                        <a:rPr sz="1200"/>
                        <a:t>Compare SVM with each of four candidates using paired predictions and a declared multiplicity procedure. A leading mean alone is insufficient.</a:t>
                      </a:r>
                    </a:p>
                  </a:txBody>
                  <a:tcPr marL="54864" marR="54864" marT="27432" marB="27432"/>
                </a:tc>
                <a:tc>
                  <a:txBody>
                    <a:bodyPr/>
                    <a:lstStyle/>
                    <a:p>
                      <a:pPr algn="ctr">
                        <a:buNone/>
                      </a:pPr>
                      <a:r>
                        <a:rPr sz="1200"/>
                        <a:t>21</a:t>
                      </a:r>
                    </a:p>
                  </a:txBody>
                  <a:tcPr marL="54864" marR="54864" marT="27432" marB="27432"/>
                </a:tc>
              </a:tr>
              <a:tr h="438912">
                <a:tc>
                  <a:txBody>
                    <a:bodyPr/>
                    <a:lstStyle/>
                    <a:p>
                      <a:r>
                        <a:rPr sz="1200" b="1"/>
                        <a:t>Hypothesis status</a:t>
                      </a:r>
                    </a:p>
                  </a:txBody>
                  <a:tcPr marL="54864" marR="54864" marT="27432" marB="27432"/>
                </a:tc>
                <a:tc>
                  <a:txBody>
                    <a:bodyPr/>
                    <a:lstStyle/>
                    <a:p>
                      <a:r>
                        <a:rPr sz="1200"/>
                        <a:t>H1, H2 and H3 are author-approved working predictions. Formal collection and decisions remain pending.</a:t>
                      </a:r>
                    </a:p>
                  </a:txBody>
                  <a:tcPr marL="54864" marR="54864" marT="27432" marB="27432"/>
                </a:tc>
                <a:tc>
                  <a:txBody>
                    <a:bodyPr/>
                    <a:lstStyle/>
                    <a:p>
                      <a:pPr algn="ctr">
                        <a:buNone/>
                      </a:pPr>
                      <a:r>
                        <a:rPr sz="1200"/>
                        <a:t>14</a:t>
                      </a:r>
                    </a:p>
                  </a:txBody>
                  <a:tcPr marL="54864" marR="54864" marT="27432" marB="27432"/>
                </a:tc>
              </a:tr>
              <a:tr h="256031">
                <a:tc>
                  <a:txBody>
                    <a:bodyPr/>
                    <a:lstStyle/>
                    <a:p>
                      <a:r>
                        <a:rPr sz="1200" b="1"/>
                        <a:t>H1 rationale</a:t>
                      </a:r>
                    </a:p>
                  </a:txBody>
                  <a:tcPr marL="54864" marR="54864" marT="27432" marB="27432"/>
                </a:tc>
                <a:tc>
                  <a:txBody>
                    <a:bodyPr/>
                    <a:lstStyle/>
                    <a:p>
                      <a:r>
                        <a:rPr sz="1200"/>
                        <a:t>Prior command-family results motivate diversity and entropy. Their individual benefit has not been isolated.</a:t>
                      </a:r>
                    </a:p>
                  </a:txBody>
                  <a:tcPr marL="54864" marR="54864" marT="27432" marB="27432"/>
                </a:tc>
                <a:tc>
                  <a:txBody>
                    <a:bodyPr/>
                    <a:lstStyle/>
                    <a:p>
                      <a:pPr algn="ctr">
                        <a:buNone/>
                      </a:pPr>
                      <a:r>
                        <a:rPr sz="1200"/>
                        <a:t>14</a:t>
                      </a:r>
                    </a:p>
                  </a:txBody>
                  <a:tcPr marL="54864" marR="54864" marT="27432" marB="27432"/>
                </a:tc>
              </a:tr>
              <a:tr h="256031">
                <a:tc>
                  <a:txBody>
                    <a:bodyPr/>
                    <a:lstStyle/>
                    <a:p>
                      <a:r>
                        <a:rPr sz="1200" b="1"/>
                        <a:t>H2 rationale</a:t>
                      </a:r>
                    </a:p>
                  </a:txBody>
                  <a:tcPr marL="54864" marR="54864" marT="27432" marB="27432"/>
                </a:tc>
                <a:tc>
                  <a:txBody>
                    <a:bodyPr/>
                    <a:lstStyle/>
                    <a:p>
                      <a:r>
                        <a:rPr sz="1200"/>
                        <a:t>Exploratory logistic transfer: 0.708 and 0.662 group-balanced accuracy. Source confounding remains substantial.</a:t>
                      </a:r>
                    </a:p>
                  </a:txBody>
                  <a:tcPr marL="54864" marR="54864" marT="27432" marB="27432"/>
                </a:tc>
                <a:tc>
                  <a:txBody>
                    <a:bodyPr/>
                    <a:lstStyle/>
                    <a:p>
                      <a:pPr algn="ctr">
                        <a:buNone/>
                      </a:pPr>
                      <a:r>
                        <a:rPr sz="1200"/>
                        <a:t>12</a:t>
                      </a:r>
                    </a:p>
                  </a:txBody>
                  <a:tcPr marL="54864" marR="54864" marT="27432" marB="27432"/>
                </a:tc>
              </a:tr>
              <a:tr h="438912">
                <a:tc>
                  <a:txBody>
                    <a:bodyPr/>
                    <a:lstStyle/>
                    <a:p>
                      <a:r>
                        <a:rPr sz="1200" b="1"/>
                        <a:t>H3 rationale</a:t>
                      </a:r>
                    </a:p>
                  </a:txBody>
                  <a:tcPr marL="54864" marR="54864" marT="27432" marB="27432"/>
                </a:tc>
                <a:tc>
                  <a:txBody>
                    <a:bodyPr/>
                    <a:lstStyle/>
                    <a:p>
                      <a:r>
                        <a:rPr sz="1200"/>
                        <a:t>Exploratory SVM transfer: 0.713 and 0.643 versus RF 0.600 and 0.568. XGBoost, tree and transformer were absent from that screen.</a:t>
                      </a:r>
                    </a:p>
                  </a:txBody>
                  <a:tcPr marL="54864" marR="54864" marT="27432" marB="27432"/>
                </a:tc>
                <a:tc>
                  <a:txBody>
                    <a:bodyPr/>
                    <a:lstStyle/>
                    <a:p>
                      <a:pPr algn="ctr">
                        <a:buNone/>
                      </a:pPr>
                      <a:r>
                        <a:rPr sz="1200"/>
                        <a:t>20</a:t>
                      </a:r>
                    </a:p>
                  </a:txBody>
                  <a:tcPr marL="54864" marR="54864" marT="27432" marB="27432"/>
                </a:tc>
              </a:tr>
            </a:tbl>
          </a:graphicData>
        </a:graphic>
      </p:graphicFrame>
    </p:spTree>
    <p:extLst>
      <p:ext uri="{BB962C8B-B14F-4D97-AF65-F5344CB8AC3E}">
        <p14:creationId xmlns:p14="http://schemas.microsoft.com/office/powerpoint/2010/main" val="185197745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72AD69E-9AB4-4499-B412-42AD4798FE8D}"/>
              </a:ext>
            </a:extLst>
          </p:cNvPr>
          <p:cNvSpPr>
            <a:spLocks xmlns:a="http://schemas.openxmlformats.org/drawingml/2006/main" noGrp="1"/>
          </p:cNvSpPr>
          <p:nvPr>
            <p:ph type="title" idx="0"/>
          </p:nvPr>
        </p:nvSpPr>
        <p:spPr>
          <a:xfrm xmlns:a="http://schemas.openxmlformats.org/drawingml/2006/main">
            <a:off x="320040" y="109728"/>
            <a:ext cx="8595360" cy="548640"/>
          </a:xfrm>
        </p:spPr>
        <p:txBody>
          <a:bodyPr xmlns:a="http://schemas.openxmlformats.org/drawingml/2006/main" wrap="square"/>
          <a:lstStyle xmlns:a="http://schemas.openxmlformats.org/drawingml/2006/main"/>
          <a:p xmlns:a="http://schemas.openxmlformats.org/drawingml/2006/main">
            <a:r>
              <a:rPr sz="2400" b="1">
                <a:solidFill>
                  <a:srgbClr val="B22600"/>
                </a:solidFill>
              </a:rPr>
              <a:t>Planned Data Source: Host Telemetry</a:t>
            </a:r>
          </a:p>
        </p:txBody>
      </p:sp>
      <p:graphicFrame>
        <p:nvGraphicFramePr>
          <p:cNvPr id="4" name="Table 3">
            <a:extLst xmlns:a="http://schemas.openxmlformats.org/drawingml/2006/main">
              <a:ext uri="{FF2B5EF4-FFF2-40B4-BE49-F238E27FC236}">
                <a16:creationId xmlns:a16="http://schemas.microsoft.com/office/drawing/2014/main" id="{1873688F-1C92-4151-8814-02D90442481D}"/>
              </a:ext>
            </a:extLst>
          </p:cNvPr>
          <p:cNvGraphicFramePr/>
          <p:nvPr/>
        </p:nvGraphicFramePr>
        <p:xfrm>
          <a:off xmlns:a="http://schemas.openxmlformats.org/drawingml/2006/main" x="164592" y="777240"/>
          <a:ext xmlns:a="http://schemas.openxmlformats.org/drawingml/2006/main" cx="7898421" cy="1636776"/>
        </p:xfrm>
        <a:graphic xmlns:a="http://schemas.openxmlformats.org/drawingml/2006/main">
          <a:graphicData uri="http://schemas.openxmlformats.org/drawingml/2006/table">
            <a:tbl>
              <a:tblPr firstRow="1" bandRow="1">
                <a:tableStyleId>{5C22544A-7EE6-4342-B048-85BDC9FD1C3A}</a:tableStyleId>
              </a:tblPr>
              <a:tblGrid>
                <a:gridCol w="349101"/>
                <a:gridCol w="1134580"/>
                <a:gridCol w="1570957"/>
                <a:gridCol w="1920058"/>
                <a:gridCol w="1134580"/>
                <a:gridCol w="1003667"/>
                <a:gridCol w="785478"/>
              </a:tblGrid>
              <a:tr h="408432">
                <a:tc>
                  <a:txBody>
                    <a:bodyPr/>
                    <a:lstStyle/>
                    <a:p>
                      <a:r>
                        <a:rPr sz="1100" b="1"/>
                        <a:t>ID</a:t>
                      </a:r>
                    </a:p>
                  </a:txBody>
                  <a:tcPr marL="54864" marR="54864" marT="27432" marB="27432" anchor="ctr"/>
                </a:tc>
                <a:tc>
                  <a:txBody>
                    <a:bodyPr/>
                    <a:lstStyle/>
                    <a:p>
                      <a:pPr algn="ctr">
                        <a:buNone/>
                      </a:pPr>
                      <a:r>
                        <a:rPr sz="1100" b="1"/>
                        <a:t>Name</a:t>
                      </a:r>
                    </a:p>
                  </a:txBody>
                  <a:tcPr marL="54864" marR="54864" marT="27432" marB="27432" anchor="ctr"/>
                </a:tc>
                <a:tc>
                  <a:txBody>
                    <a:bodyPr/>
                    <a:lstStyle/>
                    <a:p>
                      <a:pPr algn="ctr">
                        <a:buNone/>
                      </a:pPr>
                      <a:r>
                        <a:rPr sz="1100" b="1"/>
                        <a:t>Source</a:t>
                      </a:r>
                    </a:p>
                  </a:txBody>
                  <a:tcPr marL="54864" marR="54864" marT="27432" marB="27432" anchor="ctr"/>
                </a:tc>
                <a:tc>
                  <a:txBody>
                    <a:bodyPr/>
                    <a:lstStyle/>
                    <a:p>
                      <a:pPr algn="ctr">
                        <a:buNone/>
                      </a:pPr>
                      <a:r>
                        <a:rPr sz="1100" b="1"/>
                        <a:t>Brief Description</a:t>
                      </a:r>
                    </a:p>
                  </a:txBody>
                  <a:tcPr marL="54864" marR="54864" marT="27432" marB="27432" anchor="ctr"/>
                </a:tc>
                <a:tc>
                  <a:txBody>
                    <a:bodyPr/>
                    <a:lstStyle/>
                    <a:p>
                      <a:pPr algn="ctr">
                        <a:buNone/>
                      </a:pPr>
                      <a:r>
                        <a:rPr sz="1100" b="1"/>
                        <a:t>Format</a:t>
                      </a:r>
                    </a:p>
                  </a:txBody>
                  <a:tcPr marL="54864" marR="54864" marT="27432" marB="27432" anchor="ctr"/>
                </a:tc>
                <a:tc>
                  <a:txBody>
                    <a:bodyPr/>
                    <a:lstStyle/>
                    <a:p>
                      <a:pPr algn="ctr">
                        <a:buNone/>
                      </a:pPr>
                      <a:r>
                        <a:rPr sz="1100" b="1"/>
                        <a:t>Num. of records</a:t>
                      </a:r>
                    </a:p>
                  </a:txBody>
                  <a:tcPr marL="54864" marR="54864" marT="27432" marB="27432" anchor="ctr"/>
                </a:tc>
                <a:tc>
                  <a:txBody>
                    <a:bodyPr/>
                    <a:lstStyle/>
                    <a:p>
                      <a:pPr algn="ctr">
                        <a:buNone/>
                      </a:pPr>
                      <a:r>
                        <a:rPr sz="1100" b="1"/>
                        <a:t>Access (Y/N)</a:t>
                      </a:r>
                    </a:p>
                  </a:txBody>
                  <a:tcPr marL="54864" marR="54864" marT="27432" marB="27432" anchor="ctr"/>
                </a:tc>
              </a:tr>
              <a:tr h="1078992">
                <a:tc>
                  <a:txBody>
                    <a:bodyPr/>
                    <a:lstStyle/>
                    <a:p>
                      <a:pPr algn="ctr">
                        <a:buNone/>
                      </a:pPr>
                      <a:r>
                        <a:rPr sz="1100" b="1"/>
                        <a:t>1</a:t>
                      </a:r>
                    </a:p>
                  </a:txBody>
                  <a:tcPr marL="54864" marR="54864" marT="27432" marB="27432"/>
                </a:tc>
                <a:tc>
                  <a:txBody>
                    <a:bodyPr/>
                    <a:lstStyle/>
                    <a:p>
                      <a:r>
                        <a:rPr sz="1100"/>
                        <a:t>Host telemetry from matched AWS trials</a:t>
                      </a:r>
                    </a:p>
                  </a:txBody>
                  <a:tcPr marL="54864" marR="54864" marT="27432" marB="27432"/>
                </a:tc>
                <a:tc>
                  <a:txBody>
                    <a:bodyPr/>
                    <a:lstStyle/>
                    <a:p>
                      <a:r>
                        <a:rPr sz="1100"/>
                        <a:t>Planned collection in a controlled AWS range. Pin the selected repository, images and instrumentation before collection.</a:t>
                      </a:r>
                    </a:p>
                  </a:txBody>
                  <a:tcPr marL="54864" marR="54864" marT="27432" marB="27432"/>
                </a:tc>
                <a:tc>
                  <a:txBody>
                    <a:bodyPr/>
                    <a:lstStyle/>
                    <a:p>
                      <a:r>
                        <a:rPr sz="1100"/>
                        <a:t>Human and autonomous AI arms pursue equivalent objectives across five collection days. Record each trial and its independent actor/configuration group.</a:t>
                      </a:r>
                    </a:p>
                  </a:txBody>
                  <a:tcPr marL="54864" marR="54864" marT="27432" marB="27432"/>
                </a:tc>
                <a:tc>
                  <a:txBody>
                    <a:bodyPr/>
                    <a:lstStyle/>
                    <a:p>
                      <a:r>
                        <a:rPr sz="1100"/>
                        <a:t>EVTX (Security, System, PowerShell 4104), Sysmon, AD audit and DNS logs</a:t>
                      </a:r>
                    </a:p>
                  </a:txBody>
                  <a:tcPr marL="54864" marR="54864" marT="27432" marB="27432"/>
                </a:tc>
                <a:tc>
                  <a:txBody>
                    <a:bodyPr/>
                    <a:lstStyle/>
                    <a:p>
                      <a:r>
                        <a:rPr sz="1100"/>
                        <a:t>Not collected. Pilot sets feasible trial and group counts.</a:t>
                      </a:r>
                    </a:p>
                  </a:txBody>
                  <a:tcPr marL="54864" marR="54864" marT="27432" marB="27432"/>
                </a:tc>
                <a:tc>
                  <a:txBody>
                    <a:bodyPr/>
                    <a:lstStyle/>
                    <a:p>
                      <a:r>
                        <a:rPr sz="1100"/>
                        <a:t>Planned</a:t>
                      </a:r>
                    </a:p>
                  </a:txBody>
                  <a:tcPr marL="54864" marR="54864" marT="27432" marB="27432"/>
                </a:tc>
              </a:tr>
            </a:tbl>
          </a:graphicData>
        </a:graphic>
      </p:graphicFrame>
      <p:graphicFrame>
        <p:nvGraphicFramePr>
          <p:cNvPr id="5" name="Table 4">
            <a:extLst xmlns:a="http://schemas.openxmlformats.org/drawingml/2006/main">
              <a:ext uri="{FF2B5EF4-FFF2-40B4-BE49-F238E27FC236}">
                <a16:creationId xmlns:a16="http://schemas.microsoft.com/office/drawing/2014/main" id="{96135852-FF95-4270-A916-35D17EA86397}"/>
              </a:ext>
            </a:extLst>
          </p:cNvPr>
          <p:cNvGraphicFramePr/>
          <p:nvPr/>
        </p:nvGraphicFramePr>
        <p:xfrm>
          <a:off xmlns:a="http://schemas.openxmlformats.org/drawingml/2006/main" x="164592" y="2596286"/>
          <a:ext xmlns:a="http://schemas.openxmlformats.org/drawingml/2006/main" cx="8814816" cy="1057655"/>
        </p:xfrm>
        <a:graphic xmlns:a="http://schemas.openxmlformats.org/drawingml/2006/main">
          <a:graphicData uri="http://schemas.openxmlformats.org/drawingml/2006/table">
            <a:tbl>
              <a:tblPr firstRow="1" bandRow="1">
                <a:tableStyleId>{5C22544A-7EE6-4342-B048-85BDC9FD1C3A}</a:tableStyleId>
              </a:tblPr>
              <a:tblGrid>
                <a:gridCol w="1285494"/>
                <a:gridCol w="6978396"/>
                <a:gridCol w="550926"/>
              </a:tblGrid>
              <a:tr h="240791">
                <a:tc>
                  <a:txBody>
                    <a:bodyPr/>
                    <a:lstStyle/>
                    <a:p>
                      <a:r>
                        <a:rPr sz="1100" b="1"/>
                        <a:t>Item</a:t>
                      </a:r>
                    </a:p>
                  </a:txBody>
                  <a:tcPr marL="54864" marR="54864" marT="27432" marB="27432" anchor="ctr"/>
                </a:tc>
                <a:tc>
                  <a:txBody>
                    <a:bodyPr/>
                    <a:lstStyle/>
                    <a:p>
                      <a:pPr algn="ctr">
                        <a:buNone/>
                      </a:pPr>
                      <a:r>
                        <a:rPr sz="1100" b="1"/>
                        <a:t>Description</a:t>
                      </a:r>
                    </a:p>
                  </a:txBody>
                  <a:tcPr marL="54864" marR="54864" marT="27432" marB="27432" anchor="ctr"/>
                </a:tc>
                <a:tc>
                  <a:txBody>
                    <a:bodyPr/>
                    <a:lstStyle/>
                    <a:p>
                      <a:pPr algn="ctr">
                        <a:buNone/>
                      </a:pPr>
                      <a:r>
                        <a:rPr sz="1100" b="1"/>
                        <a:t>WC</a:t>
                      </a:r>
                    </a:p>
                  </a:txBody>
                  <a:tcPr marL="54864" marR="54864" marT="27432" marB="27432" anchor="ctr"/>
                </a:tc>
              </a:tr>
              <a:tr h="408432">
                <a:tc>
                  <a:txBody>
                    <a:bodyPr/>
                    <a:lstStyle/>
                    <a:p>
                      <a:r>
                        <a:rPr sz="1100" b="1"/>
                        <a:t>Purpose</a:t>
                      </a:r>
                    </a:p>
                  </a:txBody>
                  <a:tcPr marL="54864" marR="54864" marT="27432" marB="27432"/>
                </a:tc>
                <a:tc>
                  <a:txBody>
                    <a:bodyPr/>
                    <a:lstStyle/>
                    <a:p>
                      <a:r>
                        <a:rPr sz="1100"/>
                        <a:t>Capture defender-visible command, logon, Kerberos, LDAP and share-access behavior on the targets for both arms under matched conditions.</a:t>
                      </a:r>
                    </a:p>
                  </a:txBody>
                  <a:tcPr marL="54864" marR="54864" marT="27432" marB="27432"/>
                </a:tc>
                <a:tc>
                  <a:txBody>
                    <a:bodyPr/>
                    <a:lstStyle/>
                    <a:p>
                      <a:pPr algn="ctr">
                        <a:buNone/>
                      </a:pPr>
                      <a:r>
                        <a:rPr sz="1100"/>
                        <a:t>18</a:t>
                      </a:r>
                    </a:p>
                  </a:txBody>
                  <a:tcPr marL="54864" marR="54864" marT="27432" marB="27432"/>
                </a:tc>
              </a:tr>
              <a:tr h="408432">
                <a:tc>
                  <a:txBody>
                    <a:bodyPr/>
                    <a:lstStyle/>
                    <a:p>
                      <a:r>
                        <a:rPr sz="1100" b="1"/>
                        <a:t>Data Treatment</a:t>
                      </a:r>
                    </a:p>
                  </a:txBody>
                  <a:tcPr marL="54864" marR="54864" marT="27432" marB="27432"/>
                </a:tc>
                <a:tc>
                  <a:txBody>
                    <a:bodyPr/>
                    <a:lstStyle/>
                    <a:p>
                      <a:r>
                        <a:rPr sz="1100"/>
                        <a:t>Join by trial UTC bounds, audit loss and provenance, remove collection identities, then fit aggregation and preprocessing inside grouped training folds.</a:t>
                      </a:r>
                    </a:p>
                  </a:txBody>
                  <a:tcPr marL="54864" marR="54864" marT="27432" marB="27432"/>
                </a:tc>
                <a:tc>
                  <a:txBody>
                    <a:bodyPr/>
                    <a:lstStyle/>
                    <a:p>
                      <a:pPr algn="ctr">
                        <a:buNone/>
                      </a:pPr>
                      <a:r>
                        <a:rPr sz="1100"/>
                        <a:t>21</a:t>
                      </a:r>
                    </a:p>
                  </a:txBody>
                  <a:tcPr marL="54864" marR="54864" marT="27432" marB="27432"/>
                </a:tc>
              </a:tr>
            </a:tbl>
          </a:graphicData>
        </a:graphic>
      </p:graphicFrame>
      <p:sp>
        <p:nvSpPr>
          <p:cNvPr id="6" name="Rectangle 5">
            <a:extLst xmlns:a="http://schemas.openxmlformats.org/drawingml/2006/main">
              <a:ext uri="{FF2B5EF4-FFF2-40B4-BE49-F238E27FC236}">
                <a16:creationId xmlns:a16="http://schemas.microsoft.com/office/drawing/2014/main" id="{AD3F51C2-14E6-4EA2-991E-CDBF26AA1D7D}"/>
              </a:ext>
            </a:extLst>
          </p:cNvPr>
          <p:cNvSpPr>
            <a:spLocks xmlns:a="http://schemas.openxmlformats.org/drawingml/2006/main" noGrp="1"/>
          </p:cNvSpPr>
          <p:nvPr/>
        </p:nvSpPr>
        <p:spPr>
          <a:xfrm xmlns:a="http://schemas.openxmlformats.org/drawingml/2006/main">
            <a:off x="164592" y="3818534"/>
            <a:ext cx="2724912" cy="82296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Execution host</a:t>
            </a:r>
          </a:p>
          <a:p xmlns:a="http://schemas.openxmlformats.org/drawingml/2006/main">
            <a:pPr algn="l">
              <a:buNone/>
            </a:pPr>
            <a:r>
              <a:rPr sz="1000" b="0">
                <a:solidFill>
                  <a:srgbClr val="000000"/>
                </a:solidFill>
              </a:rPr>
              <a:t>Process and command logs, authentication and script events where available</a:t>
            </a:r>
          </a:p>
        </p:txBody>
      </p:sp>
      <p:sp>
        <p:nvSpPr>
          <p:cNvPr id="7" name="Connector 6">
            <a:extLst xmlns:a="http://schemas.openxmlformats.org/drawingml/2006/main">
              <a:ext uri="{FF2B5EF4-FFF2-40B4-BE49-F238E27FC236}">
                <a16:creationId xmlns:a16="http://schemas.microsoft.com/office/drawing/2014/main" id="{F18D6CE9-1649-4939-A582-E2DD570853CA}"/>
              </a:ext>
            </a:extLst>
          </p:cNvPr>
          <p:cNvSpPr>
            <a:spLocks xmlns:a="http://schemas.openxmlformats.org/drawingml/2006/main" noGrp="1"/>
          </p:cNvSpPr>
          <p:nvPr/>
        </p:nvSpPr>
        <p:spPr>
          <a:xfrm xmlns:a="http://schemas.openxmlformats.org/drawingml/2006/main">
            <a:off x="2889504" y="4230014"/>
            <a:ext cx="32004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E835E12E-2FAE-44E0-A7A5-25A99594F39E}"/>
              </a:ext>
            </a:extLst>
          </p:cNvPr>
          <p:cNvSpPr>
            <a:spLocks xmlns:a="http://schemas.openxmlformats.org/drawingml/2006/main" noGrp="1"/>
          </p:cNvSpPr>
          <p:nvPr/>
        </p:nvSpPr>
        <p:spPr>
          <a:xfrm xmlns:a="http://schemas.openxmlformats.org/drawingml/2006/main">
            <a:off x="3209544" y="3818534"/>
            <a:ext cx="2724912" cy="82296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Range targets</a:t>
            </a:r>
          </a:p>
          <a:p xmlns:a="http://schemas.openxmlformats.org/drawingml/2006/main">
            <a:pPr algn="l">
              <a:buNone/>
            </a:pPr>
            <a:r>
              <a:rPr sz="1000" b="0">
                <a:solidFill>
                  <a:srgbClr val="000000"/>
                </a:solidFill>
              </a:rPr>
              <a:t>Host auditing matched across arms. Exact target inventory remains to be frozen</a:t>
            </a:r>
          </a:p>
        </p:txBody>
      </p:sp>
      <p:sp>
        <p:nvSpPr>
          <p:cNvPr id="9" name="Connector 8">
            <a:extLst xmlns:a="http://schemas.openxmlformats.org/drawingml/2006/main">
              <a:ext uri="{FF2B5EF4-FFF2-40B4-BE49-F238E27FC236}">
                <a16:creationId xmlns:a16="http://schemas.microsoft.com/office/drawing/2014/main" id="{84421C08-54A9-40A9-9690-FD643D422F04}"/>
              </a:ext>
            </a:extLst>
          </p:cNvPr>
          <p:cNvSpPr>
            <a:spLocks xmlns:a="http://schemas.openxmlformats.org/drawingml/2006/main" noGrp="1"/>
          </p:cNvSpPr>
          <p:nvPr/>
        </p:nvSpPr>
        <p:spPr>
          <a:xfrm xmlns:a="http://schemas.openxmlformats.org/drawingml/2006/main">
            <a:off x="5934456" y="4230014"/>
            <a:ext cx="32004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Rectangle 9">
            <a:extLst xmlns:a="http://schemas.openxmlformats.org/drawingml/2006/main">
              <a:ext uri="{FF2B5EF4-FFF2-40B4-BE49-F238E27FC236}">
                <a16:creationId xmlns:a16="http://schemas.microsoft.com/office/drawing/2014/main" id="{E3C88699-1D79-4DC8-A2FF-44B5D8476A3C}"/>
              </a:ext>
            </a:extLst>
          </p:cNvPr>
          <p:cNvSpPr>
            <a:spLocks xmlns:a="http://schemas.openxmlformats.org/drawingml/2006/main" noGrp="1"/>
          </p:cNvSpPr>
          <p:nvPr/>
        </p:nvSpPr>
        <p:spPr>
          <a:xfrm xmlns:a="http://schemas.openxmlformats.org/drawingml/2006/main">
            <a:off x="6254496" y="3818534"/>
            <a:ext cx="2724912" cy="82296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Evidence archive</a:t>
            </a:r>
          </a:p>
          <a:p xmlns:a="http://schemas.openxmlformats.org/drawingml/2006/main">
            <a:pPr algn="l">
              <a:buNone/>
            </a:pPr>
            <a:r>
              <a:rPr sz="1000" b="0">
                <a:solidFill>
                  <a:srgbClr val="000000"/>
                </a:solidFill>
              </a:rPr>
              <a:t>Native exports and SHA-256 manifests. Search copies supplement the originals</a:t>
            </a:r>
          </a:p>
        </p:txBody>
      </p:sp>
    </p:spTree>
    <p:extLst>
      <p:ext uri="{BB962C8B-B14F-4D97-AF65-F5344CB8AC3E}">
        <p14:creationId xmlns:p14="http://schemas.microsoft.com/office/powerpoint/2010/main" val="118992365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D5BD1AC-C097-49BE-B425-217E7C7325AD}"/>
              </a:ext>
            </a:extLst>
          </p:cNvPr>
          <p:cNvSpPr>
            <a:spLocks xmlns:a="http://schemas.openxmlformats.org/drawingml/2006/main" noGrp="1"/>
          </p:cNvSpPr>
          <p:nvPr>
            <p:ph type="title" idx="0"/>
          </p:nvPr>
        </p:nvSpPr>
        <p:spPr>
          <a:xfrm xmlns:a="http://schemas.openxmlformats.org/drawingml/2006/main">
            <a:off x="320040" y="109728"/>
            <a:ext cx="8595360" cy="548640"/>
          </a:xfrm>
        </p:spPr>
        <p:txBody>
          <a:bodyPr xmlns:a="http://schemas.openxmlformats.org/drawingml/2006/main" wrap="square"/>
          <a:lstStyle xmlns:a="http://schemas.openxmlformats.org/drawingml/2006/main"/>
          <a:p xmlns:a="http://schemas.openxmlformats.org/drawingml/2006/main">
            <a:r>
              <a:rPr sz="2400" b="1">
                <a:solidFill>
                  <a:srgbClr val="B22600"/>
                </a:solidFill>
              </a:rPr>
              <a:t>Planned Data Source: Network Telemetry</a:t>
            </a:r>
          </a:p>
        </p:txBody>
      </p:sp>
      <p:graphicFrame>
        <p:nvGraphicFramePr>
          <p:cNvPr id="4" name="Table 3">
            <a:extLst xmlns:a="http://schemas.openxmlformats.org/drawingml/2006/main">
              <a:ext uri="{FF2B5EF4-FFF2-40B4-BE49-F238E27FC236}">
                <a16:creationId xmlns:a16="http://schemas.microsoft.com/office/drawing/2014/main" id="{B14A0392-2E15-4169-B9BE-F3943BFB5EE7}"/>
              </a:ext>
            </a:extLst>
          </p:cNvPr>
          <p:cNvGraphicFramePr/>
          <p:nvPr/>
        </p:nvGraphicFramePr>
        <p:xfrm>
          <a:off xmlns:a="http://schemas.openxmlformats.org/drawingml/2006/main" x="164592" y="777240"/>
          <a:ext xmlns:a="http://schemas.openxmlformats.org/drawingml/2006/main" cx="7898421" cy="1804416"/>
        </p:xfrm>
        <a:graphic xmlns:a="http://schemas.openxmlformats.org/drawingml/2006/main">
          <a:graphicData uri="http://schemas.openxmlformats.org/drawingml/2006/table">
            <a:tbl>
              <a:tblPr firstRow="1" bandRow="1">
                <a:tableStyleId>{5C22544A-7EE6-4342-B048-85BDC9FD1C3A}</a:tableStyleId>
              </a:tblPr>
              <a:tblGrid>
                <a:gridCol w="349101"/>
                <a:gridCol w="1134580"/>
                <a:gridCol w="1570957"/>
                <a:gridCol w="1920058"/>
                <a:gridCol w="1134580"/>
                <a:gridCol w="1003667"/>
                <a:gridCol w="785478"/>
              </a:tblGrid>
              <a:tr h="408432">
                <a:tc>
                  <a:txBody>
                    <a:bodyPr/>
                    <a:lstStyle/>
                    <a:p>
                      <a:r>
                        <a:rPr sz="1100" b="1"/>
                        <a:t>ID</a:t>
                      </a:r>
                    </a:p>
                  </a:txBody>
                  <a:tcPr marL="54864" marR="54864" marT="27432" marB="27432" anchor="ctr"/>
                </a:tc>
                <a:tc>
                  <a:txBody>
                    <a:bodyPr/>
                    <a:lstStyle/>
                    <a:p>
                      <a:pPr algn="ctr">
                        <a:buNone/>
                      </a:pPr>
                      <a:r>
                        <a:rPr sz="1100" b="1"/>
                        <a:t>Name</a:t>
                      </a:r>
                    </a:p>
                  </a:txBody>
                  <a:tcPr marL="54864" marR="54864" marT="27432" marB="27432" anchor="ctr"/>
                </a:tc>
                <a:tc>
                  <a:txBody>
                    <a:bodyPr/>
                    <a:lstStyle/>
                    <a:p>
                      <a:pPr algn="ctr">
                        <a:buNone/>
                      </a:pPr>
                      <a:r>
                        <a:rPr sz="1100" b="1"/>
                        <a:t>Source</a:t>
                      </a:r>
                    </a:p>
                  </a:txBody>
                  <a:tcPr marL="54864" marR="54864" marT="27432" marB="27432" anchor="ctr"/>
                </a:tc>
                <a:tc>
                  <a:txBody>
                    <a:bodyPr/>
                    <a:lstStyle/>
                    <a:p>
                      <a:pPr algn="ctr">
                        <a:buNone/>
                      </a:pPr>
                      <a:r>
                        <a:rPr sz="1100" b="1"/>
                        <a:t>Brief Description</a:t>
                      </a:r>
                    </a:p>
                  </a:txBody>
                  <a:tcPr marL="54864" marR="54864" marT="27432" marB="27432" anchor="ctr"/>
                </a:tc>
                <a:tc>
                  <a:txBody>
                    <a:bodyPr/>
                    <a:lstStyle/>
                    <a:p>
                      <a:pPr algn="ctr">
                        <a:buNone/>
                      </a:pPr>
                      <a:r>
                        <a:rPr sz="1100" b="1"/>
                        <a:t>Format</a:t>
                      </a:r>
                    </a:p>
                  </a:txBody>
                  <a:tcPr marL="54864" marR="54864" marT="27432" marB="27432" anchor="ctr"/>
                </a:tc>
                <a:tc>
                  <a:txBody>
                    <a:bodyPr/>
                    <a:lstStyle/>
                    <a:p>
                      <a:pPr algn="ctr">
                        <a:buNone/>
                      </a:pPr>
                      <a:r>
                        <a:rPr sz="1100" b="1"/>
                        <a:t>Num. of records</a:t>
                      </a:r>
                    </a:p>
                  </a:txBody>
                  <a:tcPr marL="54864" marR="54864" marT="27432" marB="27432" anchor="ctr"/>
                </a:tc>
                <a:tc>
                  <a:txBody>
                    <a:bodyPr/>
                    <a:lstStyle/>
                    <a:p>
                      <a:pPr algn="ctr">
                        <a:buNone/>
                      </a:pPr>
                      <a:r>
                        <a:rPr sz="1100" b="1"/>
                        <a:t>Access (Y/N)</a:t>
                      </a:r>
                    </a:p>
                  </a:txBody>
                  <a:tcPr marL="54864" marR="54864" marT="27432" marB="27432" anchor="ctr"/>
                </a:tc>
              </a:tr>
              <a:tr h="1246632">
                <a:tc>
                  <a:txBody>
                    <a:bodyPr/>
                    <a:lstStyle/>
                    <a:p>
                      <a:pPr algn="ctr">
                        <a:buNone/>
                      </a:pPr>
                      <a:r>
                        <a:rPr sz="1100" b="1"/>
                        <a:t>2</a:t>
                      </a:r>
                    </a:p>
                  </a:txBody>
                  <a:tcPr marL="54864" marR="54864" marT="27432" marB="27432"/>
                </a:tc>
                <a:tc>
                  <a:txBody>
                    <a:bodyPr/>
                    <a:lstStyle/>
                    <a:p>
                      <a:r>
                        <a:rPr sz="1100"/>
                        <a:t>Network telemetry from matched AWS trials</a:t>
                      </a:r>
                    </a:p>
                  </a:txBody>
                  <a:tcPr marL="54864" marR="54864" marT="27432" marB="27432"/>
                </a:tc>
                <a:tc>
                  <a:txBody>
                    <a:bodyPr/>
                    <a:lstStyle/>
                    <a:p>
                      <a:r>
                        <a:rPr sz="1100"/>
                        <a:t>Planned collection in a controlled AWS range. Pin the selected repository, images and instrumentation before collection.</a:t>
                      </a:r>
                    </a:p>
                  </a:txBody>
                  <a:tcPr marL="54864" marR="54864" marT="27432" marB="27432"/>
                </a:tc>
                <a:tc>
                  <a:txBody>
                    <a:bodyPr/>
                    <a:lstStyle/>
                    <a:p>
                      <a:r>
                        <a:rPr sz="1100"/>
                        <a:t>Human and autonomous AI arms pursue equivalent objectives across five collection days. Record each trial and its independent actor/configuration group.</a:t>
                      </a:r>
                    </a:p>
                  </a:txBody>
                  <a:tcPr marL="54864" marR="54864" marT="27432" marB="27432"/>
                </a:tc>
                <a:tc>
                  <a:txBody>
                    <a:bodyPr/>
                    <a:lstStyle/>
                    <a:p>
                      <a:r>
                        <a:rPr sz="1100"/>
                        <a:t>Zeek logs (conn, kerberos, dce_rpc, smb, dns), Suricata EVE JSON, capped PCAP, VPC Flow Logs</a:t>
                      </a:r>
                    </a:p>
                  </a:txBody>
                  <a:tcPr marL="54864" marR="54864" marT="27432" marB="27432"/>
                </a:tc>
                <a:tc>
                  <a:txBody>
                    <a:bodyPr/>
                    <a:lstStyle/>
                    <a:p>
                      <a:r>
                        <a:rPr sz="1100"/>
                        <a:t>Not collected. Pilot sets feasible trial and group counts.</a:t>
                      </a:r>
                    </a:p>
                  </a:txBody>
                  <a:tcPr marL="54864" marR="54864" marT="27432" marB="27432"/>
                </a:tc>
                <a:tc>
                  <a:txBody>
                    <a:bodyPr/>
                    <a:lstStyle/>
                    <a:p>
                      <a:r>
                        <a:rPr sz="1100"/>
                        <a:t>Planned</a:t>
                      </a:r>
                    </a:p>
                  </a:txBody>
                  <a:tcPr marL="54864" marR="54864" marT="27432" marB="27432"/>
                </a:tc>
              </a:tr>
            </a:tbl>
          </a:graphicData>
        </a:graphic>
      </p:graphicFrame>
      <p:graphicFrame>
        <p:nvGraphicFramePr>
          <p:cNvPr id="5" name="Table 4">
            <a:extLst xmlns:a="http://schemas.openxmlformats.org/drawingml/2006/main">
              <a:ext uri="{FF2B5EF4-FFF2-40B4-BE49-F238E27FC236}">
                <a16:creationId xmlns:a16="http://schemas.microsoft.com/office/drawing/2014/main" id="{64C6127C-9578-4633-A47C-8DE0184F449B}"/>
              </a:ext>
            </a:extLst>
          </p:cNvPr>
          <p:cNvGraphicFramePr/>
          <p:nvPr/>
        </p:nvGraphicFramePr>
        <p:xfrm>
          <a:off xmlns:a="http://schemas.openxmlformats.org/drawingml/2006/main" x="164592" y="2780690"/>
          <a:ext xmlns:a="http://schemas.openxmlformats.org/drawingml/2006/main" cx="8814816" cy="1057655"/>
        </p:xfrm>
        <a:graphic xmlns:a="http://schemas.openxmlformats.org/drawingml/2006/main">
          <a:graphicData uri="http://schemas.openxmlformats.org/drawingml/2006/table">
            <a:tbl>
              <a:tblPr firstRow="1" bandRow="1">
                <a:tableStyleId>{5C22544A-7EE6-4342-B048-85BDC9FD1C3A}</a:tableStyleId>
              </a:tblPr>
              <a:tblGrid>
                <a:gridCol w="1285494"/>
                <a:gridCol w="6978396"/>
                <a:gridCol w="550926"/>
              </a:tblGrid>
              <a:tr h="240791">
                <a:tc>
                  <a:txBody>
                    <a:bodyPr/>
                    <a:lstStyle/>
                    <a:p>
                      <a:r>
                        <a:rPr sz="1100" b="1"/>
                        <a:t>Item</a:t>
                      </a:r>
                    </a:p>
                  </a:txBody>
                  <a:tcPr marL="54864" marR="54864" marT="27432" marB="27432" anchor="ctr"/>
                </a:tc>
                <a:tc>
                  <a:txBody>
                    <a:bodyPr/>
                    <a:lstStyle/>
                    <a:p>
                      <a:pPr algn="ctr">
                        <a:buNone/>
                      </a:pPr>
                      <a:r>
                        <a:rPr sz="1100" b="1"/>
                        <a:t>Description</a:t>
                      </a:r>
                    </a:p>
                  </a:txBody>
                  <a:tcPr marL="54864" marR="54864" marT="27432" marB="27432" anchor="ctr"/>
                </a:tc>
                <a:tc>
                  <a:txBody>
                    <a:bodyPr/>
                    <a:lstStyle/>
                    <a:p>
                      <a:pPr algn="ctr">
                        <a:buNone/>
                      </a:pPr>
                      <a:r>
                        <a:rPr sz="1100" b="1"/>
                        <a:t>WC</a:t>
                      </a:r>
                    </a:p>
                  </a:txBody>
                  <a:tcPr marL="54864" marR="54864" marT="27432" marB="27432" anchor="ctr"/>
                </a:tc>
              </a:tr>
              <a:tr h="408432">
                <a:tc>
                  <a:txBody>
                    <a:bodyPr/>
                    <a:lstStyle/>
                    <a:p>
                      <a:r>
                        <a:rPr sz="1100" b="1"/>
                        <a:t>Purpose</a:t>
                      </a:r>
                    </a:p>
                  </a:txBody>
                  <a:tcPr marL="54864" marR="54864" marT="27432" marB="27432"/>
                </a:tc>
                <a:tc>
                  <a:txBody>
                    <a:bodyPr/>
                    <a:lstStyle/>
                    <a:p>
                      <a:r>
                        <a:rPr sz="1100"/>
                        <a:t>Measure connection concurrency (parallelism), inter-arrival timing, protocol mix and burst structure that host logs alone cannot show.</a:t>
                      </a:r>
                    </a:p>
                  </a:txBody>
                  <a:tcPr marL="54864" marR="54864" marT="27432" marB="27432"/>
                </a:tc>
                <a:tc>
                  <a:txBody>
                    <a:bodyPr/>
                    <a:lstStyle/>
                    <a:p>
                      <a:pPr algn="ctr">
                        <a:buNone/>
                      </a:pPr>
                      <a:r>
                        <a:rPr sz="1100"/>
                        <a:t>17</a:t>
                      </a:r>
                    </a:p>
                  </a:txBody>
                  <a:tcPr marL="54864" marR="54864" marT="27432" marB="27432"/>
                </a:tc>
              </a:tr>
              <a:tr h="408432">
                <a:tc>
                  <a:txBody>
                    <a:bodyPr/>
                    <a:lstStyle/>
                    <a:p>
                      <a:r>
                        <a:rPr sz="1100" b="1"/>
                        <a:t>Data Treatment</a:t>
                      </a:r>
                    </a:p>
                  </a:txBody>
                  <a:tcPr marL="54864" marR="54864" marT="27432" marB="27432"/>
                </a:tc>
                <a:tc>
                  <a:txBody>
                    <a:bodyPr/>
                    <a:lstStyle/>
                    <a:p>
                      <a:r>
                        <a:rPr sz="1100"/>
                        <a:t>Join by trial UTC bounds, audit loss and provenance, remove collection identities, then fit aggregation and preprocessing inside grouped training folds.</a:t>
                      </a:r>
                    </a:p>
                  </a:txBody>
                  <a:tcPr marL="54864" marR="54864" marT="27432" marB="27432"/>
                </a:tc>
                <a:tc>
                  <a:txBody>
                    <a:bodyPr/>
                    <a:lstStyle/>
                    <a:p>
                      <a:pPr algn="ctr">
                        <a:buNone/>
                      </a:pPr>
                      <a:r>
                        <a:rPr sz="1100"/>
                        <a:t>21</a:t>
                      </a:r>
                    </a:p>
                  </a:txBody>
                  <a:tcPr marL="54864" marR="54864" marT="27432" marB="27432"/>
                </a:tc>
              </a:tr>
            </a:tbl>
          </a:graphicData>
        </a:graphic>
      </p:graphicFrame>
      <p:sp>
        <p:nvSpPr>
          <p:cNvPr id="6" name="Rectangle 5">
            <a:extLst xmlns:a="http://schemas.openxmlformats.org/drawingml/2006/main">
              <a:ext uri="{FF2B5EF4-FFF2-40B4-BE49-F238E27FC236}">
                <a16:creationId xmlns:a16="http://schemas.microsoft.com/office/drawing/2014/main" id="{DCB1120A-C0E9-443E-86ED-6C856A0F4585}"/>
              </a:ext>
            </a:extLst>
          </p:cNvPr>
          <p:cNvSpPr>
            <a:spLocks xmlns:a="http://schemas.openxmlformats.org/drawingml/2006/main" noGrp="1"/>
          </p:cNvSpPr>
          <p:nvPr/>
        </p:nvSpPr>
        <p:spPr>
          <a:xfrm xmlns:a="http://schemas.openxmlformats.org/drawingml/2006/main">
            <a:off x="164592" y="4002938"/>
            <a:ext cx="2724912" cy="82296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Traffic capture</a:t>
            </a:r>
          </a:p>
          <a:p xmlns:a="http://schemas.openxmlformats.org/drawingml/2006/main">
            <a:pPr algn="l">
              <a:buNone/>
            </a:pPr>
            <a:r>
              <a:rPr sz="1000" b="0">
                <a:solidFill>
                  <a:srgbClr val="000000"/>
                </a:solidFill>
              </a:rPr>
              <a:t>Validate mirrored-interface support and sensor coverage during the pilot</a:t>
            </a:r>
          </a:p>
        </p:txBody>
      </p:sp>
      <p:sp>
        <p:nvSpPr>
          <p:cNvPr id="7" name="Connector 6">
            <a:extLst xmlns:a="http://schemas.openxmlformats.org/drawingml/2006/main">
              <a:ext uri="{FF2B5EF4-FFF2-40B4-BE49-F238E27FC236}">
                <a16:creationId xmlns:a16="http://schemas.microsoft.com/office/drawing/2014/main" id="{398375CD-12D4-417C-917D-E6A9C8F5D790}"/>
              </a:ext>
            </a:extLst>
          </p:cNvPr>
          <p:cNvSpPr>
            <a:spLocks xmlns:a="http://schemas.openxmlformats.org/drawingml/2006/main" noGrp="1"/>
          </p:cNvSpPr>
          <p:nvPr/>
        </p:nvSpPr>
        <p:spPr>
          <a:xfrm xmlns:a="http://schemas.openxmlformats.org/drawingml/2006/main">
            <a:off x="2889504" y="4414418"/>
            <a:ext cx="32004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85EA1711-BBF4-486E-BEE8-D284B63D8C1A}"/>
              </a:ext>
            </a:extLst>
          </p:cNvPr>
          <p:cNvSpPr>
            <a:spLocks xmlns:a="http://schemas.openxmlformats.org/drawingml/2006/main" noGrp="1"/>
          </p:cNvSpPr>
          <p:nvPr/>
        </p:nvSpPr>
        <p:spPr>
          <a:xfrm xmlns:a="http://schemas.openxmlformats.org/drawingml/2006/main">
            <a:off x="3209544" y="4002938"/>
            <a:ext cx="2724912" cy="82296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Network sensor</a:t>
            </a:r>
          </a:p>
          <a:p xmlns:a="http://schemas.openxmlformats.org/drawingml/2006/main">
            <a:pPr algn="l">
              <a:buNone/>
            </a:pPr>
            <a:r>
              <a:rPr sz="1000" b="0">
                <a:solidFill>
                  <a:srgbClr val="000000"/>
                </a:solidFill>
              </a:rPr>
              <a:t>Protocol, connection and loss records. Verify direction and clock alignment</a:t>
            </a:r>
          </a:p>
        </p:txBody>
      </p:sp>
      <p:sp>
        <p:nvSpPr>
          <p:cNvPr id="9" name="Connector 8">
            <a:extLst xmlns:a="http://schemas.openxmlformats.org/drawingml/2006/main">
              <a:ext uri="{FF2B5EF4-FFF2-40B4-BE49-F238E27FC236}">
                <a16:creationId xmlns:a16="http://schemas.microsoft.com/office/drawing/2014/main" id="{1C973A77-A965-4139-9E48-FD72B21928E6}"/>
              </a:ext>
            </a:extLst>
          </p:cNvPr>
          <p:cNvSpPr>
            <a:spLocks xmlns:a="http://schemas.openxmlformats.org/drawingml/2006/main" noGrp="1"/>
          </p:cNvSpPr>
          <p:nvPr/>
        </p:nvSpPr>
        <p:spPr>
          <a:xfrm xmlns:a="http://schemas.openxmlformats.org/drawingml/2006/main">
            <a:off x="5934456" y="4414418"/>
            <a:ext cx="32004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Rectangle 9">
            <a:extLst xmlns:a="http://schemas.openxmlformats.org/drawingml/2006/main">
              <a:ext uri="{FF2B5EF4-FFF2-40B4-BE49-F238E27FC236}">
                <a16:creationId xmlns:a16="http://schemas.microsoft.com/office/drawing/2014/main" id="{05462EF4-4A7A-4E3C-A3DF-25696F6F6961}"/>
              </a:ext>
            </a:extLst>
          </p:cNvPr>
          <p:cNvSpPr>
            <a:spLocks xmlns:a="http://schemas.openxmlformats.org/drawingml/2006/main" noGrp="1"/>
          </p:cNvSpPr>
          <p:nvPr/>
        </p:nvSpPr>
        <p:spPr>
          <a:xfrm xmlns:a="http://schemas.openxmlformats.org/drawingml/2006/main">
            <a:off x="6254496" y="4002938"/>
            <a:ext cx="2724912" cy="82296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Flow logs</a:t>
            </a:r>
          </a:p>
          <a:p xmlns:a="http://schemas.openxmlformats.org/drawingml/2006/main">
            <a:pPr algn="l">
              <a:buNone/>
            </a:pPr>
            <a:r>
              <a:rPr sz="1000" b="0">
                <a:solidFill>
                  <a:srgbClr val="000000"/>
                </a:solidFill>
              </a:rPr>
              <a:t>Coverage diagnostics. Fine timing features require suitable sensor timestamps</a:t>
            </a:r>
          </a:p>
        </p:txBody>
      </p:sp>
    </p:spTree>
    <p:extLst>
      <p:ext uri="{BB962C8B-B14F-4D97-AF65-F5344CB8AC3E}">
        <p14:creationId xmlns:p14="http://schemas.microsoft.com/office/powerpoint/2010/main" val="1694751386"/>
      </p:ext>
    </p:extLst>
  </p:cSld>
</p:sld>
</file>

<file path=ppt/slides/slide9.xml><?xml version="1.0" encoding="utf-8"?>
<p:sld xmlns:p="http://schemas.openxmlformats.org/presentationml/2006/main" show="0">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1803FDAC-92B5-40D2-BFEB-F784FA6B6CE6}"/>
              </a:ext>
            </a:extLst>
          </p:cNvPr>
          <p:cNvSpPr>
            <a:spLocks xmlns:a="http://schemas.openxmlformats.org/drawingml/2006/main" noGrp="1"/>
          </p:cNvSpPr>
          <p:nvPr>
            <p:ph type="title" idx="0"/>
          </p:nvPr>
        </p:nvSpPr>
        <p:spPr>
          <a:xfrm xmlns:a="http://schemas.openxmlformats.org/drawingml/2006/main">
            <a:off x="320040" y="73152"/>
            <a:ext cx="8595360" cy="640080"/>
          </a:xfrm>
        </p:spPr>
        <p:txBody>
          <a:bodyPr xmlns:a="http://schemas.openxmlformats.org/drawingml/2006/main" wrap="square"/>
          <a:lstStyle xmlns:a="http://schemas.openxmlformats.org/drawingml/2006/main"/>
          <a:p xmlns:a="http://schemas.openxmlformats.org/drawingml/2006/main">
            <a:r>
              <a:rPr sz="2800" b="1">
                <a:solidFill>
                  <a:srgbClr val="B22600"/>
                </a:solidFill>
              </a:rPr>
              <a:t>Trial Registry Labels (Ground Truth)</a:t>
            </a:r>
          </a:p>
        </p:txBody>
      </p:sp>
      <p:graphicFrame>
        <p:nvGraphicFramePr>
          <p:cNvPr id="4" name="Table 3">
            <a:extLst xmlns:a="http://schemas.openxmlformats.org/drawingml/2006/main">
              <a:ext uri="{FF2B5EF4-FFF2-40B4-BE49-F238E27FC236}">
                <a16:creationId xmlns:a16="http://schemas.microsoft.com/office/drawing/2014/main" id="{425B44E2-FA14-4EDE-BDE6-0544A577FE45}"/>
              </a:ext>
            </a:extLst>
          </p:cNvPr>
          <p:cNvGraphicFramePr/>
          <p:nvPr/>
        </p:nvGraphicFramePr>
        <p:xfrm>
          <a:off xmlns:a="http://schemas.openxmlformats.org/drawingml/2006/main" x="164592" y="822960"/>
          <a:ext xmlns:a="http://schemas.openxmlformats.org/drawingml/2006/main" cx="8814816" cy="2889492"/>
        </p:xfrm>
        <a:graphic xmlns:a="http://schemas.openxmlformats.org/drawingml/2006/main">
          <a:graphicData uri="http://schemas.openxmlformats.org/drawingml/2006/table">
            <a:tbl>
              <a:tblPr firstRow="1" bandRow="1">
                <a:tableStyleId>{5C22544A-7EE6-4342-B048-85BDC9FD1C3A}</a:tableStyleId>
              </a:tblPr>
              <a:tblGrid>
                <a:gridCol w="1928241"/>
                <a:gridCol w="4223766"/>
                <a:gridCol w="2662809"/>
              </a:tblGrid>
              <a:tr h="240791">
                <a:tc>
                  <a:txBody>
                    <a:bodyPr/>
                    <a:lstStyle/>
                    <a:p>
                      <a:r>
                        <a:rPr sz="1100" b="1"/>
                        <a:t>Field</a:t>
                      </a:r>
                    </a:p>
                  </a:txBody>
                  <a:tcPr marL="54864" marR="54864" marT="27432" marB="27432" anchor="ctr"/>
                </a:tc>
                <a:tc>
                  <a:txBody>
                    <a:bodyPr/>
                    <a:lstStyle/>
                    <a:p>
                      <a:pPr algn="ctr">
                        <a:buNone/>
                      </a:pPr>
                      <a:r>
                        <a:rPr sz="1100" b="1"/>
                        <a:t>Values</a:t>
                      </a:r>
                    </a:p>
                  </a:txBody>
                  <a:tcPr marL="54864" marR="54864" marT="27432" marB="27432" anchor="ctr"/>
                </a:tc>
                <a:tc>
                  <a:txBody>
                    <a:bodyPr/>
                    <a:lstStyle/>
                    <a:p>
                      <a:pPr algn="ctr">
                        <a:buNone/>
                      </a:pPr>
                      <a:r>
                        <a:rPr sz="1100" b="1"/>
                        <a:t>Role in analysis</a:t>
                      </a:r>
                    </a:p>
                  </a:txBody>
                  <a:tcPr marL="54864" marR="54864" marT="27432" marB="27432" anchor="ctr"/>
                </a:tc>
              </a:tr>
              <a:tr h="240791">
                <a:tc>
                  <a:txBody>
                    <a:bodyPr/>
                    <a:lstStyle/>
                    <a:p>
                      <a:r>
                        <a:rPr sz="1100" b="1"/>
                        <a:t>run_id</a:t>
                      </a:r>
                    </a:p>
                  </a:txBody>
                  <a:tcPr marL="54864" marR="54864" marT="27432" marB="27432"/>
                </a:tc>
                <a:tc>
                  <a:txBody>
                    <a:bodyPr/>
                    <a:lstStyle/>
                    <a:p>
                      <a:r>
                        <a:rPr sz="1100"/>
                        <a:t>Unique trial identifier issued at reset</a:t>
                      </a:r>
                    </a:p>
                  </a:txBody>
                  <a:tcPr marL="54864" marR="54864" marT="27432" marB="27432"/>
                </a:tc>
                <a:tc>
                  <a:txBody>
                    <a:bodyPr/>
                    <a:lstStyle/>
                    <a:p>
                      <a:r>
                        <a:rPr sz="1100"/>
                        <a:t>Join key; opaque to the model</a:t>
                      </a:r>
                    </a:p>
                  </a:txBody>
                  <a:tcPr marL="54864" marR="54864" marT="27432" marB="27432"/>
                </a:tc>
              </a:tr>
              <a:tr h="240791">
                <a:tc>
                  <a:txBody>
                    <a:bodyPr/>
                    <a:lstStyle/>
                    <a:p>
                      <a:r>
                        <a:rPr sz="1100" b="1"/>
                        <a:t>arm</a:t>
                      </a:r>
                    </a:p>
                  </a:txBody>
                  <a:tcPr marL="54864" marR="54864" marT="27432" marB="27432"/>
                </a:tc>
                <a:tc>
                  <a:txBody>
                    <a:bodyPr/>
                    <a:lstStyle/>
                    <a:p>
                      <a:r>
                        <a:rPr sz="1100"/>
                        <a:t>human | autonomous_ai | scripted_replay (control) | benign_baseline</a:t>
                      </a:r>
                    </a:p>
                  </a:txBody>
                  <a:tcPr marL="54864" marR="54864" marT="27432" marB="27432"/>
                </a:tc>
                <a:tc>
                  <a:txBody>
                    <a:bodyPr/>
                    <a:lstStyle/>
                    <a:p>
                      <a:r>
                        <a:rPr sz="1100"/>
                        <a:t>Class label (ground truth)</a:t>
                      </a:r>
                    </a:p>
                  </a:txBody>
                  <a:tcPr marL="54864" marR="54864" marT="27432" marB="27432"/>
                </a:tc>
              </a:tr>
              <a:tr h="240791">
                <a:tc>
                  <a:txBody>
                    <a:bodyPr/>
                    <a:lstStyle/>
                    <a:p>
                      <a:r>
                        <a:rPr sz="1100" b="1"/>
                        <a:t>operator_id / ai_config_id</a:t>
                      </a:r>
                    </a:p>
                  </a:txBody>
                  <a:tcPr marL="54864" marR="54864" marT="27432" marB="27432"/>
                </a:tc>
                <a:tc>
                  <a:txBody>
                    <a:bodyPr/>
                    <a:lstStyle/>
                    <a:p>
                      <a:r>
                        <a:rPr sz="1100"/>
                        <a:t>Tester ID, or scaffold + model + prompt set + runtime</a:t>
                      </a:r>
                    </a:p>
                  </a:txBody>
                  <a:tcPr marL="54864" marR="54864" marT="27432" marB="27432"/>
                </a:tc>
                <a:tc>
                  <a:txBody>
                    <a:bodyPr/>
                    <a:lstStyle/>
                    <a:p>
                      <a:r>
                        <a:rPr sz="1100"/>
                        <a:t>Grouping for held-out tests</a:t>
                      </a:r>
                    </a:p>
                  </a:txBody>
                  <a:tcPr marL="54864" marR="54864" marT="27432" marB="27432"/>
                </a:tc>
              </a:tr>
              <a:tr h="240791">
                <a:tc>
                  <a:txBody>
                    <a:bodyPr/>
                    <a:lstStyle/>
                    <a:p>
                      <a:r>
                        <a:rPr sz="1100" b="1"/>
                        <a:t>task / condition</a:t>
                      </a:r>
                    </a:p>
                  </a:txBody>
                  <a:tcPr marL="54864" marR="54864" marT="27432" marB="27432"/>
                </a:tc>
                <a:tc>
                  <a:txBody>
                    <a:bodyPr/>
                    <a:lstStyle/>
                    <a:p>
                      <a:r>
                        <a:rPr sz="1100"/>
                        <a:t>Equivalent objective and declared knowledge condition</a:t>
                      </a:r>
                    </a:p>
                  </a:txBody>
                  <a:tcPr marL="54864" marR="54864" marT="27432" marB="27432"/>
                </a:tc>
                <a:tc>
                  <a:txBody>
                    <a:bodyPr/>
                    <a:lstStyle/>
                    <a:p>
                      <a:r>
                        <a:rPr sz="1100"/>
                        <a:t>Balance across groups and days</a:t>
                      </a:r>
                    </a:p>
                  </a:txBody>
                  <a:tcPr marL="54864" marR="54864" marT="27432" marB="27432"/>
                </a:tc>
              </a:tr>
              <a:tr h="240791">
                <a:tc>
                  <a:txBody>
                    <a:bodyPr/>
                    <a:lstStyle/>
                    <a:p>
                      <a:r>
                        <a:rPr sz="1100" b="1"/>
                        <a:t>range_version</a:t>
                      </a:r>
                    </a:p>
                  </a:txBody>
                  <a:tcPr marL="54864" marR="54864" marT="27432" marB="27432"/>
                </a:tc>
                <a:tc>
                  <a:txBody>
                    <a:bodyPr/>
                    <a:lstStyle/>
                    <a:p>
                      <a:r>
                        <a:rPr sz="1100"/>
                        <a:t>Repository commit, images, sensors and reset policy</a:t>
                      </a:r>
                    </a:p>
                  </a:txBody>
                  <a:tcPr marL="54864" marR="54864" marT="27432" marB="27432"/>
                </a:tc>
                <a:tc>
                  <a:txBody>
                    <a:bodyPr/>
                    <a:lstStyle/>
                    <a:p>
                      <a:r>
                        <a:rPr sz="1100"/>
                        <a:t>Provenance</a:t>
                      </a:r>
                    </a:p>
                  </a:txBody>
                  <a:tcPr marL="54864" marR="54864" marT="27432" marB="27432"/>
                </a:tc>
              </a:tr>
              <a:tr h="240791">
                <a:tc>
                  <a:txBody>
                    <a:bodyPr/>
                    <a:lstStyle/>
                    <a:p>
                      <a:r>
                        <a:rPr sz="1100" b="1"/>
                        <a:t>reset_id + attestation</a:t>
                      </a:r>
                    </a:p>
                  </a:txBody>
                  <a:tcPr marL="54864" marR="54864" marT="27432" marB="27432"/>
                </a:tc>
                <a:tc>
                  <a:txBody>
                    <a:bodyPr/>
                    <a:lstStyle/>
                    <a:p>
                      <a:r>
                        <a:rPr sz="1100"/>
                        <a:t>Image IDs and verified clean-reset check</a:t>
                      </a:r>
                    </a:p>
                  </a:txBody>
                  <a:tcPr marL="54864" marR="54864" marT="27432" marB="27432"/>
                </a:tc>
                <a:tc>
                  <a:txBody>
                    <a:bodyPr/>
                    <a:lstStyle/>
                    <a:p>
                      <a:r>
                        <a:rPr sz="1100"/>
                        <a:t>Data quality evidence</a:t>
                      </a:r>
                    </a:p>
                  </a:txBody>
                  <a:tcPr marL="54864" marR="54864" marT="27432" marB="27432"/>
                </a:tc>
              </a:tr>
              <a:tr h="240791">
                <a:tc>
                  <a:txBody>
                    <a:bodyPr/>
                    <a:lstStyle/>
                    <a:p>
                      <a:r>
                        <a:rPr sz="1100" b="1"/>
                        <a:t>partition</a:t>
                      </a:r>
                    </a:p>
                  </a:txBody>
                  <a:tcPr marL="54864" marR="54864" marT="27432" marB="27432"/>
                </a:tc>
                <a:tc>
                  <a:txBody>
                    <a:bodyPr/>
                    <a:lstStyle/>
                    <a:p>
                      <a:r>
                        <a:rPr sz="1100"/>
                        <a:t>Frozen train / validation / test groups</a:t>
                      </a:r>
                    </a:p>
                  </a:txBody>
                  <a:tcPr marL="54864" marR="54864" marT="27432" marB="27432"/>
                </a:tc>
                <a:tc>
                  <a:txBody>
                    <a:bodyPr/>
                    <a:lstStyle/>
                    <a:p>
                      <a:r>
                        <a:rPr sz="1100"/>
                        <a:t>Prevent actor/configuration overlap</a:t>
                      </a:r>
                    </a:p>
                  </a:txBody>
                  <a:tcPr marL="54864" marR="54864" marT="27432" marB="27432"/>
                </a:tc>
              </a:tr>
              <a:tr h="240791">
                <a:tc>
                  <a:txBody>
                    <a:bodyPr/>
                    <a:lstStyle/>
                    <a:p>
                      <a:r>
                        <a:rPr sz="1100" b="1"/>
                        <a:t>utc_start / utc_stop</a:t>
                      </a:r>
                    </a:p>
                  </a:txBody>
                  <a:tcPr marL="54864" marR="54864" marT="27432" marB="27432"/>
                </a:tc>
                <a:tc>
                  <a:txBody>
                    <a:bodyPr/>
                    <a:lstStyle/>
                    <a:p>
                      <a:r>
                        <a:rPr sz="1100"/>
                        <a:t>Access window bounds; clock offset recorded</a:t>
                      </a:r>
                    </a:p>
                  </a:txBody>
                  <a:tcPr marL="54864" marR="54864" marT="27432" marB="27432"/>
                </a:tc>
                <a:tc>
                  <a:txBody>
                    <a:bodyPr/>
                    <a:lstStyle/>
                    <a:p>
                      <a:r>
                        <a:rPr sz="1100"/>
                        <a:t>Trial segmentation</a:t>
                      </a:r>
                    </a:p>
                  </a:txBody>
                  <a:tcPr marL="54864" marR="54864" marT="27432" marB="27432"/>
                </a:tc>
              </a:tr>
              <a:tr h="240791">
                <a:tc>
                  <a:txBody>
                    <a:bodyPr/>
                    <a:lstStyle/>
                    <a:p>
                      <a:r>
                        <a:rPr sz="1100" b="1"/>
                        <a:t>time_to_objective</a:t>
                      </a:r>
                    </a:p>
                  </a:txBody>
                  <a:tcPr marL="54864" marR="54864" marT="27432" marB="27432"/>
                </a:tc>
                <a:tc>
                  <a:txBody>
                    <a:bodyPr/>
                    <a:lstStyle/>
                    <a:p>
                      <a:r>
                        <a:rPr sz="1100"/>
                        <a:t>Seconds to marker file read; censored at window close</a:t>
                      </a:r>
                    </a:p>
                  </a:txBody>
                  <a:tcPr marL="54864" marR="54864" marT="27432" marB="27432"/>
                </a:tc>
                <a:tc>
                  <a:txBody>
                    <a:bodyPr/>
                    <a:lstStyle/>
                    <a:p>
                      <a:r>
                        <a:rPr sz="1100"/>
                        <a:t>Outcome (reported separately)</a:t>
                      </a:r>
                    </a:p>
                  </a:txBody>
                  <a:tcPr marL="54864" marR="54864" marT="27432" marB="27432"/>
                </a:tc>
              </a:tr>
              <a:tr h="240791">
                <a:tc>
                  <a:txBody>
                    <a:bodyPr/>
                    <a:lstStyle/>
                    <a:p>
                      <a:r>
                        <a:rPr sz="1100" b="1"/>
                        <a:t>interventions</a:t>
                      </a:r>
                    </a:p>
                  </a:txBody>
                  <a:tcPr marL="54864" marR="54864" marT="27432" marB="27432"/>
                </a:tc>
                <a:tc>
                  <a:txBody>
                    <a:bodyPr/>
                    <a:lstStyle/>
                    <a:p>
                      <a:r>
                        <a:rPr sz="1100"/>
                        <a:t>Safety-supervisor halts or tactical interventions, with rule applied</a:t>
                      </a:r>
                    </a:p>
                  </a:txBody>
                  <a:tcPr marL="54864" marR="54864" marT="27432" marB="27432"/>
                </a:tc>
                <a:tc>
                  <a:txBody>
                    <a:bodyPr/>
                    <a:lstStyle/>
                    <a:p>
                      <a:r>
                        <a:rPr sz="1100"/>
                        <a:t>Exclusion / sensitivity</a:t>
                      </a:r>
                    </a:p>
                  </a:txBody>
                  <a:tcPr marL="54864" marR="54864" marT="27432" marB="27432"/>
                </a:tc>
              </a:tr>
              <a:tr h="240791">
                <a:tc>
                  <a:txBody>
                    <a:bodyPr/>
                    <a:lstStyle/>
                    <a:p>
                      <a:r>
                        <a:rPr sz="1100" b="1"/>
                        <a:t>outcome / deviation</a:t>
                      </a:r>
                    </a:p>
                  </a:txBody>
                  <a:tcPr marL="54864" marR="54864" marT="27432" marB="27432"/>
                </a:tc>
                <a:tc>
                  <a:txBody>
                    <a:bodyPr/>
                    <a:lstStyle/>
                    <a:p>
                      <a:r>
                        <a:rPr sz="1100"/>
                        <a:t>Success, failure, abort, scope escape, collection loss</a:t>
                      </a:r>
                    </a:p>
                  </a:txBody>
                  <a:tcPr marL="54864" marR="54864" marT="27432" marB="27432"/>
                </a:tc>
                <a:tc>
                  <a:txBody>
                    <a:bodyPr/>
                    <a:lstStyle/>
                    <a:p>
                      <a:r>
                        <a:rPr sz="1100"/>
                        <a:t>Reported for every trial</a:t>
                      </a:r>
                    </a:p>
                  </a:txBody>
                  <a:tcPr marL="54864" marR="54864" marT="27432" marB="27432"/>
                </a:tc>
              </a:tr>
            </a:tbl>
          </a:graphicData>
        </a:graphic>
      </p:graphicFrame>
    </p:spTree>
    <p:extLst>
      <p:ext uri="{BB962C8B-B14F-4D97-AF65-F5344CB8AC3E}">
        <p14:creationId xmlns:p14="http://schemas.microsoft.com/office/powerpoint/2010/main" val="8882286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ED832EB-51CD-4C79-81C5-8F3A3415F350}"/>
              </a:ext>
            </a:extLst>
          </p:cNvPr>
          <p:cNvSpPr>
            <a:spLocks xmlns:a="http://schemas.openxmlformats.org/drawingml/2006/main" noGrp="1"/>
          </p:cNvSpPr>
          <p:nvPr>
            <p:ph type="title" idx="0"/>
          </p:nvPr>
        </p:nvSpPr>
        <p:spPr>
          <a:xfrm xmlns:a="http://schemas.openxmlformats.org/drawingml/2006/main">
            <a:off x="274320" y="182880"/>
            <a:ext cx="8595360" cy="731520"/>
          </a:xfrm>
        </p:spPr>
        <p:txBody>
          <a:bodyPr xmlns:a="http://schemas.openxmlformats.org/drawingml/2006/main" wrap="square"/>
          <a:lstStyle xmlns:a="http://schemas.openxmlformats.org/drawingml/2006/main"/>
          <a:p xmlns:a="http://schemas.openxmlformats.org/drawingml/2006/main">
            <a:pPr algn="ctr">
              <a:buNone/>
            </a:pPr>
            <a:r>
              <a:rPr sz="3400" b="1">
                <a:solidFill>
                  <a:srgbClr val="8064A2"/>
                </a:solidFill>
              </a:rPr>
              <a:t>Alt (2026): closest problem comparison</a:t>
            </a:r>
          </a:p>
        </p:txBody>
      </p:sp>
      <p:graphicFrame>
        <p:nvGraphicFramePr>
          <p:cNvPr id="4" name="Table 3">
            <a:extLst xmlns:a="http://schemas.openxmlformats.org/drawingml/2006/main">
              <a:ext uri="{FF2B5EF4-FFF2-40B4-BE49-F238E27FC236}">
                <a16:creationId xmlns:a16="http://schemas.microsoft.com/office/drawing/2014/main" id="{A37B37A3-C81D-47AF-9030-9CE4CE49ECC0}"/>
              </a:ext>
            </a:extLst>
          </p:cNvPr>
          <p:cNvGraphicFramePr/>
          <p:nvPr/>
        </p:nvGraphicFramePr>
        <p:xfrm>
          <a:off xmlns:a="http://schemas.openxmlformats.org/drawingml/2006/main" x="164592" y="1005840"/>
          <a:ext xmlns:a="http://schemas.openxmlformats.org/drawingml/2006/main" cx="8814816" cy="3456428"/>
        </p:xfrm>
        <a:graphic xmlns:a="http://schemas.openxmlformats.org/drawingml/2006/main">
          <a:graphicData uri="http://schemas.openxmlformats.org/drawingml/2006/table">
            <a:tbl>
              <a:tblPr firstRow="1" bandRow="1">
                <a:tableStyleId>{5C22544A-7EE6-4342-B048-85BDC9FD1C3A}</a:tableStyleId>
              </a:tblPr>
              <a:tblGrid>
                <a:gridCol w="1193673"/>
                <a:gridCol w="7070217"/>
                <a:gridCol w="550926"/>
              </a:tblGrid>
              <a:tr h="240791">
                <a:tc>
                  <a:txBody>
                    <a:bodyPr/>
                    <a:lstStyle/>
                    <a:p>
                      <a:r>
                        <a:rPr sz="1100" b="1"/>
                        <a:t>Deliverable</a:t>
                      </a:r>
                    </a:p>
                  </a:txBody>
                  <a:tcPr marL="54864" marR="54864" marT="27432" marB="27432" anchor="ctr"/>
                </a:tc>
                <a:tc>
                  <a:txBody>
                    <a:bodyPr/>
                    <a:lstStyle/>
                    <a:p>
                      <a:pPr algn="ctr">
                        <a:buNone/>
                      </a:pPr>
                      <a:r>
                        <a:rPr sz="1100" b="1"/>
                        <a:t>Annotated source and scope</a:t>
                      </a:r>
                    </a:p>
                  </a:txBody>
                  <a:tcPr marL="54864" marR="54864" marT="27432" marB="27432" anchor="ctr"/>
                </a:tc>
                <a:tc>
                  <a:txBody>
                    <a:bodyPr/>
                    <a:lstStyle/>
                    <a:p>
                      <a:pPr algn="ctr">
                        <a:buNone/>
                      </a:pPr>
                      <a:r>
                        <a:rPr sz="1100" b="1"/>
                        <a:t>WC</a:t>
                      </a:r>
                    </a:p>
                  </a:txBody>
                  <a:tcPr marL="54864" marR="54864" marT="27432" marB="27432" anchor="ctr"/>
                </a:tc>
              </a:tr>
              <a:tr h="408432">
                <a:tc>
                  <a:txBody>
                    <a:bodyPr/>
                    <a:lstStyle/>
                    <a:p>
                      <a:r>
                        <a:rPr sz="1100" b="1"/>
                        <a:t>Reference</a:t>
                      </a:r>
                    </a:p>
                  </a:txBody>
                  <a:tcPr marL="54864" marR="54864" marT="27432" marB="27432"/>
                </a:tc>
                <a:tc>
                  <a:txBody>
                    <a:bodyPr/>
                    <a:lstStyle/>
                    <a:p>
                      <a:r>
                        <a:rPr sz="1100"/>
                        <a:t>Alt, A. (2026). Beyond anomaly detection [Master’s thesis, RIT]. https://repository.rit.edu/theses/12605/</a:t>
                      </a:r>
                    </a:p>
                  </a:txBody>
                  <a:tcPr marL="54864" marR="54864" marT="27432" marB="27432"/>
                </a:tc>
                <a:tc>
                  <a:txBody>
                    <a:bodyPr/>
                    <a:lstStyle/>
                    <a:p>
                      <a:pPr algn="ctr">
                        <a:buNone/>
                      </a:pPr>
                      <a:r>
                        <a:rPr sz="1100"/>
                        <a:t>NA</a:t>
                      </a:r>
                    </a:p>
                  </a:txBody>
                  <a:tcPr marL="54864" marR="54864" marT="27432" marB="27432"/>
                </a:tc>
              </a:tr>
              <a:tr h="743711">
                <a:tc>
                  <a:txBody>
                    <a:bodyPr/>
                    <a:lstStyle/>
                    <a:p>
                      <a:r>
                        <a:rPr sz="1100" b="1"/>
                        <a:t>Summary</a:t>
                      </a:r>
                    </a:p>
                  </a:txBody>
                  <a:tcPr marL="54864" marR="54864" marT="27432" marB="27432"/>
                </a:tc>
                <a:tc>
                  <a:txBody>
                    <a:bodyPr/>
                    <a:lstStyle/>
                    <a:p>
                      <a:r>
                        <a:rPr sz="1100"/>
                        <a:t>Classifies human, conventional automation and AI-assisted SSH activity using behavioral features.</a:t>
                      </a:r>
                    </a:p>
                  </a:txBody>
                  <a:tcPr marL="54864" marR="54864" marT="27432" marB="27432"/>
                </a:tc>
                <a:tc>
                  <a:txBody>
                    <a:bodyPr/>
                    <a:lstStyle/>
                    <a:p>
                      <a:pPr algn="ctr">
                        <a:buNone/>
                      </a:pPr>
                      <a:r>
                        <a:rPr sz="1100"/>
                        <a:t>11</a:t>
                      </a:r>
                    </a:p>
                  </a:txBody>
                  <a:tcPr marL="54864" marR="54864" marT="27432" marB="27432"/>
                </a:tc>
              </a:tr>
              <a:tr h="743711">
                <a:tc>
                  <a:txBody>
                    <a:bodyPr/>
                    <a:lstStyle/>
                    <a:p>
                      <a:r>
                        <a:rPr sz="1100" b="1"/>
                        <a:t>Methodology / related work</a:t>
                      </a:r>
                    </a:p>
                  </a:txBody>
                  <a:tcPr marL="54864" marR="54864" marT="27432" marB="27432"/>
                </a:tc>
                <a:tc>
                  <a:txBody>
                    <a:bodyPr/>
                    <a:lstStyle/>
                    <a:p>
                      <a:r>
                        <a:rPr sz="1100"/>
                        <a:t>Controlled honeypot study with engineered session features and multiple classifiers.</a:t>
                      </a:r>
                    </a:p>
                  </a:txBody>
                  <a:tcPr marL="54864" marR="54864" marT="27432" marB="27432"/>
                </a:tc>
                <a:tc>
                  <a:txBody>
                    <a:bodyPr/>
                    <a:lstStyle/>
                    <a:p>
                      <a:pPr algn="ctr">
                        <a:buNone/>
                      </a:pPr>
                      <a:r>
                        <a:rPr sz="1100"/>
                        <a:t>10</a:t>
                      </a:r>
                    </a:p>
                  </a:txBody>
                  <a:tcPr marL="54864" marR="54864" marT="27432" marB="27432"/>
                </a:tc>
              </a:tr>
              <a:tr h="743711">
                <a:tc>
                  <a:txBody>
                    <a:bodyPr/>
                    <a:lstStyle/>
                    <a:p>
                      <a:r>
                        <a:rPr sz="1100" b="1"/>
                        <a:t>Evidence boundary</a:t>
                      </a:r>
                    </a:p>
                  </a:txBody>
                  <a:tcPr marL="54864" marR="54864" marT="27432" marB="27432"/>
                </a:tc>
                <a:tc>
                  <a:txBody>
                    <a:bodyPr/>
                    <a:lstStyle/>
                    <a:p>
                      <a:r>
                        <a:rPr sz="1100"/>
                        <a:t>Automation classes can differ. Single-host and limited human coverage constrain transfer claims.</a:t>
                      </a:r>
                    </a:p>
                  </a:txBody>
                  <a:tcPr marL="54864" marR="54864" marT="27432" marB="27432"/>
                </a:tc>
                <a:tc>
                  <a:txBody>
                    <a:bodyPr/>
                    <a:lstStyle/>
                    <a:p>
                      <a:pPr algn="ctr">
                        <a:buNone/>
                      </a:pPr>
                      <a:r>
                        <a:rPr sz="1100"/>
                        <a:t>12</a:t>
                      </a:r>
                    </a:p>
                  </a:txBody>
                  <a:tcPr marL="54864" marR="54864" marT="27432" marB="27432"/>
                </a:tc>
              </a:tr>
              <a:tr h="576072">
                <a:tc>
                  <a:txBody>
                    <a:bodyPr/>
                    <a:lstStyle/>
                    <a:p>
                      <a:r>
                        <a:rPr sz="1100" b="1"/>
                        <a:t>Relevance</a:t>
                      </a:r>
                    </a:p>
                  </a:txBody>
                  <a:tcPr marL="54864" marR="54864" marT="27432" marB="27432"/>
                </a:tc>
                <a:tc>
                  <a:txBody>
                    <a:bodyPr/>
                    <a:lstStyle/>
                    <a:p>
                      <a:r>
                        <a:rPr sz="1100"/>
                        <a:t>Motivates diversity and entropy. The proposed extension tests autonomous multi-host behavior with unseen groups, rather than asserting a universal first.</a:t>
                      </a:r>
                    </a:p>
                  </a:txBody>
                  <a:tcPr marL="54864" marR="54864" marT="27432" marB="27432"/>
                </a:tc>
                <a:tc>
                  <a:txBody>
                    <a:bodyPr/>
                    <a:lstStyle/>
                    <a:p>
                      <a:pPr algn="ctr">
                        <a:buNone/>
                      </a:pPr>
                      <a:r>
                        <a:rPr sz="1100"/>
                        <a:t>20</a:t>
                      </a:r>
                    </a:p>
                  </a:txBody>
                  <a:tcPr marL="54864" marR="54864" marT="27432" marB="27432"/>
                </a:tc>
              </a:tr>
            </a:tbl>
          </a:graphicData>
        </a:graphic>
      </p:graphicFrame>
    </p:spTree>
    <p:extLst>
      <p:ext uri="{BB962C8B-B14F-4D97-AF65-F5344CB8AC3E}">
        <p14:creationId xmlns:p14="http://schemas.microsoft.com/office/powerpoint/2010/main" val="98521694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4DD53C36-6151-444B-8CE1-901E7422377B}"/>
              </a:ext>
            </a:extLst>
          </p:cNvPr>
          <p:cNvSpPr>
            <a:spLocks xmlns:a="http://schemas.openxmlformats.org/drawingml/2006/main" noGrp="1"/>
          </p:cNvSpPr>
          <p:nvPr>
            <p:ph type="title" idx="0"/>
          </p:nvPr>
        </p:nvSpPr>
        <p:spPr>
          <a:xfrm xmlns:a="http://schemas.openxmlformats.org/drawingml/2006/main">
            <a:off x="274320" y="182880"/>
            <a:ext cx="8595360" cy="731520"/>
          </a:xfrm>
        </p:spPr>
        <p:txBody>
          <a:bodyPr xmlns:a="http://schemas.openxmlformats.org/drawingml/2006/main" wrap="square"/>
          <a:lstStyle xmlns:a="http://schemas.openxmlformats.org/drawingml/2006/main"/>
          <a:p xmlns:a="http://schemas.openxmlformats.org/drawingml/2006/main">
            <a:pPr algn="ctr">
              <a:buNone/>
            </a:pPr>
            <a:r>
              <a:rPr sz="3400" b="1">
                <a:solidFill>
                  <a:srgbClr val="8064A2"/>
                </a:solidFill>
              </a:rPr>
              <a:t>Trace (2026): transfer risk</a:t>
            </a:r>
          </a:p>
        </p:txBody>
      </p:sp>
      <p:graphicFrame>
        <p:nvGraphicFramePr>
          <p:cNvPr id="4" name="Table 3">
            <a:extLst xmlns:a="http://schemas.openxmlformats.org/drawingml/2006/main">
              <a:ext uri="{FF2B5EF4-FFF2-40B4-BE49-F238E27FC236}">
                <a16:creationId xmlns:a16="http://schemas.microsoft.com/office/drawing/2014/main" id="{F0C19E19-F565-40A8-A218-C630DA623698}"/>
              </a:ext>
            </a:extLst>
          </p:cNvPr>
          <p:cNvGraphicFramePr/>
          <p:nvPr/>
        </p:nvGraphicFramePr>
        <p:xfrm>
          <a:off xmlns:a="http://schemas.openxmlformats.org/drawingml/2006/main" x="164592" y="1005840"/>
          <a:ext xmlns:a="http://schemas.openxmlformats.org/drawingml/2006/main" cx="8814816" cy="3102863"/>
        </p:xfrm>
        <a:graphic xmlns:a="http://schemas.openxmlformats.org/drawingml/2006/main">
          <a:graphicData uri="http://schemas.openxmlformats.org/drawingml/2006/table">
            <a:tbl>
              <a:tblPr firstRow="1" bandRow="1">
                <a:tableStyleId>{5C22544A-7EE6-4342-B048-85BDC9FD1C3A}</a:tableStyleId>
              </a:tblPr>
              <a:tblGrid>
                <a:gridCol w="1193673"/>
                <a:gridCol w="7070217"/>
                <a:gridCol w="550926"/>
              </a:tblGrid>
              <a:tr h="240791">
                <a:tc>
                  <a:txBody>
                    <a:bodyPr/>
                    <a:lstStyle/>
                    <a:p>
                      <a:r>
                        <a:rPr sz="1100" b="1"/>
                        <a:t>Deliverable</a:t>
                      </a:r>
                    </a:p>
                  </a:txBody>
                  <a:tcPr marL="54864" marR="54864" marT="27432" marB="27432" anchor="ctr"/>
                </a:tc>
                <a:tc>
                  <a:txBody>
                    <a:bodyPr/>
                    <a:lstStyle/>
                    <a:p>
                      <a:pPr algn="ctr">
                        <a:buNone/>
                      </a:pPr>
                      <a:r>
                        <a:rPr sz="1100" b="1"/>
                        <a:t>Annotated source and scope</a:t>
                      </a:r>
                    </a:p>
                  </a:txBody>
                  <a:tcPr marL="54864" marR="54864" marT="27432" marB="27432" anchor="ctr"/>
                </a:tc>
                <a:tc>
                  <a:txBody>
                    <a:bodyPr/>
                    <a:lstStyle/>
                    <a:p>
                      <a:pPr algn="ctr">
                        <a:buNone/>
                      </a:pPr>
                      <a:r>
                        <a:rPr sz="1100" b="1"/>
                        <a:t>WC</a:t>
                      </a:r>
                    </a:p>
                  </a:txBody>
                  <a:tcPr marL="54864" marR="54864" marT="27432" marB="27432" anchor="ctr"/>
                </a:tc>
              </a:tr>
              <a:tr h="408432">
                <a:tc>
                  <a:txBody>
                    <a:bodyPr/>
                    <a:lstStyle/>
                    <a:p>
                      <a:r>
                        <a:rPr sz="1100" b="1"/>
                        <a:t>Reference</a:t>
                      </a:r>
                    </a:p>
                  </a:txBody>
                  <a:tcPr marL="54864" marR="54864" marT="27432" marB="27432"/>
                </a:tc>
                <a:tc>
                  <a:txBody>
                    <a:bodyPr/>
                    <a:lstStyle/>
                    <a:p>
                      <a:r>
                        <a:rPr sz="1100"/>
                        <a:t>Ediga, M., &amp; Chattopadhyay, S. (2026). Trace: Unmasking AI attack agents through terminal behavior fingerprinting [Preprint]. https://arxiv.org/abs/2605.01186</a:t>
                      </a:r>
                    </a:p>
                  </a:txBody>
                  <a:tcPr marL="54864" marR="54864" marT="27432" marB="27432"/>
                </a:tc>
                <a:tc>
                  <a:txBody>
                    <a:bodyPr/>
                    <a:lstStyle/>
                    <a:p>
                      <a:pPr algn="ctr">
                        <a:buNone/>
                      </a:pPr>
                      <a:r>
                        <a:rPr sz="1100"/>
                        <a:t>NA</a:t>
                      </a:r>
                    </a:p>
                  </a:txBody>
                  <a:tcPr marL="54864" marR="54864" marT="27432" marB="27432"/>
                </a:tc>
              </a:tr>
              <a:tr h="576072">
                <a:tc>
                  <a:txBody>
                    <a:bodyPr/>
                    <a:lstStyle/>
                    <a:p>
                      <a:r>
                        <a:rPr sz="1100" b="1"/>
                        <a:t>Summary</a:t>
                      </a:r>
                    </a:p>
                  </a:txBody>
                  <a:tcPr marL="54864" marR="54864" marT="27432" marB="27432"/>
                </a:tc>
                <a:tc>
                  <a:txBody>
                    <a:bodyPr/>
                    <a:lstStyle/>
                    <a:p>
                      <a:r>
                        <a:rPr sz="1100"/>
                        <a:t>Examines whether terminal behavior identifies attacker AI families.</a:t>
                      </a:r>
                    </a:p>
                  </a:txBody>
                  <a:tcPr marL="54864" marR="54864" marT="27432" marB="27432"/>
                </a:tc>
                <a:tc>
                  <a:txBody>
                    <a:bodyPr/>
                    <a:lstStyle/>
                    <a:p>
                      <a:pPr algn="ctr">
                        <a:buNone/>
                      </a:pPr>
                      <a:r>
                        <a:rPr sz="1100"/>
                        <a:t>8</a:t>
                      </a:r>
                    </a:p>
                  </a:txBody>
                  <a:tcPr marL="54864" marR="54864" marT="27432" marB="27432"/>
                </a:tc>
              </a:tr>
              <a:tr h="576072">
                <a:tc>
                  <a:txBody>
                    <a:bodyPr/>
                    <a:lstStyle/>
                    <a:p>
                      <a:r>
                        <a:rPr sz="1100" b="1"/>
                        <a:t>Methodology / related work</a:t>
                      </a:r>
                    </a:p>
                  </a:txBody>
                  <a:tcPr marL="54864" marR="54864" marT="27432" marB="27432"/>
                </a:tc>
                <a:tc>
                  <a:txBody>
                    <a:bodyPr/>
                    <a:lstStyle/>
                    <a:p>
                      <a:r>
                        <a:rPr sz="1100"/>
                        <a:t>Behavioral fingerprinting with evaluation across agent settings.</a:t>
                      </a:r>
                    </a:p>
                  </a:txBody>
                  <a:tcPr marL="54864" marR="54864" marT="27432" marB="27432"/>
                </a:tc>
                <a:tc>
                  <a:txBody>
                    <a:bodyPr/>
                    <a:lstStyle/>
                    <a:p>
                      <a:pPr algn="ctr">
                        <a:buNone/>
                      </a:pPr>
                      <a:r>
                        <a:rPr sz="1100"/>
                        <a:t>7</a:t>
                      </a:r>
                    </a:p>
                  </a:txBody>
                  <a:tcPr marL="54864" marR="54864" marT="27432" marB="27432"/>
                </a:tc>
              </a:tr>
              <a:tr h="576072">
                <a:tc>
                  <a:txBody>
                    <a:bodyPr/>
                    <a:lstStyle/>
                    <a:p>
                      <a:r>
                        <a:rPr sz="1100" b="1"/>
                        <a:t>Evidence boundary</a:t>
                      </a:r>
                    </a:p>
                  </a:txBody>
                  <a:tcPr marL="54864" marR="54864" marT="27432" marB="27432"/>
                </a:tc>
                <a:tc>
                  <a:txBody>
                    <a:bodyPr/>
                    <a:lstStyle/>
                    <a:p>
                      <a:r>
                        <a:rPr sz="1100"/>
                        <a:t>Performance declines on unfamiliar scaffolds. Model/scaffold cues can limit transportability.</a:t>
                      </a:r>
                    </a:p>
                  </a:txBody>
                  <a:tcPr marL="54864" marR="54864" marT="27432" marB="27432"/>
                </a:tc>
                <a:tc>
                  <a:txBody>
                    <a:bodyPr/>
                    <a:lstStyle/>
                    <a:p>
                      <a:pPr algn="ctr">
                        <a:buNone/>
                      </a:pPr>
                      <a:r>
                        <a:rPr sz="1100"/>
                        <a:t>10</a:t>
                      </a:r>
                    </a:p>
                  </a:txBody>
                  <a:tcPr marL="54864" marR="54864" marT="27432" marB="27432"/>
                </a:tc>
              </a:tr>
              <a:tr h="576072">
                <a:tc>
                  <a:txBody>
                    <a:bodyPr/>
                    <a:lstStyle/>
                    <a:p>
                      <a:r>
                        <a:rPr sz="1100" b="1"/>
                        <a:t>Relevance</a:t>
                      </a:r>
                    </a:p>
                  </a:txBody>
                  <a:tcPr marL="54864" marR="54864" marT="27432" marB="27432"/>
                </a:tc>
                <a:tc>
                  <a:txBody>
                    <a:bodyPr/>
                    <a:lstStyle/>
                    <a:p>
                      <a:r>
                        <a:rPr sz="1100"/>
                        <a:t>Supports RQ2 group/family holdouts and removal of tool and timing proxies. AI-family identification differs from the human-versus-AI target.</a:t>
                      </a:r>
                    </a:p>
                  </a:txBody>
                  <a:tcPr marL="54864" marR="54864" marT="27432" marB="27432"/>
                </a:tc>
                <a:tc>
                  <a:txBody>
                    <a:bodyPr/>
                    <a:lstStyle/>
                    <a:p>
                      <a:pPr algn="ctr">
                        <a:buNone/>
                      </a:pPr>
                      <a:r>
                        <a:rPr sz="1100"/>
                        <a:t>18</a:t>
                      </a:r>
                    </a:p>
                  </a:txBody>
                  <a:tcPr marL="54864" marR="54864" marT="27432" marB="27432"/>
                </a:tc>
              </a:tr>
            </a:tbl>
          </a:graphicData>
        </a:graphic>
      </p:graphicFrame>
    </p:spTree>
    <p:extLst>
      <p:ext uri="{BB962C8B-B14F-4D97-AF65-F5344CB8AC3E}">
        <p14:creationId xmlns:p14="http://schemas.microsoft.com/office/powerpoint/2010/main" val="96382260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530FC32-C9DD-4D51-AB1D-94347B8CFD82}"/>
              </a:ext>
            </a:extLst>
          </p:cNvPr>
          <p:cNvSpPr>
            <a:spLocks xmlns:a="http://schemas.openxmlformats.org/drawingml/2006/main" noGrp="1"/>
          </p:cNvSpPr>
          <p:nvPr>
            <p:ph type="title" idx="0"/>
          </p:nvPr>
        </p:nvSpPr>
        <p:spPr>
          <a:xfrm xmlns:a="http://schemas.openxmlformats.org/drawingml/2006/main">
            <a:off x="274320" y="182880"/>
            <a:ext cx="8595360" cy="731520"/>
          </a:xfrm>
        </p:spPr>
        <p:txBody>
          <a:bodyPr xmlns:a="http://schemas.openxmlformats.org/drawingml/2006/main" wrap="square"/>
          <a:lstStyle xmlns:a="http://schemas.openxmlformats.org/drawingml/2006/main"/>
          <a:p xmlns:a="http://schemas.openxmlformats.org/drawingml/2006/main">
            <a:pPr algn="ctr">
              <a:buNone/>
            </a:pPr>
            <a:r>
              <a:rPr sz="3400" b="1">
                <a:solidFill>
                  <a:srgbClr val="8064A2"/>
                </a:solidFill>
              </a:rPr>
              <a:t>Honey for the Agent</a:t>
            </a:r>
          </a:p>
        </p:txBody>
      </p:sp>
      <p:graphicFrame>
        <p:nvGraphicFramePr>
          <p:cNvPr id="4" name="Table 3">
            <a:extLst xmlns:a="http://schemas.openxmlformats.org/drawingml/2006/main">
              <a:ext uri="{FF2B5EF4-FFF2-40B4-BE49-F238E27FC236}">
                <a16:creationId xmlns:a16="http://schemas.microsoft.com/office/drawing/2014/main" id="{5C802C80-96AF-4B92-A3CE-01F5E491EAF7}"/>
              </a:ext>
            </a:extLst>
          </p:cNvPr>
          <p:cNvGraphicFramePr/>
          <p:nvPr/>
        </p:nvGraphicFramePr>
        <p:xfrm>
          <a:off xmlns:a="http://schemas.openxmlformats.org/drawingml/2006/main" x="164592" y="1005840"/>
          <a:ext xmlns:a="http://schemas.openxmlformats.org/drawingml/2006/main" cx="8814816" cy="3288790"/>
        </p:xfrm>
        <a:graphic xmlns:a="http://schemas.openxmlformats.org/drawingml/2006/main">
          <a:graphicData uri="http://schemas.openxmlformats.org/drawingml/2006/table">
            <a:tbl>
              <a:tblPr firstRow="1" bandRow="1">
                <a:tableStyleId>{5C22544A-7EE6-4342-B048-85BDC9FD1C3A}</a:tableStyleId>
              </a:tblPr>
              <a:tblGrid>
                <a:gridCol w="1193673"/>
                <a:gridCol w="7070217"/>
                <a:gridCol w="550926"/>
              </a:tblGrid>
              <a:tr h="240791">
                <a:tc>
                  <a:txBody>
                    <a:bodyPr/>
                    <a:lstStyle/>
                    <a:p>
                      <a:r>
                        <a:rPr sz="1100" b="1"/>
                        <a:t>Deliverable</a:t>
                      </a:r>
                    </a:p>
                  </a:txBody>
                  <a:tcPr marL="54864" marR="54864" marT="27432" marB="27432" anchor="ctr"/>
                </a:tc>
                <a:tc>
                  <a:txBody>
                    <a:bodyPr/>
                    <a:lstStyle/>
                    <a:p>
                      <a:pPr algn="ctr">
                        <a:buNone/>
                      </a:pPr>
                      <a:r>
                        <a:rPr sz="1100" b="1"/>
                        <a:t>Annotated source and scope</a:t>
                      </a:r>
                    </a:p>
                  </a:txBody>
                  <a:tcPr marL="54864" marR="54864" marT="27432" marB="27432" anchor="ctr"/>
                </a:tc>
                <a:tc>
                  <a:txBody>
                    <a:bodyPr/>
                    <a:lstStyle/>
                    <a:p>
                      <a:pPr algn="ctr">
                        <a:buNone/>
                      </a:pPr>
                      <a:r>
                        <a:rPr sz="1100" b="1"/>
                        <a:t>WC</a:t>
                      </a:r>
                    </a:p>
                  </a:txBody>
                  <a:tcPr marL="54864" marR="54864" marT="27432" marB="27432" anchor="ctr"/>
                </a:tc>
              </a:tr>
              <a:tr h="576072">
                <a:tc>
                  <a:txBody>
                    <a:bodyPr/>
                    <a:lstStyle/>
                    <a:p>
                      <a:r>
                        <a:rPr sz="1100" b="1"/>
                        <a:t>Reference</a:t>
                      </a:r>
                    </a:p>
                  </a:txBody>
                  <a:tcPr marL="54864" marR="54864" marT="27432" marB="27432"/>
                </a:tc>
                <a:tc>
                  <a:txBody>
                    <a:bodyPr/>
                    <a:lstStyle/>
                    <a:p>
                      <a:r>
                        <a:rPr sz="1100"/>
                        <a:t>Maddaloni, D., Safargalieva, A., &amp; Vasilomanolakis, E. (in press). Honey for the agent: Cyber deception and behavioral fingerprinting of LLM-based attackers. Springer.</a:t>
                      </a:r>
                    </a:p>
                  </a:txBody>
                  <a:tcPr marL="54864" marR="54864" marT="27432" marB="27432"/>
                </a:tc>
                <a:tc>
                  <a:txBody>
                    <a:bodyPr/>
                    <a:lstStyle/>
                    <a:p>
                      <a:pPr algn="ctr">
                        <a:buNone/>
                      </a:pPr>
                      <a:r>
                        <a:rPr sz="1100"/>
                        <a:t>NA</a:t>
                      </a:r>
                    </a:p>
                  </a:txBody>
                  <a:tcPr marL="54864" marR="54864" marT="27432" marB="27432"/>
                </a:tc>
              </a:tr>
              <a:tr h="576072">
                <a:tc>
                  <a:txBody>
                    <a:bodyPr/>
                    <a:lstStyle/>
                    <a:p>
                      <a:r>
                        <a:rPr sz="1100" b="1"/>
                        <a:t>Summary</a:t>
                      </a:r>
                    </a:p>
                  </a:txBody>
                  <a:tcPr marL="54864" marR="54864" marT="27432" marB="27432"/>
                </a:tc>
                <a:tc>
                  <a:txBody>
                    <a:bodyPr/>
                    <a:lstStyle/>
                    <a:p>
                      <a:r>
                        <a:rPr sz="1100"/>
                        <a:t>Examines open-weight attackers across prompts and SSH environments.</a:t>
                      </a:r>
                    </a:p>
                  </a:txBody>
                  <a:tcPr marL="54864" marR="54864" marT="27432" marB="27432"/>
                </a:tc>
                <a:tc>
                  <a:txBody>
                    <a:bodyPr/>
                    <a:lstStyle/>
                    <a:p>
                      <a:pPr algn="ctr">
                        <a:buNone/>
                      </a:pPr>
                      <a:r>
                        <a:rPr sz="1100"/>
                        <a:t>8</a:t>
                      </a:r>
                    </a:p>
                  </a:txBody>
                  <a:tcPr marL="54864" marR="54864" marT="27432" marB="27432"/>
                </a:tc>
              </a:tr>
              <a:tr h="743711">
                <a:tc>
                  <a:txBody>
                    <a:bodyPr/>
                    <a:lstStyle/>
                    <a:p>
                      <a:r>
                        <a:rPr sz="1100" b="1"/>
                        <a:t>Methodology / related work</a:t>
                      </a:r>
                    </a:p>
                  </a:txBody>
                  <a:tcPr marL="54864" marR="54864" marT="27432" marB="27432"/>
                </a:tc>
                <a:tc>
                  <a:txBody>
                    <a:bodyPr/>
                    <a:lstStyle/>
                    <a:p>
                      <a:r>
                        <a:rPr sz="1100"/>
                        <a:t>Compares command-selection behavior and environmental effects.</a:t>
                      </a:r>
                    </a:p>
                  </a:txBody>
                  <a:tcPr marL="54864" marR="54864" marT="27432" marB="27432"/>
                </a:tc>
                <a:tc>
                  <a:txBody>
                    <a:bodyPr/>
                    <a:lstStyle/>
                    <a:p>
                      <a:pPr algn="ctr">
                        <a:buNone/>
                      </a:pPr>
                      <a:r>
                        <a:rPr sz="1100"/>
                        <a:t>6</a:t>
                      </a:r>
                    </a:p>
                  </a:txBody>
                  <a:tcPr marL="54864" marR="54864" marT="27432" marB="27432"/>
                </a:tc>
              </a:tr>
              <a:tr h="576072">
                <a:tc>
                  <a:txBody>
                    <a:bodyPr/>
                    <a:lstStyle/>
                    <a:p>
                      <a:r>
                        <a:rPr sz="1100" b="1"/>
                        <a:t>Evidence boundary</a:t>
                      </a:r>
                    </a:p>
                  </a:txBody>
                  <a:tcPr marL="54864" marR="54864" marT="27432" marB="27432"/>
                </a:tc>
                <a:tc>
                  <a:txBody>
                    <a:bodyPr/>
                    <a:lstStyle/>
                    <a:p>
                      <a:r>
                        <a:rPr sz="1100"/>
                        <a:t>The accepted-paper record reports distinctive fingerprints and context sensitivity. Final pagination remains pending.</a:t>
                      </a:r>
                    </a:p>
                  </a:txBody>
                  <a:tcPr marL="54864" marR="54864" marT="27432" marB="27432"/>
                </a:tc>
                <a:tc>
                  <a:txBody>
                    <a:bodyPr/>
                    <a:lstStyle/>
                    <a:p>
                      <a:pPr algn="ctr">
                        <a:buNone/>
                      </a:pPr>
                      <a:r>
                        <a:rPr sz="1100"/>
                        <a:t>13</a:t>
                      </a:r>
                    </a:p>
                  </a:txBody>
                  <a:tcPr marL="54864" marR="54864" marT="27432" marB="27432"/>
                </a:tc>
              </a:tr>
              <a:tr h="576072">
                <a:tc>
                  <a:txBody>
                    <a:bodyPr/>
                    <a:lstStyle/>
                    <a:p>
                      <a:r>
                        <a:rPr sz="1100" b="1"/>
                        <a:t>Relevance</a:t>
                      </a:r>
                    </a:p>
                  </a:txBody>
                  <a:tcPr marL="54864" marR="54864" marT="27432" marB="27432"/>
                </a:tc>
                <a:tc>
                  <a:txBody>
                    <a:bodyPr/>
                    <a:lstStyle/>
                    <a:p>
                      <a:r>
                        <a:rPr sz="1100"/>
                        <a:t>Motivates environment controls. The planned study adds a matched human cohort and defender-visible target observations.</a:t>
                      </a:r>
                    </a:p>
                  </a:txBody>
                  <a:tcPr marL="54864" marR="54864" marT="27432" marB="27432"/>
                </a:tc>
                <a:tc>
                  <a:txBody>
                    <a:bodyPr/>
                    <a:lstStyle/>
                    <a:p>
                      <a:pPr algn="ctr">
                        <a:buNone/>
                      </a:pPr>
                      <a:r>
                        <a:rPr sz="1100"/>
                        <a:t>15</a:t>
                      </a:r>
                    </a:p>
                  </a:txBody>
                  <a:tcPr marL="54864" marR="54864" marT="27432" marB="27432"/>
                </a:tc>
              </a:tr>
            </a:tbl>
          </a:graphicData>
        </a:graphic>
      </p:graphicFrame>
    </p:spTree>
    <p:extLst>
      <p:ext uri="{BB962C8B-B14F-4D97-AF65-F5344CB8AC3E}">
        <p14:creationId xmlns:p14="http://schemas.microsoft.com/office/powerpoint/2010/main" val="53719431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F0A858B-6C24-42C8-A061-D309AAAA80C0}"/>
              </a:ext>
            </a:extLst>
          </p:cNvPr>
          <p:cNvSpPr>
            <a:spLocks xmlns:a="http://schemas.openxmlformats.org/drawingml/2006/main" noGrp="1"/>
          </p:cNvSpPr>
          <p:nvPr>
            <p:ph type="title" idx="0"/>
          </p:nvPr>
        </p:nvSpPr>
        <p:spPr>
          <a:xfrm xmlns:a="http://schemas.openxmlformats.org/drawingml/2006/main">
            <a:off x="274320" y="182880"/>
            <a:ext cx="8595360" cy="731520"/>
          </a:xfrm>
        </p:spPr>
        <p:txBody>
          <a:bodyPr xmlns:a="http://schemas.openxmlformats.org/drawingml/2006/main" wrap="square"/>
          <a:lstStyle xmlns:a="http://schemas.openxmlformats.org/drawingml/2006/main"/>
          <a:p xmlns:a="http://schemas.openxmlformats.org/drawingml/2006/main">
            <a:pPr algn="ctr">
              <a:buNone/>
            </a:pPr>
            <a:r>
              <a:rPr sz="3400" b="1">
                <a:solidFill>
                  <a:srgbClr val="8064A2"/>
                </a:solidFill>
              </a:rPr>
              <a:t>Honeyquest and Rouxii (2026)</a:t>
            </a:r>
          </a:p>
        </p:txBody>
      </p:sp>
      <p:graphicFrame>
        <p:nvGraphicFramePr>
          <p:cNvPr id="4" name="Table 3">
            <a:extLst xmlns:a="http://schemas.openxmlformats.org/drawingml/2006/main">
              <a:ext uri="{FF2B5EF4-FFF2-40B4-BE49-F238E27FC236}">
                <a16:creationId xmlns:a16="http://schemas.microsoft.com/office/drawing/2014/main" id="{4C5806FB-8D35-48F1-B4A4-25A13C8212EE}"/>
              </a:ext>
            </a:extLst>
          </p:cNvPr>
          <p:cNvGraphicFramePr/>
          <p:nvPr/>
        </p:nvGraphicFramePr>
        <p:xfrm>
          <a:off xmlns:a="http://schemas.openxmlformats.org/drawingml/2006/main" x="164592" y="1005840"/>
          <a:ext xmlns:a="http://schemas.openxmlformats.org/drawingml/2006/main" cx="8814816" cy="3121151"/>
        </p:xfrm>
        <a:graphic xmlns:a="http://schemas.openxmlformats.org/drawingml/2006/main">
          <a:graphicData uri="http://schemas.openxmlformats.org/drawingml/2006/table">
            <a:tbl>
              <a:tblPr firstRow="1" bandRow="1">
                <a:tableStyleId>{5C22544A-7EE6-4342-B048-85BDC9FD1C3A}</a:tableStyleId>
              </a:tblPr>
              <a:tblGrid>
                <a:gridCol w="1193673"/>
                <a:gridCol w="7070217"/>
                <a:gridCol w="550926"/>
              </a:tblGrid>
              <a:tr h="240791">
                <a:tc>
                  <a:txBody>
                    <a:bodyPr/>
                    <a:lstStyle/>
                    <a:p>
                      <a:r>
                        <a:rPr sz="1100" b="1"/>
                        <a:t>Deliverable</a:t>
                      </a:r>
                    </a:p>
                  </a:txBody>
                  <a:tcPr marL="54864" marR="54864" marT="27432" marB="27432" anchor="ctr"/>
                </a:tc>
                <a:tc>
                  <a:txBody>
                    <a:bodyPr/>
                    <a:lstStyle/>
                    <a:p>
                      <a:pPr algn="ctr">
                        <a:buNone/>
                      </a:pPr>
                      <a:r>
                        <a:rPr sz="1100" b="1"/>
                        <a:t>Annotated source and scope</a:t>
                      </a:r>
                    </a:p>
                  </a:txBody>
                  <a:tcPr marL="54864" marR="54864" marT="27432" marB="27432" anchor="ctr"/>
                </a:tc>
                <a:tc>
                  <a:txBody>
                    <a:bodyPr/>
                    <a:lstStyle/>
                    <a:p>
                      <a:pPr algn="ctr">
                        <a:buNone/>
                      </a:pPr>
                      <a:r>
                        <a:rPr sz="1100" b="1"/>
                        <a:t>WC</a:t>
                      </a:r>
                    </a:p>
                  </a:txBody>
                  <a:tcPr marL="54864" marR="54864" marT="27432" marB="27432" anchor="ctr"/>
                </a:tc>
              </a:tr>
              <a:tr h="576072">
                <a:tc>
                  <a:txBody>
                    <a:bodyPr/>
                    <a:lstStyle/>
                    <a:p>
                      <a:r>
                        <a:rPr sz="1100" b="1"/>
                        <a:t>Reference</a:t>
                      </a:r>
                    </a:p>
                  </a:txBody>
                  <a:tcPr marL="54864" marR="54864" marT="27432" marB="27432"/>
                </a:tc>
                <a:tc>
                  <a:txBody>
                    <a:bodyPr/>
                    <a:lstStyle/>
                    <a:p>
                      <a:r>
                        <a:rPr sz="1100"/>
                        <a:t>Prinos, K., Brush, L., &amp; Denton, C. (2026). Honeyquest for LLMs [Preprint]. https://arxiv.org/abs/2606.21037</a:t>
                      </a:r>
                    </a:p>
                  </a:txBody>
                  <a:tcPr marL="54864" marR="54864" marT="27432" marB="27432"/>
                </a:tc>
                <a:tc>
                  <a:txBody>
                    <a:bodyPr/>
                    <a:lstStyle/>
                    <a:p>
                      <a:pPr algn="ctr">
                        <a:buNone/>
                      </a:pPr>
                      <a:r>
                        <a:rPr sz="1100"/>
                        <a:t>NA</a:t>
                      </a:r>
                    </a:p>
                  </a:txBody>
                  <a:tcPr marL="54864" marR="54864" marT="27432" marB="27432"/>
                </a:tc>
              </a:tr>
              <a:tr h="576072">
                <a:tc>
                  <a:txBody>
                    <a:bodyPr/>
                    <a:lstStyle/>
                    <a:p>
                      <a:r>
                        <a:rPr sz="1100" b="1"/>
                        <a:t>Summary</a:t>
                      </a:r>
                    </a:p>
                  </a:txBody>
                  <a:tcPr marL="54864" marR="54864" marT="27432" marB="27432"/>
                </a:tc>
                <a:tc>
                  <a:txBody>
                    <a:bodyPr/>
                    <a:lstStyle/>
                    <a:p>
                      <a:r>
                        <a:rPr sz="1100"/>
                        <a:t>Honeyquest compares human and LLM responses under a shared reconnaissance-query instrument.</a:t>
                      </a:r>
                    </a:p>
                  </a:txBody>
                  <a:tcPr marL="54864" marR="54864" marT="27432" marB="27432"/>
                </a:tc>
                <a:tc>
                  <a:txBody>
                    <a:bodyPr/>
                    <a:lstStyle/>
                    <a:p>
                      <a:pPr algn="ctr">
                        <a:buNone/>
                      </a:pPr>
                      <a:r>
                        <a:rPr sz="1100"/>
                        <a:t>11</a:t>
                      </a:r>
                    </a:p>
                  </a:txBody>
                  <a:tcPr marL="54864" marR="54864" marT="27432" marB="27432"/>
                </a:tc>
              </a:tr>
              <a:tr h="576072">
                <a:tc>
                  <a:txBody>
                    <a:bodyPr/>
                    <a:lstStyle/>
                    <a:p>
                      <a:r>
                        <a:rPr sz="1100" b="1"/>
                        <a:t>Methodology / related work</a:t>
                      </a:r>
                    </a:p>
                  </a:txBody>
                  <a:tcPr marL="54864" marR="54864" marT="27432" marB="27432"/>
                </a:tc>
                <a:tc>
                  <a:txBody>
                    <a:bodyPr/>
                    <a:lstStyle/>
                    <a:p>
                      <a:r>
                        <a:rPr sz="1100"/>
                        <a:t>Cordeiro, A., Mongardini, A. M., &amp; Vasilomanolakis, E. (2026). Rouxii: Exploiting honeypots with deception-aware pentesters [Preprint]. https://arxiv.org/abs/2609.26555</a:t>
                      </a:r>
                    </a:p>
                  </a:txBody>
                  <a:tcPr marL="54864" marR="54864" marT="27432" marB="27432"/>
                </a:tc>
                <a:tc>
                  <a:txBody>
                    <a:bodyPr/>
                    <a:lstStyle/>
                    <a:p>
                      <a:pPr algn="ctr">
                        <a:buNone/>
                      </a:pPr>
                      <a:r>
                        <a:rPr sz="1100"/>
                        <a:t>17</a:t>
                      </a:r>
                    </a:p>
                  </a:txBody>
                  <a:tcPr marL="54864" marR="54864" marT="27432" marB="27432"/>
                </a:tc>
              </a:tr>
              <a:tr h="576072">
                <a:tc>
                  <a:txBody>
                    <a:bodyPr/>
                    <a:lstStyle/>
                    <a:p>
                      <a:r>
                        <a:rPr sz="1100" b="1"/>
                        <a:t>Evidence boundary</a:t>
                      </a:r>
                    </a:p>
                  </a:txBody>
                  <a:tcPr marL="54864" marR="54864" marT="27432" marB="27432"/>
                </a:tc>
                <a:tc>
                  <a:txBody>
                    <a:bodyPr/>
                    <a:lstStyle/>
                    <a:p>
                      <a:r>
                        <a:rPr sz="1100"/>
                        <a:t>Rouxii examines how knowledge and prompting alter agent interaction with deception.</a:t>
                      </a:r>
                    </a:p>
                  </a:txBody>
                  <a:tcPr marL="54864" marR="54864" marT="27432" marB="27432"/>
                </a:tc>
                <a:tc>
                  <a:txBody>
                    <a:bodyPr/>
                    <a:lstStyle/>
                    <a:p>
                      <a:pPr algn="ctr">
                        <a:buNone/>
                      </a:pPr>
                      <a:r>
                        <a:rPr sz="1100"/>
                        <a:t>11</a:t>
                      </a:r>
                    </a:p>
                  </a:txBody>
                  <a:tcPr marL="54864" marR="54864" marT="27432" marB="27432"/>
                </a:tc>
              </a:tr>
              <a:tr h="576072">
                <a:tc>
                  <a:txBody>
                    <a:bodyPr/>
                    <a:lstStyle/>
                    <a:p>
                      <a:r>
                        <a:rPr sz="1100" b="1"/>
                        <a:t>Relevance</a:t>
                      </a:r>
                    </a:p>
                  </a:txBody>
                  <a:tcPr marL="54864" marR="54864" marT="27432" marB="27432"/>
                </a:tc>
                <a:tc>
                  <a:txBody>
                    <a:bodyPr/>
                    <a:lstStyle/>
                    <a:p>
                      <a:r>
                        <a:rPr sz="1100"/>
                        <a:t>Shared human/AI tasks already exist. The proposed contribution concerns matched live target telemetry and transfer across configurations.</a:t>
                      </a:r>
                    </a:p>
                  </a:txBody>
                  <a:tcPr marL="54864" marR="54864" marT="27432" marB="27432"/>
                </a:tc>
                <a:tc>
                  <a:txBody>
                    <a:bodyPr/>
                    <a:lstStyle/>
                    <a:p>
                      <a:pPr algn="ctr">
                        <a:buNone/>
                      </a:pPr>
                      <a:r>
                        <a:rPr sz="1100"/>
                        <a:t>17</a:t>
                      </a:r>
                    </a:p>
                  </a:txBody>
                  <a:tcPr marL="54864" marR="54864" marT="27432" marB="27432"/>
                </a:tc>
              </a:tr>
            </a:tbl>
          </a:graphicData>
        </a:graphic>
      </p:graphicFrame>
    </p:spTree>
    <p:extLst>
      <p:ext uri="{BB962C8B-B14F-4D97-AF65-F5344CB8AC3E}">
        <p14:creationId xmlns:p14="http://schemas.microsoft.com/office/powerpoint/2010/main" val="72201046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B2EA4591-CDBD-4726-B3DF-8F95218BD44C}"/>
              </a:ext>
            </a:extLst>
          </p:cNvPr>
          <p:cNvSpPr>
            <a:spLocks xmlns:a="http://schemas.openxmlformats.org/drawingml/2006/main" noGrp="1"/>
          </p:cNvSpPr>
          <p:nvPr>
            <p:ph type="title" idx="0"/>
          </p:nvPr>
        </p:nvSpPr>
        <p:spPr>
          <a:xfrm xmlns:a="http://schemas.openxmlformats.org/drawingml/2006/main">
            <a:off x="274320" y="182880"/>
            <a:ext cx="8595360" cy="731520"/>
          </a:xfrm>
        </p:spPr>
        <p:txBody>
          <a:bodyPr xmlns:a="http://schemas.openxmlformats.org/drawingml/2006/main" wrap="square"/>
          <a:lstStyle xmlns:a="http://schemas.openxmlformats.org/drawingml/2006/main"/>
          <a:p xmlns:a="http://schemas.openxmlformats.org/drawingml/2006/main">
            <a:pPr algn="ctr">
              <a:buNone/>
            </a:pPr>
            <a:r>
              <a:rPr sz="3400" b="1">
                <a:solidFill>
                  <a:srgbClr val="8064A2"/>
                </a:solidFill>
              </a:rPr>
              <a:t>Data foundations: GAMBiT and Cochise</a:t>
            </a:r>
          </a:p>
        </p:txBody>
      </p:sp>
      <p:graphicFrame>
        <p:nvGraphicFramePr>
          <p:cNvPr id="4" name="Table 3">
            <a:extLst xmlns:a="http://schemas.openxmlformats.org/drawingml/2006/main">
              <a:ext uri="{FF2B5EF4-FFF2-40B4-BE49-F238E27FC236}">
                <a16:creationId xmlns:a16="http://schemas.microsoft.com/office/drawing/2014/main" id="{BA29E35C-FDAA-450E-983C-311398DA572B}"/>
              </a:ext>
            </a:extLst>
          </p:cNvPr>
          <p:cNvGraphicFramePr/>
          <p:nvPr/>
        </p:nvGraphicFramePr>
        <p:xfrm>
          <a:off xmlns:a="http://schemas.openxmlformats.org/drawingml/2006/main" x="164592" y="1005840"/>
          <a:ext xmlns:a="http://schemas.openxmlformats.org/drawingml/2006/main" cx="8814816" cy="2767583"/>
        </p:xfrm>
        <a:graphic xmlns:a="http://schemas.openxmlformats.org/drawingml/2006/main">
          <a:graphicData uri="http://schemas.openxmlformats.org/drawingml/2006/table">
            <a:tbl>
              <a:tblPr firstRow="1" bandRow="1">
                <a:tableStyleId>{5C22544A-7EE6-4342-B048-85BDC9FD1C3A}</a:tableStyleId>
              </a:tblPr>
              <a:tblGrid>
                <a:gridCol w="1193673"/>
                <a:gridCol w="7070217"/>
                <a:gridCol w="550926"/>
              </a:tblGrid>
              <a:tr h="240791">
                <a:tc>
                  <a:txBody>
                    <a:bodyPr/>
                    <a:lstStyle/>
                    <a:p>
                      <a:r>
                        <a:rPr sz="1100" b="1"/>
                        <a:t>Deliverable</a:t>
                      </a:r>
                    </a:p>
                  </a:txBody>
                  <a:tcPr marL="54864" marR="54864" marT="27432" marB="27432" anchor="ctr"/>
                </a:tc>
                <a:tc>
                  <a:txBody>
                    <a:bodyPr/>
                    <a:lstStyle/>
                    <a:p>
                      <a:pPr algn="ctr">
                        <a:buNone/>
                      </a:pPr>
                      <a:r>
                        <a:rPr sz="1100" b="1"/>
                        <a:t>Annotated source and scope</a:t>
                      </a:r>
                    </a:p>
                  </a:txBody>
                  <a:tcPr marL="54864" marR="54864" marT="27432" marB="27432" anchor="ctr"/>
                </a:tc>
                <a:tc>
                  <a:txBody>
                    <a:bodyPr/>
                    <a:lstStyle/>
                    <a:p>
                      <a:pPr algn="ctr">
                        <a:buNone/>
                      </a:pPr>
                      <a:r>
                        <a:rPr sz="1100" b="1"/>
                        <a:t>WC</a:t>
                      </a:r>
                    </a:p>
                  </a:txBody>
                  <a:tcPr marL="54864" marR="54864" marT="27432" marB="27432" anchor="ctr"/>
                </a:tc>
              </a:tr>
              <a:tr h="240791">
                <a:tc>
                  <a:txBody>
                    <a:bodyPr/>
                    <a:lstStyle/>
                    <a:p>
                      <a:r>
                        <a:rPr sz="1100" b="1"/>
                        <a:t>Reference</a:t>
                      </a:r>
                    </a:p>
                  </a:txBody>
                  <a:tcPr marL="54864" marR="54864" marT="27432" marB="27432"/>
                </a:tc>
                <a:tc>
                  <a:txBody>
                    <a:bodyPr/>
                    <a:lstStyle/>
                    <a:p>
                      <a:r>
                        <a:rPr sz="1100"/>
                        <a:t>Beltz, B., et al. (2025). Guarding against malicious biased threats (GAMBiT) experiments [Preprint]. https://arxiv.org/abs/2508.20963</a:t>
                      </a:r>
                    </a:p>
                  </a:txBody>
                  <a:tcPr marL="54864" marR="54864" marT="27432" marB="27432"/>
                </a:tc>
                <a:tc>
                  <a:txBody>
                    <a:bodyPr/>
                    <a:lstStyle/>
                    <a:p>
                      <a:pPr algn="ctr">
                        <a:buNone/>
                      </a:pPr>
                      <a:r>
                        <a:rPr sz="1100"/>
                        <a:t>NA</a:t>
                      </a:r>
                    </a:p>
                  </a:txBody>
                  <a:tcPr marL="54864" marR="54864" marT="27432" marB="27432"/>
                </a:tc>
              </a:tr>
              <a:tr h="576072">
                <a:tc>
                  <a:txBody>
                    <a:bodyPr/>
                    <a:lstStyle/>
                    <a:p>
                      <a:r>
                        <a:rPr sz="1100" b="1"/>
                        <a:t>Summary</a:t>
                      </a:r>
                    </a:p>
                  </a:txBody>
                  <a:tcPr marL="54864" marR="54864" marT="27432" marB="27432"/>
                </a:tc>
                <a:tc>
                  <a:txBody>
                    <a:bodyPr/>
                    <a:lstStyle/>
                    <a:p>
                      <a:r>
                        <a:rPr sz="1100"/>
                        <a:t>GAMBiT provides human red-team cyber-range observations with participant-linked records.</a:t>
                      </a:r>
                    </a:p>
                  </a:txBody>
                  <a:tcPr marL="54864" marR="54864" marT="27432" marB="27432"/>
                </a:tc>
                <a:tc>
                  <a:txBody>
                    <a:bodyPr/>
                    <a:lstStyle/>
                    <a:p>
                      <a:pPr algn="ctr">
                        <a:buNone/>
                      </a:pPr>
                      <a:r>
                        <a:rPr sz="1100"/>
                        <a:t>9</a:t>
                      </a:r>
                    </a:p>
                  </a:txBody>
                  <a:tcPr marL="54864" marR="54864" marT="27432" marB="27432"/>
                </a:tc>
              </a:tr>
              <a:tr h="576072">
                <a:tc>
                  <a:txBody>
                    <a:bodyPr/>
                    <a:lstStyle/>
                    <a:p>
                      <a:r>
                        <a:rPr sz="1100" b="1"/>
                        <a:t>Methodology / related work</a:t>
                      </a:r>
                    </a:p>
                  </a:txBody>
                  <a:tcPr marL="54864" marR="54864" marT="27432" marB="27432"/>
                </a:tc>
                <a:tc>
                  <a:txBody>
                    <a:bodyPr/>
                    <a:lstStyle/>
                    <a:p>
                      <a:r>
                        <a:rPr sz="1100"/>
                        <a:t>Happe, A., &amp; Cito, J. (2026). Cochise: A reference harness for autonomous penetration testing [Preprint]. https://arxiv.org/abs/2605.11671</a:t>
                      </a:r>
                    </a:p>
                  </a:txBody>
                  <a:tcPr marL="54864" marR="54864" marT="27432" marB="27432"/>
                </a:tc>
                <a:tc>
                  <a:txBody>
                    <a:bodyPr/>
                    <a:lstStyle/>
                    <a:p>
                      <a:pPr algn="ctr">
                        <a:buNone/>
                      </a:pPr>
                      <a:r>
                        <a:rPr sz="1100"/>
                        <a:t>16</a:t>
                      </a:r>
                    </a:p>
                  </a:txBody>
                  <a:tcPr marL="54864" marR="54864" marT="27432" marB="27432"/>
                </a:tc>
              </a:tr>
              <a:tr h="576072">
                <a:tc>
                  <a:txBody>
                    <a:bodyPr/>
                    <a:lstStyle/>
                    <a:p>
                      <a:r>
                        <a:rPr sz="1100" b="1"/>
                        <a:t>Evidence boundary</a:t>
                      </a:r>
                    </a:p>
                  </a:txBody>
                  <a:tcPr marL="54864" marR="54864" marT="27432" marB="27432"/>
                </a:tc>
                <a:tc>
                  <a:txBody>
                    <a:bodyPr/>
                    <a:lstStyle/>
                    <a:p>
                      <a:r>
                        <a:rPr sz="1100"/>
                        <a:t>Cochise supplies agent infrastructure and trajectories. Controller logs do not substitute for shared target sensors.</a:t>
                      </a:r>
                    </a:p>
                  </a:txBody>
                  <a:tcPr marL="54864" marR="54864" marT="27432" marB="27432"/>
                </a:tc>
                <a:tc>
                  <a:txBody>
                    <a:bodyPr/>
                    <a:lstStyle/>
                    <a:p>
                      <a:pPr algn="ctr">
                        <a:buNone/>
                      </a:pPr>
                      <a:r>
                        <a:rPr sz="1100"/>
                        <a:t>15</a:t>
                      </a:r>
                    </a:p>
                  </a:txBody>
                  <a:tcPr marL="54864" marR="54864" marT="27432" marB="27432"/>
                </a:tc>
              </a:tr>
              <a:tr h="408432">
                <a:tc>
                  <a:txBody>
                    <a:bodyPr/>
                    <a:lstStyle/>
                    <a:p>
                      <a:r>
                        <a:rPr sz="1100" b="1"/>
                        <a:t>Relevance</a:t>
                      </a:r>
                    </a:p>
                  </a:txBody>
                  <a:tcPr marL="54864" marR="54864" marT="27432" marB="27432"/>
                </a:tc>
                <a:tc>
                  <a:txBody>
                    <a:bodyPr/>
                    <a:lstStyle/>
                    <a:p>
                      <a:r>
                        <a:rPr sz="1100"/>
                        <a:t>Use archives for feasibility and pipeline development. Their differing tasks, environments and provenance do not provide the planned matched comparison.</a:t>
                      </a:r>
                    </a:p>
                  </a:txBody>
                  <a:tcPr marL="54864" marR="54864" marT="27432" marB="27432"/>
                </a:tc>
                <a:tc>
                  <a:txBody>
                    <a:bodyPr/>
                    <a:lstStyle/>
                    <a:p>
                      <a:pPr algn="ctr">
                        <a:buNone/>
                      </a:pPr>
                      <a:r>
                        <a:rPr sz="1100"/>
                        <a:t>20</a:t>
                      </a:r>
                    </a:p>
                  </a:txBody>
                  <a:tcPr marL="54864" marR="54864" marT="27432" marB="27432"/>
                </a:tc>
              </a:tr>
            </a:tbl>
          </a:graphicData>
        </a:graphic>
      </p:graphicFrame>
    </p:spTree>
    <p:extLst>
      <p:ext uri="{BB962C8B-B14F-4D97-AF65-F5344CB8AC3E}">
        <p14:creationId xmlns:p14="http://schemas.microsoft.com/office/powerpoint/2010/main" val="169036899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0F03840-B618-433B-A017-3339345B6B14}"/>
              </a:ext>
            </a:extLst>
          </p:cNvPr>
          <p:cNvSpPr>
            <a:spLocks xmlns:a="http://schemas.openxmlformats.org/drawingml/2006/main" noGrp="1"/>
          </p:cNvSpPr>
          <p:nvPr>
            <p:ph type="title" idx="0"/>
          </p:nvPr>
        </p:nvSpPr>
        <p:spPr>
          <a:xfrm xmlns:a="http://schemas.openxmlformats.org/drawingml/2006/main">
            <a:off x="457200" y="45720"/>
            <a:ext cx="7772400" cy="502920"/>
          </a:xfrm>
        </p:spPr>
        <p:txBody>
          <a:bodyPr xmlns:a="http://schemas.openxmlformats.org/drawingml/2006/main" wrap="square"/>
          <a:lstStyle xmlns:a="http://schemas.openxmlformats.org/drawingml/2006/main"/>
          <a:p xmlns:a="http://schemas.openxmlformats.org/drawingml/2006/main">
            <a:r>
              <a:rPr sz="1800" b="1">
                <a:solidFill>
                  <a:srgbClr val="404040"/>
                </a:solidFill>
              </a:rPr>
              <a:t>Literature and Proposed Contribution</a:t>
            </a:r>
          </a:p>
        </p:txBody>
      </p:sp>
      <p:graphicFrame>
        <p:nvGraphicFramePr>
          <p:cNvPr id="4" name="Table 3">
            <a:extLst xmlns:a="http://schemas.openxmlformats.org/drawingml/2006/main">
              <a:ext uri="{FF2B5EF4-FFF2-40B4-BE49-F238E27FC236}">
                <a16:creationId xmlns:a16="http://schemas.microsoft.com/office/drawing/2014/main" id="{5BD277B5-B521-49CE-A1D5-06DA6589ADA9}"/>
              </a:ext>
            </a:extLst>
          </p:cNvPr>
          <p:cNvGraphicFramePr/>
          <p:nvPr/>
        </p:nvGraphicFramePr>
        <p:xfrm>
          <a:off xmlns:a="http://schemas.openxmlformats.org/drawingml/2006/main" x="164592" y="566928"/>
          <a:ext xmlns:a="http://schemas.openxmlformats.org/drawingml/2006/main" cx="8814815" cy="3986783"/>
        </p:xfrm>
        <a:graphic xmlns:a="http://schemas.openxmlformats.org/drawingml/2006/main">
          <a:graphicData uri="http://schemas.openxmlformats.org/drawingml/2006/table">
            <a:tbl>
              <a:tblPr firstRow="1" bandRow="1">
                <a:tableStyleId>{5C22544A-7EE6-4342-B048-85BDC9FD1C3A}</a:tableStyleId>
              </a:tblPr>
              <a:tblGrid>
                <a:gridCol w="1606867"/>
                <a:gridCol w="1193673"/>
                <a:gridCol w="2662809"/>
                <a:gridCol w="1606867"/>
                <a:gridCol w="1744599"/>
              </a:tblGrid>
              <a:tr h="225551">
                <a:tc>
                  <a:txBody>
                    <a:bodyPr/>
                    <a:lstStyle/>
                    <a:p>
                      <a:r>
                        <a:rPr sz="1000" b="1"/>
                        <a:t>Source</a:t>
                      </a:r>
                    </a:p>
                  </a:txBody>
                  <a:tcPr marL="54864" marR="54864" marT="27432" marB="27432" anchor="ctr"/>
                </a:tc>
                <a:tc>
                  <a:txBody>
                    <a:bodyPr/>
                    <a:lstStyle/>
                    <a:p>
                      <a:pPr algn="ctr">
                        <a:buNone/>
                      </a:pPr>
                      <a:r>
                        <a:rPr sz="1000" b="1"/>
                        <a:t>Link</a:t>
                      </a:r>
                    </a:p>
                  </a:txBody>
                  <a:tcPr marL="54864" marR="54864" marT="27432" marB="27432" anchor="ctr"/>
                </a:tc>
                <a:tc>
                  <a:txBody>
                    <a:bodyPr/>
                    <a:lstStyle/>
                    <a:p>
                      <a:pPr algn="ctr">
                        <a:buNone/>
                      </a:pPr>
                      <a:r>
                        <a:rPr sz="1000" b="1"/>
                        <a:t>Established scope</a:t>
                      </a:r>
                    </a:p>
                  </a:txBody>
                  <a:tcPr marL="54864" marR="54864" marT="27432" marB="27432" anchor="ctr"/>
                </a:tc>
                <a:tc>
                  <a:txBody>
                    <a:bodyPr/>
                    <a:lstStyle/>
                    <a:p>
                      <a:pPr algn="ctr">
                        <a:buNone/>
                      </a:pPr>
                      <a:r>
                        <a:rPr sz="1000" b="1"/>
                        <a:t>Study limitation</a:t>
                      </a:r>
                    </a:p>
                  </a:txBody>
                  <a:tcPr marL="54864" marR="54864" marT="27432" marB="27432" anchor="ctr"/>
                </a:tc>
                <a:tc>
                  <a:txBody>
                    <a:bodyPr/>
                    <a:lstStyle/>
                    <a:p>
                      <a:pPr algn="ctr">
                        <a:buNone/>
                      </a:pPr>
                      <a:r>
                        <a:rPr sz="1000" b="1"/>
                        <a:t>Proposed extension</a:t>
                      </a:r>
                    </a:p>
                  </a:txBody>
                  <a:tcPr marL="54864" marR="54864" marT="27432" marB="27432" anchor="ctr"/>
                </a:tc>
              </a:tr>
              <a:tr h="987552">
                <a:tc>
                  <a:txBody>
                    <a:bodyPr/>
                    <a:lstStyle/>
                    <a:p>
                      <a:r>
                        <a:rPr sz="1000"/>
                        <a:t>Alt (2026)</a:t>
                      </a:r>
                    </a:p>
                  </a:txBody>
                  <a:tcPr marL="54864" marR="54864" marT="27432" marB="27432"/>
                </a:tc>
                <a:tc>
                  <a:txBody>
                    <a:bodyPr/>
                    <a:lstStyle/>
                    <a:p>
                      <a:r>
                        <a:rPr sz="1000">
                          <a:hlinkClick xmlns:ns0="http://schemas.openxmlformats.org/officeDocument/2006/relationships" ns0:id="updatedReference1_0"/>
                        </a:rPr>
                        <a:t>repository.rit.edu/theses/12605</a:t>
                      </a:r>
                    </a:p>
                  </a:txBody>
                  <a:tcPr marL="54864" marR="54864" marT="27432" marB="27432"/>
                </a:tc>
                <a:tc>
                  <a:txBody>
                    <a:bodyPr/>
                    <a:lstStyle/>
                    <a:p>
                      <a:r>
                        <a:rPr sz="1000"/>
                        <a:t>SSH automation classes</a:t>
                      </a:r>
                    </a:p>
                  </a:txBody>
                  <a:tcPr marL="54864" marR="54864" marT="27432" marB="27432"/>
                </a:tc>
                <a:tc>
                  <a:txBody>
                    <a:bodyPr/>
                    <a:lstStyle/>
                    <a:p>
                      <a:r>
                        <a:rPr sz="1000"/>
                        <a:t>Limited human / single host</a:t>
                      </a:r>
                    </a:p>
                  </a:txBody>
                  <a:tcPr marL="54864" marR="54864" marT="27432" marB="27432"/>
                </a:tc>
                <a:tc>
                  <a:txBody>
                    <a:bodyPr/>
                    <a:lstStyle/>
                    <a:p>
                      <a:r>
                        <a:rPr sz="1000"/>
                        <a:t>Matched autonomous multi-host trials</a:t>
                      </a:r>
                    </a:p>
                  </a:txBody>
                  <a:tcPr marL="54864" marR="54864" marT="27432" marB="27432"/>
                </a:tc>
              </a:tr>
              <a:tr h="835152">
                <a:tc>
                  <a:txBody>
                    <a:bodyPr/>
                    <a:lstStyle/>
                    <a:p>
                      <a:r>
                        <a:rPr sz="1000"/>
                        <a:t>Trace (2026)</a:t>
                      </a:r>
                    </a:p>
                  </a:txBody>
                  <a:tcPr marL="54864" marR="54864" marT="27432" marB="27432"/>
                </a:tc>
                <a:tc>
                  <a:txBody>
                    <a:bodyPr/>
                    <a:lstStyle/>
                    <a:p>
                      <a:r>
                        <a:rPr sz="1000" u="sng">
                          <a:solidFill>
                            <a:srgbClr val="0563C1"/>
                          </a:solidFill>
                          <a:hlinkClick xmlns:ns1="http://schemas.openxmlformats.org/officeDocument/2006/relationships" ns1:id="updatedReference2_0"/>
                        </a:rPr>
                        <a:t>arxiv.org/abs/2605.01186</a:t>
                      </a:r>
                    </a:p>
                  </a:txBody>
                  <a:tcPr marL="54864" marR="54864" marT="27432" marB="27432"/>
                </a:tc>
                <a:tc>
                  <a:txBody>
                    <a:bodyPr/>
                    <a:lstStyle/>
                    <a:p>
                      <a:r>
                        <a:rPr sz="1000"/>
                        <a:t>AI-family fingerprints</a:t>
                      </a:r>
                    </a:p>
                  </a:txBody>
                  <a:tcPr marL="54864" marR="54864" marT="27432" marB="27432"/>
                </a:tc>
                <a:tc>
                  <a:txBody>
                    <a:bodyPr/>
                    <a:lstStyle/>
                    <a:p>
                      <a:r>
                        <a:rPr sz="1000"/>
                        <a:t>Scaffold transfer risk</a:t>
                      </a:r>
                    </a:p>
                  </a:txBody>
                  <a:tcPr marL="54864" marR="54864" marT="27432" marB="27432"/>
                </a:tc>
                <a:tc>
                  <a:txBody>
                    <a:bodyPr/>
                    <a:lstStyle/>
                    <a:p>
                      <a:r>
                        <a:rPr sz="1000"/>
                        <a:t>Unseen human/configuration groups</a:t>
                      </a:r>
                    </a:p>
                  </a:txBody>
                  <a:tcPr marL="54864" marR="54864" marT="27432" marB="27432"/>
                </a:tc>
              </a:tr>
              <a:tr h="835152">
                <a:tc>
                  <a:txBody>
                    <a:bodyPr/>
                    <a:lstStyle/>
                    <a:p>
                      <a:r>
                        <a:rPr sz="1000"/>
                        <a:t>Honey (in press)</a:t>
                      </a:r>
                    </a:p>
                  </a:txBody>
                  <a:tcPr marL="54864" marR="54864" marT="27432" marB="27432"/>
                </a:tc>
                <a:tc>
                  <a:txBody>
                    <a:bodyPr/>
                    <a:lstStyle/>
                    <a:p>
                      <a:r>
                        <a:rPr sz="1000" u="sng">
                          <a:solidFill>
                            <a:srgbClr val="0563C1"/>
                          </a:solidFill>
                          <a:hlinkClick xmlns:ns2="http://schemas.openxmlformats.org/officeDocument/2006/relationships" ns2:id="updatedReference3_0"/>
                        </a:rPr>
                        <a:t>DTU institutional record</a:t>
                      </a:r>
                    </a:p>
                  </a:txBody>
                  <a:tcPr marL="54864" marR="54864" marT="27432" marB="27432"/>
                </a:tc>
                <a:tc>
                  <a:txBody>
                    <a:bodyPr/>
                    <a:lstStyle/>
                    <a:p>
                      <a:r>
                        <a:rPr sz="1000"/>
                        <a:t>Prompt and environment effects</a:t>
                      </a:r>
                    </a:p>
                  </a:txBody>
                  <a:tcPr marL="54864" marR="54864" marT="27432" marB="27432"/>
                </a:tc>
                <a:tc>
                  <a:txBody>
                    <a:bodyPr/>
                    <a:lstStyle/>
                    <a:p>
                      <a:r>
                        <a:rPr sz="1000"/>
                        <a:t>No matched human cohort here</a:t>
                      </a:r>
                    </a:p>
                  </a:txBody>
                  <a:tcPr marL="54864" marR="54864" marT="27432" marB="27432"/>
                </a:tc>
                <a:tc>
                  <a:txBody>
                    <a:bodyPr/>
                    <a:lstStyle/>
                    <a:p>
                      <a:r>
                        <a:rPr sz="1000"/>
                        <a:t>Shared target-side sensors</a:t>
                      </a:r>
                    </a:p>
                  </a:txBody>
                  <a:tcPr marL="54864" marR="54864" marT="27432" marB="27432"/>
                </a:tc>
              </a:tr>
              <a:tr h="835152">
                <a:tc>
                  <a:txBody>
                    <a:bodyPr/>
                    <a:lstStyle/>
                    <a:p>
                      <a:r>
                        <a:rPr sz="1000"/>
                        <a:t>Honeyquest / Rouxii (2026)</a:t>
                      </a:r>
                    </a:p>
                  </a:txBody>
                  <a:tcPr marL="54864" marR="54864" marT="27432" marB="27432"/>
                </a:tc>
                <a:tc>
                  <a:txBody>
                    <a:bodyPr/>
                    <a:lstStyle/>
                    <a:p>
                      <a:r>
                        <a:rPr sz="1000" u="sng">
                          <a:solidFill>
                            <a:srgbClr val="0563C1"/>
                          </a:solidFill>
                          <a:hlinkClick xmlns:ns3="http://schemas.openxmlformats.org/officeDocument/2006/relationships" ns3:id="updatedReference4_0"/>
                        </a:rPr>
                        <a:t>arxiv.org/abs/2606.21037</a:t>
                      </a:r>
                    </a:p>
                    <a:p>
                      <a:r>
                        <a:rPr sz="1000" u="sng">
                          <a:solidFill>
                            <a:srgbClr val="0563C1"/>
                          </a:solidFill>
                          <a:hlinkClick xmlns:ns4="http://schemas.openxmlformats.org/officeDocument/2006/relationships" ns4:id="updatedReference4_1"/>
                        </a:rPr>
                        <a:t>arxiv.org/abs/2609.26555</a:t>
                      </a:r>
                    </a:p>
                  </a:txBody>
                  <a:tcPr marL="54864" marR="54864" marT="27432" marB="27432"/>
                </a:tc>
                <a:tc>
                  <a:txBody>
                    <a:bodyPr/>
                    <a:lstStyle/>
                    <a:p>
                      <a:r>
                        <a:rPr sz="1000"/>
                        <a:t>Shared queries / deception awareness</a:t>
                      </a:r>
                    </a:p>
                  </a:txBody>
                  <a:tcPr marL="54864" marR="54864" marT="27432" marB="27432"/>
                </a:tc>
                <a:tc>
                  <a:txBody>
                    <a:bodyPr/>
                    <a:lstStyle/>
                    <a:p>
                      <a:r>
                        <a:rPr sz="1000"/>
                        <a:t>Different target and unit of analysis</a:t>
                      </a:r>
                    </a:p>
                  </a:txBody>
                  <a:tcPr marL="54864" marR="54864" marT="27432" marB="27432"/>
                </a:tc>
                <a:tc>
                  <a:txBody>
                    <a:bodyPr/>
                    <a:lstStyle/>
                    <a:p>
                      <a:r>
                        <a:rPr sz="1000"/>
                        <a:t>Live matched attribution and shortcut audits</a:t>
                      </a:r>
                    </a:p>
                  </a:txBody>
                  <a:tcPr marL="54864" marR="54864" marT="27432" marB="27432"/>
                </a:tc>
              </a:tr>
            </a:tbl>
          </a:graphicData>
        </a:graphic>
      </p:graphicFrame>
    </p:spTree>
    <p:extLst>
      <p:ext uri="{BB962C8B-B14F-4D97-AF65-F5344CB8AC3E}">
        <p14:creationId xmlns:p14="http://schemas.microsoft.com/office/powerpoint/2010/main" val="189451609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B886D93-BAA1-427C-ABFD-FCE4F3F7C36C}"/>
              </a:ext>
            </a:extLst>
          </p:cNvPr>
          <p:cNvSpPr>
            <a:spLocks xmlns:a="http://schemas.openxmlformats.org/drawingml/2006/main" noGrp="1"/>
          </p:cNvSpPr>
          <p:nvPr>
            <p:ph type="title" idx="0"/>
          </p:nvPr>
        </p:nvSpPr>
        <p:spPr>
          <a:xfrm xmlns:a="http://schemas.openxmlformats.org/drawingml/2006/main">
            <a:off x="457200" y="45720"/>
            <a:ext cx="7772400" cy="502920"/>
          </a:xfrm>
        </p:spPr>
        <p:txBody>
          <a:bodyPr xmlns:a="http://schemas.openxmlformats.org/drawingml/2006/main" wrap="square"/>
          <a:lstStyle xmlns:a="http://schemas.openxmlformats.org/drawingml/2006/main"/>
          <a:p xmlns:a="http://schemas.openxmlformats.org/drawingml/2006/main">
            <a:r>
              <a:rPr sz="1800" b="1">
                <a:solidFill>
                  <a:srgbClr val="404040"/>
                </a:solidFill>
              </a:rPr>
              <a:t>Available Data and Collection Gap</a:t>
            </a:r>
          </a:p>
        </p:txBody>
      </p:sp>
      <p:graphicFrame>
        <p:nvGraphicFramePr>
          <p:cNvPr id="4" name="Table 3">
            <a:extLst xmlns:a="http://schemas.openxmlformats.org/drawingml/2006/main">
              <a:ext uri="{FF2B5EF4-FFF2-40B4-BE49-F238E27FC236}">
                <a16:creationId xmlns:a16="http://schemas.microsoft.com/office/drawing/2014/main" id="{5ACE6592-4DAE-4713-9311-4BDEE68494E0}"/>
              </a:ext>
            </a:extLst>
          </p:cNvPr>
          <p:cNvGraphicFramePr/>
          <p:nvPr/>
        </p:nvGraphicFramePr>
        <p:xfrm>
          <a:off xmlns:a="http://schemas.openxmlformats.org/drawingml/2006/main" x="164592" y="566928"/>
          <a:ext xmlns:a="http://schemas.openxmlformats.org/drawingml/2006/main" cx="8814815" cy="3017519"/>
        </p:xfrm>
        <a:graphic xmlns:a="http://schemas.openxmlformats.org/drawingml/2006/main">
          <a:graphicData uri="http://schemas.openxmlformats.org/drawingml/2006/table">
            <a:tbl>
              <a:tblPr firstRow="1" bandRow="1">
                <a:tableStyleId>{5C22544A-7EE6-4342-B048-85BDC9FD1C3A}</a:tableStyleId>
              </a:tblPr>
              <a:tblGrid>
                <a:gridCol w="1606867"/>
                <a:gridCol w="1193673"/>
                <a:gridCol w="2662809"/>
                <a:gridCol w="1606867"/>
                <a:gridCol w="1744599"/>
              </a:tblGrid>
              <a:tr h="225551">
                <a:tc>
                  <a:txBody>
                    <a:bodyPr/>
                    <a:lstStyle/>
                    <a:p>
                      <a:r>
                        <a:rPr sz="1000" b="1"/>
                        <a:t>Source</a:t>
                      </a:r>
                    </a:p>
                  </a:txBody>
                  <a:tcPr marL="54864" marR="54864" marT="27432" marB="27432" anchor="ctr"/>
                </a:tc>
                <a:tc>
                  <a:txBody>
                    <a:bodyPr/>
                    <a:lstStyle/>
                    <a:p>
                      <a:pPr algn="ctr">
                        <a:buNone/>
                      </a:pPr>
                      <a:r>
                        <a:rPr sz="1000" b="1"/>
                        <a:t>Link</a:t>
                      </a:r>
                    </a:p>
                  </a:txBody>
                  <a:tcPr marL="54864" marR="54864" marT="27432" marB="27432" anchor="ctr"/>
                </a:tc>
                <a:tc>
                  <a:txBody>
                    <a:bodyPr/>
                    <a:lstStyle/>
                    <a:p>
                      <a:pPr algn="ctr">
                        <a:buNone/>
                      </a:pPr>
                      <a:r>
                        <a:rPr sz="1000" b="1"/>
                        <a:t>Contents</a:t>
                      </a:r>
                    </a:p>
                  </a:txBody>
                  <a:tcPr marL="54864" marR="54864" marT="27432" marB="27432" anchor="ctr"/>
                </a:tc>
                <a:tc>
                  <a:txBody>
                    <a:bodyPr/>
                    <a:lstStyle/>
                    <a:p>
                      <a:pPr algn="ctr">
                        <a:buNone/>
                      </a:pPr>
                      <a:r>
                        <a:rPr sz="1000" b="1"/>
                        <a:t>Useful role</a:t>
                      </a:r>
                    </a:p>
                  </a:txBody>
                  <a:tcPr marL="54864" marR="54864" marT="27432" marB="27432" anchor="ctr"/>
                </a:tc>
                <a:tc>
                  <a:txBody>
                    <a:bodyPr/>
                    <a:lstStyle/>
                    <a:p>
                      <a:pPr algn="ctr">
                        <a:buNone/>
                      </a:pPr>
                      <a:r>
                        <a:rPr sz="1000" b="1"/>
                        <a:t>Why matched collection remains</a:t>
                      </a:r>
                    </a:p>
                  </a:txBody>
                  <a:tcPr marL="54864" marR="54864" marT="27432" marB="27432" anchor="ctr"/>
                </a:tc>
              </a:tr>
              <a:tr h="835152">
                <a:tc>
                  <a:txBody>
                    <a:bodyPr/>
                    <a:lstStyle/>
                    <a:p>
                      <a:r>
                        <a:rPr sz="1000"/>
                        <a:t>GAMBiT</a:t>
                      </a:r>
                    </a:p>
                  </a:txBody>
                  <a:tcPr marL="54864" marR="54864" marT="27432" marB="27432"/>
                </a:tc>
                <a:tc>
                  <a:txBody>
                    <a:bodyPr/>
                    <a:lstStyle/>
                    <a:p>
                      <a:r>
                        <a:rPr sz="1000" u="sng">
                          <a:solidFill>
                            <a:srgbClr val="0563C1"/>
                          </a:solidFill>
                          <a:hlinkClick xmlns:ns0="http://schemas.openxmlformats.org/officeDocument/2006/relationships" ns0:id="updatedReference1_0"/>
                        </a:rPr>
                        <a:t>arxiv.org/abs/2508.20963</a:t>
                      </a:r>
                    </a:p>
                  </a:txBody>
                  <a:tcPr marL="54864" marR="54864" marT="27432" marB="27432"/>
                </a:tc>
                <a:tc>
                  <a:txBody>
                    <a:bodyPr/>
                    <a:lstStyle/>
                    <a:p>
                      <a:r>
                        <a:rPr sz="1000"/>
                        <a:t>Human red-team range records</a:t>
                      </a:r>
                    </a:p>
                  </a:txBody>
                  <a:tcPr marL="54864" marR="54864" marT="27432" marB="27432"/>
                </a:tc>
                <a:tc>
                  <a:txBody>
                    <a:bodyPr/>
                    <a:lstStyle/>
                    <a:p>
                      <a:r>
                        <a:rPr sz="1000"/>
                        <a:t>Human-side feasibility</a:t>
                      </a:r>
                    </a:p>
                  </a:txBody>
                  <a:tcPr marL="54864" marR="54864" marT="27432" marB="27432"/>
                </a:tc>
                <a:tc>
                  <a:txBody>
                    <a:bodyPr/>
                    <a:lstStyle/>
                    <a:p>
                      <a:r>
                        <a:rPr sz="1000"/>
                        <a:t>No equivalent autonomous arm in the same capture</a:t>
                      </a:r>
                    </a:p>
                  </a:txBody>
                  <a:tcPr marL="54864" marR="54864" marT="27432" marB="27432"/>
                </a:tc>
              </a:tr>
              <a:tr h="1139952">
                <a:tc>
                  <a:txBody>
                    <a:bodyPr/>
                    <a:lstStyle/>
                    <a:p>
                      <a:r>
                        <a:rPr sz="1000"/>
                        <a:t>Cochise</a:t>
                      </a:r>
                    </a:p>
                  </a:txBody>
                  <a:tcPr marL="54864" marR="54864" marT="27432" marB="27432"/>
                </a:tc>
                <a:tc>
                  <a:txBody>
                    <a:bodyPr/>
                    <a:lstStyle/>
                    <a:p>
                      <a:r>
                        <a:rPr sz="1000" u="sng">
                          <a:solidFill>
                            <a:srgbClr val="0563C1"/>
                          </a:solidFill>
                          <a:hlinkClick xmlns:ns1="http://schemas.openxmlformats.org/officeDocument/2006/relationships" ns1:id="updatedReference2_0"/>
                        </a:rPr>
                        <a:t>arxiv.org/abs/2605.11671</a:t>
                      </a:r>
                    </a:p>
                  </a:txBody>
                  <a:tcPr marL="54864" marR="54864" marT="27432" marB="27432"/>
                </a:tc>
                <a:tc>
                  <a:txBody>
                    <a:bodyPr/>
                    <a:lstStyle/>
                    <a:p>
                      <a:r>
                        <a:rPr sz="1000"/>
                        <a:t>Agent harness and trajectories</a:t>
                      </a:r>
                    </a:p>
                  </a:txBody>
                  <a:tcPr marL="54864" marR="54864" marT="27432" marB="27432"/>
                </a:tc>
                <a:tc>
                  <a:txBody>
                    <a:bodyPr/>
                    <a:lstStyle/>
                    <a:p>
                      <a:r>
                        <a:rPr sz="1000"/>
                        <a:t>Agent-side feasibility</a:t>
                      </a:r>
                    </a:p>
                  </a:txBody>
                  <a:tcPr marL="54864" marR="54864" marT="27432" marB="27432"/>
                </a:tc>
                <a:tc>
                  <a:txBody>
                    <a:bodyPr/>
                    <a:lstStyle/>
                    <a:p>
                      <a:r>
                        <a:rPr sz="1000"/>
                        <a:t>Controller records and tasks differ from human archives</a:t>
                      </a:r>
                    </a:p>
                  </a:txBody>
                  <a:tcPr marL="54864" marR="54864" marT="27432" marB="27432"/>
                </a:tc>
              </a:tr>
              <a:tr h="682751">
                <a:tc>
                  <a:txBody>
                    <a:bodyPr/>
                    <a:lstStyle/>
                    <a:p>
                      <a:r>
                        <a:rPr sz="1000"/>
                        <a:t>GOAD and ARTEMIS pilot</a:t>
                      </a:r>
                    </a:p>
                  </a:txBody>
                  <a:tcPr marL="54864" marR="54864" marT="27432" marB="27432"/>
                </a:tc>
                <a:tc>
                  <a:txBody>
                    <a:bodyPr/>
                    <a:lstStyle/>
                    <a:p>
                      <a:r>
                        <a:rPr sz="1000" u="sng">
                          <a:solidFill>
                            <a:srgbClr val="0563C1"/>
                          </a:solidFill>
                          <a:hlinkClick xmlns:ns2="http://schemas.openxmlformats.org/officeDocument/2006/relationships" ns2:id="updatedReference3_0"/>
                        </a:rPr>
                        <a:t>github.com/Orange-Cyberdefense/GOAD</a:t>
                      </a:r>
                    </a:p>
                    <a:p>
                      <a:r>
                        <a:rPr sz="1000" u="sng">
                          <a:solidFill>
                            <a:srgbClr val="0563C1"/>
                          </a:solidFill>
                          <a:hlinkClick xmlns:ns3="http://schemas.openxmlformats.org/officeDocument/2006/relationships" ns3:id="updatedReference3_1"/>
                        </a:rPr>
                        <a:t>arxiv.org/abs/2512.09882</a:t>
                      </a:r>
                    </a:p>
                  </a:txBody>
                  <a:tcPr marL="54864" marR="54864" marT="27432" marB="27432"/>
                </a:tc>
                <a:tc>
                  <a:txBody>
                    <a:bodyPr/>
                    <a:lstStyle/>
                    <a:p>
                      <a:r>
                        <a:rPr sz="1000"/>
                        <a:t>Selected preliminary range and agent-scaffold case</a:t>
                      </a:r>
                    </a:p>
                  </a:txBody>
                  <a:tcPr marL="54864" marR="54864" marT="27432" marB="27432"/>
                </a:tc>
                <a:tc>
                  <a:txBody>
                    <a:bodyPr/>
                    <a:lstStyle/>
                    <a:p>
                      <a:r>
                        <a:rPr sz="1000"/>
                        <a:t>Validate feasibility before full collection</a:t>
                      </a:r>
                    </a:p>
                  </a:txBody>
                  <a:tcPr marL="54864" marR="54864" marT="27432" marB="27432"/>
                </a:tc>
                <a:tc>
                  <a:txBody>
                    <a:bodyPr/>
                    <a:lstStyle/>
                    <a:p>
                      <a:r>
                        <a:rPr sz="1000"/>
                        <a:t>Pin compatible versions and verify labels, matched access, target capture and independent groups</a:t>
                      </a:r>
                    </a:p>
                  </a:txBody>
                  <a:tcPr marL="54864" marR="54864" marT="27432" marB="27432"/>
                </a:tc>
              </a:tr>
            </a:tbl>
          </a:graphicData>
        </a:graphic>
      </p:graphicFrame>
    </p:spTree>
    <p:extLst>
      <p:ext uri="{BB962C8B-B14F-4D97-AF65-F5344CB8AC3E}">
        <p14:creationId xmlns:p14="http://schemas.microsoft.com/office/powerpoint/2010/main" val="117396240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4ABB4C0F-5E1A-4FA2-BF8B-280E79A778CD}"/>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Glossary of Terms</a:t>
            </a:r>
          </a:p>
        </p:txBody>
      </p:sp>
      <p:graphicFrame>
        <p:nvGraphicFramePr>
          <p:cNvPr id="4" name="Table 3">
            <a:extLst xmlns:a="http://schemas.openxmlformats.org/drawingml/2006/main">
              <a:ext uri="{FF2B5EF4-FFF2-40B4-BE49-F238E27FC236}">
                <a16:creationId xmlns:a16="http://schemas.microsoft.com/office/drawing/2014/main" id="{F8AE5349-A562-433F-9D09-CBE8C1C65F99}"/>
              </a:ext>
            </a:extLst>
          </p:cNvPr>
          <p:cNvGraphicFramePr/>
          <p:nvPr/>
        </p:nvGraphicFramePr>
        <p:xfrm>
          <a:off xmlns:a="http://schemas.openxmlformats.org/drawingml/2006/main" x="164592" y="960120"/>
          <a:ext xmlns:a="http://schemas.openxmlformats.org/drawingml/2006/main" cx="8814816" cy="4343400"/>
        </p:xfrm>
        <a:graphic xmlns:a="http://schemas.openxmlformats.org/drawingml/2006/main">
          <a:graphicData uri="http://schemas.openxmlformats.org/drawingml/2006/table">
            <a:tbl>
              <a:tblPr firstRow="1" bandRow="1">
                <a:tableStyleId>{5C22544A-7EE6-4342-B048-85BDC9FD1C3A}</a:tableStyleId>
              </a:tblPr>
              <a:tblGrid>
                <a:gridCol w="1836420"/>
                <a:gridCol w="6978396"/>
              </a:tblGrid>
              <a:tr h="201168">
                <a:tc>
                  <a:txBody>
                    <a:bodyPr/>
                    <a:lstStyle/>
                    <a:p>
                      <a:r>
                        <a:rPr sz="950" b="1"/>
                        <a:t>Term</a:t>
                      </a:r>
                    </a:p>
                  </a:txBody>
                  <a:tcPr marL="54864" marR="54864" marT="18288" marB="18288" anchor="ctr"/>
                </a:tc>
                <a:tc>
                  <a:txBody>
                    <a:bodyPr/>
                    <a:lstStyle/>
                    <a:p>
                      <a:pPr algn="ctr">
                        <a:buNone/>
                      </a:pPr>
                      <a:r>
                        <a:rPr sz="950" b="1"/>
                        <a:t>Definition</a:t>
                      </a:r>
                    </a:p>
                  </a:txBody>
                  <a:tcPr marL="54864" marR="54864" marT="18288" marB="18288" anchor="ctr"/>
                </a:tc>
              </a:tr>
              <a:tr h="320040">
                <a:tc>
                  <a:txBody>
                    <a:bodyPr/>
                    <a:lstStyle/>
                    <a:p>
                      <a:r>
                        <a:rPr sz="950" b="1"/>
                        <a:t>APT emulation</a:t>
                      </a:r>
                    </a:p>
                  </a:txBody>
                  <a:tcPr marL="54864" marR="54864" marT="18288" marB="18288"/>
                </a:tc>
                <a:tc>
                  <a:txBody>
                    <a:bodyPr/>
                    <a:lstStyle/>
                    <a:p>
                      <a:r>
                        <a:rPr sz="950"/>
                        <a:t>Controlled staged cyber objectives in an authorized range. The lab scenario does not establish real-world campaign attribution.</a:t>
                      </a:r>
                    </a:p>
                  </a:txBody>
                  <a:tcPr marL="54864" marR="54864" marT="18288" marB="18288"/>
                </a:tc>
              </a:tr>
              <a:tr h="201168">
                <a:tc>
                  <a:txBody>
                    <a:bodyPr/>
                    <a:lstStyle/>
                    <a:p>
                      <a:r>
                        <a:rPr sz="950" b="1"/>
                        <a:t>Trial</a:t>
                      </a:r>
                    </a:p>
                  </a:txBody>
                  <a:tcPr marL="54864" marR="54864" marT="18288" marB="18288"/>
                </a:tc>
                <a:tc>
                  <a:txBody>
                    <a:bodyPr/>
                    <a:lstStyle/>
                    <a:p>
                      <a:r>
                        <a:rPr sz="950"/>
                        <a:t>One authorized attempt with a defined objective and observation window. Trials are nested within human operators or AI configurations.</a:t>
                      </a:r>
                    </a:p>
                  </a:txBody>
                  <a:tcPr marL="54864" marR="54864" marT="18288" marB="18288"/>
                </a:tc>
              </a:tr>
              <a:tr h="320040">
                <a:tc>
                  <a:txBody>
                    <a:bodyPr/>
                    <a:lstStyle/>
                    <a:p>
                      <a:r>
                        <a:rPr sz="950" b="1"/>
                        <a:t>Arm</a:t>
                      </a:r>
                    </a:p>
                  </a:txBody>
                  <a:tcPr marL="54864" marR="54864" marT="18288" marB="18288"/>
                </a:tc>
                <a:tc>
                  <a:txBody>
                    <a:bodyPr/>
                    <a:lstStyle/>
                    <a:p>
                      <a:r>
                        <a:rPr sz="950"/>
                        <a:t>The operator class under test: human penetration tester or fully autonomous AI. Scripted replay is a telemetry control and benign baselines are never labeled as an arm.</a:t>
                      </a:r>
                    </a:p>
                  </a:txBody>
                  <a:tcPr marL="54864" marR="54864" marT="18288" marB="18288"/>
                </a:tc>
              </a:tr>
              <a:tr h="320040">
                <a:tc>
                  <a:txBody>
                    <a:bodyPr/>
                    <a:lstStyle/>
                    <a:p>
                      <a:r>
                        <a:rPr sz="950" b="1"/>
                        <a:t>Autonomous AI operator</a:t>
                      </a:r>
                    </a:p>
                  </a:txBody>
                  <a:tcPr marL="54864" marR="54864" marT="18288" marB="18288"/>
                </a:tc>
                <a:tc>
                  <a:txBody>
                    <a:bodyPr/>
                    <a:lstStyle/>
                    <a:p>
                      <a:r>
                        <a:rPr sz="950"/>
                        <a:t>A scaffold (e.g., ARTEMIS) driving a model that chooses its own actions after the brief; safety supervision allowed, any tactical intervention logged.</a:t>
                      </a:r>
                    </a:p>
                  </a:txBody>
                  <a:tcPr marL="54864" marR="54864" marT="18288" marB="18288"/>
                </a:tc>
              </a:tr>
              <a:tr h="320040">
                <a:tc>
                  <a:txBody>
                    <a:bodyPr/>
                    <a:lstStyle/>
                    <a:p>
                      <a:r>
                        <a:rPr sz="950" b="1"/>
                        <a:t>Target-side telemetry</a:t>
                      </a:r>
                    </a:p>
                  </a:txBody>
                  <a:tcPr marL="54864" marR="54864" marT="18288" marB="18288"/>
                </a:tc>
                <a:tc>
                  <a:txBody>
                    <a:bodyPr/>
                    <a:lstStyle/>
                    <a:p>
                      <a:r>
                        <a:rPr sz="950"/>
                        <a:t>Evidence recorded on the foothold, domain targets and network sensor; operator-side logs (prompts, terminal I/O) are ground truth only, never features.</a:t>
                      </a:r>
                    </a:p>
                  </a:txBody>
                  <a:tcPr marL="54864" marR="54864" marT="18288" marB="18288"/>
                </a:tc>
              </a:tr>
              <a:tr h="201168">
                <a:tc>
                  <a:txBody>
                    <a:bodyPr/>
                    <a:lstStyle/>
                    <a:p>
                      <a:r>
                        <a:rPr sz="950" b="1"/>
                        <a:t>Matched conditions</a:t>
                      </a:r>
                    </a:p>
                  </a:txBody>
                  <a:tcPr marL="54864" marR="54864" marT="18288" marB="18288"/>
                </a:tc>
                <a:tc>
                  <a:txBody>
                    <a:bodyPr/>
                    <a:lstStyle/>
                    <a:p>
                      <a:r>
                        <a:rPr sz="950"/>
                        <a:t>Same objective, foothold, OS, tool manifest, offline corpus, access window and rules of engagement for both arms.</a:t>
                      </a:r>
                    </a:p>
                  </a:txBody>
                  <a:tcPr marL="54864" marR="54864" marT="18288" marB="18288"/>
                </a:tc>
              </a:tr>
              <a:tr h="201168">
                <a:tc>
                  <a:txBody>
                    <a:bodyPr/>
                    <a:lstStyle/>
                    <a:p>
                      <a:r>
                        <a:rPr sz="950" b="1"/>
                        <a:t>Foothold</a:t>
                      </a:r>
                    </a:p>
                  </a:txBody>
                  <a:tcPr marL="54864" marR="54864" marT="18288" marB="18288"/>
                </a:tc>
                <a:tc>
                  <a:txBody>
                    <a:bodyPr/>
                    <a:lstStyle/>
                    <a:p>
                      <a:r>
                        <a:rPr sz="950"/>
                        <a:t>An allowed initial access state or route, equivalent across arms. External controller placement must not become a class label.</a:t>
                      </a:r>
                    </a:p>
                  </a:txBody>
                  <a:tcPr marL="54864" marR="54864" marT="18288" marB="18288"/>
                </a:tc>
              </a:tr>
              <a:tr h="320040">
                <a:tc>
                  <a:txBody>
                    <a:bodyPr/>
                    <a:lstStyle/>
                    <a:p>
                      <a:r>
                        <a:rPr sz="950" b="1"/>
                        <a:t>Access window</a:t>
                      </a:r>
                    </a:p>
                  </a:txBody>
                  <a:tcPr marL="54864" marR="54864" marT="18288" marB="18288"/>
                </a:tc>
                <a:tc>
                  <a:txBody>
                    <a:bodyPr/>
                    <a:lstStyle/>
                    <a:p>
                      <a:r>
                        <a:rPr sz="950"/>
                        <a:t>Pilot-defined observation duration and stop policy, frozen before scored collection.</a:t>
                      </a:r>
                    </a:p>
                  </a:txBody>
                  <a:tcPr marL="54864" marR="54864" marT="18288" marB="18288"/>
                </a:tc>
              </a:tr>
              <a:tr h="320040">
                <a:tc>
                  <a:txBody>
                    <a:bodyPr/>
                    <a:lstStyle/>
                    <a:p>
                      <a:r>
                        <a:rPr sz="950" b="1"/>
                        <a:t>Knowledge condition</a:t>
                      </a:r>
                    </a:p>
                  </a:txBody>
                  <a:tcPr marL="54864" marR="54864" marT="18288" marB="18288"/>
                </a:tc>
                <a:tc>
                  <a:txBody>
                    <a:bodyPr/>
                    <a:lstStyle/>
                    <a:p>
                      <a:r>
                        <a:rPr sz="950"/>
                        <a:t>Declare and balance the information each arm receives. Additional knowledge conditions require separate pilot qualification.</a:t>
                      </a:r>
                    </a:p>
                  </a:txBody>
                  <a:tcPr marL="54864" marR="54864" marT="18288" marB="18288"/>
                </a:tc>
              </a:tr>
              <a:tr h="201168">
                <a:tc>
                  <a:txBody>
                    <a:bodyPr/>
                    <a:lstStyle/>
                    <a:p>
                      <a:r>
                        <a:rPr sz="950" b="1"/>
                        <a:t>Data quality checks</a:t>
                      </a:r>
                    </a:p>
                  </a:txBody>
                  <a:tcPr marL="54864" marR="54864" marT="18288" marB="18288"/>
                </a:tc>
                <a:tc>
                  <a:txBody>
                    <a:bodyPr/>
                    <a:lstStyle/>
                    <a:p>
                      <a:r>
                        <a:rPr sz="950"/>
                        <a:t>Canary, clock, hash and reset audits. Preserve failed attempts and document exclusions, repairs and reruns.</a:t>
                      </a:r>
                    </a:p>
                  </a:txBody>
                  <a:tcPr marL="54864" marR="54864" marT="18288" marB="18288"/>
                </a:tc>
              </a:tr>
              <a:tr h="320040">
                <a:tc>
                  <a:txBody>
                    <a:bodyPr/>
                    <a:lstStyle/>
                    <a:p>
                      <a:r>
                        <a:rPr sz="950" b="1"/>
                        <a:t>Deny-list</a:t>
                      </a:r>
                    </a:p>
                  </a:txBody>
                  <a:tcPr marL="54864" marR="54864" marT="18288" marB="18288"/>
                </a:tc>
                <a:tc>
                  <a:txBody>
                    <a:bodyPr/>
                    <a:lstStyle/>
                    <a:p>
                      <a:r>
                        <a:rPr sz="950"/>
                        <a:t>Exclude run labels, addresses, account identities and runner artifacts. Retain only validated behavioral features.</a:t>
                      </a:r>
                    </a:p>
                  </a:txBody>
                  <a:tcPr marL="54864" marR="54864" marT="18288" marB="18288"/>
                </a:tc>
              </a:tr>
              <a:tr h="201168">
                <a:tc>
                  <a:txBody>
                    <a:bodyPr/>
                    <a:lstStyle/>
                    <a:p>
                      <a:r>
                        <a:rPr sz="950" b="1"/>
                        <a:t>Metadata-only baseline</a:t>
                      </a:r>
                    </a:p>
                  </a:txBody>
                  <a:tcPr marL="54864" marR="54864" marT="18288" marB="18288"/>
                </a:tc>
                <a:tc>
                  <a:txBody>
                    <a:bodyPr/>
                    <a:lstStyle/>
                    <a:p>
                      <a:r>
                        <a:rPr sz="950"/>
                        <a:t>Diagnostic model for collection shortcuts. Compare substantive models with frozen no-skill and behavioral baselines.</a:t>
                      </a:r>
                    </a:p>
                  </a:txBody>
                  <a:tcPr marL="54864" marR="54864" marT="18288" marB="18288"/>
                </a:tc>
              </a:tr>
              <a:tr h="320040">
                <a:tc>
                  <a:txBody>
                    <a:bodyPr/>
                    <a:lstStyle/>
                    <a:p>
                      <a:r>
                        <a:rPr sz="950" b="1"/>
                        <a:t>Grouped split</a:t>
                      </a:r>
                    </a:p>
                  </a:txBody>
                  <a:tcPr marL="54864" marR="54864" marT="18288" marB="18288"/>
                </a:tc>
                <a:tc>
                  <a:txBody>
                    <a:bodyPr/>
                    <a:lstStyle/>
                    <a:p>
                      <a:r>
                        <a:rPr sz="950"/>
                        <a:t>Reserve human operators and AI configurations. Keep every trial and its windows in one partition. Family holdouts are additional stress tests.</a:t>
                      </a:r>
                    </a:p>
                  </a:txBody>
                  <a:tcPr marL="54864" marR="54864" marT="18288" marB="18288"/>
                </a:tc>
              </a:tr>
              <a:tr h="201168">
                <a:tc>
                  <a:txBody>
                    <a:bodyPr/>
                    <a:lstStyle/>
                    <a:p>
                      <a:r>
                        <a:rPr sz="950" b="1"/>
                        <a:t>Exploratory data analysis (EDA)</a:t>
                      </a:r>
                    </a:p>
                  </a:txBody>
                  <a:tcPr marL="54864" marR="54864" marT="18288" marB="18288"/>
                </a:tc>
                <a:tc>
                  <a:txBody>
                    <a:bodyPr/>
                    <a:lstStyle/>
                    <a:p>
                      <a:r>
                        <a:rPr sz="950"/>
                        <a:t>Profiling the training trials before modeling: class balance, feature distributions by arm, correlations and a ranked list of top features.</a:t>
                      </a:r>
                    </a:p>
                  </a:txBody>
                  <a:tcPr marL="54864" marR="54864" marT="18288" marB="18288"/>
                </a:tc>
              </a:tr>
              <a:tr h="201168">
                <a:tc>
                  <a:txBody>
                    <a:bodyPr/>
                    <a:lstStyle/>
                    <a:p>
                      <a:r>
                        <a:rPr sz="950" b="1"/>
                        <a:t>Censored time-to-objective</a:t>
                      </a:r>
                    </a:p>
                  </a:txBody>
                  <a:tcPr marL="54864" marR="54864" marT="18288" marB="18288"/>
                </a:tc>
                <a:tc>
                  <a:txBody>
                    <a:bodyPr/>
                    <a:lstStyle/>
                    <a:p>
                      <a:r>
                        <a:rPr sz="950"/>
                        <a:t>Time to reach the marker file; trials that end at window close without success are recorded as censored rather than discarded.</a:t>
                      </a:r>
                    </a:p>
                  </a:txBody>
                  <a:tcPr marL="54864" marR="54864" marT="18288" marB="18288"/>
                </a:tc>
              </a:tr>
            </a:tbl>
          </a:graphicData>
        </a:graphic>
      </p:graphicFrame>
    </p:spTree>
    <p:extLst>
      <p:ext uri="{BB962C8B-B14F-4D97-AF65-F5344CB8AC3E}">
        <p14:creationId xmlns:p14="http://schemas.microsoft.com/office/powerpoint/2010/main" val="162841286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CBF3A79B-2052-4B96-8ED0-4520C97C7C78}"/>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Acronyms</a:t>
            </a:r>
          </a:p>
        </p:txBody>
      </p:sp>
      <p:graphicFrame>
        <p:nvGraphicFramePr>
          <p:cNvPr id="4" name="Table 3">
            <a:extLst xmlns:a="http://schemas.openxmlformats.org/drawingml/2006/main">
              <a:ext uri="{FF2B5EF4-FFF2-40B4-BE49-F238E27FC236}">
                <a16:creationId xmlns:a16="http://schemas.microsoft.com/office/drawing/2014/main" id="{5FF6F0F7-5731-48AA-A247-AEFCC8B38BE2}"/>
              </a:ext>
            </a:extLst>
          </p:cNvPr>
          <p:cNvGraphicFramePr/>
          <p:nvPr/>
        </p:nvGraphicFramePr>
        <p:xfrm>
          <a:off xmlns:a="http://schemas.openxmlformats.org/drawingml/2006/main" x="164592" y="960120"/>
          <a:ext xmlns:a="http://schemas.openxmlformats.org/drawingml/2006/main" cx="8814816" cy="4319016"/>
        </p:xfrm>
        <a:graphic xmlns:a="http://schemas.openxmlformats.org/drawingml/2006/main">
          <a:graphicData uri="http://schemas.openxmlformats.org/drawingml/2006/table">
            <a:tbl>
              <a:tblPr firstRow="1" bandRow="1">
                <a:tableStyleId>{5C22544A-7EE6-4342-B048-85BDC9FD1C3A}</a:tableStyleId>
              </a:tblPr>
              <a:tblGrid>
                <a:gridCol w="2387346"/>
                <a:gridCol w="6427470"/>
              </a:tblGrid>
              <a:tr h="173736">
                <a:tc>
                  <a:txBody>
                    <a:bodyPr/>
                    <a:lstStyle/>
                    <a:p>
                      <a:r>
                        <a:rPr sz="1000" b="1"/>
                        <a:t>Acronym</a:t>
                      </a:r>
                    </a:p>
                  </a:txBody>
                  <a:tcPr marL="54864" marR="54864" marT="9144" marB="9144" anchor="ctr"/>
                </a:tc>
                <a:tc>
                  <a:txBody>
                    <a:bodyPr/>
                    <a:lstStyle/>
                    <a:p>
                      <a:pPr algn="ctr">
                        <a:buNone/>
                      </a:pPr>
                      <a:r>
                        <a:rPr sz="1000" b="1"/>
                        <a:t>Definition</a:t>
                      </a:r>
                    </a:p>
                  </a:txBody>
                  <a:tcPr marL="54864" marR="54864" marT="9144" marB="9144" anchor="ctr"/>
                </a:tc>
              </a:tr>
              <a:tr h="173736">
                <a:tc>
                  <a:txBody>
                    <a:bodyPr/>
                    <a:lstStyle/>
                    <a:p>
                      <a:r>
                        <a:rPr sz="1000" b="1"/>
                        <a:t>AD</a:t>
                      </a:r>
                    </a:p>
                  </a:txBody>
                  <a:tcPr marL="54864" marR="54864" marT="9144" marB="9144"/>
                </a:tc>
                <a:tc>
                  <a:txBody>
                    <a:bodyPr/>
                    <a:lstStyle/>
                    <a:p>
                      <a:r>
                        <a:rPr sz="1000"/>
                        <a:t>Active Directory</a:t>
                      </a:r>
                    </a:p>
                  </a:txBody>
                  <a:tcPr marL="54864" marR="54864" marT="9144" marB="9144"/>
                </a:tc>
              </a:tr>
              <a:tr h="173736">
                <a:tc>
                  <a:txBody>
                    <a:bodyPr/>
                    <a:lstStyle/>
                    <a:p>
                      <a:r>
                        <a:rPr sz="1000" b="1"/>
                        <a:t>APT</a:t>
                      </a:r>
                    </a:p>
                  </a:txBody>
                  <a:tcPr marL="54864" marR="54864" marT="9144" marB="9144"/>
                </a:tc>
                <a:tc>
                  <a:txBody>
                    <a:bodyPr/>
                    <a:lstStyle/>
                    <a:p>
                      <a:r>
                        <a:rPr sz="1000"/>
                        <a:t>Advanced Persistent Threat</a:t>
                      </a:r>
                    </a:p>
                  </a:txBody>
                  <a:tcPr marL="54864" marR="54864" marT="9144" marB="9144"/>
                </a:tc>
              </a:tr>
              <a:tr h="173736">
                <a:tc>
                  <a:txBody>
                    <a:bodyPr/>
                    <a:lstStyle/>
                    <a:p>
                      <a:r>
                        <a:rPr sz="1000" b="1"/>
                        <a:t>ARTEMIS</a:t>
                      </a:r>
                    </a:p>
                  </a:txBody>
                  <a:tcPr marL="54864" marR="54864" marT="9144" marB="9144"/>
                </a:tc>
                <a:tc>
                  <a:txBody>
                    <a:bodyPr/>
                    <a:lstStyle/>
                    <a:p>
                      <a:r>
                        <a:rPr sz="1000"/>
                        <a:t>Autonomous penetration-testing scaffold selected for the preliminary feasibility case. Local-model integration remains to be qualified.</a:t>
                      </a:r>
                    </a:p>
                  </a:txBody>
                  <a:tcPr marL="54864" marR="54864" marT="9144" marB="9144"/>
                </a:tc>
              </a:tr>
              <a:tr h="173736">
                <a:tc>
                  <a:txBody>
                    <a:bodyPr/>
                    <a:lstStyle/>
                    <a:p>
                      <a:r>
                        <a:rPr sz="1000" b="1"/>
                        <a:t>ATT&amp;CK</a:t>
                      </a:r>
                    </a:p>
                  </a:txBody>
                  <a:tcPr marL="54864" marR="54864" marT="9144" marB="9144"/>
                </a:tc>
                <a:tc>
                  <a:txBody>
                    <a:bodyPr/>
                    <a:lstStyle/>
                    <a:p>
                      <a:r>
                        <a:rPr sz="1000"/>
                        <a:t>MITRE Adversarial Tactics, Techniques and Common Knowledge</a:t>
                      </a:r>
                    </a:p>
                  </a:txBody>
                  <a:tcPr marL="54864" marR="54864" marT="9144" marB="9144"/>
                </a:tc>
              </a:tr>
              <a:tr h="173736">
                <a:tc>
                  <a:txBody>
                    <a:bodyPr/>
                    <a:lstStyle/>
                    <a:p>
                      <a:r>
                        <a:rPr sz="1000" b="1"/>
                        <a:t>AWS / VPC / S3 / IAM</a:t>
                      </a:r>
                    </a:p>
                  </a:txBody>
                  <a:tcPr marL="54864" marR="54864" marT="9144" marB="9144"/>
                </a:tc>
                <a:tc>
                  <a:txBody>
                    <a:bodyPr/>
                    <a:lstStyle/>
                    <a:p>
                      <a:r>
                        <a:rPr sz="1000"/>
                        <a:t>Amazon Web Services / Virtual Private Cloud / Simple Storage Service / Identity and Access Management</a:t>
                      </a:r>
                    </a:p>
                  </a:txBody>
                  <a:tcPr marL="54864" marR="54864" marT="9144" marB="9144"/>
                </a:tc>
              </a:tr>
              <a:tr h="173736">
                <a:tc>
                  <a:txBody>
                    <a:bodyPr/>
                    <a:lstStyle/>
                    <a:p>
                      <a:r>
                        <a:rPr sz="1000" b="1"/>
                        <a:t>DC</a:t>
                      </a:r>
                    </a:p>
                  </a:txBody>
                  <a:tcPr marL="54864" marR="54864" marT="9144" marB="9144"/>
                </a:tc>
                <a:tc>
                  <a:txBody>
                    <a:bodyPr/>
                    <a:lstStyle/>
                    <a:p>
                      <a:r>
                        <a:rPr sz="1000"/>
                        <a:t>Domain Controller</a:t>
                      </a:r>
                    </a:p>
                  </a:txBody>
                  <a:tcPr marL="54864" marR="54864" marT="9144" marB="9144"/>
                </a:tc>
              </a:tr>
              <a:tr h="173736">
                <a:tc>
                  <a:txBody>
                    <a:bodyPr/>
                    <a:lstStyle/>
                    <a:p>
                      <a:r>
                        <a:rPr sz="1000" b="1"/>
                        <a:t>DGX Spark</a:t>
                      </a:r>
                    </a:p>
                  </a:txBody>
                  <a:tcPr marL="54864" marR="54864" marT="9144" marB="9144"/>
                </a:tc>
                <a:tc>
                  <a:txBody>
                    <a:bodyPr/>
                    <a:lstStyle/>
                    <a:p>
                      <a:r>
                        <a:rPr sz="1000"/>
                        <a:t>NVIDIA desktop AI system hosting the local model for the autonomous arm</a:t>
                      </a:r>
                    </a:p>
                  </a:txBody>
                  <a:tcPr marL="54864" marR="54864" marT="9144" marB="9144"/>
                </a:tc>
              </a:tr>
              <a:tr h="173736">
                <a:tc>
                  <a:txBody>
                    <a:bodyPr/>
                    <a:lstStyle/>
                    <a:p>
                      <a:r>
                        <a:rPr sz="1000" b="1"/>
                        <a:t>EDA</a:t>
                      </a:r>
                    </a:p>
                  </a:txBody>
                  <a:tcPr marL="54864" marR="54864" marT="9144" marB="9144"/>
                </a:tc>
                <a:tc>
                  <a:txBody>
                    <a:bodyPr/>
                    <a:lstStyle/>
                    <a:p>
                      <a:r>
                        <a:rPr sz="1000"/>
                        <a:t>Exploratory Data Analysis</a:t>
                      </a:r>
                    </a:p>
                  </a:txBody>
                  <a:tcPr marL="54864" marR="54864" marT="9144" marB="9144"/>
                </a:tc>
              </a:tr>
              <a:tr h="173736">
                <a:tc>
                  <a:txBody>
                    <a:bodyPr/>
                    <a:lstStyle/>
                    <a:p>
                      <a:r>
                        <a:rPr sz="1000" b="1"/>
                        <a:t>EVTX</a:t>
                      </a:r>
                    </a:p>
                  </a:txBody>
                  <a:tcPr marL="54864" marR="54864" marT="9144" marB="9144"/>
                </a:tc>
                <a:tc>
                  <a:txBody>
                    <a:bodyPr/>
                    <a:lstStyle/>
                    <a:p>
                      <a:r>
                        <a:rPr sz="1000"/>
                        <a:t>Windows Event Log native file format</a:t>
                      </a:r>
                    </a:p>
                  </a:txBody>
                  <a:tcPr marL="54864" marR="54864" marT="9144" marB="9144"/>
                </a:tc>
              </a:tr>
              <a:tr h="173736">
                <a:tc>
                  <a:txBody>
                    <a:bodyPr/>
                    <a:lstStyle/>
                    <a:p>
                      <a:r>
                        <a:rPr sz="1000" b="1"/>
                        <a:t>GOAD</a:t>
                      </a:r>
                    </a:p>
                  </a:txBody>
                  <a:tcPr marL="54864" marR="54864" marT="9144" marB="9144"/>
                </a:tc>
                <a:tc>
                  <a:txBody>
                    <a:bodyPr/>
                    <a:lstStyle/>
                    <a:p>
                      <a:r>
                        <a:rPr sz="1000"/>
                        <a:t>Game of Active Directory, selected AWS range for the preliminary feasibility case.</a:t>
                      </a:r>
                    </a:p>
                  </a:txBody>
                  <a:tcPr marL="54864" marR="54864" marT="9144" marB="9144"/>
                </a:tc>
              </a:tr>
              <a:tr h="173736">
                <a:tc>
                  <a:txBody>
                    <a:bodyPr/>
                    <a:lstStyle/>
                    <a:p>
                      <a:r>
                        <a:rPr sz="1000" b="1"/>
                        <a:t>LDAP / SMB / RDP</a:t>
                      </a:r>
                    </a:p>
                  </a:txBody>
                  <a:tcPr marL="54864" marR="54864" marT="9144" marB="9144"/>
                </a:tc>
                <a:tc>
                  <a:txBody>
                    <a:bodyPr/>
                    <a:lstStyle/>
                    <a:p>
                      <a:r>
                        <a:rPr sz="1000"/>
                        <a:t>Lightweight Directory Access Protocol / Server Message Block / Remote Desktop Protocol</a:t>
                      </a:r>
                    </a:p>
                  </a:txBody>
                  <a:tcPr marL="54864" marR="54864" marT="9144" marB="9144"/>
                </a:tc>
              </a:tr>
              <a:tr h="173736">
                <a:tc>
                  <a:txBody>
                    <a:bodyPr/>
                    <a:lstStyle/>
                    <a:p>
                      <a:r>
                        <a:rPr sz="1000" b="1"/>
                        <a:t>LLM</a:t>
                      </a:r>
                    </a:p>
                  </a:txBody>
                  <a:tcPr marL="54864" marR="54864" marT="9144" marB="9144"/>
                </a:tc>
                <a:tc>
                  <a:txBody>
                    <a:bodyPr/>
                    <a:lstStyle/>
                    <a:p>
                      <a:r>
                        <a:rPr sz="1000"/>
                        <a:t>Large Language Model</a:t>
                      </a:r>
                    </a:p>
                  </a:txBody>
                  <a:tcPr marL="54864" marR="54864" marT="9144" marB="9144"/>
                </a:tc>
              </a:tr>
              <a:tr h="173736">
                <a:tc>
                  <a:txBody>
                    <a:bodyPr/>
                    <a:lstStyle/>
                    <a:p>
                      <a:r>
                        <a:rPr sz="1000" b="1"/>
                        <a:t>LLMNR / NBT-NS</a:t>
                      </a:r>
                    </a:p>
                  </a:txBody>
                  <a:tcPr marL="54864" marR="54864" marT="9144" marB="9144"/>
                </a:tc>
                <a:tc>
                  <a:txBody>
                    <a:bodyPr/>
                    <a:lstStyle/>
                    <a:p>
                      <a:r>
                        <a:rPr sz="1000"/>
                        <a:t>Link-Local Multicast Name Resolution / NetBIOS Name Service</a:t>
                      </a:r>
                    </a:p>
                  </a:txBody>
                  <a:tcPr marL="54864" marR="54864" marT="9144" marB="9144"/>
                </a:tc>
              </a:tr>
              <a:tr h="173736">
                <a:tc>
                  <a:txBody>
                    <a:bodyPr/>
                    <a:lstStyle/>
                    <a:p>
                      <a:r>
                        <a:rPr sz="1000" b="1"/>
                        <a:t>GMR</a:t>
                      </a:r>
                    </a:p>
                  </a:txBody>
                  <a:tcPr marL="54864" marR="54864" marT="9144" marB="9144"/>
                </a:tc>
                <a:tc>
                  <a:txBody>
                    <a:bodyPr/>
                    <a:lstStyle/>
                    <a:p>
                      <a:r>
                        <a:rPr sz="1000"/>
                        <a:t>Graphical model representation of proposed dependencies</a:t>
                      </a:r>
                    </a:p>
                  </a:txBody>
                  <a:tcPr marL="54864" marR="54864" marT="9144" marB="9144"/>
                </a:tc>
              </a:tr>
              <a:tr h="173736">
                <a:tc>
                  <a:txBody>
                    <a:bodyPr/>
                    <a:lstStyle/>
                    <a:p>
                      <a:r>
                        <a:rPr sz="1000" b="1"/>
                        <a:t>MCP</a:t>
                      </a:r>
                    </a:p>
                  </a:txBody>
                  <a:tcPr marL="54864" marR="54864" marT="9144" marB="9144"/>
                </a:tc>
                <a:tc>
                  <a:txBody>
                    <a:bodyPr/>
                    <a:lstStyle/>
                    <a:p>
                      <a:r>
                        <a:rPr sz="1000"/>
                        <a:t>Model Context Protocol</a:t>
                      </a:r>
                    </a:p>
                  </a:txBody>
                  <a:tcPr marL="54864" marR="54864" marT="9144" marB="9144"/>
                </a:tc>
              </a:tr>
              <a:tr h="173736">
                <a:tc>
                  <a:txBody>
                    <a:bodyPr/>
                    <a:lstStyle/>
                    <a:p>
                      <a:r>
                        <a:rPr sz="1000" b="1"/>
                        <a:t>PCA / t-SNE</a:t>
                      </a:r>
                    </a:p>
                  </a:txBody>
                  <a:tcPr marL="54864" marR="54864" marT="9144" marB="9144"/>
                </a:tc>
                <a:tc>
                  <a:txBody>
                    <a:bodyPr/>
                    <a:lstStyle/>
                    <a:p>
                      <a:r>
                        <a:rPr sz="1000"/>
                        <a:t>Principal Component Analysis / t-distributed Stochastic Neighbor Embedding</a:t>
                      </a:r>
                    </a:p>
                  </a:txBody>
                  <a:tcPr marL="54864" marR="54864" marT="9144" marB="9144"/>
                </a:tc>
              </a:tr>
              <a:tr h="173736">
                <a:tc>
                  <a:txBody>
                    <a:bodyPr/>
                    <a:lstStyle/>
                    <a:p>
                      <a:r>
                        <a:rPr sz="1000" b="1"/>
                        <a:t>PCAP</a:t>
                      </a:r>
                    </a:p>
                  </a:txBody>
                  <a:tcPr marL="54864" marR="54864" marT="9144" marB="9144"/>
                </a:tc>
                <a:tc>
                  <a:txBody>
                    <a:bodyPr/>
                    <a:lstStyle/>
                    <a:p>
                      <a:r>
                        <a:rPr sz="1000"/>
                        <a:t>Packet capture</a:t>
                      </a:r>
                    </a:p>
                  </a:txBody>
                  <a:tcPr marL="54864" marR="54864" marT="9144" marB="9144"/>
                </a:tc>
              </a:tr>
              <a:tr h="173736">
                <a:tc>
                  <a:txBody>
                    <a:bodyPr/>
                    <a:lstStyle/>
                    <a:p>
                      <a:r>
                        <a:rPr sz="1000" b="1"/>
                        <a:t>RF / XGB / DT / LR / SVM / FT</a:t>
                      </a:r>
                    </a:p>
                  </a:txBody>
                  <a:tcPr marL="54864" marR="54864" marT="9144" marB="9144"/>
                </a:tc>
                <a:tc>
                  <a:txBody>
                    <a:bodyPr/>
                    <a:lstStyle/>
                    <a:p>
                      <a:r>
                        <a:rPr sz="1000"/>
                        <a:t>Random forest / XGBoost / decision tree / logistic regression / support vector machine / tabular transformer</a:t>
                      </a:r>
                    </a:p>
                  </a:txBody>
                  <a:tcPr marL="54864" marR="54864" marT="9144" marB="9144"/>
                </a:tc>
              </a:tr>
              <a:tr h="173736">
                <a:tc>
                  <a:txBody>
                    <a:bodyPr/>
                    <a:lstStyle/>
                    <a:p>
                      <a:r>
                        <a:rPr sz="1000" b="1"/>
                        <a:t>ROC-AUC</a:t>
                      </a:r>
                    </a:p>
                  </a:txBody>
                  <a:tcPr marL="54864" marR="54864" marT="9144" marB="9144"/>
                </a:tc>
                <a:tc>
                  <a:txBody>
                    <a:bodyPr/>
                    <a:lstStyle/>
                    <a:p>
                      <a:r>
                        <a:rPr sz="1000"/>
                        <a:t>Area Under the Receiver Operating Characteristic Curve</a:t>
                      </a:r>
                    </a:p>
                  </a:txBody>
                  <a:tcPr marL="54864" marR="54864" marT="9144" marB="9144"/>
                </a:tc>
              </a:tr>
              <a:tr h="173736">
                <a:tc>
                  <a:txBody>
                    <a:bodyPr/>
                    <a:lstStyle/>
                    <a:p>
                      <a:r>
                        <a:rPr sz="1000" b="1"/>
                        <a:t>ROE</a:t>
                      </a:r>
                    </a:p>
                  </a:txBody>
                  <a:tcPr marL="54864" marR="54864" marT="9144" marB="9144"/>
                </a:tc>
                <a:tc>
                  <a:txBody>
                    <a:bodyPr/>
                    <a:lstStyle/>
                    <a:p>
                      <a:r>
                        <a:rPr sz="1000"/>
                        <a:t>Rules of Engagement</a:t>
                      </a:r>
                    </a:p>
                  </a:txBody>
                  <a:tcPr marL="54864" marR="54864" marT="9144" marB="9144"/>
                </a:tc>
              </a:tr>
              <a:tr h="173736">
                <a:tc>
                  <a:txBody>
                    <a:bodyPr/>
                    <a:lstStyle/>
                    <a:p>
                      <a:r>
                        <a:rPr sz="1000" b="1"/>
                        <a:t>SHA-256</a:t>
                      </a:r>
                    </a:p>
                  </a:txBody>
                  <a:tcPr marL="54864" marR="54864" marT="9144" marB="9144"/>
                </a:tc>
                <a:tc>
                  <a:txBody>
                    <a:bodyPr/>
                    <a:lstStyle/>
                    <a:p>
                      <a:r>
                        <a:rPr sz="1000"/>
                        <a:t>Secure Hash Algorithm, 256-bit (evidence manifests)</a:t>
                      </a:r>
                    </a:p>
                  </a:txBody>
                  <a:tcPr marL="54864" marR="54864" marT="9144" marB="9144"/>
                </a:tc>
              </a:tr>
              <a:tr h="173736">
                <a:tc>
                  <a:txBody>
                    <a:bodyPr/>
                    <a:lstStyle/>
                    <a:p>
                      <a:r>
                        <a:rPr sz="1000" b="1"/>
                        <a:t>SHAP</a:t>
                      </a:r>
                    </a:p>
                  </a:txBody>
                  <a:tcPr marL="54864" marR="54864" marT="9144" marB="9144"/>
                </a:tc>
                <a:tc>
                  <a:txBody>
                    <a:bodyPr/>
                    <a:lstStyle/>
                    <a:p>
                      <a:r>
                        <a:rPr sz="1000"/>
                        <a:t>SHapley Additive exPlanations (feature attribution)</a:t>
                      </a:r>
                    </a:p>
                  </a:txBody>
                  <a:tcPr marL="54864" marR="54864" marT="9144" marB="9144"/>
                </a:tc>
              </a:tr>
              <a:tr h="173736">
                <a:tc>
                  <a:txBody>
                    <a:bodyPr/>
                    <a:lstStyle/>
                    <a:p>
                      <a:r>
                        <a:rPr sz="1000" b="1"/>
                        <a:t>AIR</a:t>
                      </a:r>
                    </a:p>
                  </a:txBody>
                  <a:tcPr marL="54864" marR="54864" marT="9144" marB="9144"/>
                </a:tc>
                <a:tc>
                  <a:txBody>
                    <a:bodyPr/>
                    <a:lstStyle/>
                    <a:p>
                      <a:r>
                        <a:rPr sz="1000"/>
                        <a:t>GW Academic Integrity Review. Project planning date: November 14, 2026</a:t>
                      </a:r>
                    </a:p>
                  </a:txBody>
                  <a:tcPr marL="54864" marR="54864" marT="9144" marB="9144"/>
                </a:tc>
              </a:tr>
            </a:tbl>
          </a:graphicData>
        </a:graphic>
      </p:graphicFrame>
    </p:spTree>
    <p:extLst>
      <p:ext uri="{BB962C8B-B14F-4D97-AF65-F5344CB8AC3E}">
        <p14:creationId xmlns:p14="http://schemas.microsoft.com/office/powerpoint/2010/main" val="172953639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2279572C-7A31-4B76-9DFF-868709BCEDBD}"/>
              </a:ext>
            </a:extLst>
          </p:cNvPr>
          <p:cNvSpPr>
            <a:spLocks xmlns:a="http://schemas.openxmlformats.org/drawingml/2006/main" noGrp="1"/>
          </p:cNvSpPr>
          <p:nvPr>
            <p:ph type="title" idx="0"/>
          </p:nvPr>
        </p:nvSpPr>
        <p:spPr>
          <a:xfrm xmlns:a="http://schemas.openxmlformats.org/drawingml/2006/main">
            <a:off x="274320" y="0"/>
            <a:ext cx="8595360" cy="640080"/>
          </a:xfrm>
        </p:spPr>
        <p:txBody>
          <a:bodyPr xmlns:a="http://schemas.openxmlformats.org/drawingml/2006/main" wrap="square"/>
          <a:lstStyle xmlns:a="http://schemas.openxmlformats.org/drawingml/2006/main"/>
          <a:p xmlns:a="http://schemas.openxmlformats.org/drawingml/2006/main">
            <a:pPr algn="ctr">
              <a:buNone/>
            </a:pPr>
            <a:r>
              <a:rPr sz="1500" b="1">
                <a:solidFill>
                  <a:srgbClr val="404040"/>
                </a:solidFill>
              </a:rPr>
              <a:t>Experiment Delivery Methodology</a:t>
            </a:r>
          </a:p>
        </p:txBody>
      </p:sp>
      <p:sp>
        <p:nvSpPr>
          <p:cNvPr id="4" name="Rectangle 3">
            <a:extLst xmlns:a="http://schemas.openxmlformats.org/drawingml/2006/main">
              <a:ext uri="{FF2B5EF4-FFF2-40B4-BE49-F238E27FC236}">
                <a16:creationId xmlns:a16="http://schemas.microsoft.com/office/drawing/2014/main" id="{83F112F6-4847-4F55-A242-0E98DCADE694}"/>
              </a:ext>
            </a:extLst>
          </p:cNvPr>
          <p:cNvSpPr>
            <a:spLocks xmlns:a="http://schemas.openxmlformats.org/drawingml/2006/main" noGrp="1"/>
          </p:cNvSpPr>
          <p:nvPr/>
        </p:nvSpPr>
        <p:spPr>
          <a:xfrm xmlns:a="http://schemas.openxmlformats.org/drawingml/2006/main">
            <a:off x="342900" y="731520"/>
            <a:ext cx="2514600" cy="91440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1. Prepare the preliminary range</a:t>
            </a:r>
          </a:p>
          <a:p xmlns:a="http://schemas.openxmlformats.org/drawingml/2006/main">
            <a:pPr algn="l">
              <a:buNone/>
            </a:pPr>
            <a:r>
              <a:rPr sz="950" b="0">
                <a:solidFill>
                  <a:srgbClr val="000000"/>
                </a:solidFill>
              </a:rPr>
              <a:t>Pin GOAD on AWS and instrument target hosts and the network. Verify resets and isolate evidence storage.</a:t>
            </a:r>
          </a:p>
        </p:txBody>
      </p:sp>
      <p:sp>
        <p:nvSpPr>
          <p:cNvPr id="5" name="Rectangle 4">
            <a:extLst xmlns:a="http://schemas.openxmlformats.org/drawingml/2006/main">
              <a:ext uri="{FF2B5EF4-FFF2-40B4-BE49-F238E27FC236}">
                <a16:creationId xmlns:a16="http://schemas.microsoft.com/office/drawing/2014/main" id="{3A10E7A0-B481-4E9B-A398-04C0A1697C06}"/>
              </a:ext>
            </a:extLst>
          </p:cNvPr>
          <p:cNvSpPr>
            <a:spLocks xmlns:a="http://schemas.openxmlformats.org/drawingml/2006/main" noGrp="1"/>
          </p:cNvSpPr>
          <p:nvPr/>
        </p:nvSpPr>
        <p:spPr>
          <a:xfrm xmlns:a="http://schemas.openxmlformats.org/drawingml/2006/main">
            <a:off x="3314700" y="731520"/>
            <a:ext cx="2514600" cy="91440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2. Freeze the pilot protocol</a:t>
            </a:r>
          </a:p>
          <a:p xmlns:a="http://schemas.openxmlformats.org/drawingml/2006/main">
            <a:pPr algn="l">
              <a:buNone/>
            </a:pPr>
            <a:r>
              <a:rPr sz="950" b="0">
                <a:solidFill>
                  <a:srgbClr val="000000"/>
                </a:solidFill>
              </a:rPr>
              <a:t>Set objectives, equivalent access, labels, stop rules and progression criteria. Preserve the formal study hypotheses.</a:t>
            </a:r>
          </a:p>
        </p:txBody>
      </p:sp>
      <p:sp>
        <p:nvSpPr>
          <p:cNvPr id="6" name="Rectangle 5">
            <a:extLst xmlns:a="http://schemas.openxmlformats.org/drawingml/2006/main">
              <a:ext uri="{FF2B5EF4-FFF2-40B4-BE49-F238E27FC236}">
                <a16:creationId xmlns:a16="http://schemas.microsoft.com/office/drawing/2014/main" id="{8A8DECCB-BE63-4109-8C49-69E272CBB5CA}"/>
              </a:ext>
            </a:extLst>
          </p:cNvPr>
          <p:cNvSpPr>
            <a:spLocks xmlns:a="http://schemas.openxmlformats.org/drawingml/2006/main" noGrp="1"/>
          </p:cNvSpPr>
          <p:nvPr/>
        </p:nvSpPr>
        <p:spPr>
          <a:xfrm xmlns:a="http://schemas.openxmlformats.org/drawingml/2006/main">
            <a:off x="6286500" y="731520"/>
            <a:ext cx="2514600" cy="91440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3. Prepare the operator arms</a:t>
            </a:r>
          </a:p>
          <a:p xmlns:a="http://schemas.openxmlformats.org/drawingml/2006/main">
            <a:pPr algn="l">
              <a:buNone/>
            </a:pPr>
            <a:r>
              <a:rPr sz="950" b="0">
                <a:solidFill>
                  <a:srgbClr val="000000"/>
                </a:solidFill>
              </a:rPr>
              <a:t>Human participants and ARTEMIS-controlled local AI use equivalent authorized routes. Record every intervention.</a:t>
            </a:r>
          </a:p>
        </p:txBody>
      </p:sp>
      <p:sp>
        <p:nvSpPr>
          <p:cNvPr id="7" name="Rectangle 6">
            <a:extLst xmlns:a="http://schemas.openxmlformats.org/drawingml/2006/main">
              <a:ext uri="{FF2B5EF4-FFF2-40B4-BE49-F238E27FC236}">
                <a16:creationId xmlns:a16="http://schemas.microsoft.com/office/drawing/2014/main" id="{7019CDE1-54FC-4C67-A526-48CBF733D267}"/>
              </a:ext>
            </a:extLst>
          </p:cNvPr>
          <p:cNvSpPr>
            <a:spLocks xmlns:a="http://schemas.openxmlformats.org/drawingml/2006/main" noGrp="1"/>
          </p:cNvSpPr>
          <p:nvPr/>
        </p:nvSpPr>
        <p:spPr>
          <a:xfrm xmlns:a="http://schemas.openxmlformats.org/drawingml/2006/main">
            <a:off x="342900" y="1920240"/>
            <a:ext cx="2514600" cy="91440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4. Run matched pilot trials</a:t>
            </a:r>
          </a:p>
          <a:p xmlns:a="http://schemas.openxmlformats.org/drawingml/2006/main">
            <a:pPr algn="l">
              <a:buNone/>
            </a:pPr>
            <a:r>
              <a:rPr sz="950" b="0">
                <a:solidFill>
                  <a:srgbClr val="000000"/>
                </a:solidFill>
              </a:rPr>
              <a:t>Exercise both arms, validate capture and examine design artifacts before committing to full collection.</a:t>
            </a:r>
          </a:p>
        </p:txBody>
      </p:sp>
      <p:sp>
        <p:nvSpPr>
          <p:cNvPr id="8" name="Rectangle 7">
            <a:extLst xmlns:a="http://schemas.openxmlformats.org/drawingml/2006/main">
              <a:ext uri="{FF2B5EF4-FFF2-40B4-BE49-F238E27FC236}">
                <a16:creationId xmlns:a16="http://schemas.microsoft.com/office/drawing/2014/main" id="{F861D1A9-47EB-485A-AE91-26907802A085}"/>
              </a:ext>
            </a:extLst>
          </p:cNvPr>
          <p:cNvSpPr>
            <a:spLocks xmlns:a="http://schemas.openxmlformats.org/drawingml/2006/main" noGrp="1"/>
          </p:cNvSpPr>
          <p:nvPr/>
        </p:nvSpPr>
        <p:spPr>
          <a:xfrm xmlns:a="http://schemas.openxmlformats.org/drawingml/2006/main">
            <a:off x="3314700" y="1920240"/>
            <a:ext cx="2514600" cy="91440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5. Qualify the collection design</a:t>
            </a:r>
          </a:p>
          <a:p xmlns:a="http://schemas.openxmlformats.org/drawingml/2006/main">
            <a:pPr algn="l">
              <a:buNone/>
            </a:pPr>
            <a:r>
              <a:rPr sz="950" b="0">
                <a:solidFill>
                  <a:srgbClr val="000000"/>
                </a:solidFill>
              </a:rPr>
              <a:t>Review coverage, label integrity, independent groups and workload. Repair the design or proceed based on evidence.</a:t>
            </a:r>
          </a:p>
        </p:txBody>
      </p:sp>
      <p:sp>
        <p:nvSpPr>
          <p:cNvPr id="9" name="Rectangle 8">
            <a:extLst xmlns:a="http://schemas.openxmlformats.org/drawingml/2006/main">
              <a:ext uri="{FF2B5EF4-FFF2-40B4-BE49-F238E27FC236}">
                <a16:creationId xmlns:a16="http://schemas.microsoft.com/office/drawing/2014/main" id="{0C17F965-E6C2-4430-B342-A28E6A0F2E57}"/>
              </a:ext>
            </a:extLst>
          </p:cNvPr>
          <p:cNvSpPr>
            <a:spLocks xmlns:a="http://schemas.openxmlformats.org/drawingml/2006/main" noGrp="1"/>
          </p:cNvSpPr>
          <p:nvPr/>
        </p:nvSpPr>
        <p:spPr>
          <a:xfrm xmlns:a="http://schemas.openxmlformats.org/drawingml/2006/main">
            <a:off x="6286500" y="1920240"/>
            <a:ext cx="2514600" cy="914400"/>
          </a:xfrm>
          <a:prstGeom xmlns:a="http://schemas.openxmlformats.org/drawingml/2006/main" prst="rect">
            <a:avLst/>
          </a:prstGeom>
          <a:solidFill xmlns:a="http://schemas.openxmlformats.org/drawingml/2006/main">
            <a:srgbClr val="E5E0EC"/>
          </a:solidFill>
          <a:ln xmlns:a="http://schemas.openxmlformats.org/drawingml/2006/main" w="12700">
            <a:solidFill>
              <a:srgbClr val="8064A2"/>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6. Engineer behavioral features</a:t>
            </a:r>
          </a:p>
          <a:p xmlns:a="http://schemas.openxmlformats.org/drawingml/2006/main">
            <a:pPr algn="l">
              <a:buNone/>
            </a:pPr>
            <a:r>
              <a:rPr sz="950" b="0">
                <a:solidFill>
                  <a:srgbClr val="000000"/>
                </a:solidFill>
              </a:rPr>
              <a:t>Validate diversity and transition entropy plus host/network families. Remove collection identities.</a:t>
            </a:r>
          </a:p>
        </p:txBody>
      </p:sp>
      <p:sp>
        <p:nvSpPr>
          <p:cNvPr id="10" name="Rectangle 9">
            <a:extLst xmlns:a="http://schemas.openxmlformats.org/drawingml/2006/main">
              <a:ext uri="{FF2B5EF4-FFF2-40B4-BE49-F238E27FC236}">
                <a16:creationId xmlns:a16="http://schemas.microsoft.com/office/drawing/2014/main" id="{92291005-0AA1-4359-A0B3-36CE17945864}"/>
              </a:ext>
            </a:extLst>
          </p:cNvPr>
          <p:cNvSpPr>
            <a:spLocks xmlns:a="http://schemas.openxmlformats.org/drawingml/2006/main" noGrp="1"/>
          </p:cNvSpPr>
          <p:nvPr/>
        </p:nvSpPr>
        <p:spPr>
          <a:xfrm xmlns:a="http://schemas.openxmlformats.org/drawingml/2006/main">
            <a:off x="342900" y="3108960"/>
            <a:ext cx="2514600" cy="914400"/>
          </a:xfrm>
          <a:prstGeom xmlns:a="http://schemas.openxmlformats.org/drawingml/2006/main" prst="rect">
            <a:avLst/>
          </a:prstGeom>
          <a:solidFill xmlns:a="http://schemas.openxmlformats.org/drawingml/2006/main">
            <a:srgbClr val="E5E0EC"/>
          </a:solidFill>
          <a:ln xmlns:a="http://schemas.openxmlformats.org/drawingml/2006/main" w="12700">
            <a:solidFill>
              <a:srgbClr val="8064A2"/>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7. Evaluate data quality and EDA</a:t>
            </a:r>
          </a:p>
          <a:p xmlns:a="http://schemas.openxmlformats.org/drawingml/2006/main">
            <a:pPr algn="l">
              <a:buNone/>
            </a:pPr>
            <a:r>
              <a:rPr sz="950" b="0">
                <a:solidFill>
                  <a:srgbClr val="000000"/>
                </a:solidFill>
              </a:rPr>
              <a:t>Use development groups to assess missingness, dependence, feature relevance and learning curves.</a:t>
            </a:r>
          </a:p>
        </p:txBody>
      </p:sp>
      <p:sp>
        <p:nvSpPr>
          <p:cNvPr id="11" name="Rectangle 10">
            <a:extLst xmlns:a="http://schemas.openxmlformats.org/drawingml/2006/main">
              <a:ext uri="{FF2B5EF4-FFF2-40B4-BE49-F238E27FC236}">
                <a16:creationId xmlns:a16="http://schemas.microsoft.com/office/drawing/2014/main" id="{067EE3A8-CD1E-4B6F-9FA2-D2CF4CCB6F9E}"/>
              </a:ext>
            </a:extLst>
          </p:cNvPr>
          <p:cNvSpPr>
            <a:spLocks xmlns:a="http://schemas.openxmlformats.org/drawingml/2006/main" noGrp="1"/>
          </p:cNvSpPr>
          <p:nvPr/>
        </p:nvSpPr>
        <p:spPr>
          <a:xfrm xmlns:a="http://schemas.openxmlformats.org/drawingml/2006/main">
            <a:off x="3314700" y="3108960"/>
            <a:ext cx="2514600" cy="914400"/>
          </a:xfrm>
          <a:prstGeom xmlns:a="http://schemas.openxmlformats.org/drawingml/2006/main" prst="rect">
            <a:avLst/>
          </a:prstGeom>
          <a:solidFill xmlns:a="http://schemas.openxmlformats.org/drawingml/2006/main">
            <a:srgbClr val="E5E0EC"/>
          </a:solidFill>
          <a:ln xmlns:a="http://schemas.openxmlformats.org/drawingml/2006/main" w="12700">
            <a:solidFill>
              <a:srgbClr val="8064A2"/>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8. Fit the comparison models</a:t>
            </a:r>
          </a:p>
          <a:p xmlns:a="http://schemas.openxmlformats.org/drawingml/2006/main">
            <a:pPr algn="l">
              <a:buNone/>
            </a:pPr>
            <a:r>
              <a:rPr sz="950" b="0">
                <a:solidFill>
                  <a:srgbClr val="000000"/>
                </a:solidFill>
              </a:rPr>
              <a:t>SVM, XGBoost, decision tree, random forest and tabular transformer. Logistic regression tests H2.</a:t>
            </a:r>
          </a:p>
        </p:txBody>
      </p:sp>
      <p:sp>
        <p:nvSpPr>
          <p:cNvPr id="12" name="Rectangle 11">
            <a:extLst xmlns:a="http://schemas.openxmlformats.org/drawingml/2006/main">
              <a:ext uri="{FF2B5EF4-FFF2-40B4-BE49-F238E27FC236}">
                <a16:creationId xmlns:a16="http://schemas.microsoft.com/office/drawing/2014/main" id="{4B55E08A-F37E-4284-9405-6B5893ED4027}"/>
              </a:ext>
            </a:extLst>
          </p:cNvPr>
          <p:cNvSpPr>
            <a:spLocks xmlns:a="http://schemas.openxmlformats.org/drawingml/2006/main" noGrp="1"/>
          </p:cNvSpPr>
          <p:nvPr/>
        </p:nvSpPr>
        <p:spPr>
          <a:xfrm xmlns:a="http://schemas.openxmlformats.org/drawingml/2006/main">
            <a:off x="6286500" y="3108960"/>
            <a:ext cx="2514600" cy="914400"/>
          </a:xfrm>
          <a:prstGeom xmlns:a="http://schemas.openxmlformats.org/drawingml/2006/main" prst="rect">
            <a:avLst/>
          </a:prstGeom>
          <a:solidFill xmlns:a="http://schemas.openxmlformats.org/drawingml/2006/main">
            <a:srgbClr val="E5E0EC"/>
          </a:solidFill>
          <a:ln xmlns:a="http://schemas.openxmlformats.org/drawingml/2006/main" w="12700">
            <a:solidFill>
              <a:srgbClr val="8064A2"/>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9. Evaluate all three RQs</a:t>
            </a:r>
          </a:p>
          <a:p xmlns:a="http://schemas.openxmlformats.org/drawingml/2006/main">
            <a:pPr algn="l">
              <a:buNone/>
            </a:pPr>
            <a:r>
              <a:rPr sz="950" b="0">
                <a:solidFill>
                  <a:srgbClr val="000000"/>
                </a:solidFill>
              </a:rPr>
              <a:t>Use locked grouped predictions, feature ablations, transfer tests, human error rates and corrected comparisons.</a:t>
            </a:r>
          </a:p>
        </p:txBody>
      </p:sp>
      <p:sp>
        <p:nvSpPr>
          <p:cNvPr id="13" name="Rectangle 12">
            <a:extLst xmlns:a="http://schemas.openxmlformats.org/drawingml/2006/main">
              <a:ext uri="{FF2B5EF4-FFF2-40B4-BE49-F238E27FC236}">
                <a16:creationId xmlns:a16="http://schemas.microsoft.com/office/drawing/2014/main" id="{2EB440BF-40F6-401C-919A-497555AD5E5E}"/>
              </a:ext>
            </a:extLst>
          </p:cNvPr>
          <p:cNvSpPr>
            <a:spLocks xmlns:a="http://schemas.openxmlformats.org/drawingml/2006/main" noGrp="1"/>
          </p:cNvSpPr>
          <p:nvPr/>
        </p:nvSpPr>
        <p:spPr>
          <a:xfrm xmlns:a="http://schemas.openxmlformats.org/drawingml/2006/main">
            <a:off x="342900" y="4297680"/>
            <a:ext cx="2514600" cy="914400"/>
          </a:xfrm>
          <a:prstGeom xmlns:a="http://schemas.openxmlformats.org/drawingml/2006/main" prst="rect">
            <a:avLst/>
          </a:prstGeom>
          <a:solidFill xmlns:a="http://schemas.openxmlformats.org/drawingml/2006/main">
            <a:srgbClr val="F2F2F2"/>
          </a:solidFill>
          <a:ln xmlns:a="http://schemas.openxmlformats.org/drawingml/2006/main" w="12700">
            <a:solidFill>
              <a:srgbClr val="7F7F7F"/>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050" b="1">
                <a:solidFill>
                  <a:srgbClr val="000000"/>
                </a:solidFill>
              </a:rPr>
              <a:t>10. Complete the Praxis</a:t>
            </a:r>
          </a:p>
          <a:p xmlns:a="http://schemas.openxmlformats.org/drawingml/2006/main">
            <a:pPr algn="l">
              <a:buNone/>
            </a:pPr>
            <a:r>
              <a:rPr sz="950" b="0">
                <a:solidFill>
                  <a:srgbClr val="000000"/>
                </a:solidFill>
              </a:rPr>
              <a:t>Replace draft assumptions with evidence, submit review materials and prepare the December 1 defense.</a:t>
            </a:r>
          </a:p>
        </p:txBody>
      </p:sp>
      <p:sp>
        <p:nvSpPr>
          <p:cNvPr id="14" name="Connector 13">
            <a:extLst xmlns:a="http://schemas.openxmlformats.org/drawingml/2006/main">
              <a:ext uri="{FF2B5EF4-FFF2-40B4-BE49-F238E27FC236}">
                <a16:creationId xmlns:a16="http://schemas.microsoft.com/office/drawing/2014/main" id="{ABFA6F42-FBED-4ACE-9885-EE43B2FDA753}"/>
              </a:ext>
            </a:extLst>
          </p:cNvPr>
          <p:cNvSpPr>
            <a:spLocks xmlns:a="http://schemas.openxmlformats.org/drawingml/2006/main" noGrp="1"/>
          </p:cNvSpPr>
          <p:nvPr/>
        </p:nvSpPr>
        <p:spPr>
          <a:xfrm xmlns:a="http://schemas.openxmlformats.org/drawingml/2006/main">
            <a:off x="2857500" y="1188720"/>
            <a:ext cx="45720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9B00BD0-8392-4E7C-BCDC-D4619FBB6B73}"/>
              </a:ext>
            </a:extLst>
          </p:cNvPr>
          <p:cNvSpPr>
            <a:spLocks xmlns:a="http://schemas.openxmlformats.org/drawingml/2006/main" noGrp="1"/>
          </p:cNvSpPr>
          <p:nvPr/>
        </p:nvSpPr>
        <p:spPr>
          <a:xfrm xmlns:a="http://schemas.openxmlformats.org/drawingml/2006/main">
            <a:off x="5829300" y="1188720"/>
            <a:ext cx="45720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C8892F7-9FC8-4097-BAA0-39398F578C52}"/>
              </a:ext>
            </a:extLst>
          </p:cNvPr>
          <p:cNvSpPr>
            <a:spLocks xmlns:a="http://schemas.openxmlformats.org/drawingml/2006/main" noGrp="1"/>
          </p:cNvSpPr>
          <p:nvPr/>
        </p:nvSpPr>
        <p:spPr>
          <a:xfrm xmlns:a="http://schemas.openxmlformats.org/drawingml/2006/main">
            <a:off x="7543800" y="1645920"/>
            <a:ext cx="0" cy="1371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57B30A7F-B27B-46EE-964F-86320676995E}"/>
              </a:ext>
            </a:extLst>
          </p:cNvPr>
          <p:cNvSpPr>
            <a:spLocks xmlns:a="http://schemas.openxmlformats.org/drawingml/2006/main" noGrp="1"/>
          </p:cNvSpPr>
          <p:nvPr/>
        </p:nvSpPr>
        <p:spPr>
          <a:xfrm xmlns:a="http://schemas.openxmlformats.org/drawingml/2006/main" flipH="1">
            <a:off x="1600200" y="1783080"/>
            <a:ext cx="594360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9E5A974-7E7F-47AF-9E8E-6EDF4259EF5D}"/>
              </a:ext>
            </a:extLst>
          </p:cNvPr>
          <p:cNvSpPr>
            <a:spLocks xmlns:a="http://schemas.openxmlformats.org/drawingml/2006/main" noGrp="1"/>
          </p:cNvSpPr>
          <p:nvPr/>
        </p:nvSpPr>
        <p:spPr>
          <a:xfrm xmlns:a="http://schemas.openxmlformats.org/drawingml/2006/main">
            <a:off x="1600200" y="1783080"/>
            <a:ext cx="0" cy="13716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0857CEF2-E297-4E8D-AEF4-D93158C3114C}"/>
              </a:ext>
            </a:extLst>
          </p:cNvPr>
          <p:cNvSpPr>
            <a:spLocks xmlns:a="http://schemas.openxmlformats.org/drawingml/2006/main" noGrp="1"/>
          </p:cNvSpPr>
          <p:nvPr/>
        </p:nvSpPr>
        <p:spPr>
          <a:xfrm xmlns:a="http://schemas.openxmlformats.org/drawingml/2006/main">
            <a:off x="2857500" y="2377440"/>
            <a:ext cx="45720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98D39C28-9E4A-4BD5-B914-43E56C8FDD8A}"/>
              </a:ext>
            </a:extLst>
          </p:cNvPr>
          <p:cNvSpPr>
            <a:spLocks xmlns:a="http://schemas.openxmlformats.org/drawingml/2006/main" noGrp="1"/>
          </p:cNvSpPr>
          <p:nvPr/>
        </p:nvSpPr>
        <p:spPr>
          <a:xfrm xmlns:a="http://schemas.openxmlformats.org/drawingml/2006/main">
            <a:off x="5829300" y="2377440"/>
            <a:ext cx="45720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8F732CF2-133D-426B-AE41-FE3854FD795E}"/>
              </a:ext>
            </a:extLst>
          </p:cNvPr>
          <p:cNvSpPr>
            <a:spLocks xmlns:a="http://schemas.openxmlformats.org/drawingml/2006/main" noGrp="1"/>
          </p:cNvSpPr>
          <p:nvPr/>
        </p:nvSpPr>
        <p:spPr>
          <a:xfrm xmlns:a="http://schemas.openxmlformats.org/drawingml/2006/main">
            <a:off x="7543800" y="2834640"/>
            <a:ext cx="0" cy="1371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EA131C0C-1600-425F-9B72-8F165069F70A}"/>
              </a:ext>
            </a:extLst>
          </p:cNvPr>
          <p:cNvSpPr>
            <a:spLocks xmlns:a="http://schemas.openxmlformats.org/drawingml/2006/main" noGrp="1"/>
          </p:cNvSpPr>
          <p:nvPr/>
        </p:nvSpPr>
        <p:spPr>
          <a:xfrm xmlns:a="http://schemas.openxmlformats.org/drawingml/2006/main" flipH="1">
            <a:off x="1600200" y="2971800"/>
            <a:ext cx="594360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FEF47A48-400A-48C0-BAC4-8FE03CA7584A}"/>
              </a:ext>
            </a:extLst>
          </p:cNvPr>
          <p:cNvSpPr>
            <a:spLocks xmlns:a="http://schemas.openxmlformats.org/drawingml/2006/main" noGrp="1"/>
          </p:cNvSpPr>
          <p:nvPr/>
        </p:nvSpPr>
        <p:spPr>
          <a:xfrm xmlns:a="http://schemas.openxmlformats.org/drawingml/2006/main">
            <a:off x="1600200" y="2971800"/>
            <a:ext cx="0" cy="13716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6E286CB7-4A27-4EF1-BC9A-A09E7DCA4651}"/>
              </a:ext>
            </a:extLst>
          </p:cNvPr>
          <p:cNvSpPr>
            <a:spLocks xmlns:a="http://schemas.openxmlformats.org/drawingml/2006/main" noGrp="1"/>
          </p:cNvSpPr>
          <p:nvPr/>
        </p:nvSpPr>
        <p:spPr>
          <a:xfrm xmlns:a="http://schemas.openxmlformats.org/drawingml/2006/main">
            <a:off x="2857500" y="3566160"/>
            <a:ext cx="45720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32124A7-6FEB-4C84-A040-4C90488216BD}"/>
              </a:ext>
            </a:extLst>
          </p:cNvPr>
          <p:cNvSpPr>
            <a:spLocks xmlns:a="http://schemas.openxmlformats.org/drawingml/2006/main" noGrp="1"/>
          </p:cNvSpPr>
          <p:nvPr/>
        </p:nvSpPr>
        <p:spPr>
          <a:xfrm xmlns:a="http://schemas.openxmlformats.org/drawingml/2006/main">
            <a:off x="5829300" y="3566160"/>
            <a:ext cx="45720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5BEB2F35-26C0-4328-9155-15B58820FF58}"/>
              </a:ext>
            </a:extLst>
          </p:cNvPr>
          <p:cNvSpPr>
            <a:spLocks xmlns:a="http://schemas.openxmlformats.org/drawingml/2006/main" noGrp="1"/>
          </p:cNvSpPr>
          <p:nvPr/>
        </p:nvSpPr>
        <p:spPr>
          <a:xfrm xmlns:a="http://schemas.openxmlformats.org/drawingml/2006/main">
            <a:off x="7543800" y="4023360"/>
            <a:ext cx="0" cy="1371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AB4BBF7-64A8-4D53-9DF9-CE2F8BA9E1F3}"/>
              </a:ext>
            </a:extLst>
          </p:cNvPr>
          <p:cNvSpPr>
            <a:spLocks xmlns:a="http://schemas.openxmlformats.org/drawingml/2006/main" noGrp="1"/>
          </p:cNvSpPr>
          <p:nvPr/>
        </p:nvSpPr>
        <p:spPr>
          <a:xfrm xmlns:a="http://schemas.openxmlformats.org/drawingml/2006/main" flipH="1">
            <a:off x="1600200" y="4160520"/>
            <a:ext cx="594360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CE0CF1E8-D194-4A97-837A-F7557D6577FE}"/>
              </a:ext>
            </a:extLst>
          </p:cNvPr>
          <p:cNvSpPr>
            <a:spLocks xmlns:a="http://schemas.openxmlformats.org/drawingml/2006/main" noGrp="1"/>
          </p:cNvSpPr>
          <p:nvPr/>
        </p:nvSpPr>
        <p:spPr>
          <a:xfrm xmlns:a="http://schemas.openxmlformats.org/drawingml/2006/main">
            <a:off x="1600200" y="4160520"/>
            <a:ext cx="0" cy="13716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9" name="Legend Title">
            <a:extLst xmlns:a="http://schemas.openxmlformats.org/drawingml/2006/main">
              <a:ext uri="{FF2B5EF4-FFF2-40B4-BE49-F238E27FC236}">
                <a16:creationId xmlns:a16="http://schemas.microsoft.com/office/drawing/2014/main" id="{F6CEC5D9-D1EB-4C42-9923-5F70C50C3D82}"/>
              </a:ext>
            </a:extLst>
          </p:cNvPr>
          <p:cNvSpPr>
            <a:spLocks xmlns:a="http://schemas.openxmlformats.org/drawingml/2006/main" noGrp="1"/>
          </p:cNvSpPr>
          <p:nvPr/>
        </p:nvSpPr>
        <p:spPr>
          <a:xfrm xmlns:a="http://schemas.openxmlformats.org/drawingml/2006/main">
            <a:off x="3429000" y="4326636"/>
            <a:ext cx="4800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000" b="1">
                <a:solidFill>
                  <a:srgbClr val="000000"/>
                </a:solidFill>
              </a:rPr>
              <a:t>Phases</a:t>
            </a:r>
          </a:p>
        </p:txBody>
      </p:sp>
      <p:sp>
        <p:nvSpPr>
          <p:cNvPr id="30" name="Legend Swatch 1">
            <a:extLst xmlns:a="http://schemas.openxmlformats.org/drawingml/2006/main">
              <a:ext uri="{FF2B5EF4-FFF2-40B4-BE49-F238E27FC236}">
                <a16:creationId xmlns:a16="http://schemas.microsoft.com/office/drawing/2014/main" id="{3877282D-1049-43D1-BE36-BDDE3A36D90C}"/>
              </a:ext>
            </a:extLst>
          </p:cNvPr>
          <p:cNvSpPr>
            <a:spLocks xmlns:a="http://schemas.openxmlformats.org/drawingml/2006/main" noGrp="1"/>
          </p:cNvSpPr>
          <p:nvPr/>
        </p:nvSpPr>
        <p:spPr>
          <a:xfrm xmlns:a="http://schemas.openxmlformats.org/drawingml/2006/main">
            <a:off x="3429000" y="4546092"/>
            <a:ext cx="320040" cy="164592"/>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endParaRPr/>
          </a:p>
        </p:txBody>
      </p:sp>
      <p:sp>
        <p:nvSpPr>
          <p:cNvPr id="31" name="Legend Label 1">
            <a:extLst xmlns:a="http://schemas.openxmlformats.org/drawingml/2006/main">
              <a:ext uri="{FF2B5EF4-FFF2-40B4-BE49-F238E27FC236}">
                <a16:creationId xmlns:a16="http://schemas.microsoft.com/office/drawing/2014/main" id="{C6B76F43-EFF6-45FB-AF24-C1872E154869}"/>
              </a:ext>
            </a:extLst>
          </p:cNvPr>
          <p:cNvSpPr>
            <a:spLocks xmlns:a="http://schemas.openxmlformats.org/drawingml/2006/main" noGrp="1"/>
          </p:cNvSpPr>
          <p:nvPr/>
        </p:nvSpPr>
        <p:spPr>
          <a:xfrm xmlns:a="http://schemas.openxmlformats.org/drawingml/2006/main">
            <a:off x="3840480" y="4527804"/>
            <a:ext cx="48920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000">
                <a:solidFill>
                  <a:srgbClr val="000000"/>
                </a:solidFill>
              </a:rPr>
              <a:t>Steps 1–5: pilot and collection readiness</a:t>
            </a:r>
          </a:p>
        </p:txBody>
      </p:sp>
      <p:sp>
        <p:nvSpPr>
          <p:cNvPr id="32" name="Legend Swatch 2">
            <a:extLst xmlns:a="http://schemas.openxmlformats.org/drawingml/2006/main">
              <a:ext uri="{FF2B5EF4-FFF2-40B4-BE49-F238E27FC236}">
                <a16:creationId xmlns:a16="http://schemas.microsoft.com/office/drawing/2014/main" id="{8901E2AD-33FD-4118-8587-7F96550C2C8A}"/>
              </a:ext>
            </a:extLst>
          </p:cNvPr>
          <p:cNvSpPr>
            <a:spLocks xmlns:a="http://schemas.openxmlformats.org/drawingml/2006/main" noGrp="1"/>
          </p:cNvSpPr>
          <p:nvPr/>
        </p:nvSpPr>
        <p:spPr>
          <a:xfrm xmlns:a="http://schemas.openxmlformats.org/drawingml/2006/main">
            <a:off x="3429000" y="4829556"/>
            <a:ext cx="320040" cy="164592"/>
          </a:xfrm>
          <a:prstGeom xmlns:a="http://schemas.openxmlformats.org/drawingml/2006/main" prst="rect">
            <a:avLst/>
          </a:prstGeom>
          <a:solidFill xmlns:a="http://schemas.openxmlformats.org/drawingml/2006/main">
            <a:srgbClr val="E5E0EC"/>
          </a:solidFill>
          <a:ln xmlns:a="http://schemas.openxmlformats.org/drawingml/2006/main" w="12700">
            <a:solidFill>
              <a:srgbClr val="8064A2"/>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endParaRPr/>
          </a:p>
        </p:txBody>
      </p:sp>
      <p:sp>
        <p:nvSpPr>
          <p:cNvPr id="33" name="Legend Label 2">
            <a:extLst xmlns:a="http://schemas.openxmlformats.org/drawingml/2006/main">
              <a:ext uri="{FF2B5EF4-FFF2-40B4-BE49-F238E27FC236}">
                <a16:creationId xmlns:a16="http://schemas.microsoft.com/office/drawing/2014/main" id="{E7FED01E-928E-4EF7-9F00-5B34ECCF8DF8}"/>
              </a:ext>
            </a:extLst>
          </p:cNvPr>
          <p:cNvSpPr>
            <a:spLocks xmlns:a="http://schemas.openxmlformats.org/drawingml/2006/main" noGrp="1"/>
          </p:cNvSpPr>
          <p:nvPr/>
        </p:nvSpPr>
        <p:spPr>
          <a:xfrm xmlns:a="http://schemas.openxmlformats.org/drawingml/2006/main">
            <a:off x="3840480" y="4811268"/>
            <a:ext cx="48920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000">
                <a:solidFill>
                  <a:srgbClr val="000000"/>
                </a:solidFill>
              </a:rPr>
              <a:t>Steps 6–9: features, grouped modeling and evaluation</a:t>
            </a:r>
          </a:p>
        </p:txBody>
      </p:sp>
      <p:sp>
        <p:nvSpPr>
          <p:cNvPr id="34" name="Legend Swatch 3">
            <a:extLst xmlns:a="http://schemas.openxmlformats.org/drawingml/2006/main">
              <a:ext uri="{FF2B5EF4-FFF2-40B4-BE49-F238E27FC236}">
                <a16:creationId xmlns:a16="http://schemas.microsoft.com/office/drawing/2014/main" id="{5C59B5FC-CAD4-46A0-BF2E-156456A3EE96}"/>
              </a:ext>
            </a:extLst>
          </p:cNvPr>
          <p:cNvSpPr>
            <a:spLocks xmlns:a="http://schemas.openxmlformats.org/drawingml/2006/main" noGrp="1"/>
          </p:cNvSpPr>
          <p:nvPr/>
        </p:nvSpPr>
        <p:spPr>
          <a:xfrm xmlns:a="http://schemas.openxmlformats.org/drawingml/2006/main">
            <a:off x="3429000" y="5113020"/>
            <a:ext cx="320040" cy="164592"/>
          </a:xfrm>
          <a:prstGeom xmlns:a="http://schemas.openxmlformats.org/drawingml/2006/main" prst="rect">
            <a:avLst/>
          </a:prstGeom>
          <a:solidFill xmlns:a="http://schemas.openxmlformats.org/drawingml/2006/main">
            <a:srgbClr val="F2F2F2"/>
          </a:solidFill>
          <a:ln xmlns:a="http://schemas.openxmlformats.org/drawingml/2006/main" w="12700">
            <a:solidFill>
              <a:srgbClr val="7F7F7F"/>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endParaRPr/>
          </a:p>
        </p:txBody>
      </p:sp>
      <p:sp>
        <p:nvSpPr>
          <p:cNvPr id="35" name="Legend Label 3">
            <a:extLst xmlns:a="http://schemas.openxmlformats.org/drawingml/2006/main">
              <a:ext uri="{FF2B5EF4-FFF2-40B4-BE49-F238E27FC236}">
                <a16:creationId xmlns:a16="http://schemas.microsoft.com/office/drawing/2014/main" id="{B61E0DFB-D933-4726-BF64-74A935894E4B}"/>
              </a:ext>
            </a:extLst>
          </p:cNvPr>
          <p:cNvSpPr>
            <a:spLocks xmlns:a="http://schemas.openxmlformats.org/drawingml/2006/main" noGrp="1"/>
          </p:cNvSpPr>
          <p:nvPr/>
        </p:nvSpPr>
        <p:spPr>
          <a:xfrm xmlns:a="http://schemas.openxmlformats.org/drawingml/2006/main">
            <a:off x="3840480" y="5094732"/>
            <a:ext cx="48920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000">
                <a:solidFill>
                  <a:srgbClr val="000000"/>
                </a:solidFill>
              </a:rPr>
              <a:t>Step 10: evidence, review and defense</a:t>
            </a:r>
          </a:p>
        </p:txBody>
      </p:sp>
    </p:spTree>
    <p:extLst>
      <p:ext uri="{BB962C8B-B14F-4D97-AF65-F5344CB8AC3E}">
        <p14:creationId xmlns:p14="http://schemas.microsoft.com/office/powerpoint/2010/main" val="161658567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698D7EEF-3ECC-4AC2-B0D3-BAC0CE5810F3}"/>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Methodology Steps – Second Level</a:t>
            </a:r>
          </a:p>
        </p:txBody>
      </p:sp>
      <p:sp>
        <p:nvSpPr>
          <p:cNvPr id="4" name="Rectangle 3">
            <a:extLst xmlns:a="http://schemas.openxmlformats.org/drawingml/2006/main">
              <a:ext uri="{FF2B5EF4-FFF2-40B4-BE49-F238E27FC236}">
                <a16:creationId xmlns:a16="http://schemas.microsoft.com/office/drawing/2014/main" id="{72539AB0-45C4-4D50-84B0-9C41C4BF5E36}"/>
              </a:ext>
            </a:extLst>
          </p:cNvPr>
          <p:cNvSpPr>
            <a:spLocks xmlns:a="http://schemas.openxmlformats.org/drawingml/2006/main" noGrp="1"/>
          </p:cNvSpPr>
          <p:nvPr/>
        </p:nvSpPr>
        <p:spPr>
          <a:xfrm xmlns:a="http://schemas.openxmlformats.org/drawingml/2006/main">
            <a:off x="182880" y="1325880"/>
            <a:ext cx="2468880" cy="155448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200" b="1">
                <a:solidFill>
                  <a:srgbClr val="000000"/>
                </a:solidFill>
              </a:rPr>
              <a:t>1. Prepare GOAD for the pilot</a:t>
            </a:r>
          </a:p>
          <a:p xmlns:a="http://schemas.openxmlformats.org/drawingml/2006/main">
            <a:pPr algn="l">
              <a:buNone/>
            </a:pPr>
            <a:r>
              <a:rPr sz="1100" b="0">
                <a:solidFill>
                  <a:srgbClr val="000000"/>
                </a:solidFill>
              </a:rPr>
              <a:t>Selected preliminary case. Deployment and capture remain to be verified.</a:t>
            </a:r>
          </a:p>
        </p:txBody>
      </p:sp>
      <p:sp>
        <p:nvSpPr>
          <p:cNvPr id="5" name="Connector 4">
            <a:extLst xmlns:a="http://schemas.openxmlformats.org/drawingml/2006/main">
              <a:ext uri="{FF2B5EF4-FFF2-40B4-BE49-F238E27FC236}">
                <a16:creationId xmlns:a16="http://schemas.microsoft.com/office/drawing/2014/main" id="{E1353B5C-9673-4902-9F1E-64094515C1C0}"/>
              </a:ext>
            </a:extLst>
          </p:cNvPr>
          <p:cNvSpPr>
            <a:spLocks xmlns:a="http://schemas.openxmlformats.org/drawingml/2006/main" noGrp="1"/>
          </p:cNvSpPr>
          <p:nvPr/>
        </p:nvSpPr>
        <p:spPr>
          <a:xfrm xmlns:a="http://schemas.openxmlformats.org/drawingml/2006/main">
            <a:off x="2651760" y="2103120"/>
            <a:ext cx="50292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920909A9-0F34-4B6B-9359-7512DE76B130}"/>
              </a:ext>
            </a:extLst>
          </p:cNvPr>
          <p:cNvSpPr>
            <a:spLocks xmlns:a="http://schemas.openxmlformats.org/drawingml/2006/main" noGrp="1"/>
          </p:cNvSpPr>
          <p:nvPr/>
        </p:nvSpPr>
        <p:spPr>
          <a:xfrm xmlns:a="http://schemas.openxmlformats.org/drawingml/2006/main">
            <a:off x="3154680" y="1645920"/>
            <a:ext cx="0" cy="26517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28D93F3F-1499-439E-9B49-01B847931102}"/>
              </a:ext>
            </a:extLst>
          </p:cNvPr>
          <p:cNvSpPr>
            <a:spLocks xmlns:a="http://schemas.openxmlformats.org/drawingml/2006/main" noGrp="1"/>
          </p:cNvSpPr>
          <p:nvPr/>
        </p:nvSpPr>
        <p:spPr>
          <a:xfrm xmlns:a="http://schemas.openxmlformats.org/drawingml/2006/main">
            <a:off x="3566160" y="118872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1.1 Pin the AWS range</a:t>
            </a:r>
          </a:p>
          <a:p xmlns:a="http://schemas.openxmlformats.org/drawingml/2006/main">
            <a:pPr algn="l">
              <a:buNone/>
            </a:pPr>
            <a:r>
              <a:rPr sz="1000" b="0">
                <a:solidFill>
                  <a:srgbClr val="000000"/>
                </a:solidFill>
              </a:rPr>
              <a:t>Record GOAD commit, infrastructure configuration, images, target inventory and approved access route.</a:t>
            </a:r>
          </a:p>
        </p:txBody>
      </p:sp>
      <p:sp>
        <p:nvSpPr>
          <p:cNvPr id="8" name="Connector 7">
            <a:extLst xmlns:a="http://schemas.openxmlformats.org/drawingml/2006/main">
              <a:ext uri="{FF2B5EF4-FFF2-40B4-BE49-F238E27FC236}">
                <a16:creationId xmlns:a16="http://schemas.microsoft.com/office/drawing/2014/main" id="{B9F03EE7-E9F3-4FFB-A08A-1D32C91DEFF7}"/>
              </a:ext>
            </a:extLst>
          </p:cNvPr>
          <p:cNvSpPr>
            <a:spLocks xmlns:a="http://schemas.openxmlformats.org/drawingml/2006/main" noGrp="1"/>
          </p:cNvSpPr>
          <p:nvPr/>
        </p:nvSpPr>
        <p:spPr>
          <a:xfrm xmlns:a="http://schemas.openxmlformats.org/drawingml/2006/main">
            <a:off x="3154680" y="164592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A4BA95A7-7889-4F7B-85B5-E0AA1581DEC4}"/>
              </a:ext>
            </a:extLst>
          </p:cNvPr>
          <p:cNvSpPr>
            <a:spLocks xmlns:a="http://schemas.openxmlformats.org/drawingml/2006/main" noGrp="1"/>
          </p:cNvSpPr>
          <p:nvPr/>
        </p:nvSpPr>
        <p:spPr>
          <a:xfrm xmlns:a="http://schemas.openxmlformats.org/drawingml/2006/main">
            <a:off x="8183879" y="1371600"/>
            <a:ext cx="274320" cy="274320"/>
          </a:xfrm>
          <a:prstGeom xmlns:a="http://schemas.openxmlformats.org/drawingml/2006/main" prst="ellipse">
            <a:avLst/>
          </a:prstGeom>
          <a:solidFill xmlns:a="http://schemas.openxmlformats.org/drawingml/2006/main">
            <a:srgbClr val="FFFFFF"/>
          </a:solidFill>
          <a:ln xmlns:a="http://schemas.openxmlformats.org/drawingml/2006/main" w="9525">
            <a:solidFill>
              <a:srgbClr val="88888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5D7A68B-07DF-4FCF-B2B8-9712485EE9C4}"/>
              </a:ext>
            </a:extLst>
          </p:cNvPr>
          <p:cNvSpPr>
            <a:spLocks xmlns:a="http://schemas.openxmlformats.org/drawingml/2006/main" noGrp="1"/>
          </p:cNvSpPr>
          <p:nvPr/>
        </p:nvSpPr>
        <p:spPr>
          <a:xfrm xmlns:a="http://schemas.openxmlformats.org/drawingml/2006/main">
            <a:off x="7909559" y="166420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1" name="Rounded Rectangle 10">
            <a:extLst xmlns:a="http://schemas.openxmlformats.org/drawingml/2006/main">
              <a:ext uri="{FF2B5EF4-FFF2-40B4-BE49-F238E27FC236}">
                <a16:creationId xmlns:a16="http://schemas.microsoft.com/office/drawing/2014/main" id="{DC507973-DB2E-413C-A553-C83CC39C5755}"/>
              </a:ext>
            </a:extLst>
          </p:cNvPr>
          <p:cNvSpPr>
            <a:spLocks xmlns:a="http://schemas.openxmlformats.org/drawingml/2006/main" noGrp="1"/>
          </p:cNvSpPr>
          <p:nvPr/>
        </p:nvSpPr>
        <p:spPr>
          <a:xfrm xmlns:a="http://schemas.openxmlformats.org/drawingml/2006/main">
            <a:off x="3566160" y="251460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1.2 Validate host capture</a:t>
            </a:r>
          </a:p>
          <a:p xmlns:a="http://schemas.openxmlformats.org/drawingml/2006/main">
            <a:pPr algn="l">
              <a:buNone/>
            </a:pPr>
            <a:r>
              <a:rPr sz="1000" b="0">
                <a:solidFill>
                  <a:srgbClr val="000000"/>
                </a:solidFill>
              </a:rPr>
              <a:t>Collect process/command and authentication events consistently on targets. Exercise canaries and resets.</a:t>
            </a:r>
          </a:p>
        </p:txBody>
      </p:sp>
      <p:sp>
        <p:nvSpPr>
          <p:cNvPr id="12" name="Connector 11">
            <a:extLst xmlns:a="http://schemas.openxmlformats.org/drawingml/2006/main">
              <a:ext uri="{FF2B5EF4-FFF2-40B4-BE49-F238E27FC236}">
                <a16:creationId xmlns:a16="http://schemas.microsoft.com/office/drawing/2014/main" id="{C840B8B7-1219-4E5C-BF0B-E3C321FCB14F}"/>
              </a:ext>
            </a:extLst>
          </p:cNvPr>
          <p:cNvSpPr>
            <a:spLocks xmlns:a="http://schemas.openxmlformats.org/drawingml/2006/main" noGrp="1"/>
          </p:cNvSpPr>
          <p:nvPr/>
        </p:nvSpPr>
        <p:spPr>
          <a:xfrm xmlns:a="http://schemas.openxmlformats.org/drawingml/2006/main">
            <a:off x="3154680" y="297180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Oval 12">
            <a:extLst xmlns:a="http://schemas.openxmlformats.org/drawingml/2006/main">
              <a:ext uri="{FF2B5EF4-FFF2-40B4-BE49-F238E27FC236}">
                <a16:creationId xmlns:a16="http://schemas.microsoft.com/office/drawing/2014/main" id="{A32B5072-C477-40CB-85AA-FD36FA97B5C8}"/>
              </a:ext>
            </a:extLst>
          </p:cNvPr>
          <p:cNvSpPr>
            <a:spLocks xmlns:a="http://schemas.openxmlformats.org/drawingml/2006/main" noGrp="1"/>
          </p:cNvSpPr>
          <p:nvPr/>
        </p:nvSpPr>
        <p:spPr>
          <a:xfrm xmlns:a="http://schemas.openxmlformats.org/drawingml/2006/main">
            <a:off x="8183879" y="2697480"/>
            <a:ext cx="274320" cy="274320"/>
          </a:xfrm>
          <a:prstGeom xmlns:a="http://schemas.openxmlformats.org/drawingml/2006/main" prst="ellipse">
            <a:avLst/>
          </a:prstGeom>
          <a:solidFill xmlns:a="http://schemas.openxmlformats.org/drawingml/2006/main">
            <a:srgbClr val="FFFFFF"/>
          </a:solidFill>
          <a:ln xmlns:a="http://schemas.openxmlformats.org/drawingml/2006/main" w="9525">
            <a:solidFill>
              <a:srgbClr val="88888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A1494F64-E0D0-4DFC-9E1A-3B18C59B8A79}"/>
              </a:ext>
            </a:extLst>
          </p:cNvPr>
          <p:cNvSpPr>
            <a:spLocks xmlns:a="http://schemas.openxmlformats.org/drawingml/2006/main" noGrp="1"/>
          </p:cNvSpPr>
          <p:nvPr/>
        </p:nvSpPr>
        <p:spPr>
          <a:xfrm xmlns:a="http://schemas.openxmlformats.org/drawingml/2006/main">
            <a:off x="7909559" y="299008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5" name="Rounded Rectangle 14">
            <a:extLst xmlns:a="http://schemas.openxmlformats.org/drawingml/2006/main">
              <a:ext uri="{FF2B5EF4-FFF2-40B4-BE49-F238E27FC236}">
                <a16:creationId xmlns:a16="http://schemas.microsoft.com/office/drawing/2014/main" id="{A67A0849-A43D-47CA-9C36-C8CB044F1FB0}"/>
              </a:ext>
            </a:extLst>
          </p:cNvPr>
          <p:cNvSpPr>
            <a:spLocks xmlns:a="http://schemas.openxmlformats.org/drawingml/2006/main" noGrp="1"/>
          </p:cNvSpPr>
          <p:nvPr/>
        </p:nvSpPr>
        <p:spPr>
          <a:xfrm xmlns:a="http://schemas.openxmlformats.org/drawingml/2006/main">
            <a:off x="3566160" y="384048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1.3 Validate network capture</a:t>
            </a:r>
          </a:p>
          <a:p xmlns:a="http://schemas.openxmlformats.org/drawingml/2006/main">
            <a:pPr algn="l">
              <a:buNone/>
            </a:pPr>
            <a:r>
              <a:rPr sz="1000" b="0">
                <a:solidFill>
                  <a:srgbClr val="000000"/>
                </a:solidFill>
              </a:rPr>
              <a:t>Test supported mirroring, protocol visibility, clock alignment and loss accounting. Measure pilot cost.</a:t>
            </a:r>
          </a:p>
        </p:txBody>
      </p:sp>
      <p:sp>
        <p:nvSpPr>
          <p:cNvPr id="16" name="Connector 15">
            <a:extLst xmlns:a="http://schemas.openxmlformats.org/drawingml/2006/main">
              <a:ext uri="{FF2B5EF4-FFF2-40B4-BE49-F238E27FC236}">
                <a16:creationId xmlns:a16="http://schemas.microsoft.com/office/drawing/2014/main" id="{0A8E5496-5990-4552-B0C3-531127B63466}"/>
              </a:ext>
            </a:extLst>
          </p:cNvPr>
          <p:cNvSpPr>
            <a:spLocks xmlns:a="http://schemas.openxmlformats.org/drawingml/2006/main" noGrp="1"/>
          </p:cNvSpPr>
          <p:nvPr/>
        </p:nvSpPr>
        <p:spPr>
          <a:xfrm xmlns:a="http://schemas.openxmlformats.org/drawingml/2006/main">
            <a:off x="3154680" y="429768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Oval 16">
            <a:extLst xmlns:a="http://schemas.openxmlformats.org/drawingml/2006/main">
              <a:ext uri="{FF2B5EF4-FFF2-40B4-BE49-F238E27FC236}">
                <a16:creationId xmlns:a16="http://schemas.microsoft.com/office/drawing/2014/main" id="{96D38AE4-E60D-4FC3-971D-C1FDF19BA3E4}"/>
              </a:ext>
            </a:extLst>
          </p:cNvPr>
          <p:cNvSpPr>
            <a:spLocks xmlns:a="http://schemas.openxmlformats.org/drawingml/2006/main" noGrp="1"/>
          </p:cNvSpPr>
          <p:nvPr/>
        </p:nvSpPr>
        <p:spPr>
          <a:xfrm xmlns:a="http://schemas.openxmlformats.org/drawingml/2006/main">
            <a:off x="8183879" y="4023360"/>
            <a:ext cx="274320" cy="274320"/>
          </a:xfrm>
          <a:prstGeom xmlns:a="http://schemas.openxmlformats.org/drawingml/2006/main" prst="ellipse">
            <a:avLst/>
          </a:prstGeom>
          <a:solidFill xmlns:a="http://schemas.openxmlformats.org/drawingml/2006/main">
            <a:srgbClr val="FFFFFF"/>
          </a:solidFill>
          <a:ln xmlns:a="http://schemas.openxmlformats.org/drawingml/2006/main" w="9525">
            <a:solidFill>
              <a:srgbClr val="88888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F8BA935F-6524-4372-9282-BE73BAD2CEEA}"/>
              </a:ext>
            </a:extLst>
          </p:cNvPr>
          <p:cNvSpPr>
            <a:spLocks xmlns:a="http://schemas.openxmlformats.org/drawingml/2006/main" noGrp="1"/>
          </p:cNvSpPr>
          <p:nvPr/>
        </p:nvSpPr>
        <p:spPr>
          <a:xfrm xmlns:a="http://schemas.openxmlformats.org/drawingml/2006/main">
            <a:off x="7909559" y="431596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Tree>
    <p:extLst>
      <p:ext uri="{BB962C8B-B14F-4D97-AF65-F5344CB8AC3E}">
        <p14:creationId xmlns:p14="http://schemas.microsoft.com/office/powerpoint/2010/main" val="214558027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5B2C135D-F1AF-47DC-8FB4-86161A2B8E0F}"/>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Methodology Steps – Second Level</a:t>
            </a:r>
          </a:p>
        </p:txBody>
      </p:sp>
      <p:sp>
        <p:nvSpPr>
          <p:cNvPr id="4" name="Rectangle 3">
            <a:extLst xmlns:a="http://schemas.openxmlformats.org/drawingml/2006/main">
              <a:ext uri="{FF2B5EF4-FFF2-40B4-BE49-F238E27FC236}">
                <a16:creationId xmlns:a16="http://schemas.microsoft.com/office/drawing/2014/main" id="{E5F3D4E2-A028-4B27-8BA2-C28BB0E29E66}"/>
              </a:ext>
            </a:extLst>
          </p:cNvPr>
          <p:cNvSpPr>
            <a:spLocks xmlns:a="http://schemas.openxmlformats.org/drawingml/2006/main" noGrp="1"/>
          </p:cNvSpPr>
          <p:nvPr/>
        </p:nvSpPr>
        <p:spPr>
          <a:xfrm xmlns:a="http://schemas.openxmlformats.org/drawingml/2006/main">
            <a:off x="182880" y="1325880"/>
            <a:ext cx="2468880" cy="155448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200" b="1">
                <a:solidFill>
                  <a:srgbClr val="000000"/>
                </a:solidFill>
              </a:rPr>
              <a:t>2. Freeze the pilot protocol</a:t>
            </a:r>
          </a:p>
          <a:p xmlns:a="http://schemas.openxmlformats.org/drawingml/2006/main">
            <a:pPr algn="l">
              <a:buNone/>
            </a:pPr>
            <a:r>
              <a:rPr sz="1100" b="0">
                <a:solidFill>
                  <a:srgbClr val="000000"/>
                </a:solidFill>
              </a:rPr>
              <a:t>Separate feasibility decisions from formal hypothesis decisions.</a:t>
            </a:r>
          </a:p>
        </p:txBody>
      </p:sp>
      <p:sp>
        <p:nvSpPr>
          <p:cNvPr id="5" name="Connector 4">
            <a:extLst xmlns:a="http://schemas.openxmlformats.org/drawingml/2006/main">
              <a:ext uri="{FF2B5EF4-FFF2-40B4-BE49-F238E27FC236}">
                <a16:creationId xmlns:a16="http://schemas.microsoft.com/office/drawing/2014/main" id="{660D2D54-C3F6-4A08-9C06-1DF98A8F5AC7}"/>
              </a:ext>
            </a:extLst>
          </p:cNvPr>
          <p:cNvSpPr>
            <a:spLocks xmlns:a="http://schemas.openxmlformats.org/drawingml/2006/main" noGrp="1"/>
          </p:cNvSpPr>
          <p:nvPr/>
        </p:nvSpPr>
        <p:spPr>
          <a:xfrm xmlns:a="http://schemas.openxmlformats.org/drawingml/2006/main">
            <a:off x="2651760" y="2103120"/>
            <a:ext cx="50292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75EACE63-9BAD-4B57-860E-34A12AE2C8D7}"/>
              </a:ext>
            </a:extLst>
          </p:cNvPr>
          <p:cNvSpPr>
            <a:spLocks xmlns:a="http://schemas.openxmlformats.org/drawingml/2006/main" noGrp="1"/>
          </p:cNvSpPr>
          <p:nvPr/>
        </p:nvSpPr>
        <p:spPr>
          <a:xfrm xmlns:a="http://schemas.openxmlformats.org/drawingml/2006/main">
            <a:off x="3154680" y="1645920"/>
            <a:ext cx="0" cy="26517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5DC30F97-38DD-4BF5-B511-08D4F3139988}"/>
              </a:ext>
            </a:extLst>
          </p:cNvPr>
          <p:cNvSpPr>
            <a:spLocks xmlns:a="http://schemas.openxmlformats.org/drawingml/2006/main" noGrp="1"/>
          </p:cNvSpPr>
          <p:nvPr/>
        </p:nvSpPr>
        <p:spPr>
          <a:xfrm xmlns:a="http://schemas.openxmlformats.org/drawingml/2006/main">
            <a:off x="3566160" y="118872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2.1 Define the common objective</a:t>
            </a:r>
          </a:p>
          <a:p xmlns:a="http://schemas.openxmlformats.org/drawingml/2006/main">
            <a:pPr algn="l">
              <a:buNone/>
            </a:pPr>
            <a:r>
              <a:rPr sz="1000" b="0">
                <a:solidFill>
                  <a:srgbClr val="000000"/>
                </a:solidFill>
              </a:rPr>
              <a:t>Use one authorized staged objective, equivalent access, tools and rules. Record task success separately from operator labels.</a:t>
            </a:r>
          </a:p>
        </p:txBody>
      </p:sp>
      <p:sp>
        <p:nvSpPr>
          <p:cNvPr id="8" name="Connector 7">
            <a:extLst xmlns:a="http://schemas.openxmlformats.org/drawingml/2006/main">
              <a:ext uri="{FF2B5EF4-FFF2-40B4-BE49-F238E27FC236}">
                <a16:creationId xmlns:a16="http://schemas.microsoft.com/office/drawing/2014/main" id="{C5FF3403-A6CA-464B-A637-E1D9B093CD04}"/>
              </a:ext>
            </a:extLst>
          </p:cNvPr>
          <p:cNvSpPr>
            <a:spLocks xmlns:a="http://schemas.openxmlformats.org/drawingml/2006/main" noGrp="1"/>
          </p:cNvSpPr>
          <p:nvPr/>
        </p:nvSpPr>
        <p:spPr>
          <a:xfrm xmlns:a="http://schemas.openxmlformats.org/drawingml/2006/main">
            <a:off x="3154680" y="164592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055F45A2-E91B-4F0D-882D-1F0CCC61724C}"/>
              </a:ext>
            </a:extLst>
          </p:cNvPr>
          <p:cNvSpPr>
            <a:spLocks xmlns:a="http://schemas.openxmlformats.org/drawingml/2006/main" noGrp="1"/>
          </p:cNvSpPr>
          <p:nvPr/>
        </p:nvSpPr>
        <p:spPr>
          <a:xfrm xmlns:a="http://schemas.openxmlformats.org/drawingml/2006/main">
            <a:off x="8183879" y="1371600"/>
            <a:ext cx="274320" cy="274320"/>
          </a:xfrm>
          <a:prstGeom xmlns:a="http://schemas.openxmlformats.org/drawingml/2006/main" prst="ellipse">
            <a:avLst/>
          </a:prstGeom>
          <a:solidFill xmlns:a="http://schemas.openxmlformats.org/drawingml/2006/main">
            <a:srgbClr val="FFFFFF"/>
          </a:solidFill>
          <a:ln xmlns:a="http://schemas.openxmlformats.org/drawingml/2006/main" w="9525">
            <a:solidFill>
              <a:srgbClr val="88888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8DDBFA23-29B5-436E-AB56-AF77E9D15351}"/>
              </a:ext>
            </a:extLst>
          </p:cNvPr>
          <p:cNvSpPr>
            <a:spLocks xmlns:a="http://schemas.openxmlformats.org/drawingml/2006/main" noGrp="1"/>
          </p:cNvSpPr>
          <p:nvPr/>
        </p:nvSpPr>
        <p:spPr>
          <a:xfrm xmlns:a="http://schemas.openxmlformats.org/drawingml/2006/main">
            <a:off x="7909559" y="166420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1" name="Rounded Rectangle 10">
            <a:extLst xmlns:a="http://schemas.openxmlformats.org/drawingml/2006/main">
              <a:ext uri="{FF2B5EF4-FFF2-40B4-BE49-F238E27FC236}">
                <a16:creationId xmlns:a16="http://schemas.microsoft.com/office/drawing/2014/main" id="{207E81EE-EBE2-4EEF-9137-D31E8A3F2898}"/>
              </a:ext>
            </a:extLst>
          </p:cNvPr>
          <p:cNvSpPr>
            <a:spLocks xmlns:a="http://schemas.openxmlformats.org/drawingml/2006/main" noGrp="1"/>
          </p:cNvSpPr>
          <p:nvPr/>
        </p:nvSpPr>
        <p:spPr>
          <a:xfrm xmlns:a="http://schemas.openxmlformats.org/drawingml/2006/main">
            <a:off x="3566160" y="251460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2.2 Set observation rules</a:t>
            </a:r>
          </a:p>
          <a:p xmlns:a="http://schemas.openxmlformats.org/drawingml/2006/main">
            <a:pPr algn="l">
              <a:buNone/>
            </a:pPr>
            <a:r>
              <a:rPr sz="1000" b="0">
                <a:solidFill>
                  <a:srgbClr val="000000"/>
                </a:solidFill>
              </a:rPr>
              <a:t>Use a dry run to choose time limits and stop rules. Counterbalance arm order and avoid day or route cues.</a:t>
            </a:r>
          </a:p>
        </p:txBody>
      </p:sp>
      <p:sp>
        <p:nvSpPr>
          <p:cNvPr id="12" name="Connector 11">
            <a:extLst xmlns:a="http://schemas.openxmlformats.org/drawingml/2006/main">
              <a:ext uri="{FF2B5EF4-FFF2-40B4-BE49-F238E27FC236}">
                <a16:creationId xmlns:a16="http://schemas.microsoft.com/office/drawing/2014/main" id="{FA0CB45E-F622-468A-8CBC-DE3D9FC6308C}"/>
              </a:ext>
            </a:extLst>
          </p:cNvPr>
          <p:cNvSpPr>
            <a:spLocks xmlns:a="http://schemas.openxmlformats.org/drawingml/2006/main" noGrp="1"/>
          </p:cNvSpPr>
          <p:nvPr/>
        </p:nvSpPr>
        <p:spPr>
          <a:xfrm xmlns:a="http://schemas.openxmlformats.org/drawingml/2006/main">
            <a:off x="3154680" y="297180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Oval 12">
            <a:extLst xmlns:a="http://schemas.openxmlformats.org/drawingml/2006/main">
              <a:ext uri="{FF2B5EF4-FFF2-40B4-BE49-F238E27FC236}">
                <a16:creationId xmlns:a16="http://schemas.microsoft.com/office/drawing/2014/main" id="{741FF3B7-450C-441E-8344-6ABB740F05A8}"/>
              </a:ext>
            </a:extLst>
          </p:cNvPr>
          <p:cNvSpPr>
            <a:spLocks xmlns:a="http://schemas.openxmlformats.org/drawingml/2006/main" noGrp="1"/>
          </p:cNvSpPr>
          <p:nvPr/>
        </p:nvSpPr>
        <p:spPr>
          <a:xfrm xmlns:a="http://schemas.openxmlformats.org/drawingml/2006/main">
            <a:off x="8183879" y="2697480"/>
            <a:ext cx="274320" cy="274320"/>
          </a:xfrm>
          <a:prstGeom xmlns:a="http://schemas.openxmlformats.org/drawingml/2006/main" prst="ellipse">
            <a:avLst/>
          </a:prstGeom>
          <a:solidFill xmlns:a="http://schemas.openxmlformats.org/drawingml/2006/main">
            <a:srgbClr val="FFFFFF"/>
          </a:solidFill>
          <a:ln xmlns:a="http://schemas.openxmlformats.org/drawingml/2006/main" w="9525">
            <a:solidFill>
              <a:srgbClr val="88888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9DE56C5A-0EF2-4245-B334-BA6EC989F2BA}"/>
              </a:ext>
            </a:extLst>
          </p:cNvPr>
          <p:cNvSpPr>
            <a:spLocks xmlns:a="http://schemas.openxmlformats.org/drawingml/2006/main" noGrp="1"/>
          </p:cNvSpPr>
          <p:nvPr/>
        </p:nvSpPr>
        <p:spPr>
          <a:xfrm xmlns:a="http://schemas.openxmlformats.org/drawingml/2006/main">
            <a:off x="7909559" y="299008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5" name="Rounded Rectangle 14">
            <a:extLst xmlns:a="http://schemas.openxmlformats.org/drawingml/2006/main">
              <a:ext uri="{FF2B5EF4-FFF2-40B4-BE49-F238E27FC236}">
                <a16:creationId xmlns:a16="http://schemas.microsoft.com/office/drawing/2014/main" id="{C8415A05-3101-4803-9D09-431C6FDA5B9A}"/>
              </a:ext>
            </a:extLst>
          </p:cNvPr>
          <p:cNvSpPr>
            <a:spLocks xmlns:a="http://schemas.openxmlformats.org/drawingml/2006/main" noGrp="1"/>
          </p:cNvSpPr>
          <p:nvPr/>
        </p:nvSpPr>
        <p:spPr>
          <a:xfrm xmlns:a="http://schemas.openxmlformats.org/drawingml/2006/main">
            <a:off x="3566160" y="384048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2.3 Define progression criteria</a:t>
            </a:r>
          </a:p>
          <a:p xmlns:a="http://schemas.openxmlformats.org/drawingml/2006/main">
            <a:pPr algn="l">
              <a:buNone/>
            </a:pPr>
            <a:r>
              <a:rPr sz="1000" b="0">
                <a:solidFill>
                  <a:srgbClr val="000000"/>
                </a:solidFill>
              </a:rPr>
              <a:t>Require auditable capture and labels, feasible independent groups and a bounded cost estimate. Freeze formal splits and tests before scored collection.</a:t>
            </a:r>
          </a:p>
        </p:txBody>
      </p:sp>
      <p:sp>
        <p:nvSpPr>
          <p:cNvPr id="16" name="Connector 15">
            <a:extLst xmlns:a="http://schemas.openxmlformats.org/drawingml/2006/main">
              <a:ext uri="{FF2B5EF4-FFF2-40B4-BE49-F238E27FC236}">
                <a16:creationId xmlns:a16="http://schemas.microsoft.com/office/drawing/2014/main" id="{C485847A-9A42-4A42-8038-EB66CE321203}"/>
              </a:ext>
            </a:extLst>
          </p:cNvPr>
          <p:cNvSpPr>
            <a:spLocks xmlns:a="http://schemas.openxmlformats.org/drawingml/2006/main" noGrp="1"/>
          </p:cNvSpPr>
          <p:nvPr/>
        </p:nvSpPr>
        <p:spPr>
          <a:xfrm xmlns:a="http://schemas.openxmlformats.org/drawingml/2006/main">
            <a:off x="3154680" y="429768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Oval 16">
            <a:extLst xmlns:a="http://schemas.openxmlformats.org/drawingml/2006/main">
              <a:ext uri="{FF2B5EF4-FFF2-40B4-BE49-F238E27FC236}">
                <a16:creationId xmlns:a16="http://schemas.microsoft.com/office/drawing/2014/main" id="{FBAC0969-069E-49A7-9515-7F8AACC7412A}"/>
              </a:ext>
            </a:extLst>
          </p:cNvPr>
          <p:cNvSpPr>
            <a:spLocks xmlns:a="http://schemas.openxmlformats.org/drawingml/2006/main" noGrp="1"/>
          </p:cNvSpPr>
          <p:nvPr/>
        </p:nvSpPr>
        <p:spPr>
          <a:xfrm xmlns:a="http://schemas.openxmlformats.org/drawingml/2006/main">
            <a:off x="8183879" y="4023360"/>
            <a:ext cx="274320" cy="274320"/>
          </a:xfrm>
          <a:prstGeom xmlns:a="http://schemas.openxmlformats.org/drawingml/2006/main" prst="ellipse">
            <a:avLst/>
          </a:prstGeom>
          <a:solidFill xmlns:a="http://schemas.openxmlformats.org/drawingml/2006/main">
            <a:srgbClr val="FFFFFF"/>
          </a:solidFill>
          <a:ln xmlns:a="http://schemas.openxmlformats.org/drawingml/2006/main" w="9525">
            <a:solidFill>
              <a:srgbClr val="88888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7E3119C-4913-4C58-8E49-9721A6B28EB9}"/>
              </a:ext>
            </a:extLst>
          </p:cNvPr>
          <p:cNvSpPr>
            <a:spLocks xmlns:a="http://schemas.openxmlformats.org/drawingml/2006/main" noGrp="1"/>
          </p:cNvSpPr>
          <p:nvPr/>
        </p:nvSpPr>
        <p:spPr>
          <a:xfrm xmlns:a="http://schemas.openxmlformats.org/drawingml/2006/main">
            <a:off x="7909559" y="431596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Tree>
    <p:extLst>
      <p:ext uri="{BB962C8B-B14F-4D97-AF65-F5344CB8AC3E}">
        <p14:creationId xmlns:p14="http://schemas.microsoft.com/office/powerpoint/2010/main" val="6969503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7979721E-99BC-4138-A49B-8DCAB3ED1F56}"/>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Methodology Steps – Second Level</a:t>
            </a:r>
          </a:p>
        </p:txBody>
      </p:sp>
      <p:sp>
        <p:nvSpPr>
          <p:cNvPr id="4" name="Rectangle 3">
            <a:extLst xmlns:a="http://schemas.openxmlformats.org/drawingml/2006/main">
              <a:ext uri="{FF2B5EF4-FFF2-40B4-BE49-F238E27FC236}">
                <a16:creationId xmlns:a16="http://schemas.microsoft.com/office/drawing/2014/main" id="{909D04B5-92B2-4CA8-AC6F-8102E44569CC}"/>
              </a:ext>
            </a:extLst>
          </p:cNvPr>
          <p:cNvSpPr>
            <a:spLocks xmlns:a="http://schemas.openxmlformats.org/drawingml/2006/main" noGrp="1"/>
          </p:cNvSpPr>
          <p:nvPr/>
        </p:nvSpPr>
        <p:spPr>
          <a:xfrm xmlns:a="http://schemas.openxmlformats.org/drawingml/2006/main">
            <a:off x="182880" y="1325880"/>
            <a:ext cx="2468880" cy="155448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200" b="1">
                <a:solidFill>
                  <a:srgbClr val="000000"/>
                </a:solidFill>
              </a:rPr>
              <a:t>3. Prepare humans and ARTEMIS</a:t>
            </a:r>
          </a:p>
          <a:p xmlns:a="http://schemas.openxmlformats.org/drawingml/2006/main">
            <a:pPr algn="l">
              <a:buNone/>
            </a:pPr>
            <a:r>
              <a:rPr sz="1100" b="0">
                <a:solidFill>
                  <a:srgbClr val="000000"/>
                </a:solidFill>
              </a:rPr>
              <a:t>Proposed integration with an external DGX Spark.</a:t>
            </a:r>
          </a:p>
        </p:txBody>
      </p:sp>
      <p:sp>
        <p:nvSpPr>
          <p:cNvPr id="5" name="Connector 4">
            <a:extLst xmlns:a="http://schemas.openxmlformats.org/drawingml/2006/main">
              <a:ext uri="{FF2B5EF4-FFF2-40B4-BE49-F238E27FC236}">
                <a16:creationId xmlns:a16="http://schemas.microsoft.com/office/drawing/2014/main" id="{439A3462-8D15-4C20-A650-D86DDAAB599C}"/>
              </a:ext>
            </a:extLst>
          </p:cNvPr>
          <p:cNvSpPr>
            <a:spLocks xmlns:a="http://schemas.openxmlformats.org/drawingml/2006/main" noGrp="1"/>
          </p:cNvSpPr>
          <p:nvPr/>
        </p:nvSpPr>
        <p:spPr>
          <a:xfrm xmlns:a="http://schemas.openxmlformats.org/drawingml/2006/main">
            <a:off x="2651760" y="2103120"/>
            <a:ext cx="50292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EDF86E7C-1D91-447E-9FCD-D2B64E3A9E1A}"/>
              </a:ext>
            </a:extLst>
          </p:cNvPr>
          <p:cNvSpPr>
            <a:spLocks xmlns:a="http://schemas.openxmlformats.org/drawingml/2006/main" noGrp="1"/>
          </p:cNvSpPr>
          <p:nvPr/>
        </p:nvSpPr>
        <p:spPr>
          <a:xfrm xmlns:a="http://schemas.openxmlformats.org/drawingml/2006/main">
            <a:off x="3154680" y="1645920"/>
            <a:ext cx="0" cy="26517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C52DC676-D6F3-47B4-95A9-88362E89D47E}"/>
              </a:ext>
            </a:extLst>
          </p:cNvPr>
          <p:cNvSpPr>
            <a:spLocks xmlns:a="http://schemas.openxmlformats.org/drawingml/2006/main" noGrp="1"/>
          </p:cNvSpPr>
          <p:nvPr/>
        </p:nvSpPr>
        <p:spPr>
          <a:xfrm xmlns:a="http://schemas.openxmlformats.org/drawingml/2006/main">
            <a:off x="3566160" y="118872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3.1 Prepare human participation</a:t>
            </a:r>
          </a:p>
          <a:p xmlns:a="http://schemas.openxmlformats.org/drawingml/2006/main">
            <a:pPr algn="l">
              <a:buNone/>
            </a:pPr>
            <a:r>
              <a:rPr sz="1000" b="0">
                <a:solidFill>
                  <a:srgbClr val="000000"/>
                </a:solidFill>
              </a:rPr>
              <a:t>Confirm recruitment, consent and institutional requirements. Measure prior exposure and independent operator coverage.</a:t>
            </a:r>
          </a:p>
        </p:txBody>
      </p:sp>
      <p:sp>
        <p:nvSpPr>
          <p:cNvPr id="8" name="Connector 7">
            <a:extLst xmlns:a="http://schemas.openxmlformats.org/drawingml/2006/main">
              <a:ext uri="{FF2B5EF4-FFF2-40B4-BE49-F238E27FC236}">
                <a16:creationId xmlns:a16="http://schemas.microsoft.com/office/drawing/2014/main" id="{560CF5CC-E304-4146-8C19-0383A19AEE7F}"/>
              </a:ext>
            </a:extLst>
          </p:cNvPr>
          <p:cNvSpPr>
            <a:spLocks xmlns:a="http://schemas.openxmlformats.org/drawingml/2006/main" noGrp="1"/>
          </p:cNvSpPr>
          <p:nvPr/>
        </p:nvSpPr>
        <p:spPr>
          <a:xfrm xmlns:a="http://schemas.openxmlformats.org/drawingml/2006/main">
            <a:off x="3154680" y="164592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C76FE860-B51D-4BCA-8CDF-974900680AE2}"/>
              </a:ext>
            </a:extLst>
          </p:cNvPr>
          <p:cNvSpPr>
            <a:spLocks xmlns:a="http://schemas.openxmlformats.org/drawingml/2006/main" noGrp="1"/>
          </p:cNvSpPr>
          <p:nvPr/>
        </p:nvSpPr>
        <p:spPr>
          <a:xfrm xmlns:a="http://schemas.openxmlformats.org/drawingml/2006/main">
            <a:off x="8183879" y="137160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9D63069-9AEA-4E28-BB51-4F6A146CA16D}"/>
              </a:ext>
            </a:extLst>
          </p:cNvPr>
          <p:cNvSpPr>
            <a:spLocks xmlns:a="http://schemas.openxmlformats.org/drawingml/2006/main" noGrp="1"/>
          </p:cNvSpPr>
          <p:nvPr/>
        </p:nvSpPr>
        <p:spPr>
          <a:xfrm xmlns:a="http://schemas.openxmlformats.org/drawingml/2006/main">
            <a:off x="7909559" y="166420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1" name="Rounded Rectangle 10">
            <a:extLst xmlns:a="http://schemas.openxmlformats.org/drawingml/2006/main">
              <a:ext uri="{FF2B5EF4-FFF2-40B4-BE49-F238E27FC236}">
                <a16:creationId xmlns:a16="http://schemas.microsoft.com/office/drawing/2014/main" id="{1A993A55-8168-47B8-BA9C-4AB54E05EF2F}"/>
              </a:ext>
            </a:extLst>
          </p:cNvPr>
          <p:cNvSpPr>
            <a:spLocks xmlns:a="http://schemas.openxmlformats.org/drawingml/2006/main" noGrp="1"/>
          </p:cNvSpPr>
          <p:nvPr/>
        </p:nvSpPr>
        <p:spPr>
          <a:xfrm xmlns:a="http://schemas.openxmlformats.org/drawingml/2006/main">
            <a:off x="3566160" y="251460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3.2 Qualify the local AI integration</a:t>
            </a:r>
          </a:p>
          <a:p xmlns:a="http://schemas.openxmlformats.org/drawingml/2006/main">
            <a:pPr algn="l">
              <a:buNone/>
            </a:pPr>
            <a:r>
              <a:rPr sz="1000" b="0">
                <a:solidFill>
                  <a:srgbClr val="000000"/>
                </a:solidFill>
              </a:rPr>
              <a:t>gemma4-ablit:latest and huihui_ai/qwen2.5-coder-abliterate:32b. Pin model digests, ARTEMIS version, prompts and skills. Compatibility remains to be tested.</a:t>
            </a:r>
          </a:p>
        </p:txBody>
      </p:sp>
      <p:sp>
        <p:nvSpPr>
          <p:cNvPr id="12" name="Connector 11">
            <a:extLst xmlns:a="http://schemas.openxmlformats.org/drawingml/2006/main">
              <a:ext uri="{FF2B5EF4-FFF2-40B4-BE49-F238E27FC236}">
                <a16:creationId xmlns:a16="http://schemas.microsoft.com/office/drawing/2014/main" id="{D01E4422-8B71-4ECA-AF0F-470830D316A8}"/>
              </a:ext>
            </a:extLst>
          </p:cNvPr>
          <p:cNvSpPr>
            <a:spLocks xmlns:a="http://schemas.openxmlformats.org/drawingml/2006/main" noGrp="1"/>
          </p:cNvSpPr>
          <p:nvPr/>
        </p:nvSpPr>
        <p:spPr>
          <a:xfrm xmlns:a="http://schemas.openxmlformats.org/drawingml/2006/main">
            <a:off x="3154680" y="297180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Oval 12">
            <a:extLst xmlns:a="http://schemas.openxmlformats.org/drawingml/2006/main">
              <a:ext uri="{FF2B5EF4-FFF2-40B4-BE49-F238E27FC236}">
                <a16:creationId xmlns:a16="http://schemas.microsoft.com/office/drawing/2014/main" id="{E47C1B1C-A2E6-4B21-895D-8498B4013958}"/>
              </a:ext>
            </a:extLst>
          </p:cNvPr>
          <p:cNvSpPr>
            <a:spLocks xmlns:a="http://schemas.openxmlformats.org/drawingml/2006/main" noGrp="1"/>
          </p:cNvSpPr>
          <p:nvPr/>
        </p:nvSpPr>
        <p:spPr>
          <a:xfrm xmlns:a="http://schemas.openxmlformats.org/drawingml/2006/main">
            <a:off x="8183879" y="269748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5A34757D-EED5-40F9-BD20-C0C98F1D856F}"/>
              </a:ext>
            </a:extLst>
          </p:cNvPr>
          <p:cNvSpPr>
            <a:spLocks xmlns:a="http://schemas.openxmlformats.org/drawingml/2006/main" noGrp="1"/>
          </p:cNvSpPr>
          <p:nvPr/>
        </p:nvSpPr>
        <p:spPr>
          <a:xfrm xmlns:a="http://schemas.openxmlformats.org/drawingml/2006/main">
            <a:off x="7909559" y="299008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5" name="Rounded Rectangle 14">
            <a:extLst xmlns:a="http://schemas.openxmlformats.org/drawingml/2006/main">
              <a:ext uri="{FF2B5EF4-FFF2-40B4-BE49-F238E27FC236}">
                <a16:creationId xmlns:a16="http://schemas.microsoft.com/office/drawing/2014/main" id="{74406D73-89CE-4C4A-BCB4-93CC94DAA226}"/>
              </a:ext>
            </a:extLst>
          </p:cNvPr>
          <p:cNvSpPr>
            <a:spLocks xmlns:a="http://schemas.openxmlformats.org/drawingml/2006/main" noGrp="1"/>
          </p:cNvSpPr>
          <p:nvPr/>
        </p:nvSpPr>
        <p:spPr>
          <a:xfrm xmlns:a="http://schemas.openxmlformats.org/drawingml/2006/main">
            <a:off x="3566160" y="384048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3.3 Match external access</a:t>
            </a:r>
          </a:p>
          <a:p xmlns:a="http://schemas.openxmlformats.org/drawingml/2006/main">
            <a:pPr algn="l">
              <a:buNone/>
            </a:pPr>
            <a:r>
              <a:rPr sz="1000" b="0">
                <a:solidFill>
                  <a:srgbClr val="000000"/>
                </a:solidFill>
              </a:rPr>
              <a:t>Use equivalent permitted routes and target states. Audit IPs, parent/runner artifacts and latency as possible shortcuts.</a:t>
            </a:r>
          </a:p>
        </p:txBody>
      </p:sp>
      <p:sp>
        <p:nvSpPr>
          <p:cNvPr id="16" name="Connector 15">
            <a:extLst xmlns:a="http://schemas.openxmlformats.org/drawingml/2006/main">
              <a:ext uri="{FF2B5EF4-FFF2-40B4-BE49-F238E27FC236}">
                <a16:creationId xmlns:a16="http://schemas.microsoft.com/office/drawing/2014/main" id="{CEA766B5-C00F-4F8F-9541-B229985D7354}"/>
              </a:ext>
            </a:extLst>
          </p:cNvPr>
          <p:cNvSpPr>
            <a:spLocks xmlns:a="http://schemas.openxmlformats.org/drawingml/2006/main" noGrp="1"/>
          </p:cNvSpPr>
          <p:nvPr/>
        </p:nvSpPr>
        <p:spPr>
          <a:xfrm xmlns:a="http://schemas.openxmlformats.org/drawingml/2006/main">
            <a:off x="3154680" y="429768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Oval 16">
            <a:extLst xmlns:a="http://schemas.openxmlformats.org/drawingml/2006/main">
              <a:ext uri="{FF2B5EF4-FFF2-40B4-BE49-F238E27FC236}">
                <a16:creationId xmlns:a16="http://schemas.microsoft.com/office/drawing/2014/main" id="{9D3C36C8-0763-44D3-8DAA-50050A9C5325}"/>
              </a:ext>
            </a:extLst>
          </p:cNvPr>
          <p:cNvSpPr>
            <a:spLocks xmlns:a="http://schemas.openxmlformats.org/drawingml/2006/main" noGrp="1"/>
          </p:cNvSpPr>
          <p:nvPr/>
        </p:nvSpPr>
        <p:spPr>
          <a:xfrm xmlns:a="http://schemas.openxmlformats.org/drawingml/2006/main">
            <a:off x="8183879" y="402336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0E46C9A8-B7BB-4387-9BCE-16885F056EC5}"/>
              </a:ext>
            </a:extLst>
          </p:cNvPr>
          <p:cNvSpPr>
            <a:spLocks xmlns:a="http://schemas.openxmlformats.org/drawingml/2006/main" noGrp="1"/>
          </p:cNvSpPr>
          <p:nvPr/>
        </p:nvSpPr>
        <p:spPr>
          <a:xfrm xmlns:a="http://schemas.openxmlformats.org/drawingml/2006/main">
            <a:off x="7909559" y="431596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Tree>
    <p:extLst>
      <p:ext uri="{BB962C8B-B14F-4D97-AF65-F5344CB8AC3E}">
        <p14:creationId xmlns:p14="http://schemas.microsoft.com/office/powerpoint/2010/main" val="151494739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2C88B723-A710-49B6-86B3-C725517E7790}"/>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Methodology Steps – Second Level</a:t>
            </a:r>
          </a:p>
        </p:txBody>
      </p:sp>
      <p:sp>
        <p:nvSpPr>
          <p:cNvPr id="4" name="Rectangle 3">
            <a:extLst xmlns:a="http://schemas.openxmlformats.org/drawingml/2006/main">
              <a:ext uri="{FF2B5EF4-FFF2-40B4-BE49-F238E27FC236}">
                <a16:creationId xmlns:a16="http://schemas.microsoft.com/office/drawing/2014/main" id="{3A033441-08BD-49B0-958C-D1ADF1FBB271}"/>
              </a:ext>
            </a:extLst>
          </p:cNvPr>
          <p:cNvSpPr>
            <a:spLocks xmlns:a="http://schemas.openxmlformats.org/drawingml/2006/main" noGrp="1"/>
          </p:cNvSpPr>
          <p:nvPr/>
        </p:nvSpPr>
        <p:spPr>
          <a:xfrm xmlns:a="http://schemas.openxmlformats.org/drawingml/2006/main">
            <a:off x="182880" y="1325880"/>
            <a:ext cx="2468880" cy="155448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200" b="1">
                <a:solidFill>
                  <a:srgbClr val="000000"/>
                </a:solidFill>
              </a:rPr>
              <a:t>4. Run preliminary matched trials</a:t>
            </a:r>
          </a:p>
          <a:p xmlns:a="http://schemas.openxmlformats.org/drawingml/2006/main">
            <a:pPr algn="l">
              <a:buNone/>
            </a:pPr>
            <a:r>
              <a:rPr sz="1100" b="0">
                <a:solidFill>
                  <a:srgbClr val="000000"/>
                </a:solidFill>
              </a:rPr>
              <a:t>Use real measured telemetry in a synthetic range scenario.</a:t>
            </a:r>
          </a:p>
        </p:txBody>
      </p:sp>
      <p:sp>
        <p:nvSpPr>
          <p:cNvPr id="5" name="Connector 4">
            <a:extLst xmlns:a="http://schemas.openxmlformats.org/drawingml/2006/main">
              <a:ext uri="{FF2B5EF4-FFF2-40B4-BE49-F238E27FC236}">
                <a16:creationId xmlns:a16="http://schemas.microsoft.com/office/drawing/2014/main" id="{7D74F890-9A0F-4F38-B3A6-129E08BB917E}"/>
              </a:ext>
            </a:extLst>
          </p:cNvPr>
          <p:cNvSpPr>
            <a:spLocks xmlns:a="http://schemas.openxmlformats.org/drawingml/2006/main" noGrp="1"/>
          </p:cNvSpPr>
          <p:nvPr/>
        </p:nvSpPr>
        <p:spPr>
          <a:xfrm xmlns:a="http://schemas.openxmlformats.org/drawingml/2006/main">
            <a:off x="2651760" y="2103120"/>
            <a:ext cx="50292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743634E3-9F12-4444-B077-B78249792B09}"/>
              </a:ext>
            </a:extLst>
          </p:cNvPr>
          <p:cNvSpPr>
            <a:spLocks xmlns:a="http://schemas.openxmlformats.org/drawingml/2006/main" noGrp="1"/>
          </p:cNvSpPr>
          <p:nvPr/>
        </p:nvSpPr>
        <p:spPr>
          <a:xfrm xmlns:a="http://schemas.openxmlformats.org/drawingml/2006/main">
            <a:off x="3154680" y="1645920"/>
            <a:ext cx="0" cy="26517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F8B7FBE2-B2D2-4DCE-95DD-1EB55DE163FD}"/>
              </a:ext>
            </a:extLst>
          </p:cNvPr>
          <p:cNvSpPr>
            <a:spLocks xmlns:a="http://schemas.openxmlformats.org/drawingml/2006/main" noGrp="1"/>
          </p:cNvSpPr>
          <p:nvPr/>
        </p:nvSpPr>
        <p:spPr>
          <a:xfrm xmlns:a="http://schemas.openxmlformats.org/drawingml/2006/main">
            <a:off x="3566160" y="118872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4.1 Reset and audit sensors</a:t>
            </a:r>
          </a:p>
          <a:p xmlns:a="http://schemas.openxmlformats.org/drawingml/2006/main">
            <a:pPr algn="l">
              <a:buNone/>
            </a:pPr>
            <a:r>
              <a:rPr sz="1000" b="0">
                <a:solidFill>
                  <a:srgbClr val="000000"/>
                </a:solidFill>
              </a:rPr>
              <a:t>Capture canaries, clock offsets, loss and hashes. Quality thresholds remain proposed until the pilot validates them.</a:t>
            </a:r>
          </a:p>
        </p:txBody>
      </p:sp>
      <p:sp>
        <p:nvSpPr>
          <p:cNvPr id="8" name="Connector 7">
            <a:extLst xmlns:a="http://schemas.openxmlformats.org/drawingml/2006/main">
              <a:ext uri="{FF2B5EF4-FFF2-40B4-BE49-F238E27FC236}">
                <a16:creationId xmlns:a16="http://schemas.microsoft.com/office/drawing/2014/main" id="{966A581A-DEC6-4FFF-AC77-667C3618BB6F}"/>
              </a:ext>
            </a:extLst>
          </p:cNvPr>
          <p:cNvSpPr>
            <a:spLocks xmlns:a="http://schemas.openxmlformats.org/drawingml/2006/main" noGrp="1"/>
          </p:cNvSpPr>
          <p:nvPr/>
        </p:nvSpPr>
        <p:spPr>
          <a:xfrm xmlns:a="http://schemas.openxmlformats.org/drawingml/2006/main">
            <a:off x="3154680" y="164592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E890B625-0B63-4925-AA0E-34534E21C99E}"/>
              </a:ext>
            </a:extLst>
          </p:cNvPr>
          <p:cNvSpPr>
            <a:spLocks xmlns:a="http://schemas.openxmlformats.org/drawingml/2006/main" noGrp="1"/>
          </p:cNvSpPr>
          <p:nvPr/>
        </p:nvSpPr>
        <p:spPr>
          <a:xfrm xmlns:a="http://schemas.openxmlformats.org/drawingml/2006/main">
            <a:off x="8183879" y="137160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56362A77-842B-491F-A0BD-48B2CA51DED8}"/>
              </a:ext>
            </a:extLst>
          </p:cNvPr>
          <p:cNvSpPr>
            <a:spLocks xmlns:a="http://schemas.openxmlformats.org/drawingml/2006/main" noGrp="1"/>
          </p:cNvSpPr>
          <p:nvPr/>
        </p:nvSpPr>
        <p:spPr>
          <a:xfrm xmlns:a="http://schemas.openxmlformats.org/drawingml/2006/main">
            <a:off x="7909559" y="166420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1" name="Rounded Rectangle 10">
            <a:extLst xmlns:a="http://schemas.openxmlformats.org/drawingml/2006/main">
              <a:ext uri="{FF2B5EF4-FFF2-40B4-BE49-F238E27FC236}">
                <a16:creationId xmlns:a16="http://schemas.microsoft.com/office/drawing/2014/main" id="{7C47E76D-82FD-48AD-B76D-D3F4F4CED750}"/>
              </a:ext>
            </a:extLst>
          </p:cNvPr>
          <p:cNvSpPr>
            <a:spLocks xmlns:a="http://schemas.openxmlformats.org/drawingml/2006/main" noGrp="1"/>
          </p:cNvSpPr>
          <p:nvPr/>
        </p:nvSpPr>
        <p:spPr>
          <a:xfrm xmlns:a="http://schemas.openxmlformats.org/drawingml/2006/main">
            <a:off x="3566160" y="251460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4.2 Balance the arms</a:t>
            </a:r>
          </a:p>
          <a:p xmlns:a="http://schemas.openxmlformats.org/drawingml/2006/main">
            <a:pPr algn="l">
              <a:buNone/>
            </a:pPr>
            <a:r>
              <a:rPr sz="1000" b="0">
                <a:solidFill>
                  <a:srgbClr val="000000"/>
                </a:solidFill>
              </a:rPr>
              <a:t>Run humans and autonomous AI across common tasks. Preserve scripted and benign controls as separate labels.</a:t>
            </a:r>
          </a:p>
        </p:txBody>
      </p:sp>
      <p:sp>
        <p:nvSpPr>
          <p:cNvPr id="12" name="Connector 11">
            <a:extLst xmlns:a="http://schemas.openxmlformats.org/drawingml/2006/main">
              <a:ext uri="{FF2B5EF4-FFF2-40B4-BE49-F238E27FC236}">
                <a16:creationId xmlns:a16="http://schemas.microsoft.com/office/drawing/2014/main" id="{21518820-FFD6-41A8-B6E3-A3F7E2730A82}"/>
              </a:ext>
            </a:extLst>
          </p:cNvPr>
          <p:cNvSpPr>
            <a:spLocks xmlns:a="http://schemas.openxmlformats.org/drawingml/2006/main" noGrp="1"/>
          </p:cNvSpPr>
          <p:nvPr/>
        </p:nvSpPr>
        <p:spPr>
          <a:xfrm xmlns:a="http://schemas.openxmlformats.org/drawingml/2006/main">
            <a:off x="3154680" y="297180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Oval 12">
            <a:extLst xmlns:a="http://schemas.openxmlformats.org/drawingml/2006/main">
              <a:ext uri="{FF2B5EF4-FFF2-40B4-BE49-F238E27FC236}">
                <a16:creationId xmlns:a16="http://schemas.microsoft.com/office/drawing/2014/main" id="{A84E5ACD-1278-42BD-BD0A-601DBBCA02C8}"/>
              </a:ext>
            </a:extLst>
          </p:cNvPr>
          <p:cNvSpPr>
            <a:spLocks xmlns:a="http://schemas.openxmlformats.org/drawingml/2006/main" noGrp="1"/>
          </p:cNvSpPr>
          <p:nvPr/>
        </p:nvSpPr>
        <p:spPr>
          <a:xfrm xmlns:a="http://schemas.openxmlformats.org/drawingml/2006/main">
            <a:off x="8183879" y="269748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BBF2BADB-8B0A-4DCC-9EB5-D43E45275C15}"/>
              </a:ext>
            </a:extLst>
          </p:cNvPr>
          <p:cNvSpPr>
            <a:spLocks xmlns:a="http://schemas.openxmlformats.org/drawingml/2006/main" noGrp="1"/>
          </p:cNvSpPr>
          <p:nvPr/>
        </p:nvSpPr>
        <p:spPr>
          <a:xfrm xmlns:a="http://schemas.openxmlformats.org/drawingml/2006/main">
            <a:off x="7909559" y="299008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5" name="Rounded Rectangle 14">
            <a:extLst xmlns:a="http://schemas.openxmlformats.org/drawingml/2006/main">
              <a:ext uri="{FF2B5EF4-FFF2-40B4-BE49-F238E27FC236}">
                <a16:creationId xmlns:a16="http://schemas.microsoft.com/office/drawing/2014/main" id="{4982500E-A540-4778-80D8-5D8EEBB57451}"/>
              </a:ext>
            </a:extLst>
          </p:cNvPr>
          <p:cNvSpPr>
            <a:spLocks xmlns:a="http://schemas.openxmlformats.org/drawingml/2006/main" noGrp="1"/>
          </p:cNvSpPr>
          <p:nvPr/>
        </p:nvSpPr>
        <p:spPr>
          <a:xfrm xmlns:a="http://schemas.openxmlformats.org/drawingml/2006/main">
            <a:off x="3566160" y="384048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4.3 Record all attempts</a:t>
            </a:r>
          </a:p>
          <a:p xmlns:a="http://schemas.openxmlformats.org/drawingml/2006/main">
            <a:pPr algn="l">
              <a:buNone/>
            </a:pPr>
            <a:r>
              <a:rPr sz="1000" b="0">
                <a:solidFill>
                  <a:srgbClr val="000000"/>
                </a:solidFill>
              </a:rPr>
              <a:t>Log success, failure, aborts and tactical interventions. A tactically assisted run does not qualify as autonomous ground truth.</a:t>
            </a:r>
          </a:p>
        </p:txBody>
      </p:sp>
      <p:sp>
        <p:nvSpPr>
          <p:cNvPr id="16" name="Connector 15">
            <a:extLst xmlns:a="http://schemas.openxmlformats.org/drawingml/2006/main">
              <a:ext uri="{FF2B5EF4-FFF2-40B4-BE49-F238E27FC236}">
                <a16:creationId xmlns:a16="http://schemas.microsoft.com/office/drawing/2014/main" id="{943B9155-1CCD-483E-9CC0-C49C9A013577}"/>
              </a:ext>
            </a:extLst>
          </p:cNvPr>
          <p:cNvSpPr>
            <a:spLocks xmlns:a="http://schemas.openxmlformats.org/drawingml/2006/main" noGrp="1"/>
          </p:cNvSpPr>
          <p:nvPr/>
        </p:nvSpPr>
        <p:spPr>
          <a:xfrm xmlns:a="http://schemas.openxmlformats.org/drawingml/2006/main">
            <a:off x="3154680" y="429768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Oval 16">
            <a:extLst xmlns:a="http://schemas.openxmlformats.org/drawingml/2006/main">
              <a:ext uri="{FF2B5EF4-FFF2-40B4-BE49-F238E27FC236}">
                <a16:creationId xmlns:a16="http://schemas.microsoft.com/office/drawing/2014/main" id="{5224E96D-2428-4702-B17A-C84421807C7D}"/>
              </a:ext>
            </a:extLst>
          </p:cNvPr>
          <p:cNvSpPr>
            <a:spLocks xmlns:a="http://schemas.openxmlformats.org/drawingml/2006/main" noGrp="1"/>
          </p:cNvSpPr>
          <p:nvPr/>
        </p:nvSpPr>
        <p:spPr>
          <a:xfrm xmlns:a="http://schemas.openxmlformats.org/drawingml/2006/main">
            <a:off x="8183879" y="402336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D60019B-E57C-4969-8A56-553C62D30FD2}"/>
              </a:ext>
            </a:extLst>
          </p:cNvPr>
          <p:cNvSpPr>
            <a:spLocks xmlns:a="http://schemas.openxmlformats.org/drawingml/2006/main" noGrp="1"/>
          </p:cNvSpPr>
          <p:nvPr/>
        </p:nvSpPr>
        <p:spPr>
          <a:xfrm xmlns:a="http://schemas.openxmlformats.org/drawingml/2006/main">
            <a:off x="7909559" y="431596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Tree>
    <p:extLst>
      <p:ext uri="{BB962C8B-B14F-4D97-AF65-F5344CB8AC3E}">
        <p14:creationId xmlns:p14="http://schemas.microsoft.com/office/powerpoint/2010/main" val="188711458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07D893BB-7DCC-40E0-B488-EEBEF37EB7A9}"/>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Methodology Steps – Second Level</a:t>
            </a:r>
          </a:p>
        </p:txBody>
      </p:sp>
      <p:sp>
        <p:nvSpPr>
          <p:cNvPr id="4" name="Rectangle 3">
            <a:extLst xmlns:a="http://schemas.openxmlformats.org/drawingml/2006/main">
              <a:ext uri="{FF2B5EF4-FFF2-40B4-BE49-F238E27FC236}">
                <a16:creationId xmlns:a16="http://schemas.microsoft.com/office/drawing/2014/main" id="{A952DA50-20AA-4A4A-B2E8-FBDF885A4120}"/>
              </a:ext>
            </a:extLst>
          </p:cNvPr>
          <p:cNvSpPr>
            <a:spLocks xmlns:a="http://schemas.openxmlformats.org/drawingml/2006/main" noGrp="1"/>
          </p:cNvSpPr>
          <p:nvPr/>
        </p:nvSpPr>
        <p:spPr>
          <a:xfrm xmlns:a="http://schemas.openxmlformats.org/drawingml/2006/main">
            <a:off x="182880" y="1325880"/>
            <a:ext cx="2468880" cy="1554480"/>
          </a:xfrm>
          <a:prstGeom xmlns:a="http://schemas.openxmlformats.org/drawingml/2006/main" prst="rect">
            <a:avLst/>
          </a:prstGeom>
          <a:solidFill xmlns:a="http://schemas.openxmlformats.org/drawingml/2006/main">
            <a:srgbClr val="DAEBF7"/>
          </a:solidFill>
          <a:ln xmlns:a="http://schemas.openxmlformats.org/drawingml/2006/main" w="12700">
            <a:solidFill>
              <a:srgbClr val="4F81BD"/>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200" b="1">
                <a:solidFill>
                  <a:srgbClr val="000000"/>
                </a:solidFill>
              </a:rPr>
              <a:t>5. Decide on full collection</a:t>
            </a:r>
          </a:p>
          <a:p xmlns:a="http://schemas.openxmlformats.org/drawingml/2006/main">
            <a:pPr algn="l">
              <a:buNone/>
            </a:pPr>
            <a:r>
              <a:rPr sz="1100" b="0">
                <a:solidFill>
                  <a:srgbClr val="000000"/>
                </a:solidFill>
              </a:rPr>
              <a:t>A feasible pilot justifies the next collection stage.</a:t>
            </a:r>
          </a:p>
        </p:txBody>
      </p:sp>
      <p:sp>
        <p:nvSpPr>
          <p:cNvPr id="5" name="Connector 4">
            <a:extLst xmlns:a="http://schemas.openxmlformats.org/drawingml/2006/main">
              <a:ext uri="{FF2B5EF4-FFF2-40B4-BE49-F238E27FC236}">
                <a16:creationId xmlns:a16="http://schemas.microsoft.com/office/drawing/2014/main" id="{E967326B-88B3-4390-AF89-20B51F82A1CB}"/>
              </a:ext>
            </a:extLst>
          </p:cNvPr>
          <p:cNvSpPr>
            <a:spLocks xmlns:a="http://schemas.openxmlformats.org/drawingml/2006/main" noGrp="1"/>
          </p:cNvSpPr>
          <p:nvPr/>
        </p:nvSpPr>
        <p:spPr>
          <a:xfrm xmlns:a="http://schemas.openxmlformats.org/drawingml/2006/main">
            <a:off x="2651760" y="2103120"/>
            <a:ext cx="50292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3EBDC486-B4B1-403D-BB7D-341D04962FEF}"/>
              </a:ext>
            </a:extLst>
          </p:cNvPr>
          <p:cNvSpPr>
            <a:spLocks xmlns:a="http://schemas.openxmlformats.org/drawingml/2006/main" noGrp="1"/>
          </p:cNvSpPr>
          <p:nvPr/>
        </p:nvSpPr>
        <p:spPr>
          <a:xfrm xmlns:a="http://schemas.openxmlformats.org/drawingml/2006/main">
            <a:off x="3154680" y="1645920"/>
            <a:ext cx="0" cy="26517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10D0DED6-BDFA-4327-9D11-ED56FCC3E1AD}"/>
              </a:ext>
            </a:extLst>
          </p:cNvPr>
          <p:cNvSpPr>
            <a:spLocks xmlns:a="http://schemas.openxmlformats.org/drawingml/2006/main" noGrp="1"/>
          </p:cNvSpPr>
          <p:nvPr/>
        </p:nvSpPr>
        <p:spPr>
          <a:xfrm xmlns:a="http://schemas.openxmlformats.org/drawingml/2006/main">
            <a:off x="3566160" y="118872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5.1 Audit evidence integrity</a:t>
            </a:r>
          </a:p>
          <a:p xmlns:a="http://schemas.openxmlformats.org/drawingml/2006/main">
            <a:pPr algn="l">
              <a:buNone/>
            </a:pPr>
            <a:r>
              <a:rPr sz="1000" b="0">
                <a:solidFill>
                  <a:srgbClr val="000000"/>
                </a:solidFill>
              </a:rPr>
              <a:t>Verify native records, hashes, trial joins and common sensor coverage. Preserve all excluded attempts with reasons.</a:t>
            </a:r>
          </a:p>
        </p:txBody>
      </p:sp>
      <p:sp>
        <p:nvSpPr>
          <p:cNvPr id="8" name="Connector 7">
            <a:extLst xmlns:a="http://schemas.openxmlformats.org/drawingml/2006/main">
              <a:ext uri="{FF2B5EF4-FFF2-40B4-BE49-F238E27FC236}">
                <a16:creationId xmlns:a16="http://schemas.microsoft.com/office/drawing/2014/main" id="{A9F3BF38-EA36-41BB-8508-54F3D125A6BE}"/>
              </a:ext>
            </a:extLst>
          </p:cNvPr>
          <p:cNvSpPr>
            <a:spLocks xmlns:a="http://schemas.openxmlformats.org/drawingml/2006/main" noGrp="1"/>
          </p:cNvSpPr>
          <p:nvPr/>
        </p:nvSpPr>
        <p:spPr>
          <a:xfrm xmlns:a="http://schemas.openxmlformats.org/drawingml/2006/main">
            <a:off x="3154680" y="164592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8F5AB415-A6B8-4917-B675-79C61D3A08B4}"/>
              </a:ext>
            </a:extLst>
          </p:cNvPr>
          <p:cNvSpPr>
            <a:spLocks xmlns:a="http://schemas.openxmlformats.org/drawingml/2006/main" noGrp="1"/>
          </p:cNvSpPr>
          <p:nvPr/>
        </p:nvSpPr>
        <p:spPr>
          <a:xfrm xmlns:a="http://schemas.openxmlformats.org/drawingml/2006/main">
            <a:off x="8183879" y="137160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C73283A-2079-4479-8170-0BB30CC84EFD}"/>
              </a:ext>
            </a:extLst>
          </p:cNvPr>
          <p:cNvSpPr>
            <a:spLocks xmlns:a="http://schemas.openxmlformats.org/drawingml/2006/main" noGrp="1"/>
          </p:cNvSpPr>
          <p:nvPr/>
        </p:nvSpPr>
        <p:spPr>
          <a:xfrm xmlns:a="http://schemas.openxmlformats.org/drawingml/2006/main">
            <a:off x="7909559" y="166420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1" name="Rounded Rectangle 10">
            <a:extLst xmlns:a="http://schemas.openxmlformats.org/drawingml/2006/main">
              <a:ext uri="{FF2B5EF4-FFF2-40B4-BE49-F238E27FC236}">
                <a16:creationId xmlns:a16="http://schemas.microsoft.com/office/drawing/2014/main" id="{9EC5D8D3-FDEE-475C-B742-0CE29603963D}"/>
              </a:ext>
            </a:extLst>
          </p:cNvPr>
          <p:cNvSpPr>
            <a:spLocks xmlns:a="http://schemas.openxmlformats.org/drawingml/2006/main" noGrp="1"/>
          </p:cNvSpPr>
          <p:nvPr/>
        </p:nvSpPr>
        <p:spPr>
          <a:xfrm xmlns:a="http://schemas.openxmlformats.org/drawingml/2006/main">
            <a:off x="3566160" y="251460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5.2 Check information and sample design</a:t>
            </a:r>
          </a:p>
          <a:p xmlns:a="http://schemas.openxmlformats.org/drawingml/2006/main">
            <a:pPr algn="l">
              <a:buNone/>
            </a:pPr>
            <a:r>
              <a:rPr sz="1000" b="0">
                <a:solidFill>
                  <a:srgbClr val="000000"/>
                </a:solidFill>
              </a:rPr>
              <a:t>Assess source/route shortcuts, missingness, trial dependence and feasible operator/configuration counts.</a:t>
            </a:r>
          </a:p>
        </p:txBody>
      </p:sp>
      <p:sp>
        <p:nvSpPr>
          <p:cNvPr id="12" name="Connector 11">
            <a:extLst xmlns:a="http://schemas.openxmlformats.org/drawingml/2006/main">
              <a:ext uri="{FF2B5EF4-FFF2-40B4-BE49-F238E27FC236}">
                <a16:creationId xmlns:a16="http://schemas.microsoft.com/office/drawing/2014/main" id="{B57206C9-0237-4E5E-80A3-111B44685B52}"/>
              </a:ext>
            </a:extLst>
          </p:cNvPr>
          <p:cNvSpPr>
            <a:spLocks xmlns:a="http://schemas.openxmlformats.org/drawingml/2006/main" noGrp="1"/>
          </p:cNvSpPr>
          <p:nvPr/>
        </p:nvSpPr>
        <p:spPr>
          <a:xfrm xmlns:a="http://schemas.openxmlformats.org/drawingml/2006/main">
            <a:off x="3154680" y="297180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Oval 12">
            <a:extLst xmlns:a="http://schemas.openxmlformats.org/drawingml/2006/main">
              <a:ext uri="{FF2B5EF4-FFF2-40B4-BE49-F238E27FC236}">
                <a16:creationId xmlns:a16="http://schemas.microsoft.com/office/drawing/2014/main" id="{C1A0E759-8A37-46FC-9F4D-1C6D2A2CB20C}"/>
              </a:ext>
            </a:extLst>
          </p:cNvPr>
          <p:cNvSpPr>
            <a:spLocks xmlns:a="http://schemas.openxmlformats.org/drawingml/2006/main" noGrp="1"/>
          </p:cNvSpPr>
          <p:nvPr/>
        </p:nvSpPr>
        <p:spPr>
          <a:xfrm xmlns:a="http://schemas.openxmlformats.org/drawingml/2006/main">
            <a:off x="8183879" y="269748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A91E356D-FEA8-4207-ABB6-69484425AB61}"/>
              </a:ext>
            </a:extLst>
          </p:cNvPr>
          <p:cNvSpPr>
            <a:spLocks xmlns:a="http://schemas.openxmlformats.org/drawingml/2006/main" noGrp="1"/>
          </p:cNvSpPr>
          <p:nvPr/>
        </p:nvSpPr>
        <p:spPr>
          <a:xfrm xmlns:a="http://schemas.openxmlformats.org/drawingml/2006/main">
            <a:off x="7909559" y="299008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5" name="Rounded Rectangle 14">
            <a:extLst xmlns:a="http://schemas.openxmlformats.org/drawingml/2006/main">
              <a:ext uri="{FF2B5EF4-FFF2-40B4-BE49-F238E27FC236}">
                <a16:creationId xmlns:a16="http://schemas.microsoft.com/office/drawing/2014/main" id="{2547DBFC-8EA7-42F3-A679-1223B90CBB7B}"/>
              </a:ext>
            </a:extLst>
          </p:cNvPr>
          <p:cNvSpPr>
            <a:spLocks xmlns:a="http://schemas.openxmlformats.org/drawingml/2006/main" noGrp="1"/>
          </p:cNvSpPr>
          <p:nvPr/>
        </p:nvSpPr>
        <p:spPr>
          <a:xfrm xmlns:a="http://schemas.openxmlformats.org/drawingml/2006/main">
            <a:off x="3566160" y="384048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5.3 Progress, repair or stop</a:t>
            </a:r>
          </a:p>
          <a:p xmlns:a="http://schemas.openxmlformats.org/drawingml/2006/main">
            <a:pPr algn="l">
              <a:buNone/>
            </a:pPr>
            <a:r>
              <a:rPr sz="1000" b="0">
                <a:solidFill>
                  <a:srgbClr val="000000"/>
                </a:solidFill>
              </a:rPr>
              <a:t>Proceed when the design can test the RQs within time and cost. Repair capture or group coverage first when evidence is inadequate. Pilot hypothesis claims remain exploratory.</a:t>
            </a:r>
          </a:p>
        </p:txBody>
      </p:sp>
      <p:sp>
        <p:nvSpPr>
          <p:cNvPr id="16" name="Connector 15">
            <a:extLst xmlns:a="http://schemas.openxmlformats.org/drawingml/2006/main">
              <a:ext uri="{FF2B5EF4-FFF2-40B4-BE49-F238E27FC236}">
                <a16:creationId xmlns:a16="http://schemas.microsoft.com/office/drawing/2014/main" id="{14595925-1EA2-4BA3-ABCB-3E357647AA17}"/>
              </a:ext>
            </a:extLst>
          </p:cNvPr>
          <p:cNvSpPr>
            <a:spLocks xmlns:a="http://schemas.openxmlformats.org/drawingml/2006/main" noGrp="1"/>
          </p:cNvSpPr>
          <p:nvPr/>
        </p:nvSpPr>
        <p:spPr>
          <a:xfrm xmlns:a="http://schemas.openxmlformats.org/drawingml/2006/main">
            <a:off x="3154680" y="429768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Oval 16">
            <a:extLst xmlns:a="http://schemas.openxmlformats.org/drawingml/2006/main">
              <a:ext uri="{FF2B5EF4-FFF2-40B4-BE49-F238E27FC236}">
                <a16:creationId xmlns:a16="http://schemas.microsoft.com/office/drawing/2014/main" id="{20303611-B03D-45E3-B4FA-82EACA217869}"/>
              </a:ext>
            </a:extLst>
          </p:cNvPr>
          <p:cNvSpPr>
            <a:spLocks xmlns:a="http://schemas.openxmlformats.org/drawingml/2006/main" noGrp="1"/>
          </p:cNvSpPr>
          <p:nvPr/>
        </p:nvSpPr>
        <p:spPr>
          <a:xfrm xmlns:a="http://schemas.openxmlformats.org/drawingml/2006/main">
            <a:off x="8183879" y="402336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648E001-2843-46A3-8D45-7FDBC1D852A6}"/>
              </a:ext>
            </a:extLst>
          </p:cNvPr>
          <p:cNvSpPr>
            <a:spLocks xmlns:a="http://schemas.openxmlformats.org/drawingml/2006/main" noGrp="1"/>
          </p:cNvSpPr>
          <p:nvPr/>
        </p:nvSpPr>
        <p:spPr>
          <a:xfrm xmlns:a="http://schemas.openxmlformats.org/drawingml/2006/main">
            <a:off x="7909559" y="431596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Tree>
    <p:extLst>
      <p:ext uri="{BB962C8B-B14F-4D97-AF65-F5344CB8AC3E}">
        <p14:creationId xmlns:p14="http://schemas.microsoft.com/office/powerpoint/2010/main" val="142591308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3A600C3-1E70-4F2A-A6B8-21A3480545FB}"/>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Methodology Steps – Second Level</a:t>
            </a:r>
          </a:p>
        </p:txBody>
      </p:sp>
      <p:sp>
        <p:nvSpPr>
          <p:cNvPr id="4" name="Rectangle 3">
            <a:extLst xmlns:a="http://schemas.openxmlformats.org/drawingml/2006/main">
              <a:ext uri="{FF2B5EF4-FFF2-40B4-BE49-F238E27FC236}">
                <a16:creationId xmlns:a16="http://schemas.microsoft.com/office/drawing/2014/main" id="{D1F51C75-82AB-45B0-9713-6196C64C367E}"/>
              </a:ext>
            </a:extLst>
          </p:cNvPr>
          <p:cNvSpPr>
            <a:spLocks xmlns:a="http://schemas.openxmlformats.org/drawingml/2006/main" noGrp="1"/>
          </p:cNvSpPr>
          <p:nvPr/>
        </p:nvSpPr>
        <p:spPr>
          <a:xfrm xmlns:a="http://schemas.openxmlformats.org/drawingml/2006/main">
            <a:off x="182880" y="1325880"/>
            <a:ext cx="2468880" cy="1554480"/>
          </a:xfrm>
          <a:prstGeom xmlns:a="http://schemas.openxmlformats.org/drawingml/2006/main" prst="rect">
            <a:avLst/>
          </a:prstGeom>
          <a:solidFill xmlns:a="http://schemas.openxmlformats.org/drawingml/2006/main">
            <a:srgbClr val="E5E0EC"/>
          </a:solidFill>
          <a:ln xmlns:a="http://schemas.openxmlformats.org/drawingml/2006/main" w="12700">
            <a:solidFill>
              <a:srgbClr val="8064A2"/>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200" b="1">
                <a:solidFill>
                  <a:srgbClr val="000000"/>
                </a:solidFill>
              </a:rPr>
              <a:t>6. Engineer target-side features</a:t>
            </a:r>
          </a:p>
          <a:p xmlns:a="http://schemas.openxmlformats.org/drawingml/2006/main">
            <a:pPr algn="l">
              <a:buNone/>
            </a:pPr>
            <a:r>
              <a:rPr sz="1100" b="0">
                <a:solidFill>
                  <a:srgbClr val="000000"/>
                </a:solidFill>
              </a:rPr>
              <a:t>RQ1 focuses on diversity and transition entropy.</a:t>
            </a:r>
          </a:p>
        </p:txBody>
      </p:sp>
      <p:sp>
        <p:nvSpPr>
          <p:cNvPr id="5" name="Connector 4">
            <a:extLst xmlns:a="http://schemas.openxmlformats.org/drawingml/2006/main">
              <a:ext uri="{FF2B5EF4-FFF2-40B4-BE49-F238E27FC236}">
                <a16:creationId xmlns:a16="http://schemas.microsoft.com/office/drawing/2014/main" id="{1FA35675-7417-4A34-8A4C-DA5F5DD1534A}"/>
              </a:ext>
            </a:extLst>
          </p:cNvPr>
          <p:cNvSpPr>
            <a:spLocks xmlns:a="http://schemas.openxmlformats.org/drawingml/2006/main" noGrp="1"/>
          </p:cNvSpPr>
          <p:nvPr/>
        </p:nvSpPr>
        <p:spPr>
          <a:xfrm xmlns:a="http://schemas.openxmlformats.org/drawingml/2006/main">
            <a:off x="2651760" y="2103120"/>
            <a:ext cx="50292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500070A0-3D5B-45A2-8634-C49D7ECC8273}"/>
              </a:ext>
            </a:extLst>
          </p:cNvPr>
          <p:cNvSpPr>
            <a:spLocks xmlns:a="http://schemas.openxmlformats.org/drawingml/2006/main" noGrp="1"/>
          </p:cNvSpPr>
          <p:nvPr/>
        </p:nvSpPr>
        <p:spPr>
          <a:xfrm xmlns:a="http://schemas.openxmlformats.org/drawingml/2006/main">
            <a:off x="3154680" y="1645920"/>
            <a:ext cx="0" cy="26517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225D51A0-4FBF-4CC0-9375-33B003311F46}"/>
              </a:ext>
            </a:extLst>
          </p:cNvPr>
          <p:cNvSpPr>
            <a:spLocks xmlns:a="http://schemas.openxmlformats.org/drawingml/2006/main" noGrp="1"/>
          </p:cNvSpPr>
          <p:nvPr/>
        </p:nvSpPr>
        <p:spPr>
          <a:xfrm xmlns:a="http://schemas.openxmlformats.org/drawingml/2006/main">
            <a:off x="3566160" y="118872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6.1 Validate command features</a:t>
            </a:r>
          </a:p>
          <a:p xmlns:a="http://schemas.openxmlformats.org/drawingml/2006/main">
            <a:pPr algn="l">
              <a:buNone/>
            </a:pPr>
            <a:r>
              <a:rPr sz="1000" b="0">
                <a:solidFill>
                  <a:srgbClr val="000000"/>
                </a:solidFill>
              </a:rPr>
              <a:t>Use a frozen normalization vocabulary. Diversity is distinct tokens divided by total tokens. Entropy summarizes adjacent-pair frequencies.</a:t>
            </a:r>
          </a:p>
        </p:txBody>
      </p:sp>
      <p:sp>
        <p:nvSpPr>
          <p:cNvPr id="8" name="Connector 7">
            <a:extLst xmlns:a="http://schemas.openxmlformats.org/drawingml/2006/main">
              <a:ext uri="{FF2B5EF4-FFF2-40B4-BE49-F238E27FC236}">
                <a16:creationId xmlns:a16="http://schemas.microsoft.com/office/drawing/2014/main" id="{0CA9D94C-016C-42CE-9096-7843E7A0B5E2}"/>
              </a:ext>
            </a:extLst>
          </p:cNvPr>
          <p:cNvSpPr>
            <a:spLocks xmlns:a="http://schemas.openxmlformats.org/drawingml/2006/main" noGrp="1"/>
          </p:cNvSpPr>
          <p:nvPr/>
        </p:nvSpPr>
        <p:spPr>
          <a:xfrm xmlns:a="http://schemas.openxmlformats.org/drawingml/2006/main">
            <a:off x="3154680" y="164592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F8DD59D6-09C9-47F0-89C5-2DAACAC838F1}"/>
              </a:ext>
            </a:extLst>
          </p:cNvPr>
          <p:cNvSpPr>
            <a:spLocks xmlns:a="http://schemas.openxmlformats.org/drawingml/2006/main" noGrp="1"/>
          </p:cNvSpPr>
          <p:nvPr/>
        </p:nvSpPr>
        <p:spPr>
          <a:xfrm xmlns:a="http://schemas.openxmlformats.org/drawingml/2006/main">
            <a:off x="8183879" y="137160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93D98121-0A82-4FA0-9660-7826615135A8}"/>
              </a:ext>
            </a:extLst>
          </p:cNvPr>
          <p:cNvSpPr>
            <a:spLocks xmlns:a="http://schemas.openxmlformats.org/drawingml/2006/main" noGrp="1"/>
          </p:cNvSpPr>
          <p:nvPr/>
        </p:nvSpPr>
        <p:spPr>
          <a:xfrm xmlns:a="http://schemas.openxmlformats.org/drawingml/2006/main">
            <a:off x="7909559" y="166420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1" name="Rounded Rectangle 10">
            <a:extLst xmlns:a="http://schemas.openxmlformats.org/drawingml/2006/main">
              <a:ext uri="{FF2B5EF4-FFF2-40B4-BE49-F238E27FC236}">
                <a16:creationId xmlns:a16="http://schemas.microsoft.com/office/drawing/2014/main" id="{E26C22FF-54E4-43C6-A148-28C3B1B55D9A}"/>
              </a:ext>
            </a:extLst>
          </p:cNvPr>
          <p:cNvSpPr>
            <a:spLocks xmlns:a="http://schemas.openxmlformats.org/drawingml/2006/main" noGrp="1"/>
          </p:cNvSpPr>
          <p:nvPr/>
        </p:nvSpPr>
        <p:spPr>
          <a:xfrm xmlns:a="http://schemas.openxmlformats.org/drawingml/2006/main">
            <a:off x="3566160" y="251460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6.2 Validate host/network families</a:t>
            </a:r>
          </a:p>
          <a:p xmlns:a="http://schemas.openxmlformats.org/drawingml/2006/main">
            <a:pPr algn="l">
              <a:buNone/>
            </a:pPr>
            <a:r>
              <a:rPr sz="1000" b="0">
                <a:solidFill>
                  <a:srgbClr val="000000"/>
                </a:solidFill>
              </a:rPr>
              <a:t>Measure process breadth, retries, authentication and protocol behavior. Verify temporal resolution and direction.</a:t>
            </a:r>
          </a:p>
        </p:txBody>
      </p:sp>
      <p:sp>
        <p:nvSpPr>
          <p:cNvPr id="12" name="Connector 11">
            <a:extLst xmlns:a="http://schemas.openxmlformats.org/drawingml/2006/main">
              <a:ext uri="{FF2B5EF4-FFF2-40B4-BE49-F238E27FC236}">
                <a16:creationId xmlns:a16="http://schemas.microsoft.com/office/drawing/2014/main" id="{C9912817-0252-442A-A3DB-FD402E43986A}"/>
              </a:ext>
            </a:extLst>
          </p:cNvPr>
          <p:cNvSpPr>
            <a:spLocks xmlns:a="http://schemas.openxmlformats.org/drawingml/2006/main" noGrp="1"/>
          </p:cNvSpPr>
          <p:nvPr/>
        </p:nvSpPr>
        <p:spPr>
          <a:xfrm xmlns:a="http://schemas.openxmlformats.org/drawingml/2006/main">
            <a:off x="3154680" y="297180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Oval 12">
            <a:extLst xmlns:a="http://schemas.openxmlformats.org/drawingml/2006/main">
              <a:ext uri="{FF2B5EF4-FFF2-40B4-BE49-F238E27FC236}">
                <a16:creationId xmlns:a16="http://schemas.microsoft.com/office/drawing/2014/main" id="{E12D6345-C079-4DD5-BFE5-392C7907169B}"/>
              </a:ext>
            </a:extLst>
          </p:cNvPr>
          <p:cNvSpPr>
            <a:spLocks xmlns:a="http://schemas.openxmlformats.org/drawingml/2006/main" noGrp="1"/>
          </p:cNvSpPr>
          <p:nvPr/>
        </p:nvSpPr>
        <p:spPr>
          <a:xfrm xmlns:a="http://schemas.openxmlformats.org/drawingml/2006/main">
            <a:off x="8183879" y="269748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29983BD-1FDF-4A83-B280-7241B4B12B67}"/>
              </a:ext>
            </a:extLst>
          </p:cNvPr>
          <p:cNvSpPr>
            <a:spLocks xmlns:a="http://schemas.openxmlformats.org/drawingml/2006/main" noGrp="1"/>
          </p:cNvSpPr>
          <p:nvPr/>
        </p:nvSpPr>
        <p:spPr>
          <a:xfrm xmlns:a="http://schemas.openxmlformats.org/drawingml/2006/main">
            <a:off x="7909559" y="299008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5" name="Rounded Rectangle 14">
            <a:extLst xmlns:a="http://schemas.openxmlformats.org/drawingml/2006/main">
              <a:ext uri="{FF2B5EF4-FFF2-40B4-BE49-F238E27FC236}">
                <a16:creationId xmlns:a16="http://schemas.microsoft.com/office/drawing/2014/main" id="{3D4B7DAC-F0FA-405E-BD34-CC907D0A6D54}"/>
              </a:ext>
            </a:extLst>
          </p:cNvPr>
          <p:cNvSpPr>
            <a:spLocks xmlns:a="http://schemas.openxmlformats.org/drawingml/2006/main" noGrp="1"/>
          </p:cNvSpPr>
          <p:nvPr/>
        </p:nvSpPr>
        <p:spPr>
          <a:xfrm xmlns:a="http://schemas.openxmlformats.org/drawingml/2006/main">
            <a:off x="3566160" y="384048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6.3 Control shortcuts</a:t>
            </a:r>
          </a:p>
          <a:p xmlns:a="http://schemas.openxmlformats.org/drawingml/2006/main">
            <a:pPr algn="l">
              <a:buNone/>
            </a:pPr>
            <a:r>
              <a:rPr sz="1000" b="0">
                <a:solidFill>
                  <a:srgbClr val="000000"/>
                </a:solidFill>
              </a:rPr>
              <a:t>Remove collection IDs and runner cues. Ablate timing-derived rates/concurrency and tool-derived categories together.</a:t>
            </a:r>
          </a:p>
        </p:txBody>
      </p:sp>
      <p:sp>
        <p:nvSpPr>
          <p:cNvPr id="16" name="Connector 15">
            <a:extLst xmlns:a="http://schemas.openxmlformats.org/drawingml/2006/main">
              <a:ext uri="{FF2B5EF4-FFF2-40B4-BE49-F238E27FC236}">
                <a16:creationId xmlns:a16="http://schemas.microsoft.com/office/drawing/2014/main" id="{47C0E1CB-0AF9-465D-825D-E092A9312700}"/>
              </a:ext>
            </a:extLst>
          </p:cNvPr>
          <p:cNvSpPr>
            <a:spLocks xmlns:a="http://schemas.openxmlformats.org/drawingml/2006/main" noGrp="1"/>
          </p:cNvSpPr>
          <p:nvPr/>
        </p:nvSpPr>
        <p:spPr>
          <a:xfrm xmlns:a="http://schemas.openxmlformats.org/drawingml/2006/main">
            <a:off x="3154680" y="429768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Oval 16">
            <a:extLst xmlns:a="http://schemas.openxmlformats.org/drawingml/2006/main">
              <a:ext uri="{FF2B5EF4-FFF2-40B4-BE49-F238E27FC236}">
                <a16:creationId xmlns:a16="http://schemas.microsoft.com/office/drawing/2014/main" id="{1FC80EFF-B711-4DDA-B19C-B5AA4A0AF2F7}"/>
              </a:ext>
            </a:extLst>
          </p:cNvPr>
          <p:cNvSpPr>
            <a:spLocks xmlns:a="http://schemas.openxmlformats.org/drawingml/2006/main" noGrp="1"/>
          </p:cNvSpPr>
          <p:nvPr/>
        </p:nvSpPr>
        <p:spPr>
          <a:xfrm xmlns:a="http://schemas.openxmlformats.org/drawingml/2006/main">
            <a:off x="8183879" y="402336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1CD1631-5188-4483-B802-EE94188C9BEA}"/>
              </a:ext>
            </a:extLst>
          </p:cNvPr>
          <p:cNvSpPr>
            <a:spLocks xmlns:a="http://schemas.openxmlformats.org/drawingml/2006/main" noGrp="1"/>
          </p:cNvSpPr>
          <p:nvPr/>
        </p:nvSpPr>
        <p:spPr>
          <a:xfrm xmlns:a="http://schemas.openxmlformats.org/drawingml/2006/main">
            <a:off x="7909559" y="431596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Tree>
    <p:extLst>
      <p:ext uri="{BB962C8B-B14F-4D97-AF65-F5344CB8AC3E}">
        <p14:creationId xmlns:p14="http://schemas.microsoft.com/office/powerpoint/2010/main" val="50110475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230EE52-9599-4A7F-876E-9F69939C3254}"/>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Methodology Steps – Second Level</a:t>
            </a:r>
          </a:p>
        </p:txBody>
      </p:sp>
      <p:sp>
        <p:nvSpPr>
          <p:cNvPr id="4" name="Rectangle 3">
            <a:extLst xmlns:a="http://schemas.openxmlformats.org/drawingml/2006/main">
              <a:ext uri="{FF2B5EF4-FFF2-40B4-BE49-F238E27FC236}">
                <a16:creationId xmlns:a16="http://schemas.microsoft.com/office/drawing/2014/main" id="{7A66E724-E736-4E4F-A5D0-DE7B4BB251B9}"/>
              </a:ext>
            </a:extLst>
          </p:cNvPr>
          <p:cNvSpPr>
            <a:spLocks xmlns:a="http://schemas.openxmlformats.org/drawingml/2006/main" noGrp="1"/>
          </p:cNvSpPr>
          <p:nvPr/>
        </p:nvSpPr>
        <p:spPr>
          <a:xfrm xmlns:a="http://schemas.openxmlformats.org/drawingml/2006/main">
            <a:off x="182880" y="1325880"/>
            <a:ext cx="2468880" cy="1554480"/>
          </a:xfrm>
          <a:prstGeom xmlns:a="http://schemas.openxmlformats.org/drawingml/2006/main" prst="rect">
            <a:avLst/>
          </a:prstGeom>
          <a:solidFill xmlns:a="http://schemas.openxmlformats.org/drawingml/2006/main">
            <a:srgbClr val="E5E0EC"/>
          </a:solidFill>
          <a:ln xmlns:a="http://schemas.openxmlformats.org/drawingml/2006/main" w="12700">
            <a:solidFill>
              <a:srgbClr val="8064A2"/>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200" b="1">
                <a:solidFill>
                  <a:srgbClr val="000000"/>
                </a:solidFill>
              </a:rPr>
              <a:t>7. EDA on development groups</a:t>
            </a:r>
          </a:p>
          <a:p xmlns:a="http://schemas.openxmlformats.org/drawingml/2006/main">
            <a:pPr algn="l">
              <a:buNone/>
            </a:pPr>
            <a:r>
              <a:rPr sz="1100" b="0">
                <a:solidFill>
                  <a:srgbClr val="000000"/>
                </a:solidFill>
              </a:rPr>
              <a:t>Reserve test outcomes for the locked evaluation.</a:t>
            </a:r>
          </a:p>
        </p:txBody>
      </p:sp>
      <p:sp>
        <p:nvSpPr>
          <p:cNvPr id="5" name="Connector 4">
            <a:extLst xmlns:a="http://schemas.openxmlformats.org/drawingml/2006/main">
              <a:ext uri="{FF2B5EF4-FFF2-40B4-BE49-F238E27FC236}">
                <a16:creationId xmlns:a16="http://schemas.microsoft.com/office/drawing/2014/main" id="{DD0F1A86-8BD3-4335-B459-5A83BA2E660E}"/>
              </a:ext>
            </a:extLst>
          </p:cNvPr>
          <p:cNvSpPr>
            <a:spLocks xmlns:a="http://schemas.openxmlformats.org/drawingml/2006/main" noGrp="1"/>
          </p:cNvSpPr>
          <p:nvPr/>
        </p:nvSpPr>
        <p:spPr>
          <a:xfrm xmlns:a="http://schemas.openxmlformats.org/drawingml/2006/main">
            <a:off x="2651760" y="2103120"/>
            <a:ext cx="50292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A5163496-57FB-46E7-B404-9A4D081F082B}"/>
              </a:ext>
            </a:extLst>
          </p:cNvPr>
          <p:cNvSpPr>
            <a:spLocks xmlns:a="http://schemas.openxmlformats.org/drawingml/2006/main" noGrp="1"/>
          </p:cNvSpPr>
          <p:nvPr/>
        </p:nvSpPr>
        <p:spPr>
          <a:xfrm xmlns:a="http://schemas.openxmlformats.org/drawingml/2006/main">
            <a:off x="3154680" y="1645920"/>
            <a:ext cx="0" cy="26517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1D768B60-89C6-4D8E-9ECE-8DE1DEFA6700}"/>
              </a:ext>
            </a:extLst>
          </p:cNvPr>
          <p:cNvSpPr>
            <a:spLocks xmlns:a="http://schemas.openxmlformats.org/drawingml/2006/main" noGrp="1"/>
          </p:cNvSpPr>
          <p:nvPr/>
        </p:nvSpPr>
        <p:spPr>
          <a:xfrm xmlns:a="http://schemas.openxmlformats.org/drawingml/2006/main">
            <a:off x="3566160" y="118872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7.1 Inspect quality and distributions</a:t>
            </a:r>
          </a:p>
          <a:p xmlns:a="http://schemas.openxmlformats.org/drawingml/2006/main">
            <a:pPr algn="l">
              <a:buNone/>
            </a:pPr>
            <a:r>
              <a:rPr sz="1000" b="0">
                <a:solidFill>
                  <a:srgbClr val="000000"/>
                </a:solidFill>
              </a:rPr>
              <a:t>Report counts by group/day/task, missingness, loss, duplicates, medians and quartiles. Investigate outliers through provenance.</a:t>
            </a:r>
          </a:p>
        </p:txBody>
      </p:sp>
      <p:sp>
        <p:nvSpPr>
          <p:cNvPr id="8" name="Connector 7">
            <a:extLst xmlns:a="http://schemas.openxmlformats.org/drawingml/2006/main">
              <a:ext uri="{FF2B5EF4-FFF2-40B4-BE49-F238E27FC236}">
                <a16:creationId xmlns:a16="http://schemas.microsoft.com/office/drawing/2014/main" id="{18B9D892-53BD-40E2-B8FB-9BBE8E02D1FB}"/>
              </a:ext>
            </a:extLst>
          </p:cNvPr>
          <p:cNvSpPr>
            <a:spLocks xmlns:a="http://schemas.openxmlformats.org/drawingml/2006/main" noGrp="1"/>
          </p:cNvSpPr>
          <p:nvPr/>
        </p:nvSpPr>
        <p:spPr>
          <a:xfrm xmlns:a="http://schemas.openxmlformats.org/drawingml/2006/main">
            <a:off x="3154680" y="164592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7FD04377-2D48-4E0C-A563-980DB8D60A02}"/>
              </a:ext>
            </a:extLst>
          </p:cNvPr>
          <p:cNvSpPr>
            <a:spLocks xmlns:a="http://schemas.openxmlformats.org/drawingml/2006/main" noGrp="1"/>
          </p:cNvSpPr>
          <p:nvPr/>
        </p:nvSpPr>
        <p:spPr>
          <a:xfrm xmlns:a="http://schemas.openxmlformats.org/drawingml/2006/main">
            <a:off x="8183879" y="137160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CB68E568-E1CA-4C7C-9568-9D9B983C7FD5}"/>
              </a:ext>
            </a:extLst>
          </p:cNvPr>
          <p:cNvSpPr>
            <a:spLocks xmlns:a="http://schemas.openxmlformats.org/drawingml/2006/main" noGrp="1"/>
          </p:cNvSpPr>
          <p:nvPr/>
        </p:nvSpPr>
        <p:spPr>
          <a:xfrm xmlns:a="http://schemas.openxmlformats.org/drawingml/2006/main">
            <a:off x="7909559" y="166420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1" name="Rounded Rectangle 10">
            <a:extLst xmlns:a="http://schemas.openxmlformats.org/drawingml/2006/main">
              <a:ext uri="{FF2B5EF4-FFF2-40B4-BE49-F238E27FC236}">
                <a16:creationId xmlns:a16="http://schemas.microsoft.com/office/drawing/2014/main" id="{8960CFCD-A084-4E56-A961-7E2B3E40823F}"/>
              </a:ext>
            </a:extLst>
          </p:cNvPr>
          <p:cNvSpPr>
            <a:spLocks xmlns:a="http://schemas.openxmlformats.org/drawingml/2006/main" noGrp="1"/>
          </p:cNvSpPr>
          <p:nvPr/>
        </p:nvSpPr>
        <p:spPr>
          <a:xfrm xmlns:a="http://schemas.openxmlformats.org/drawingml/2006/main">
            <a:off x="3566160" y="251460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7.2 Test feature relevance</a:t>
            </a:r>
          </a:p>
          <a:p xmlns:a="http://schemas.openxmlformats.org/drawingml/2006/main">
            <a:pPr algn="l">
              <a:buNone/>
            </a:pPr>
            <a:r>
              <a:rPr sz="1000" b="0">
                <a:solidFill>
                  <a:srgbClr val="000000"/>
                </a:solidFill>
              </a:rPr>
              <a:t>Use held-out permutation and retrained individual/joint ablations. Correlated features can hide each other’s importance.</a:t>
            </a:r>
          </a:p>
        </p:txBody>
      </p:sp>
      <p:sp>
        <p:nvSpPr>
          <p:cNvPr id="12" name="Connector 11">
            <a:extLst xmlns:a="http://schemas.openxmlformats.org/drawingml/2006/main">
              <a:ext uri="{FF2B5EF4-FFF2-40B4-BE49-F238E27FC236}">
                <a16:creationId xmlns:a16="http://schemas.microsoft.com/office/drawing/2014/main" id="{82C3D26B-F3FF-41E0-85E5-4FC78B2FC5DE}"/>
              </a:ext>
            </a:extLst>
          </p:cNvPr>
          <p:cNvSpPr>
            <a:spLocks xmlns:a="http://schemas.openxmlformats.org/drawingml/2006/main" noGrp="1"/>
          </p:cNvSpPr>
          <p:nvPr/>
        </p:nvSpPr>
        <p:spPr>
          <a:xfrm xmlns:a="http://schemas.openxmlformats.org/drawingml/2006/main">
            <a:off x="3154680" y="297180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Oval 12">
            <a:extLst xmlns:a="http://schemas.openxmlformats.org/drawingml/2006/main">
              <a:ext uri="{FF2B5EF4-FFF2-40B4-BE49-F238E27FC236}">
                <a16:creationId xmlns:a16="http://schemas.microsoft.com/office/drawing/2014/main" id="{AB0A9AFF-47F7-4BF6-9B5A-A6E7CD66EE9F}"/>
              </a:ext>
            </a:extLst>
          </p:cNvPr>
          <p:cNvSpPr>
            <a:spLocks xmlns:a="http://schemas.openxmlformats.org/drawingml/2006/main" noGrp="1"/>
          </p:cNvSpPr>
          <p:nvPr/>
        </p:nvSpPr>
        <p:spPr>
          <a:xfrm xmlns:a="http://schemas.openxmlformats.org/drawingml/2006/main">
            <a:off x="8183879" y="269748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70687B5-5580-4CE0-B4D4-C7455117CBA9}"/>
              </a:ext>
            </a:extLst>
          </p:cNvPr>
          <p:cNvSpPr>
            <a:spLocks xmlns:a="http://schemas.openxmlformats.org/drawingml/2006/main" noGrp="1"/>
          </p:cNvSpPr>
          <p:nvPr/>
        </p:nvSpPr>
        <p:spPr>
          <a:xfrm xmlns:a="http://schemas.openxmlformats.org/drawingml/2006/main">
            <a:off x="7909559" y="299008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5" name="Rounded Rectangle 14">
            <a:extLst xmlns:a="http://schemas.openxmlformats.org/drawingml/2006/main">
              <a:ext uri="{FF2B5EF4-FFF2-40B4-BE49-F238E27FC236}">
                <a16:creationId xmlns:a16="http://schemas.microsoft.com/office/drawing/2014/main" id="{5B5AB5B1-3EE1-4353-A5DC-01DD8DFE3DC4}"/>
              </a:ext>
            </a:extLst>
          </p:cNvPr>
          <p:cNvSpPr>
            <a:spLocks xmlns:a="http://schemas.openxmlformats.org/drawingml/2006/main" noGrp="1"/>
          </p:cNvSpPr>
          <p:nvPr/>
        </p:nvSpPr>
        <p:spPr>
          <a:xfrm xmlns:a="http://schemas.openxmlformats.org/drawingml/2006/main">
            <a:off x="3566160" y="384048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7.3 Check dependence and sample needs</a:t>
            </a:r>
          </a:p>
          <a:p xmlns:a="http://schemas.openxmlformats.org/drawingml/2006/main">
            <a:pPr algn="l">
              <a:buNone/>
            </a:pPr>
            <a:r>
              <a:rPr sz="1000" b="0">
                <a:solidFill>
                  <a:srgbClr val="000000"/>
                </a:solidFill>
              </a:rPr>
              <a:t>Inspect Spearman correlations and group variation. Use learning curves to decide whether more operators or better sensors matter more than more windows.</a:t>
            </a:r>
          </a:p>
        </p:txBody>
      </p:sp>
      <p:sp>
        <p:nvSpPr>
          <p:cNvPr id="16" name="Connector 15">
            <a:extLst xmlns:a="http://schemas.openxmlformats.org/drawingml/2006/main">
              <a:ext uri="{FF2B5EF4-FFF2-40B4-BE49-F238E27FC236}">
                <a16:creationId xmlns:a16="http://schemas.microsoft.com/office/drawing/2014/main" id="{745F06D5-E3E1-44CC-80C5-A921610CCCCE}"/>
              </a:ext>
            </a:extLst>
          </p:cNvPr>
          <p:cNvSpPr>
            <a:spLocks xmlns:a="http://schemas.openxmlformats.org/drawingml/2006/main" noGrp="1"/>
          </p:cNvSpPr>
          <p:nvPr/>
        </p:nvSpPr>
        <p:spPr>
          <a:xfrm xmlns:a="http://schemas.openxmlformats.org/drawingml/2006/main">
            <a:off x="3154680" y="429768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Oval 16">
            <a:extLst xmlns:a="http://schemas.openxmlformats.org/drawingml/2006/main">
              <a:ext uri="{FF2B5EF4-FFF2-40B4-BE49-F238E27FC236}">
                <a16:creationId xmlns:a16="http://schemas.microsoft.com/office/drawing/2014/main" id="{ACA70F84-02E0-4BD0-A122-B79313B82FA3}"/>
              </a:ext>
            </a:extLst>
          </p:cNvPr>
          <p:cNvSpPr>
            <a:spLocks xmlns:a="http://schemas.openxmlformats.org/drawingml/2006/main" noGrp="1"/>
          </p:cNvSpPr>
          <p:nvPr/>
        </p:nvSpPr>
        <p:spPr>
          <a:xfrm xmlns:a="http://schemas.openxmlformats.org/drawingml/2006/main">
            <a:off x="8183879" y="402336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A1FCAFE-9292-4819-9B7D-F0FBFA3F81E1}"/>
              </a:ext>
            </a:extLst>
          </p:cNvPr>
          <p:cNvSpPr>
            <a:spLocks xmlns:a="http://schemas.openxmlformats.org/drawingml/2006/main" noGrp="1"/>
          </p:cNvSpPr>
          <p:nvPr/>
        </p:nvSpPr>
        <p:spPr>
          <a:xfrm xmlns:a="http://schemas.openxmlformats.org/drawingml/2006/main">
            <a:off x="7909559" y="431596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Tree>
    <p:extLst>
      <p:ext uri="{BB962C8B-B14F-4D97-AF65-F5344CB8AC3E}">
        <p14:creationId xmlns:p14="http://schemas.microsoft.com/office/powerpoint/2010/main" val="116775170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24DDE0F8-6D91-4B23-AEEB-C58CABA90F4B}"/>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Methodology Steps – Second Level</a:t>
            </a:r>
          </a:p>
        </p:txBody>
      </p:sp>
      <p:sp>
        <p:nvSpPr>
          <p:cNvPr id="4" name="Rectangle 3">
            <a:extLst xmlns:a="http://schemas.openxmlformats.org/drawingml/2006/main">
              <a:ext uri="{FF2B5EF4-FFF2-40B4-BE49-F238E27FC236}">
                <a16:creationId xmlns:a16="http://schemas.microsoft.com/office/drawing/2014/main" id="{E511132B-E0DD-4B37-B8CD-D93226BF8C92}"/>
              </a:ext>
            </a:extLst>
          </p:cNvPr>
          <p:cNvSpPr>
            <a:spLocks xmlns:a="http://schemas.openxmlformats.org/drawingml/2006/main" noGrp="1"/>
          </p:cNvSpPr>
          <p:nvPr/>
        </p:nvSpPr>
        <p:spPr>
          <a:xfrm xmlns:a="http://schemas.openxmlformats.org/drawingml/2006/main">
            <a:off x="182880" y="1325880"/>
            <a:ext cx="2468880" cy="1554480"/>
          </a:xfrm>
          <a:prstGeom xmlns:a="http://schemas.openxmlformats.org/drawingml/2006/main" prst="rect">
            <a:avLst/>
          </a:prstGeom>
          <a:solidFill xmlns:a="http://schemas.openxmlformats.org/drawingml/2006/main">
            <a:srgbClr val="E5E0EC"/>
          </a:solidFill>
          <a:ln xmlns:a="http://schemas.openxmlformats.org/drawingml/2006/main" w="12700">
            <a:solidFill>
              <a:srgbClr val="8064A2"/>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200" b="1">
                <a:solidFill>
                  <a:srgbClr val="000000"/>
                </a:solidFill>
              </a:rPr>
              <a:t>8. Fit the common-feature models</a:t>
            </a:r>
          </a:p>
          <a:p xmlns:a="http://schemas.openxmlformats.org/drawingml/2006/main">
            <a:pPr algn="l">
              <a:buNone/>
            </a:pPr>
            <a:r>
              <a:rPr sz="1100" b="0">
                <a:solidFill>
                  <a:srgbClr val="000000"/>
                </a:solidFill>
              </a:rPr>
              <a:t>Five primary candidates plus logistic and diagnostic baselines.</a:t>
            </a:r>
          </a:p>
        </p:txBody>
      </p:sp>
      <p:sp>
        <p:nvSpPr>
          <p:cNvPr id="5" name="Connector 4">
            <a:extLst xmlns:a="http://schemas.openxmlformats.org/drawingml/2006/main">
              <a:ext uri="{FF2B5EF4-FFF2-40B4-BE49-F238E27FC236}">
                <a16:creationId xmlns:a16="http://schemas.microsoft.com/office/drawing/2014/main" id="{6720193A-E358-4531-B9DF-7063EA4F1C7F}"/>
              </a:ext>
            </a:extLst>
          </p:cNvPr>
          <p:cNvSpPr>
            <a:spLocks xmlns:a="http://schemas.openxmlformats.org/drawingml/2006/main" noGrp="1"/>
          </p:cNvSpPr>
          <p:nvPr/>
        </p:nvSpPr>
        <p:spPr>
          <a:xfrm xmlns:a="http://schemas.openxmlformats.org/drawingml/2006/main">
            <a:off x="2651760" y="2103120"/>
            <a:ext cx="50292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CE5E93BC-6D68-44FB-91D0-ACE73FF798E5}"/>
              </a:ext>
            </a:extLst>
          </p:cNvPr>
          <p:cNvSpPr>
            <a:spLocks xmlns:a="http://schemas.openxmlformats.org/drawingml/2006/main" noGrp="1"/>
          </p:cNvSpPr>
          <p:nvPr/>
        </p:nvSpPr>
        <p:spPr>
          <a:xfrm xmlns:a="http://schemas.openxmlformats.org/drawingml/2006/main">
            <a:off x="3154680" y="1645920"/>
            <a:ext cx="0" cy="26517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BB05E9CF-FB55-4483-AD85-64B8CDB8DAA4}"/>
              </a:ext>
            </a:extLst>
          </p:cNvPr>
          <p:cNvSpPr>
            <a:spLocks xmlns:a="http://schemas.openxmlformats.org/drawingml/2006/main" noGrp="1"/>
          </p:cNvSpPr>
          <p:nvPr/>
        </p:nvSpPr>
        <p:spPr>
          <a:xfrm xmlns:a="http://schemas.openxmlformats.org/drawingml/2006/main">
            <a:off x="3566160" y="118872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8.1 Fit the candidates</a:t>
            </a:r>
          </a:p>
          <a:p xmlns:a="http://schemas.openxmlformats.org/drawingml/2006/main">
            <a:pPr algn="l">
              <a:buNone/>
            </a:pPr>
            <a:r>
              <a:rPr sz="1000" b="0">
                <a:solidFill>
                  <a:srgbClr val="000000"/>
                </a:solidFill>
              </a:rPr>
              <a:t>SVM is the H3 prediction. Compare XGBoost, decision tree, random forest and a qualified tabular transformer. Logistic regression tests H2.</a:t>
            </a:r>
          </a:p>
        </p:txBody>
      </p:sp>
      <p:sp>
        <p:nvSpPr>
          <p:cNvPr id="8" name="Connector 7">
            <a:extLst xmlns:a="http://schemas.openxmlformats.org/drawingml/2006/main">
              <a:ext uri="{FF2B5EF4-FFF2-40B4-BE49-F238E27FC236}">
                <a16:creationId xmlns:a16="http://schemas.microsoft.com/office/drawing/2014/main" id="{0E2C8F63-B8F2-4EEC-BC28-F9A843A35812}"/>
              </a:ext>
            </a:extLst>
          </p:cNvPr>
          <p:cNvSpPr>
            <a:spLocks xmlns:a="http://schemas.openxmlformats.org/drawingml/2006/main" noGrp="1"/>
          </p:cNvSpPr>
          <p:nvPr/>
        </p:nvSpPr>
        <p:spPr>
          <a:xfrm xmlns:a="http://schemas.openxmlformats.org/drawingml/2006/main">
            <a:off x="3154680" y="164592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DEA8133B-A2DB-4DAD-BD3F-BF0A306877FE}"/>
              </a:ext>
            </a:extLst>
          </p:cNvPr>
          <p:cNvSpPr>
            <a:spLocks xmlns:a="http://schemas.openxmlformats.org/drawingml/2006/main" noGrp="1"/>
          </p:cNvSpPr>
          <p:nvPr/>
        </p:nvSpPr>
        <p:spPr>
          <a:xfrm xmlns:a="http://schemas.openxmlformats.org/drawingml/2006/main">
            <a:off x="8183879" y="137160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4F14FF81-F9E5-4225-BB88-90B0D2EC92C8}"/>
              </a:ext>
            </a:extLst>
          </p:cNvPr>
          <p:cNvSpPr>
            <a:spLocks xmlns:a="http://schemas.openxmlformats.org/drawingml/2006/main" noGrp="1"/>
          </p:cNvSpPr>
          <p:nvPr/>
        </p:nvSpPr>
        <p:spPr>
          <a:xfrm xmlns:a="http://schemas.openxmlformats.org/drawingml/2006/main">
            <a:off x="7909559" y="166420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1" name="Rounded Rectangle 10">
            <a:extLst xmlns:a="http://schemas.openxmlformats.org/drawingml/2006/main">
              <a:ext uri="{FF2B5EF4-FFF2-40B4-BE49-F238E27FC236}">
                <a16:creationId xmlns:a16="http://schemas.microsoft.com/office/drawing/2014/main" id="{24CDC5BF-E100-4758-9E9D-1FCFD207E630}"/>
              </a:ext>
            </a:extLst>
          </p:cNvPr>
          <p:cNvSpPr>
            <a:spLocks xmlns:a="http://schemas.openxmlformats.org/drawingml/2006/main" noGrp="1"/>
          </p:cNvSpPr>
          <p:nvPr/>
        </p:nvSpPr>
        <p:spPr>
          <a:xfrm xmlns:a="http://schemas.openxmlformats.org/drawingml/2006/main">
            <a:off x="3566160" y="251460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8.2 Tune inside training groups</a:t>
            </a:r>
          </a:p>
          <a:p xmlns:a="http://schemas.openxmlformats.org/drawingml/2006/main">
            <a:pPr algn="l">
              <a:buNone/>
            </a:pPr>
            <a:r>
              <a:rPr sz="1000" b="0">
                <a:solidFill>
                  <a:srgbClr val="000000"/>
                </a:solidFill>
              </a:rPr>
              <a:t>Keep human/configuration groups separate. Fit scaling, imputation and feature selection within folds. Freeze equal search limits and repeats.</a:t>
            </a:r>
          </a:p>
        </p:txBody>
      </p:sp>
      <p:sp>
        <p:nvSpPr>
          <p:cNvPr id="12" name="Connector 11">
            <a:extLst xmlns:a="http://schemas.openxmlformats.org/drawingml/2006/main">
              <a:ext uri="{FF2B5EF4-FFF2-40B4-BE49-F238E27FC236}">
                <a16:creationId xmlns:a16="http://schemas.microsoft.com/office/drawing/2014/main" id="{F8E04D6A-3AF2-4051-826E-FF3BBB095B1A}"/>
              </a:ext>
            </a:extLst>
          </p:cNvPr>
          <p:cNvSpPr>
            <a:spLocks xmlns:a="http://schemas.openxmlformats.org/drawingml/2006/main" noGrp="1"/>
          </p:cNvSpPr>
          <p:nvPr/>
        </p:nvSpPr>
        <p:spPr>
          <a:xfrm xmlns:a="http://schemas.openxmlformats.org/drawingml/2006/main">
            <a:off x="3154680" y="297180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Oval 12">
            <a:extLst xmlns:a="http://schemas.openxmlformats.org/drawingml/2006/main">
              <a:ext uri="{FF2B5EF4-FFF2-40B4-BE49-F238E27FC236}">
                <a16:creationId xmlns:a16="http://schemas.microsoft.com/office/drawing/2014/main" id="{572BC5F8-D5D0-46D7-AB81-6E0BC7042983}"/>
              </a:ext>
            </a:extLst>
          </p:cNvPr>
          <p:cNvSpPr>
            <a:spLocks xmlns:a="http://schemas.openxmlformats.org/drawingml/2006/main" noGrp="1"/>
          </p:cNvSpPr>
          <p:nvPr/>
        </p:nvSpPr>
        <p:spPr>
          <a:xfrm xmlns:a="http://schemas.openxmlformats.org/drawingml/2006/main">
            <a:off x="8183879" y="269748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81CC17D7-E486-444A-9E2E-535E62B533D1}"/>
              </a:ext>
            </a:extLst>
          </p:cNvPr>
          <p:cNvSpPr>
            <a:spLocks xmlns:a="http://schemas.openxmlformats.org/drawingml/2006/main" noGrp="1"/>
          </p:cNvSpPr>
          <p:nvPr/>
        </p:nvSpPr>
        <p:spPr>
          <a:xfrm xmlns:a="http://schemas.openxmlformats.org/drawingml/2006/main">
            <a:off x="7909559" y="299008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5" name="Rounded Rectangle 14">
            <a:extLst xmlns:a="http://schemas.openxmlformats.org/drawingml/2006/main">
              <a:ext uri="{FF2B5EF4-FFF2-40B4-BE49-F238E27FC236}">
                <a16:creationId xmlns:a16="http://schemas.microsoft.com/office/drawing/2014/main" id="{42CBD502-57B2-4EC0-9D79-DBD3C865108F}"/>
              </a:ext>
            </a:extLst>
          </p:cNvPr>
          <p:cNvSpPr>
            <a:spLocks xmlns:a="http://schemas.openxmlformats.org/drawingml/2006/main" noGrp="1"/>
          </p:cNvSpPr>
          <p:nvPr/>
        </p:nvSpPr>
        <p:spPr>
          <a:xfrm xmlns:a="http://schemas.openxmlformats.org/drawingml/2006/main">
            <a:off x="3566160" y="384048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8.3 Fit the baselines</a:t>
            </a:r>
          </a:p>
          <a:p xmlns:a="http://schemas.openxmlformats.org/drawingml/2006/main">
            <a:pPr algn="l">
              <a:buNone/>
            </a:pPr>
            <a:r>
              <a:rPr sz="1000" b="0">
                <a:solidFill>
                  <a:srgbClr val="000000"/>
                </a:solidFill>
              </a:rPr>
              <a:t>No-skill dummy and predefined behavioral baseline. Metadata-only and timing-only models diagnose collection shortcuts.</a:t>
            </a:r>
          </a:p>
        </p:txBody>
      </p:sp>
      <p:sp>
        <p:nvSpPr>
          <p:cNvPr id="16" name="Connector 15">
            <a:extLst xmlns:a="http://schemas.openxmlformats.org/drawingml/2006/main">
              <a:ext uri="{FF2B5EF4-FFF2-40B4-BE49-F238E27FC236}">
                <a16:creationId xmlns:a16="http://schemas.microsoft.com/office/drawing/2014/main" id="{CF2707F2-028F-42EC-A9D5-B47D936D3B7C}"/>
              </a:ext>
            </a:extLst>
          </p:cNvPr>
          <p:cNvSpPr>
            <a:spLocks xmlns:a="http://schemas.openxmlformats.org/drawingml/2006/main" noGrp="1"/>
          </p:cNvSpPr>
          <p:nvPr/>
        </p:nvSpPr>
        <p:spPr>
          <a:xfrm xmlns:a="http://schemas.openxmlformats.org/drawingml/2006/main">
            <a:off x="3154680" y="429768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Oval 16">
            <a:extLst xmlns:a="http://schemas.openxmlformats.org/drawingml/2006/main">
              <a:ext uri="{FF2B5EF4-FFF2-40B4-BE49-F238E27FC236}">
                <a16:creationId xmlns:a16="http://schemas.microsoft.com/office/drawing/2014/main" id="{34AA285E-3B35-4BCD-8213-4A8530370BDA}"/>
              </a:ext>
            </a:extLst>
          </p:cNvPr>
          <p:cNvSpPr>
            <a:spLocks xmlns:a="http://schemas.openxmlformats.org/drawingml/2006/main" noGrp="1"/>
          </p:cNvSpPr>
          <p:nvPr/>
        </p:nvSpPr>
        <p:spPr>
          <a:xfrm xmlns:a="http://schemas.openxmlformats.org/drawingml/2006/main">
            <a:off x="8183879" y="402336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BFD3FD9-F41B-4423-A2ED-64F986FA3295}"/>
              </a:ext>
            </a:extLst>
          </p:cNvPr>
          <p:cNvSpPr>
            <a:spLocks xmlns:a="http://schemas.openxmlformats.org/drawingml/2006/main" noGrp="1"/>
          </p:cNvSpPr>
          <p:nvPr/>
        </p:nvSpPr>
        <p:spPr>
          <a:xfrm xmlns:a="http://schemas.openxmlformats.org/drawingml/2006/main">
            <a:off x="7909559" y="431596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Tree>
    <p:extLst>
      <p:ext uri="{BB962C8B-B14F-4D97-AF65-F5344CB8AC3E}">
        <p14:creationId xmlns:p14="http://schemas.microsoft.com/office/powerpoint/2010/main" val="452010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43541EEC-304C-4D35-90F7-E6D9A49603B6}"/>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Methodology Steps – Second Level</a:t>
            </a:r>
          </a:p>
        </p:txBody>
      </p:sp>
      <p:sp>
        <p:nvSpPr>
          <p:cNvPr id="4" name="Rectangle 3">
            <a:extLst xmlns:a="http://schemas.openxmlformats.org/drawingml/2006/main">
              <a:ext uri="{FF2B5EF4-FFF2-40B4-BE49-F238E27FC236}">
                <a16:creationId xmlns:a16="http://schemas.microsoft.com/office/drawing/2014/main" id="{A058B21D-B59E-4952-B0E7-2F0149D51DF8}"/>
              </a:ext>
            </a:extLst>
          </p:cNvPr>
          <p:cNvSpPr>
            <a:spLocks xmlns:a="http://schemas.openxmlformats.org/drawingml/2006/main" noGrp="1"/>
          </p:cNvSpPr>
          <p:nvPr/>
        </p:nvSpPr>
        <p:spPr>
          <a:xfrm xmlns:a="http://schemas.openxmlformats.org/drawingml/2006/main">
            <a:off x="182880" y="1325880"/>
            <a:ext cx="2468880" cy="1554480"/>
          </a:xfrm>
          <a:prstGeom xmlns:a="http://schemas.openxmlformats.org/drawingml/2006/main" prst="rect">
            <a:avLst/>
          </a:prstGeom>
          <a:solidFill xmlns:a="http://schemas.openxmlformats.org/drawingml/2006/main">
            <a:srgbClr val="E5E0EC"/>
          </a:solidFill>
          <a:ln xmlns:a="http://schemas.openxmlformats.org/drawingml/2006/main" w="12700">
            <a:solidFill>
              <a:srgbClr val="8064A2"/>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200" b="1">
                <a:solidFill>
                  <a:srgbClr val="000000"/>
                </a:solidFill>
              </a:rPr>
              <a:t>9. Evaluate the three RQs</a:t>
            </a:r>
          </a:p>
          <a:p xmlns:a="http://schemas.openxmlformats.org/drawingml/2006/main">
            <a:pPr algn="l">
              <a:buNone/>
            </a:pPr>
            <a:r>
              <a:rPr sz="1100" b="0">
                <a:solidFill>
                  <a:srgbClr val="000000"/>
                </a:solidFill>
              </a:rPr>
              <a:t>Formal outcomes remain pending.</a:t>
            </a:r>
          </a:p>
        </p:txBody>
      </p:sp>
      <p:sp>
        <p:nvSpPr>
          <p:cNvPr id="5" name="Connector 4">
            <a:extLst xmlns:a="http://schemas.openxmlformats.org/drawingml/2006/main">
              <a:ext uri="{FF2B5EF4-FFF2-40B4-BE49-F238E27FC236}">
                <a16:creationId xmlns:a16="http://schemas.microsoft.com/office/drawing/2014/main" id="{87A16E4F-483E-4BC4-9594-0496BCC00B4D}"/>
              </a:ext>
            </a:extLst>
          </p:cNvPr>
          <p:cNvSpPr>
            <a:spLocks xmlns:a="http://schemas.openxmlformats.org/drawingml/2006/main" noGrp="1"/>
          </p:cNvSpPr>
          <p:nvPr/>
        </p:nvSpPr>
        <p:spPr>
          <a:xfrm xmlns:a="http://schemas.openxmlformats.org/drawingml/2006/main">
            <a:off x="2651760" y="2103120"/>
            <a:ext cx="50292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240D8B05-30C5-4590-B555-041475EBC53E}"/>
              </a:ext>
            </a:extLst>
          </p:cNvPr>
          <p:cNvSpPr>
            <a:spLocks xmlns:a="http://schemas.openxmlformats.org/drawingml/2006/main" noGrp="1"/>
          </p:cNvSpPr>
          <p:nvPr/>
        </p:nvSpPr>
        <p:spPr>
          <a:xfrm xmlns:a="http://schemas.openxmlformats.org/drawingml/2006/main">
            <a:off x="3154680" y="1645920"/>
            <a:ext cx="0" cy="26517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ADED7DF0-A05F-4D8B-ADAE-652D551B4891}"/>
              </a:ext>
            </a:extLst>
          </p:cNvPr>
          <p:cNvSpPr>
            <a:spLocks xmlns:a="http://schemas.openxmlformats.org/drawingml/2006/main" noGrp="1"/>
          </p:cNvSpPr>
          <p:nvPr/>
        </p:nvSpPr>
        <p:spPr>
          <a:xfrm xmlns:a="http://schemas.openxmlformats.org/drawingml/2006/main">
            <a:off x="3566160" y="118872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9.1 Trial-level metrics</a:t>
            </a:r>
          </a:p>
          <a:p xmlns:a="http://schemas.openxmlformats.org/drawingml/2006/main">
            <a:pPr algn="l">
              <a:buNone/>
            </a:pPr>
            <a:r>
              <a:rPr sz="1000" b="0">
                <a:solidFill>
                  <a:srgbClr val="000000"/>
                </a:solidFill>
              </a:rPr>
              <a:t>Report macro-F1, per-class recall/precision, human false-AI rate, balanced accuracy, confusion counts and calibration where applicable.</a:t>
            </a:r>
          </a:p>
        </p:txBody>
      </p:sp>
      <p:sp>
        <p:nvSpPr>
          <p:cNvPr id="8" name="Connector 7">
            <a:extLst xmlns:a="http://schemas.openxmlformats.org/drawingml/2006/main">
              <a:ext uri="{FF2B5EF4-FFF2-40B4-BE49-F238E27FC236}">
                <a16:creationId xmlns:a16="http://schemas.microsoft.com/office/drawing/2014/main" id="{C2680125-6677-4F14-A401-A501D81C1D3E}"/>
              </a:ext>
            </a:extLst>
          </p:cNvPr>
          <p:cNvSpPr>
            <a:spLocks xmlns:a="http://schemas.openxmlformats.org/drawingml/2006/main" noGrp="1"/>
          </p:cNvSpPr>
          <p:nvPr/>
        </p:nvSpPr>
        <p:spPr>
          <a:xfrm xmlns:a="http://schemas.openxmlformats.org/drawingml/2006/main">
            <a:off x="3154680" y="164592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70DEF998-E120-4782-B13E-CD57E8BCB74E}"/>
              </a:ext>
            </a:extLst>
          </p:cNvPr>
          <p:cNvSpPr>
            <a:spLocks xmlns:a="http://schemas.openxmlformats.org/drawingml/2006/main" noGrp="1"/>
          </p:cNvSpPr>
          <p:nvPr/>
        </p:nvSpPr>
        <p:spPr>
          <a:xfrm xmlns:a="http://schemas.openxmlformats.org/drawingml/2006/main">
            <a:off x="8183879" y="137160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789096EC-F365-4886-B4D3-F7C5589A4962}"/>
              </a:ext>
            </a:extLst>
          </p:cNvPr>
          <p:cNvSpPr>
            <a:spLocks xmlns:a="http://schemas.openxmlformats.org/drawingml/2006/main" noGrp="1"/>
          </p:cNvSpPr>
          <p:nvPr/>
        </p:nvSpPr>
        <p:spPr>
          <a:xfrm xmlns:a="http://schemas.openxmlformats.org/drawingml/2006/main">
            <a:off x="7909559" y="166420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1" name="Rounded Rectangle 10">
            <a:extLst xmlns:a="http://schemas.openxmlformats.org/drawingml/2006/main">
              <a:ext uri="{FF2B5EF4-FFF2-40B4-BE49-F238E27FC236}">
                <a16:creationId xmlns:a16="http://schemas.microsoft.com/office/drawing/2014/main" id="{7A11CB34-3997-4B56-AD54-BDC3982ECC70}"/>
              </a:ext>
            </a:extLst>
          </p:cNvPr>
          <p:cNvSpPr>
            <a:spLocks xmlns:a="http://schemas.openxmlformats.org/drawingml/2006/main" noGrp="1"/>
          </p:cNvSpPr>
          <p:nvPr/>
        </p:nvSpPr>
        <p:spPr>
          <a:xfrm xmlns:a="http://schemas.openxmlformats.org/drawingml/2006/main">
            <a:off x="3566160" y="251460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9.2 Compare models for RQ3</a:t>
            </a:r>
          </a:p>
          <a:p xmlns:a="http://schemas.openxmlformats.org/drawingml/2006/main">
            <a:pPr algn="l">
              <a:buNone/>
            </a:pPr>
            <a:r>
              <a:rPr sz="1000" b="0">
                <a:solidFill>
                  <a:srgbClr val="000000"/>
                </a:solidFill>
              </a:rPr>
              <a:t>Use paired group uncertainty and multiplicity control for SVM against four candidates. A score lead alone does not establish H3.</a:t>
            </a:r>
          </a:p>
        </p:txBody>
      </p:sp>
      <p:sp>
        <p:nvSpPr>
          <p:cNvPr id="12" name="Connector 11">
            <a:extLst xmlns:a="http://schemas.openxmlformats.org/drawingml/2006/main">
              <a:ext uri="{FF2B5EF4-FFF2-40B4-BE49-F238E27FC236}">
                <a16:creationId xmlns:a16="http://schemas.microsoft.com/office/drawing/2014/main" id="{2BC06350-AEA3-4572-964A-694F0347BA93}"/>
              </a:ext>
            </a:extLst>
          </p:cNvPr>
          <p:cNvSpPr>
            <a:spLocks xmlns:a="http://schemas.openxmlformats.org/drawingml/2006/main" noGrp="1"/>
          </p:cNvSpPr>
          <p:nvPr/>
        </p:nvSpPr>
        <p:spPr>
          <a:xfrm xmlns:a="http://schemas.openxmlformats.org/drawingml/2006/main">
            <a:off x="3154680" y="297180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Oval 12">
            <a:extLst xmlns:a="http://schemas.openxmlformats.org/drawingml/2006/main">
              <a:ext uri="{FF2B5EF4-FFF2-40B4-BE49-F238E27FC236}">
                <a16:creationId xmlns:a16="http://schemas.microsoft.com/office/drawing/2014/main" id="{B3A9DE09-02CE-4790-9186-994DAE3B7E8F}"/>
              </a:ext>
            </a:extLst>
          </p:cNvPr>
          <p:cNvSpPr>
            <a:spLocks xmlns:a="http://schemas.openxmlformats.org/drawingml/2006/main" noGrp="1"/>
          </p:cNvSpPr>
          <p:nvPr/>
        </p:nvSpPr>
        <p:spPr>
          <a:xfrm xmlns:a="http://schemas.openxmlformats.org/drawingml/2006/main">
            <a:off x="8183879" y="269748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7A2CF3C-A495-450A-9097-EFDD4C26322A}"/>
              </a:ext>
            </a:extLst>
          </p:cNvPr>
          <p:cNvSpPr>
            <a:spLocks xmlns:a="http://schemas.openxmlformats.org/drawingml/2006/main" noGrp="1"/>
          </p:cNvSpPr>
          <p:nvPr/>
        </p:nvSpPr>
        <p:spPr>
          <a:xfrm xmlns:a="http://schemas.openxmlformats.org/drawingml/2006/main">
            <a:off x="7909559" y="299008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5" name="Rounded Rectangle 14">
            <a:extLst xmlns:a="http://schemas.openxmlformats.org/drawingml/2006/main">
              <a:ext uri="{FF2B5EF4-FFF2-40B4-BE49-F238E27FC236}">
                <a16:creationId xmlns:a16="http://schemas.microsoft.com/office/drawing/2014/main" id="{60DF6369-6FC9-4625-A2C9-B326F5CFEE5F}"/>
              </a:ext>
            </a:extLst>
          </p:cNvPr>
          <p:cNvSpPr>
            <a:spLocks xmlns:a="http://schemas.openxmlformats.org/drawingml/2006/main" noGrp="1"/>
          </p:cNvSpPr>
          <p:nvPr/>
        </p:nvSpPr>
        <p:spPr>
          <a:xfrm xmlns:a="http://schemas.openxmlformats.org/drawingml/2006/main">
            <a:off x="3566160" y="384048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9.3 Features and transfer</a:t>
            </a:r>
          </a:p>
          <a:p xmlns:a="http://schemas.openxmlformats.org/drawingml/2006/main">
            <a:pPr algn="l">
              <a:buNone/>
            </a:pPr>
            <a:r>
              <a:rPr sz="1000" b="0">
                <a:solidFill>
                  <a:srgbClr val="000000"/>
                </a:solidFill>
              </a:rPr>
              <a:t>RQ1: diversity/entropy ablations. RQ2: frozen logistic performance on unseen groups with timing/tool controls. Report failure and ties.</a:t>
            </a:r>
          </a:p>
        </p:txBody>
      </p:sp>
      <p:sp>
        <p:nvSpPr>
          <p:cNvPr id="16" name="Connector 15">
            <a:extLst xmlns:a="http://schemas.openxmlformats.org/drawingml/2006/main">
              <a:ext uri="{FF2B5EF4-FFF2-40B4-BE49-F238E27FC236}">
                <a16:creationId xmlns:a16="http://schemas.microsoft.com/office/drawing/2014/main" id="{922BDB82-1F6A-4148-A2D1-4684F6CA7AC0}"/>
              </a:ext>
            </a:extLst>
          </p:cNvPr>
          <p:cNvSpPr>
            <a:spLocks xmlns:a="http://schemas.openxmlformats.org/drawingml/2006/main" noGrp="1"/>
          </p:cNvSpPr>
          <p:nvPr/>
        </p:nvSpPr>
        <p:spPr>
          <a:xfrm xmlns:a="http://schemas.openxmlformats.org/drawingml/2006/main">
            <a:off x="3154680" y="429768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Oval 16">
            <a:extLst xmlns:a="http://schemas.openxmlformats.org/drawingml/2006/main">
              <a:ext uri="{FF2B5EF4-FFF2-40B4-BE49-F238E27FC236}">
                <a16:creationId xmlns:a16="http://schemas.microsoft.com/office/drawing/2014/main" id="{FDBEEACF-2C29-4CCA-BE9E-878F3E9420A4}"/>
              </a:ext>
            </a:extLst>
          </p:cNvPr>
          <p:cNvSpPr>
            <a:spLocks xmlns:a="http://schemas.openxmlformats.org/drawingml/2006/main" noGrp="1"/>
          </p:cNvSpPr>
          <p:nvPr/>
        </p:nvSpPr>
        <p:spPr>
          <a:xfrm xmlns:a="http://schemas.openxmlformats.org/drawingml/2006/main">
            <a:off x="8183879" y="402336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ED5360AC-8890-43C7-8373-6EFD773441AB}"/>
              </a:ext>
            </a:extLst>
          </p:cNvPr>
          <p:cNvSpPr>
            <a:spLocks xmlns:a="http://schemas.openxmlformats.org/drawingml/2006/main" noGrp="1"/>
          </p:cNvSpPr>
          <p:nvPr/>
        </p:nvSpPr>
        <p:spPr>
          <a:xfrm xmlns:a="http://schemas.openxmlformats.org/drawingml/2006/main">
            <a:off x="7909559" y="431596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Tree>
    <p:extLst>
      <p:ext uri="{BB962C8B-B14F-4D97-AF65-F5344CB8AC3E}">
        <p14:creationId xmlns:p14="http://schemas.microsoft.com/office/powerpoint/2010/main" val="211697598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285AC780-96DD-412D-8D11-FBB9A4650B79}"/>
              </a:ext>
            </a:extLst>
          </p:cNvPr>
          <p:cNvSpPr>
            <a:spLocks xmlns:a="http://schemas.openxmlformats.org/drawingml/2006/main" noGrp="1"/>
          </p:cNvSpPr>
          <p:nvPr>
            <p:ph type="title" idx="0"/>
          </p:nvPr>
        </p:nvSpPr>
        <p:spPr>
          <a:xfrm xmlns:a="http://schemas.openxmlformats.org/drawingml/2006/main">
            <a:off x="640080" y="411480"/>
            <a:ext cx="7772400" cy="640080"/>
          </a:xfrm>
        </p:spPr>
        <p:txBody>
          <a:bodyPr xmlns:a="http://schemas.openxmlformats.org/drawingml/2006/main" wrap="square"/>
          <a:lstStyle xmlns:a="http://schemas.openxmlformats.org/drawingml/2006/main"/>
          <a:p xmlns:a="http://schemas.openxmlformats.org/drawingml/2006/main">
            <a:r>
              <a:rPr sz="2800" b="1"/>
              <a:t>Methodology Steps – Second Level</a:t>
            </a:r>
          </a:p>
        </p:txBody>
      </p:sp>
      <p:sp>
        <p:nvSpPr>
          <p:cNvPr id="4" name="Rectangle 3">
            <a:extLst xmlns:a="http://schemas.openxmlformats.org/drawingml/2006/main">
              <a:ext uri="{FF2B5EF4-FFF2-40B4-BE49-F238E27FC236}">
                <a16:creationId xmlns:a16="http://schemas.microsoft.com/office/drawing/2014/main" id="{E3503F09-B671-4F1A-A799-E4AB4A6DBA7A}"/>
              </a:ext>
            </a:extLst>
          </p:cNvPr>
          <p:cNvSpPr>
            <a:spLocks xmlns:a="http://schemas.openxmlformats.org/drawingml/2006/main" noGrp="1"/>
          </p:cNvSpPr>
          <p:nvPr/>
        </p:nvSpPr>
        <p:spPr>
          <a:xfrm xmlns:a="http://schemas.openxmlformats.org/drawingml/2006/main">
            <a:off x="182880" y="1325880"/>
            <a:ext cx="2468880" cy="1554480"/>
          </a:xfrm>
          <a:prstGeom xmlns:a="http://schemas.openxmlformats.org/drawingml/2006/main" prst="rect">
            <a:avLst/>
          </a:prstGeom>
          <a:solidFill xmlns:a="http://schemas.openxmlformats.org/drawingml/2006/main">
            <a:srgbClr val="F2F2F2"/>
          </a:solidFill>
          <a:ln xmlns:a="http://schemas.openxmlformats.org/drawingml/2006/main" w="12700">
            <a:solidFill>
              <a:srgbClr val="7F7F7F"/>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200" b="1">
                <a:solidFill>
                  <a:srgbClr val="000000"/>
                </a:solidFill>
              </a:rPr>
              <a:t>10. Complete evidence and delivery</a:t>
            </a:r>
          </a:p>
          <a:p xmlns:a="http://schemas.openxmlformats.org/drawingml/2006/main">
            <a:pPr algn="l">
              <a:buNone/>
            </a:pPr>
            <a:r>
              <a:rPr sz="1100" b="0">
                <a:solidFill>
                  <a:srgbClr val="000000"/>
                </a:solidFill>
              </a:rPr>
              <a:t>Full collection must supply the final claims.</a:t>
            </a:r>
          </a:p>
        </p:txBody>
      </p:sp>
      <p:sp>
        <p:nvSpPr>
          <p:cNvPr id="5" name="Connector 4">
            <a:extLst xmlns:a="http://schemas.openxmlformats.org/drawingml/2006/main">
              <a:ext uri="{FF2B5EF4-FFF2-40B4-BE49-F238E27FC236}">
                <a16:creationId xmlns:a16="http://schemas.microsoft.com/office/drawing/2014/main" id="{9ED033EA-BB48-42F3-969B-50C214332C97}"/>
              </a:ext>
            </a:extLst>
          </p:cNvPr>
          <p:cNvSpPr>
            <a:spLocks xmlns:a="http://schemas.openxmlformats.org/drawingml/2006/main" noGrp="1"/>
          </p:cNvSpPr>
          <p:nvPr/>
        </p:nvSpPr>
        <p:spPr>
          <a:xfrm xmlns:a="http://schemas.openxmlformats.org/drawingml/2006/main">
            <a:off x="2651760" y="2103120"/>
            <a:ext cx="50292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2BAD23FF-B390-4196-B605-59A15B0A2156}"/>
              </a:ext>
            </a:extLst>
          </p:cNvPr>
          <p:cNvSpPr>
            <a:spLocks xmlns:a="http://schemas.openxmlformats.org/drawingml/2006/main" noGrp="1"/>
          </p:cNvSpPr>
          <p:nvPr/>
        </p:nvSpPr>
        <p:spPr>
          <a:xfrm xmlns:a="http://schemas.openxmlformats.org/drawingml/2006/main">
            <a:off x="3154680" y="1645920"/>
            <a:ext cx="0" cy="265176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5E1AD1AB-D8EA-4547-8A26-B5F9DCE8469A}"/>
              </a:ext>
            </a:extLst>
          </p:cNvPr>
          <p:cNvSpPr>
            <a:spLocks xmlns:a="http://schemas.openxmlformats.org/drawingml/2006/main" noGrp="1"/>
          </p:cNvSpPr>
          <p:nvPr/>
        </p:nvSpPr>
        <p:spPr>
          <a:xfrm xmlns:a="http://schemas.openxmlformats.org/drawingml/2006/main">
            <a:off x="3566160" y="118872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10.1 Robustness and repeatability</a:t>
            </a:r>
          </a:p>
          <a:p xmlns:a="http://schemas.openxmlformats.org/drawingml/2006/main">
            <a:pPr algn="l">
              <a:buNone/>
            </a:pPr>
            <a:r>
              <a:rPr sz="1000" b="0">
                <a:solidFill>
                  <a:srgbClr val="000000"/>
                </a:solidFill>
              </a:rPr>
              <a:t>Freeze seeds, manifests and software versions. Test timing/tools, task/day shifts, equal-length prefixes and sensor loss.</a:t>
            </a:r>
          </a:p>
        </p:txBody>
      </p:sp>
      <p:sp>
        <p:nvSpPr>
          <p:cNvPr id="8" name="Connector 7">
            <a:extLst xmlns:a="http://schemas.openxmlformats.org/drawingml/2006/main">
              <a:ext uri="{FF2B5EF4-FFF2-40B4-BE49-F238E27FC236}">
                <a16:creationId xmlns:a16="http://schemas.microsoft.com/office/drawing/2014/main" id="{0A45F115-FC0A-4F89-A168-0A75B0771C82}"/>
              </a:ext>
            </a:extLst>
          </p:cNvPr>
          <p:cNvSpPr>
            <a:spLocks xmlns:a="http://schemas.openxmlformats.org/drawingml/2006/main" noGrp="1"/>
          </p:cNvSpPr>
          <p:nvPr/>
        </p:nvSpPr>
        <p:spPr>
          <a:xfrm xmlns:a="http://schemas.openxmlformats.org/drawingml/2006/main">
            <a:off x="3154680" y="164592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4E9FBA79-423D-442F-8AE3-9205BE281D6A}"/>
              </a:ext>
            </a:extLst>
          </p:cNvPr>
          <p:cNvSpPr>
            <a:spLocks xmlns:a="http://schemas.openxmlformats.org/drawingml/2006/main" noGrp="1"/>
          </p:cNvSpPr>
          <p:nvPr/>
        </p:nvSpPr>
        <p:spPr>
          <a:xfrm xmlns:a="http://schemas.openxmlformats.org/drawingml/2006/main">
            <a:off x="8183879" y="137160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6BB582F7-CD5C-4455-9BE4-8CB394CB7E6E}"/>
              </a:ext>
            </a:extLst>
          </p:cNvPr>
          <p:cNvSpPr>
            <a:spLocks xmlns:a="http://schemas.openxmlformats.org/drawingml/2006/main" noGrp="1"/>
          </p:cNvSpPr>
          <p:nvPr/>
        </p:nvSpPr>
        <p:spPr>
          <a:xfrm xmlns:a="http://schemas.openxmlformats.org/drawingml/2006/main">
            <a:off x="7909559" y="166420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1" name="Rounded Rectangle 10">
            <a:extLst xmlns:a="http://schemas.openxmlformats.org/drawingml/2006/main">
              <a:ext uri="{FF2B5EF4-FFF2-40B4-BE49-F238E27FC236}">
                <a16:creationId xmlns:a16="http://schemas.microsoft.com/office/drawing/2014/main" id="{44225DB5-D86B-4665-A446-5C10E131E106}"/>
              </a:ext>
            </a:extLst>
          </p:cNvPr>
          <p:cNvSpPr>
            <a:spLocks xmlns:a="http://schemas.openxmlformats.org/drawingml/2006/main" noGrp="1"/>
          </p:cNvSpPr>
          <p:nvPr/>
        </p:nvSpPr>
        <p:spPr>
          <a:xfrm xmlns:a="http://schemas.openxmlformats.org/drawingml/2006/main">
            <a:off x="3566160" y="251460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10.2 Replace working-paper placeholders</a:t>
            </a:r>
          </a:p>
          <a:p xmlns:a="http://schemas.openxmlformats.org/drawingml/2006/main">
            <a:pPr algn="l">
              <a:buNone/>
            </a:pPr>
            <a:r>
              <a:rPr sz="1000" b="0">
                <a:solidFill>
                  <a:srgbClr val="000000"/>
                </a:solidFill>
              </a:rPr>
              <a:t>Use real prediction and EDA tables. Red manuscript values are illustrations and cannot support hypotheses.</a:t>
            </a:r>
          </a:p>
        </p:txBody>
      </p:sp>
      <p:sp>
        <p:nvSpPr>
          <p:cNvPr id="12" name="Connector 11">
            <a:extLst xmlns:a="http://schemas.openxmlformats.org/drawingml/2006/main">
              <a:ext uri="{FF2B5EF4-FFF2-40B4-BE49-F238E27FC236}">
                <a16:creationId xmlns:a16="http://schemas.microsoft.com/office/drawing/2014/main" id="{9A21E07D-690B-42A0-BA3E-7A7C0522EC69}"/>
              </a:ext>
            </a:extLst>
          </p:cNvPr>
          <p:cNvSpPr>
            <a:spLocks xmlns:a="http://schemas.openxmlformats.org/drawingml/2006/main" noGrp="1"/>
          </p:cNvSpPr>
          <p:nvPr/>
        </p:nvSpPr>
        <p:spPr>
          <a:xfrm xmlns:a="http://schemas.openxmlformats.org/drawingml/2006/main">
            <a:off x="3154680" y="297180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Oval 12">
            <a:extLst xmlns:a="http://schemas.openxmlformats.org/drawingml/2006/main">
              <a:ext uri="{FF2B5EF4-FFF2-40B4-BE49-F238E27FC236}">
                <a16:creationId xmlns:a16="http://schemas.microsoft.com/office/drawing/2014/main" id="{60409B7B-BBA8-4C2F-B12B-629FC54ED019}"/>
              </a:ext>
            </a:extLst>
          </p:cNvPr>
          <p:cNvSpPr>
            <a:spLocks xmlns:a="http://schemas.openxmlformats.org/drawingml/2006/main" noGrp="1"/>
          </p:cNvSpPr>
          <p:nvPr/>
        </p:nvSpPr>
        <p:spPr>
          <a:xfrm xmlns:a="http://schemas.openxmlformats.org/drawingml/2006/main">
            <a:off x="8183879" y="269748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F94CC1A-5C69-4F6C-85C9-47EBDA6DD2C7}"/>
              </a:ext>
            </a:extLst>
          </p:cNvPr>
          <p:cNvSpPr>
            <a:spLocks xmlns:a="http://schemas.openxmlformats.org/drawingml/2006/main" noGrp="1"/>
          </p:cNvSpPr>
          <p:nvPr/>
        </p:nvSpPr>
        <p:spPr>
          <a:xfrm xmlns:a="http://schemas.openxmlformats.org/drawingml/2006/main">
            <a:off x="7909559" y="299008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
        <p:nvSpPr>
          <p:cNvPr id="15" name="Rounded Rectangle 14">
            <a:extLst xmlns:a="http://schemas.openxmlformats.org/drawingml/2006/main">
              <a:ext uri="{FF2B5EF4-FFF2-40B4-BE49-F238E27FC236}">
                <a16:creationId xmlns:a16="http://schemas.microsoft.com/office/drawing/2014/main" id="{DEAC4A92-8F6F-4EB1-A0B7-4E06E455CF75}"/>
              </a:ext>
            </a:extLst>
          </p:cNvPr>
          <p:cNvSpPr>
            <a:spLocks xmlns:a="http://schemas.openxmlformats.org/drawingml/2006/main" noGrp="1"/>
          </p:cNvSpPr>
          <p:nvPr/>
        </p:nvSpPr>
        <p:spPr>
          <a:xfrm xmlns:a="http://schemas.openxmlformats.org/drawingml/2006/main">
            <a:off x="3566160" y="3840480"/>
            <a:ext cx="4343400" cy="914400"/>
          </a:xfrm>
          <a:prstGeom xmlns:a="http://schemas.openxmlformats.org/drawingml/2006/main" prst="roundRect">
            <a:avLst>
              <a:gd name="adj" fmla="val 12000"/>
            </a:avLst>
          </a:prstGeom>
          <a:solidFill xmlns:a="http://schemas.openxmlformats.org/drawingml/2006/main">
            <a:srgbClr val="EBF1DE"/>
          </a:solidFill>
          <a:ln xmlns:a="http://schemas.openxmlformats.org/drawingml/2006/main" w="12700">
            <a:solidFill>
              <a:srgbClr val="7F9DB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l">
              <a:buNone/>
            </a:pPr>
            <a:r>
              <a:rPr sz="1100" b="1">
                <a:solidFill>
                  <a:srgbClr val="000000"/>
                </a:solidFill>
              </a:rPr>
              <a:t>10.3 Review and defense</a:t>
            </a:r>
          </a:p>
          <a:p xmlns:a="http://schemas.openxmlformats.org/drawingml/2006/main">
            <a:pPr algn="l">
              <a:buNone/>
            </a:pPr>
            <a:r>
              <a:rPr sz="1000" b="0">
                <a:solidFill>
                  <a:srgbClr val="000000"/>
                </a:solidFill>
              </a:rPr>
              <a:t>Project targets: November 14 Academic Integrity Review and December 1 defense. Confirm institutional dates and submission contents.</a:t>
            </a:r>
          </a:p>
        </p:txBody>
      </p:sp>
      <p:sp>
        <p:nvSpPr>
          <p:cNvPr id="16" name="Connector 15">
            <a:extLst xmlns:a="http://schemas.openxmlformats.org/drawingml/2006/main">
              <a:ext uri="{FF2B5EF4-FFF2-40B4-BE49-F238E27FC236}">
                <a16:creationId xmlns:a16="http://schemas.microsoft.com/office/drawing/2014/main" id="{538CC94F-9934-49DB-9BC6-9FC4B38B3D02}"/>
              </a:ext>
            </a:extLst>
          </p:cNvPr>
          <p:cNvSpPr>
            <a:spLocks xmlns:a="http://schemas.openxmlformats.org/drawingml/2006/main" noGrp="1"/>
          </p:cNvSpPr>
          <p:nvPr/>
        </p:nvSpPr>
        <p:spPr>
          <a:xfrm xmlns:a="http://schemas.openxmlformats.org/drawingml/2006/main">
            <a:off x="3154680" y="4297680"/>
            <a:ext cx="411480"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Oval 16">
            <a:extLst xmlns:a="http://schemas.openxmlformats.org/drawingml/2006/main">
              <a:ext uri="{FF2B5EF4-FFF2-40B4-BE49-F238E27FC236}">
                <a16:creationId xmlns:a16="http://schemas.microsoft.com/office/drawing/2014/main" id="{14A831A9-7045-4EC4-B809-214463B7A577}"/>
              </a:ext>
            </a:extLst>
          </p:cNvPr>
          <p:cNvSpPr>
            <a:spLocks xmlns:a="http://schemas.openxmlformats.org/drawingml/2006/main" noGrp="1"/>
          </p:cNvSpPr>
          <p:nvPr/>
        </p:nvSpPr>
        <p:spPr>
          <a:xfrm xmlns:a="http://schemas.openxmlformats.org/drawingml/2006/main">
            <a:off x="8183879" y="4023360"/>
            <a:ext cx="274320" cy="274320"/>
          </a:xfrm>
          <a:prstGeom xmlns:a="http://schemas.openxmlformats.org/drawingml/2006/main" prst="ellipse">
            <a:avLst/>
          </a:prstGeom>
          <a:solidFill xmlns:a="http://schemas.openxmlformats.org/drawingml/2006/main">
            <a:srgbClr val="FFFFFF"/>
          </a:solidFill>
          <a:ln xmlns:a="http://schemas.openxmlformats.org/drawingml/2006/main" w="15875">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5937D347-DAF1-4D3F-95E3-179EC8306C7C}"/>
              </a:ext>
            </a:extLst>
          </p:cNvPr>
          <p:cNvSpPr>
            <a:spLocks xmlns:a="http://schemas.openxmlformats.org/drawingml/2006/main" noGrp="1"/>
          </p:cNvSpPr>
          <p:nvPr/>
        </p:nvSpPr>
        <p:spPr>
          <a:xfrm xmlns:a="http://schemas.openxmlformats.org/drawingml/2006/main">
            <a:off x="7909559" y="4315968"/>
            <a:ext cx="822959"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800">
                <a:solidFill>
                  <a:srgbClr val="595959"/>
                </a:solidFill>
              </a:rPr>
              <a:t>planned</a:t>
            </a:r>
          </a:p>
        </p:txBody>
      </p:sp>
    </p:spTree>
    <p:extLst>
      <p:ext uri="{BB962C8B-B14F-4D97-AF65-F5344CB8AC3E}">
        <p14:creationId xmlns:p14="http://schemas.microsoft.com/office/powerpoint/2010/main" val="109207077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668A4E51-3854-4D73-93F9-4503F8BC280D}"/>
              </a:ext>
            </a:extLst>
          </p:cNvPr>
          <p:cNvSpPr>
            <a:spLocks xmlns:a="http://schemas.openxmlformats.org/drawingml/2006/main" noGrp="1"/>
          </p:cNvSpPr>
          <p:nvPr/>
        </p:nvSpPr>
        <p:spPr>
          <a:xfrm xmlns:a="http://schemas.openxmlformats.org/drawingml/2006/main">
            <a:off x="4434840" y="228600"/>
            <a:ext cx="4480560" cy="2987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1600" b="1">
                <a:solidFill>
                  <a:srgbClr val="000000"/>
                </a:solidFill>
              </a:rPr>
              <a:t>Dataset Generation Pipeline (Branch 1)</a:t>
            </a:r>
          </a:p>
        </p:txBody>
      </p:sp>
      <p:sp>
        <p:nvSpPr>
          <p:cNvPr id="5" name="TextBox 4">
            <a:extLst xmlns:a="http://schemas.openxmlformats.org/drawingml/2006/main">
              <a:ext uri="{FF2B5EF4-FFF2-40B4-BE49-F238E27FC236}">
                <a16:creationId xmlns:a16="http://schemas.microsoft.com/office/drawing/2014/main" id="{1C02EE17-46C4-4C42-88DF-2B83F370969F}"/>
              </a:ext>
            </a:extLst>
          </p:cNvPr>
          <p:cNvSpPr>
            <a:spLocks xmlns:a="http://schemas.openxmlformats.org/drawingml/2006/main" noGrp="1"/>
          </p:cNvSpPr>
          <p:nvPr/>
        </p:nvSpPr>
        <p:spPr>
          <a:xfrm xmlns:a="http://schemas.openxmlformats.org/drawingml/2006/main">
            <a:off x="4434840" y="731520"/>
            <a:ext cx="4480560" cy="25161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spcAft>
                <a:spcPts val="500"/>
              </a:spcAft>
              <a:buNone/>
            </a:pPr>
            <a:r>
              <a:rPr sz="1050" b="1">
                <a:solidFill>
                  <a:srgbClr val="000000"/>
                </a:solidFill>
              </a:rPr>
              <a:t>1. Lab image: GOAD pilot at a pinned revision with validated target sensors and separate evidence storage</a:t>
            </a:r>
          </a:p>
          <a:p xmlns:a="http://schemas.openxmlformats.org/drawingml/2006/main">
            <a:pPr>
              <a:spcAft>
                <a:spcPts val="500"/>
              </a:spcAft>
              <a:buNone/>
            </a:pPr>
            <a:r>
              <a:rPr sz="1050" b="1">
                <a:solidFill>
                  <a:srgbClr val="000000"/>
                </a:solidFill>
              </a:rPr>
              <a:t>2. Verified reset: rebuild targets from images; attest clean state; issue run ID</a:t>
            </a:r>
          </a:p>
          <a:p xmlns:a="http://schemas.openxmlformats.org/drawingml/2006/main">
            <a:pPr>
              <a:spcAft>
                <a:spcPts val="500"/>
              </a:spcAft>
              <a:buNone/>
            </a:pPr>
            <a:r>
              <a:rPr sz="1050" b="1">
                <a:solidFill>
                  <a:srgbClr val="000000"/>
                </a:solidFill>
              </a:rPr>
              <a:t>3. Matched APT trial: human or autonomous-AI arm starts on the equivalent authorized access with the same window, tools and ROE</a:t>
            </a:r>
          </a:p>
          <a:p xmlns:a="http://schemas.openxmlformats.org/drawingml/2006/main">
            <a:pPr>
              <a:spcAft>
                <a:spcPts val="500"/>
              </a:spcAft>
              <a:buNone/>
            </a:pPr>
            <a:r>
              <a:rPr sz="1050" b="1">
                <a:solidFill>
                  <a:srgbClr val="000000"/>
                </a:solidFill>
              </a:rPr>
              <a:t>4. Target-side capture: host events (Sysmon, Security, PowerShell, AD, DNS) and network sensor (Zeek/Suricata, PCAP, Flow Logs)</a:t>
            </a:r>
          </a:p>
          <a:p xmlns:a="http://schemas.openxmlformats.org/drawingml/2006/main">
            <a:pPr>
              <a:spcAft>
                <a:spcPts val="500"/>
              </a:spcAft>
              <a:buNone/>
            </a:pPr>
            <a:r>
              <a:rPr sz="1050" b="1">
                <a:solidFill>
                  <a:srgbClr val="000000"/>
                </a:solidFill>
              </a:rPr>
              <a:t>5. Evidence archive: native exports to private S3 with SHA-256 manifests; CloudWatch copies for search</a:t>
            </a:r>
          </a:p>
          <a:p xmlns:a="http://schemas.openxmlformats.org/drawingml/2006/main">
            <a:pPr>
              <a:spcAft>
                <a:spcPts val="500"/>
              </a:spcAft>
              <a:buNone/>
            </a:pPr>
            <a:r>
              <a:rPr sz="1050" b="1">
                <a:solidFill>
                  <a:srgbClr val="000000"/>
                </a:solidFill>
              </a:rPr>
              <a:t>6. Quality checks: canaries present, clock tolerance qualified in the pilot, hashes verified, reset attested; log failure, repair and document reruns</a:t>
            </a:r>
          </a:p>
          <a:p xmlns:a="http://schemas.openxmlformats.org/drawingml/2006/main">
            <a:pPr>
              <a:spcAft>
                <a:spcPts val="500"/>
              </a:spcAft>
              <a:buNone/>
            </a:pPr>
            <a:r>
              <a:rPr sz="1050" b="1">
                <a:solidFill>
                  <a:srgbClr val="000000"/>
                </a:solidFill>
              </a:rPr>
              <a:t>7. Labeled dataset: registry labels (arm, operator/config, condition, partition, outcome, interventions) kept apart from features; trials released as dataset v1.0</a:t>
            </a:r>
          </a:p>
        </p:txBody>
      </p:sp>
      <p:sp>
        <p:nvSpPr>
          <p:cNvPr id="6" name="Magnetic Disk 5">
            <a:extLst xmlns:a="http://schemas.openxmlformats.org/drawingml/2006/main">
              <a:ext uri="{FF2B5EF4-FFF2-40B4-BE49-F238E27FC236}">
                <a16:creationId xmlns:a16="http://schemas.microsoft.com/office/drawing/2014/main" id="{E4A37A13-AE37-41F0-BF13-BC743FF45ACB}"/>
              </a:ext>
            </a:extLst>
          </p:cNvPr>
          <p:cNvSpPr>
            <a:spLocks xmlns:a="http://schemas.openxmlformats.org/drawingml/2006/main" noGrp="1"/>
          </p:cNvSpPr>
          <p:nvPr/>
        </p:nvSpPr>
        <p:spPr>
          <a:xfrm xmlns:a="http://schemas.openxmlformats.org/drawingml/2006/main">
            <a:off x="777239" y="320040"/>
            <a:ext cx="2834640" cy="475488"/>
          </a:xfrm>
          <a:prstGeom xmlns:a="http://schemas.openxmlformats.org/drawingml/2006/main" prst="flowChartMagneticDisk">
            <a:avLst/>
          </a:prstGeom>
          <a:solidFill xmlns:a="http://schemas.openxmlformats.org/drawingml/2006/main">
            <a:srgbClr val="7F7F7F"/>
          </a:solidFill>
          <a:ln xmlns:a="http://schemas.openxmlformats.org/drawingml/2006/main" w="12700">
            <a:solidFill>
              <a:srgbClr val="59595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GOAD pilot image (pin revision)</a:t>
            </a:r>
          </a:p>
        </p:txBody>
      </p:sp>
      <p:sp>
        <p:nvSpPr>
          <p:cNvPr id="7" name="Process 6">
            <a:extLst xmlns:a="http://schemas.openxmlformats.org/drawingml/2006/main">
              <a:ext uri="{FF2B5EF4-FFF2-40B4-BE49-F238E27FC236}">
                <a16:creationId xmlns:a16="http://schemas.microsoft.com/office/drawing/2014/main" id="{A7414C6E-7182-4B8B-8BF9-8C8BE0F0ED6B}"/>
              </a:ext>
            </a:extLst>
          </p:cNvPr>
          <p:cNvSpPr>
            <a:spLocks xmlns:a="http://schemas.openxmlformats.org/drawingml/2006/main" noGrp="1"/>
          </p:cNvSpPr>
          <p:nvPr/>
        </p:nvSpPr>
        <p:spPr>
          <a:xfrm xmlns:a="http://schemas.openxmlformats.org/drawingml/2006/main">
            <a:off x="777239" y="1078992"/>
            <a:ext cx="2834640" cy="475488"/>
          </a:xfrm>
          <a:prstGeom xmlns:a="http://schemas.openxmlformats.org/drawingml/2006/main" prst="flowChartProcess">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Verified reset → run ID</a:t>
            </a:r>
          </a:p>
        </p:txBody>
      </p:sp>
      <p:sp>
        <p:nvSpPr>
          <p:cNvPr id="8" name="Data 7">
            <a:extLst xmlns:a="http://schemas.openxmlformats.org/drawingml/2006/main">
              <a:ext uri="{FF2B5EF4-FFF2-40B4-BE49-F238E27FC236}">
                <a16:creationId xmlns:a16="http://schemas.microsoft.com/office/drawing/2014/main" id="{82B4B4A5-43D2-4E63-B68F-2DDB93BC735C}"/>
              </a:ext>
            </a:extLst>
          </p:cNvPr>
          <p:cNvSpPr>
            <a:spLocks xmlns:a="http://schemas.openxmlformats.org/drawingml/2006/main" noGrp="1"/>
          </p:cNvSpPr>
          <p:nvPr/>
        </p:nvSpPr>
        <p:spPr>
          <a:xfrm xmlns:a="http://schemas.openxmlformats.org/drawingml/2006/main">
            <a:off x="640080" y="1837944"/>
            <a:ext cx="3108960" cy="475488"/>
          </a:xfrm>
          <a:prstGeom xmlns:a="http://schemas.openxmlformats.org/drawingml/2006/main" prst="flowChartInputOutput">
            <a:avLst/>
          </a:prstGeom>
          <a:solidFill xmlns:a="http://schemas.openxmlformats.org/drawingml/2006/main">
            <a:srgbClr val="92D050"/>
          </a:solidFill>
          <a:ln xmlns:a="http://schemas.openxmlformats.org/drawingml/2006/main" w="12700">
            <a:solidFill>
              <a:srgbClr val="5F7D3A"/>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000000"/>
                </a:solidFill>
              </a:rPr>
              <a:t>Matched APT trial: human | AI</a:t>
            </a:r>
          </a:p>
          <a:p xmlns:a="http://schemas.openxmlformats.org/drawingml/2006/main">
            <a:pPr algn="ctr">
              <a:buNone/>
            </a:pPr>
            <a:r>
              <a:rPr sz="1000" b="0">
                <a:solidFill>
                  <a:srgbClr val="000000"/>
                </a:solidFill>
              </a:rPr>
              <a:t>(equivalent authorized access, window, ROE)</a:t>
            </a:r>
          </a:p>
        </p:txBody>
      </p:sp>
      <p:sp>
        <p:nvSpPr>
          <p:cNvPr id="9" name="Process 8">
            <a:extLst xmlns:a="http://schemas.openxmlformats.org/drawingml/2006/main">
              <a:ext uri="{FF2B5EF4-FFF2-40B4-BE49-F238E27FC236}">
                <a16:creationId xmlns:a16="http://schemas.microsoft.com/office/drawing/2014/main" id="{F1B78574-0E26-4536-BFA4-EAF1195833E8}"/>
              </a:ext>
            </a:extLst>
          </p:cNvPr>
          <p:cNvSpPr>
            <a:spLocks xmlns:a="http://schemas.openxmlformats.org/drawingml/2006/main" noGrp="1"/>
          </p:cNvSpPr>
          <p:nvPr/>
        </p:nvSpPr>
        <p:spPr>
          <a:xfrm xmlns:a="http://schemas.openxmlformats.org/drawingml/2006/main">
            <a:off x="777239" y="2596896"/>
            <a:ext cx="2834640" cy="475488"/>
          </a:xfrm>
          <a:prstGeom xmlns:a="http://schemas.openxmlformats.org/drawingml/2006/main" prst="flowChartProcess">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Target-side capture</a:t>
            </a:r>
          </a:p>
          <a:p xmlns:a="http://schemas.openxmlformats.org/drawingml/2006/main">
            <a:pPr algn="ctr">
              <a:buNone/>
            </a:pPr>
            <a:r>
              <a:rPr sz="1000" b="0">
                <a:solidFill>
                  <a:srgbClr val="FFFFFF"/>
                </a:solidFill>
              </a:rPr>
              <a:t>host events + network sensor</a:t>
            </a:r>
          </a:p>
        </p:txBody>
      </p:sp>
      <p:sp>
        <p:nvSpPr>
          <p:cNvPr id="10" name="Magnetic Disk 9">
            <a:extLst xmlns:a="http://schemas.openxmlformats.org/drawingml/2006/main">
              <a:ext uri="{FF2B5EF4-FFF2-40B4-BE49-F238E27FC236}">
                <a16:creationId xmlns:a16="http://schemas.microsoft.com/office/drawing/2014/main" id="{C312744D-0A3F-4A6B-9D2E-9615565677A8}"/>
              </a:ext>
            </a:extLst>
          </p:cNvPr>
          <p:cNvSpPr>
            <a:spLocks xmlns:a="http://schemas.openxmlformats.org/drawingml/2006/main" noGrp="1"/>
          </p:cNvSpPr>
          <p:nvPr/>
        </p:nvSpPr>
        <p:spPr>
          <a:xfrm xmlns:a="http://schemas.openxmlformats.org/drawingml/2006/main">
            <a:off x="777239" y="3355848"/>
            <a:ext cx="2834640" cy="475488"/>
          </a:xfrm>
          <a:prstGeom xmlns:a="http://schemas.openxmlformats.org/drawingml/2006/main" prst="flowChartMagneticDisk">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Evidence archive</a:t>
            </a:r>
          </a:p>
          <a:p xmlns:a="http://schemas.openxmlformats.org/drawingml/2006/main">
            <a:pPr algn="ctr">
              <a:buNone/>
            </a:pPr>
            <a:r>
              <a:rPr sz="1000" b="0">
                <a:solidFill>
                  <a:srgbClr val="FFFFFF"/>
                </a:solidFill>
              </a:rPr>
              <a:t>S3 + SHA-256 manifests</a:t>
            </a:r>
          </a:p>
        </p:txBody>
      </p:sp>
      <p:sp>
        <p:nvSpPr>
          <p:cNvPr id="11" name="Decision 10">
            <a:extLst xmlns:a="http://schemas.openxmlformats.org/drawingml/2006/main">
              <a:ext uri="{FF2B5EF4-FFF2-40B4-BE49-F238E27FC236}">
                <a16:creationId xmlns:a16="http://schemas.microsoft.com/office/drawing/2014/main" id="{CBD5546F-6FE9-4031-A116-33F9A8011C98}"/>
              </a:ext>
            </a:extLst>
          </p:cNvPr>
          <p:cNvSpPr>
            <a:spLocks xmlns:a="http://schemas.openxmlformats.org/drawingml/2006/main" noGrp="1"/>
          </p:cNvSpPr>
          <p:nvPr/>
        </p:nvSpPr>
        <p:spPr>
          <a:xfrm xmlns:a="http://schemas.openxmlformats.org/drawingml/2006/main">
            <a:off x="640080" y="4014215"/>
            <a:ext cx="3108960" cy="676656"/>
          </a:xfrm>
          <a:prstGeom xmlns:a="http://schemas.openxmlformats.org/drawingml/2006/main" prst="flowChartDecision">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Quality checks pass?</a:t>
            </a:r>
          </a:p>
        </p:txBody>
      </p:sp>
      <p:sp>
        <p:nvSpPr>
          <p:cNvPr id="12" name="Terminator 11">
            <a:extLst xmlns:a="http://schemas.openxmlformats.org/drawingml/2006/main">
              <a:ext uri="{FF2B5EF4-FFF2-40B4-BE49-F238E27FC236}">
                <a16:creationId xmlns:a16="http://schemas.microsoft.com/office/drawing/2014/main" id="{5690AF5D-E904-4E7F-A0CC-DBA66713848E}"/>
              </a:ext>
            </a:extLst>
          </p:cNvPr>
          <p:cNvSpPr>
            <a:spLocks xmlns:a="http://schemas.openxmlformats.org/drawingml/2006/main" noGrp="1"/>
          </p:cNvSpPr>
          <p:nvPr/>
        </p:nvSpPr>
        <p:spPr>
          <a:xfrm xmlns:a="http://schemas.openxmlformats.org/drawingml/2006/main">
            <a:off x="777239" y="4873752"/>
            <a:ext cx="2834640" cy="475488"/>
          </a:xfrm>
          <a:prstGeom xmlns:a="http://schemas.openxmlformats.org/drawingml/2006/main" prst="flowChartTerminator">
            <a:avLst/>
          </a:prstGeom>
          <a:solidFill xmlns:a="http://schemas.openxmlformats.org/drawingml/2006/main">
            <a:srgbClr val="92D050"/>
          </a:solidFill>
          <a:ln xmlns:a="http://schemas.openxmlformats.org/drawingml/2006/main" w="12700">
            <a:solidFill>
              <a:srgbClr val="5F7D3A"/>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000000"/>
                </a:solidFill>
              </a:rPr>
              <a:t>Labeled APT dataset v1.0</a:t>
            </a:r>
          </a:p>
          <a:p xmlns:a="http://schemas.openxmlformats.org/drawingml/2006/main">
            <a:pPr algn="ctr">
              <a:buNone/>
            </a:pPr>
            <a:r>
              <a:rPr sz="1000" b="0">
                <a:solidFill>
                  <a:srgbClr val="000000"/>
                </a:solidFill>
              </a:rPr>
              <a:t>(registry labels restricted)</a:t>
            </a:r>
          </a:p>
        </p:txBody>
      </p:sp>
      <p:sp>
        <p:nvSpPr>
          <p:cNvPr id="13" name="Connector 12">
            <a:extLst xmlns:a="http://schemas.openxmlformats.org/drawingml/2006/main">
              <a:ext uri="{FF2B5EF4-FFF2-40B4-BE49-F238E27FC236}">
                <a16:creationId xmlns:a16="http://schemas.microsoft.com/office/drawing/2014/main" id="{4097E65D-74AD-4671-95D2-1C2C95EA431B}"/>
              </a:ext>
            </a:extLst>
          </p:cNvPr>
          <p:cNvSpPr>
            <a:spLocks xmlns:a="http://schemas.openxmlformats.org/drawingml/2006/main" noGrp="1"/>
          </p:cNvSpPr>
          <p:nvPr/>
        </p:nvSpPr>
        <p:spPr>
          <a:xfrm xmlns:a="http://schemas.openxmlformats.org/drawingml/2006/main">
            <a:off x="2194560" y="795528"/>
            <a:ext cx="0" cy="283464"/>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7C5886F-0CBE-4A4E-AD2D-BEB793AF777B}"/>
              </a:ext>
            </a:extLst>
          </p:cNvPr>
          <p:cNvSpPr>
            <a:spLocks xmlns:a="http://schemas.openxmlformats.org/drawingml/2006/main" noGrp="1"/>
          </p:cNvSpPr>
          <p:nvPr/>
        </p:nvSpPr>
        <p:spPr>
          <a:xfrm xmlns:a="http://schemas.openxmlformats.org/drawingml/2006/main">
            <a:off x="2194560" y="1554480"/>
            <a:ext cx="0" cy="283464"/>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E9355F00-95F8-4F36-B83D-D84B02824D0F}"/>
              </a:ext>
            </a:extLst>
          </p:cNvPr>
          <p:cNvSpPr>
            <a:spLocks xmlns:a="http://schemas.openxmlformats.org/drawingml/2006/main" noGrp="1"/>
          </p:cNvSpPr>
          <p:nvPr/>
        </p:nvSpPr>
        <p:spPr>
          <a:xfrm xmlns:a="http://schemas.openxmlformats.org/drawingml/2006/main">
            <a:off x="2194560" y="2313432"/>
            <a:ext cx="0" cy="283464"/>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B6EFBE7D-7E25-432C-8A43-7158711E9443}"/>
              </a:ext>
            </a:extLst>
          </p:cNvPr>
          <p:cNvSpPr>
            <a:spLocks xmlns:a="http://schemas.openxmlformats.org/drawingml/2006/main" noGrp="1"/>
          </p:cNvSpPr>
          <p:nvPr/>
        </p:nvSpPr>
        <p:spPr>
          <a:xfrm xmlns:a="http://schemas.openxmlformats.org/drawingml/2006/main">
            <a:off x="2194560" y="3072384"/>
            <a:ext cx="0" cy="283464"/>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6EDDF1C7-DDBC-4F18-A858-58A5BB754087}"/>
              </a:ext>
            </a:extLst>
          </p:cNvPr>
          <p:cNvSpPr>
            <a:spLocks xmlns:a="http://schemas.openxmlformats.org/drawingml/2006/main" noGrp="1"/>
          </p:cNvSpPr>
          <p:nvPr/>
        </p:nvSpPr>
        <p:spPr>
          <a:xfrm xmlns:a="http://schemas.openxmlformats.org/drawingml/2006/main">
            <a:off x="2194560" y="3831336"/>
            <a:ext cx="0" cy="182879"/>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58FD41B2-FC46-4D46-B736-035325D0AA7E}"/>
              </a:ext>
            </a:extLst>
          </p:cNvPr>
          <p:cNvSpPr>
            <a:spLocks xmlns:a="http://schemas.openxmlformats.org/drawingml/2006/main" noGrp="1"/>
          </p:cNvSpPr>
          <p:nvPr/>
        </p:nvSpPr>
        <p:spPr>
          <a:xfrm xmlns:a="http://schemas.openxmlformats.org/drawingml/2006/main">
            <a:off x="2194560" y="4690872"/>
            <a:ext cx="0" cy="18288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39D49EF0-A584-4D0C-80BD-5DCDFE374756}"/>
              </a:ext>
            </a:extLst>
          </p:cNvPr>
          <p:cNvSpPr>
            <a:spLocks xmlns:a="http://schemas.openxmlformats.org/drawingml/2006/main" noGrp="1"/>
          </p:cNvSpPr>
          <p:nvPr/>
        </p:nvSpPr>
        <p:spPr>
          <a:xfrm xmlns:a="http://schemas.openxmlformats.org/drawingml/2006/main" flipH="1">
            <a:off x="411480" y="4352544"/>
            <a:ext cx="22860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99111427-0EFE-4FD3-A34F-8675F7A2BC7F}"/>
              </a:ext>
            </a:extLst>
          </p:cNvPr>
          <p:cNvSpPr>
            <a:spLocks xmlns:a="http://schemas.openxmlformats.org/drawingml/2006/main" noGrp="1"/>
          </p:cNvSpPr>
          <p:nvPr/>
        </p:nvSpPr>
        <p:spPr>
          <a:xfrm xmlns:a="http://schemas.openxmlformats.org/drawingml/2006/main" flipV="1">
            <a:off x="411480" y="1316736"/>
            <a:ext cx="0" cy="3035808"/>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96EC350-A0E4-42D6-BBC8-53241E742A04}"/>
              </a:ext>
            </a:extLst>
          </p:cNvPr>
          <p:cNvSpPr>
            <a:spLocks xmlns:a="http://schemas.openxmlformats.org/drawingml/2006/main" noGrp="1"/>
          </p:cNvSpPr>
          <p:nvPr/>
        </p:nvSpPr>
        <p:spPr>
          <a:xfrm xmlns:a="http://schemas.openxmlformats.org/drawingml/2006/main">
            <a:off x="411480" y="1316736"/>
            <a:ext cx="365759"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TextBox 21">
            <a:extLst xmlns:a="http://schemas.openxmlformats.org/drawingml/2006/main">
              <a:ext uri="{FF2B5EF4-FFF2-40B4-BE49-F238E27FC236}">
                <a16:creationId xmlns:a16="http://schemas.microsoft.com/office/drawing/2014/main" id="{804373B4-CCAF-421E-96B2-CE632E64827C}"/>
              </a:ext>
            </a:extLst>
          </p:cNvPr>
          <p:cNvSpPr>
            <a:spLocks xmlns:a="http://schemas.openxmlformats.org/drawingml/2006/main" noGrp="1"/>
          </p:cNvSpPr>
          <p:nvPr/>
        </p:nvSpPr>
        <p:spPr>
          <a:xfrm xmlns:a="http://schemas.openxmlformats.org/drawingml/2006/main">
            <a:off x="438912" y="4151376"/>
            <a:ext cx="457200"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800">
                <a:solidFill>
                  <a:srgbClr val="000000"/>
                </a:solidFill>
              </a:rPr>
              <a:t>No</a:t>
            </a:r>
          </a:p>
        </p:txBody>
      </p:sp>
      <p:sp>
        <p:nvSpPr>
          <p:cNvPr id="23" name="TextBox 22">
            <a:extLst xmlns:a="http://schemas.openxmlformats.org/drawingml/2006/main">
              <a:ext uri="{FF2B5EF4-FFF2-40B4-BE49-F238E27FC236}">
                <a16:creationId xmlns:a16="http://schemas.microsoft.com/office/drawing/2014/main" id="{E610790B-2C70-404D-A4F3-F887B1A80327}"/>
              </a:ext>
            </a:extLst>
          </p:cNvPr>
          <p:cNvSpPr>
            <a:spLocks xmlns:a="http://schemas.openxmlformats.org/drawingml/2006/main" noGrp="1"/>
          </p:cNvSpPr>
          <p:nvPr/>
        </p:nvSpPr>
        <p:spPr>
          <a:xfrm xmlns:a="http://schemas.openxmlformats.org/drawingml/2006/main">
            <a:off x="2231136" y="4690872"/>
            <a:ext cx="457200"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800">
                <a:solidFill>
                  <a:srgbClr val="000000"/>
                </a:solidFill>
              </a:rPr>
              <a:t>Yes</a:t>
            </a:r>
          </a:p>
        </p:txBody>
      </p:sp>
    </p:spTree>
    <p:extLst>
      <p:ext uri="{BB962C8B-B14F-4D97-AF65-F5344CB8AC3E}">
        <p14:creationId xmlns:p14="http://schemas.microsoft.com/office/powerpoint/2010/main" val="132167728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5CFDEE68-7873-4A36-81DC-AB16856E1F60}"/>
              </a:ext>
            </a:extLst>
          </p:cNvPr>
          <p:cNvSpPr>
            <a:spLocks xmlns:a="http://schemas.openxmlformats.org/drawingml/2006/main" noGrp="1"/>
          </p:cNvSpPr>
          <p:nvPr/>
        </p:nvSpPr>
        <p:spPr>
          <a:xfrm xmlns:a="http://schemas.openxmlformats.org/drawingml/2006/main">
            <a:off x="4434840" y="228600"/>
            <a:ext cx="4480560" cy="2987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1600" b="1">
                <a:solidFill>
                  <a:srgbClr val="000000"/>
                </a:solidFill>
              </a:rPr>
              <a:t>Classification Pipeline (Branch 2)</a:t>
            </a:r>
          </a:p>
        </p:txBody>
      </p:sp>
      <p:sp>
        <p:nvSpPr>
          <p:cNvPr id="5" name="TextBox 4">
            <a:extLst xmlns:a="http://schemas.openxmlformats.org/drawingml/2006/main">
              <a:ext uri="{FF2B5EF4-FFF2-40B4-BE49-F238E27FC236}">
                <a16:creationId xmlns:a16="http://schemas.microsoft.com/office/drawing/2014/main" id="{56449475-C0D8-41AE-B59E-ED7DCD8B1422}"/>
              </a:ext>
            </a:extLst>
          </p:cNvPr>
          <p:cNvSpPr>
            <a:spLocks xmlns:a="http://schemas.openxmlformats.org/drawingml/2006/main" noGrp="1"/>
          </p:cNvSpPr>
          <p:nvPr/>
        </p:nvSpPr>
        <p:spPr>
          <a:xfrm xmlns:a="http://schemas.openxmlformats.org/drawingml/2006/main">
            <a:off x="4434840" y="731520"/>
            <a:ext cx="4480560" cy="30596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spcAft>
                <a:spcPts val="500"/>
              </a:spcAft>
              <a:buNone/>
            </a:pPr>
            <a:r>
              <a:rPr sz="1050" b="1">
                <a:solidFill>
                  <a:srgbClr val="000000"/>
                </a:solidFill>
              </a:rPr>
              <a:t>1. Labeled dataset: per-trial host and network evidence with ground-truth labels from Branch 1</a:t>
            </a:r>
          </a:p>
          <a:p xmlns:a="http://schemas.openxmlformats.org/drawingml/2006/main">
            <a:pPr>
              <a:spcAft>
                <a:spcPts val="500"/>
              </a:spcAft>
              <a:buNone/>
            </a:pPr>
            <a:r>
              <a:rPr sz="1050" b="1">
                <a:solidFill>
                  <a:srgbClr val="000000"/>
                </a:solidFill>
              </a:rPr>
              <a:t>2. Feature engineering: ATT&amp;CK mapping, rate normalization, deny-list; versioned code</a:t>
            </a:r>
          </a:p>
          <a:p xmlns:a="http://schemas.openxmlformats.org/drawingml/2006/main">
            <a:pPr>
              <a:spcAft>
                <a:spcPts val="500"/>
              </a:spcAft>
              <a:buNone/>
            </a:pPr>
            <a:r>
              <a:rPr sz="1050" b="1">
                <a:solidFill>
                  <a:srgbClr val="000000"/>
                </a:solidFill>
              </a:rPr>
              <a:t>3. Frozen grouped split: train / validation / test by human/configuration group; manifest fixed before scored runs</a:t>
            </a:r>
          </a:p>
          <a:p xmlns:a="http://schemas.openxmlformats.org/drawingml/2006/main">
            <a:pPr>
              <a:spcAft>
                <a:spcPts val="500"/>
              </a:spcAft>
              <a:buNone/>
            </a:pPr>
            <a:r>
              <a:rPr sz="1050" b="1">
                <a:solidFill>
                  <a:srgbClr val="000000"/>
                </a:solidFill>
              </a:rPr>
              <a:t>4. EDA (training trials only): class balance, distributions by arm, correlations, ranked top features</a:t>
            </a:r>
          </a:p>
          <a:p xmlns:a="http://schemas.openxmlformats.org/drawingml/2006/main">
            <a:pPr>
              <a:spcAft>
                <a:spcPts val="500"/>
              </a:spcAft>
              <a:buNone/>
            </a:pPr>
            <a:r>
              <a:rPr sz="1050" b="1">
                <a:solidFill>
                  <a:srgbClr val="000000"/>
                </a:solidFill>
              </a:rPr>
              <a:t>5. Train and tune 5 candidates: SVM, XGBoost, DT, RF and tabular transformer with equal tuning budgets; window scores roll up to trials</a:t>
            </a:r>
          </a:p>
          <a:p xmlns:a="http://schemas.openxmlformats.org/drawingml/2006/main">
            <a:pPr>
              <a:spcAft>
                <a:spcPts val="500"/>
              </a:spcAft>
              <a:buNone/>
            </a:pPr>
            <a:r>
              <a:rPr sz="1050" b="1">
                <a:solidFill>
                  <a:srgbClr val="000000"/>
                </a:solidFill>
              </a:rPr>
              <a:t>6. Validation: bounded nested grouped cross-validation; nothing tuned on the test set</a:t>
            </a:r>
          </a:p>
          <a:p xmlns:a="http://schemas.openxmlformats.org/drawingml/2006/main">
            <a:pPr>
              <a:spcAft>
                <a:spcPts val="500"/>
              </a:spcAft>
              <a:buNone/>
            </a:pPr>
            <a:r>
              <a:rPr sz="1050" b="1">
                <a:solidFill>
                  <a:srgbClr val="000000"/>
                </a:solidFill>
              </a:rPr>
              <a:t>7. Locked test: one evaluation of trial-level predictions on the held-out trials</a:t>
            </a:r>
          </a:p>
          <a:p xmlns:a="http://schemas.openxmlformats.org/drawingml/2006/main">
            <a:pPr>
              <a:spcAft>
                <a:spcPts val="500"/>
              </a:spcAft>
              <a:buNone/>
            </a:pPr>
            <a:r>
              <a:rPr sz="1050" b="1">
                <a:solidFill>
                  <a:srgbClr val="000000"/>
                </a:solidFill>
              </a:rPr>
              <a:t>8. Compare and report: compare five candidates by macro-F1 with per-class precision/recall, ROC-AUC and confusion matrices with logistic and no-skill references. Metadata/timing models diagnose shortcuts</a:t>
            </a:r>
          </a:p>
        </p:txBody>
      </p:sp>
      <p:sp>
        <p:nvSpPr>
          <p:cNvPr id="6" name="Magnetic Disk 5">
            <a:extLst xmlns:a="http://schemas.openxmlformats.org/drawingml/2006/main">
              <a:ext uri="{FF2B5EF4-FFF2-40B4-BE49-F238E27FC236}">
                <a16:creationId xmlns:a16="http://schemas.microsoft.com/office/drawing/2014/main" id="{C6EA41EE-7A2F-4F71-B992-38FD91934F2B}"/>
              </a:ext>
            </a:extLst>
          </p:cNvPr>
          <p:cNvSpPr>
            <a:spLocks xmlns:a="http://schemas.openxmlformats.org/drawingml/2006/main" noGrp="1"/>
          </p:cNvSpPr>
          <p:nvPr/>
        </p:nvSpPr>
        <p:spPr>
          <a:xfrm xmlns:a="http://schemas.openxmlformats.org/drawingml/2006/main">
            <a:off x="777239" y="320040"/>
            <a:ext cx="2834640" cy="420624"/>
          </a:xfrm>
          <a:prstGeom xmlns:a="http://schemas.openxmlformats.org/drawingml/2006/main" prst="flowChartMagneticDisk">
            <a:avLst/>
          </a:prstGeom>
          <a:solidFill xmlns:a="http://schemas.openxmlformats.org/drawingml/2006/main">
            <a:srgbClr val="7F7F7F"/>
          </a:solidFill>
          <a:ln xmlns:a="http://schemas.openxmlformats.org/drawingml/2006/main" w="12700">
            <a:solidFill>
              <a:srgbClr val="595959"/>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Labeled APT dataset (per trial)</a:t>
            </a:r>
          </a:p>
        </p:txBody>
      </p:sp>
      <p:sp>
        <p:nvSpPr>
          <p:cNvPr id="7" name="Process 6">
            <a:extLst xmlns:a="http://schemas.openxmlformats.org/drawingml/2006/main">
              <a:ext uri="{FF2B5EF4-FFF2-40B4-BE49-F238E27FC236}">
                <a16:creationId xmlns:a16="http://schemas.microsoft.com/office/drawing/2014/main" id="{3B46BD39-7CD9-4D72-9E66-C6F2ECEB40D1}"/>
              </a:ext>
            </a:extLst>
          </p:cNvPr>
          <p:cNvSpPr>
            <a:spLocks xmlns:a="http://schemas.openxmlformats.org/drawingml/2006/main" noGrp="1"/>
          </p:cNvSpPr>
          <p:nvPr/>
        </p:nvSpPr>
        <p:spPr>
          <a:xfrm xmlns:a="http://schemas.openxmlformats.org/drawingml/2006/main">
            <a:off x="777239" y="954895"/>
            <a:ext cx="2834640" cy="420624"/>
          </a:xfrm>
          <a:prstGeom xmlns:a="http://schemas.openxmlformats.org/drawingml/2006/main" prst="flowChartProcess">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Feature engineering</a:t>
            </a:r>
          </a:p>
          <a:p xmlns:a="http://schemas.openxmlformats.org/drawingml/2006/main">
            <a:pPr algn="ctr">
              <a:buNone/>
            </a:pPr>
            <a:r>
              <a:rPr sz="1000" b="0">
                <a:solidFill>
                  <a:srgbClr val="FFFFFF"/>
                </a:solidFill>
              </a:rPr>
              <a:t>(deny-list, ATT&amp;CK, rates)</a:t>
            </a:r>
          </a:p>
        </p:txBody>
      </p:sp>
      <p:sp>
        <p:nvSpPr>
          <p:cNvPr id="8" name="Data 7">
            <a:extLst xmlns:a="http://schemas.openxmlformats.org/drawingml/2006/main">
              <a:ext uri="{FF2B5EF4-FFF2-40B4-BE49-F238E27FC236}">
                <a16:creationId xmlns:a16="http://schemas.microsoft.com/office/drawing/2014/main" id="{465B01CF-FA25-4F67-AEC5-A4838447978A}"/>
              </a:ext>
            </a:extLst>
          </p:cNvPr>
          <p:cNvSpPr>
            <a:spLocks xmlns:a="http://schemas.openxmlformats.org/drawingml/2006/main" noGrp="1"/>
          </p:cNvSpPr>
          <p:nvPr/>
        </p:nvSpPr>
        <p:spPr>
          <a:xfrm xmlns:a="http://schemas.openxmlformats.org/drawingml/2006/main">
            <a:off x="640080" y="1589750"/>
            <a:ext cx="3108960" cy="420624"/>
          </a:xfrm>
          <a:prstGeom xmlns:a="http://schemas.openxmlformats.org/drawingml/2006/main" prst="flowChartInputOutput">
            <a:avLst/>
          </a:prstGeom>
          <a:solidFill xmlns:a="http://schemas.openxmlformats.org/drawingml/2006/main">
            <a:srgbClr val="92D050"/>
          </a:solidFill>
          <a:ln xmlns:a="http://schemas.openxmlformats.org/drawingml/2006/main" w="12700">
            <a:solidFill>
              <a:srgbClr val="5F7D3A"/>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000000"/>
                </a:solidFill>
              </a:rPr>
              <a:t>Frozen grouped split</a:t>
            </a:r>
          </a:p>
          <a:p xmlns:a="http://schemas.openxmlformats.org/drawingml/2006/main">
            <a:pPr algn="ctr">
              <a:buNone/>
            </a:pPr>
            <a:r>
              <a:rPr sz="1000" b="0">
                <a:solidFill>
                  <a:srgbClr val="000000"/>
                </a:solidFill>
              </a:rPr>
              <a:t>train / validation / test</a:t>
            </a:r>
          </a:p>
        </p:txBody>
      </p:sp>
      <p:sp>
        <p:nvSpPr>
          <p:cNvPr id="26" name="Process EDA">
            <a:extLst xmlns:a="http://schemas.openxmlformats.org/drawingml/2006/main">
              <a:ext uri="{FF2B5EF4-FFF2-40B4-BE49-F238E27FC236}">
                <a16:creationId xmlns:a16="http://schemas.microsoft.com/office/drawing/2014/main" id="{B039A7E5-5FB8-4663-88C6-256DE8D1AFA3}"/>
              </a:ext>
            </a:extLst>
          </p:cNvPr>
          <p:cNvSpPr>
            <a:spLocks xmlns:a="http://schemas.openxmlformats.org/drawingml/2006/main" noGrp="1"/>
          </p:cNvSpPr>
          <p:nvPr/>
        </p:nvSpPr>
        <p:spPr>
          <a:xfrm xmlns:a="http://schemas.openxmlformats.org/drawingml/2006/main">
            <a:off x="777239" y="2224605"/>
            <a:ext cx="2834640" cy="420624"/>
          </a:xfrm>
          <a:prstGeom xmlns:a="http://schemas.openxmlformats.org/drawingml/2006/main" prst="flowChartProcess">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EDA on training trials</a:t>
            </a:r>
          </a:p>
          <a:p xmlns:a="http://schemas.openxmlformats.org/drawingml/2006/main">
            <a:pPr algn="ctr">
              <a:buNone/>
            </a:pPr>
            <a:r>
              <a:rPr sz="1000" b="0">
                <a:solidFill>
                  <a:srgbClr val="FFFFFF"/>
                </a:solidFill>
              </a:rPr>
              <a:t>distributions · correlations · top features</a:t>
            </a:r>
          </a:p>
        </p:txBody>
      </p:sp>
      <p:sp>
        <p:nvSpPr>
          <p:cNvPr id="9" name="Process 8">
            <a:extLst xmlns:a="http://schemas.openxmlformats.org/drawingml/2006/main">
              <a:ext uri="{FF2B5EF4-FFF2-40B4-BE49-F238E27FC236}">
                <a16:creationId xmlns:a16="http://schemas.microsoft.com/office/drawing/2014/main" id="{F995BB02-F132-4ED1-B169-1E34687B2AB3}"/>
              </a:ext>
            </a:extLst>
          </p:cNvPr>
          <p:cNvSpPr>
            <a:spLocks xmlns:a="http://schemas.openxmlformats.org/drawingml/2006/main" noGrp="1"/>
          </p:cNvSpPr>
          <p:nvPr/>
        </p:nvSpPr>
        <p:spPr>
          <a:xfrm xmlns:a="http://schemas.openxmlformats.org/drawingml/2006/main">
            <a:off x="777239" y="2859460"/>
            <a:ext cx="2834640" cy="420624"/>
          </a:xfrm>
          <a:prstGeom xmlns:a="http://schemas.openxmlformats.org/drawingml/2006/main" prst="flowChartProcess">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Train + tune 5 candidates</a:t>
            </a:r>
          </a:p>
          <a:p xmlns:a="http://schemas.openxmlformats.org/drawingml/2006/main">
            <a:pPr algn="ctr">
              <a:buNone/>
            </a:pPr>
            <a:r>
              <a:rPr sz="900" b="0">
                <a:solidFill>
                  <a:srgbClr val="FFFFFF"/>
                </a:solidFill>
              </a:rPr>
              <a:t>SVM, XGB, DT, RF, transformer</a:t>
            </a:r>
          </a:p>
        </p:txBody>
      </p:sp>
      <p:sp>
        <p:nvSpPr>
          <p:cNvPr id="10" name="Decision 9">
            <a:extLst xmlns:a="http://schemas.openxmlformats.org/drawingml/2006/main">
              <a:ext uri="{FF2B5EF4-FFF2-40B4-BE49-F238E27FC236}">
                <a16:creationId xmlns:a16="http://schemas.microsoft.com/office/drawing/2014/main" id="{E008FE62-7154-4273-87E2-682D1A4E62E3}"/>
              </a:ext>
            </a:extLst>
          </p:cNvPr>
          <p:cNvSpPr>
            <a:spLocks xmlns:a="http://schemas.openxmlformats.org/drawingml/2006/main" noGrp="1"/>
          </p:cNvSpPr>
          <p:nvPr/>
        </p:nvSpPr>
        <p:spPr>
          <a:xfrm xmlns:a="http://schemas.openxmlformats.org/drawingml/2006/main">
            <a:off x="640080" y="3494315"/>
            <a:ext cx="3108960" cy="585216"/>
          </a:xfrm>
          <a:prstGeom xmlns:a="http://schemas.openxmlformats.org/drawingml/2006/main" prst="flowChartDecision">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Tuning budget complete?</a:t>
            </a:r>
          </a:p>
        </p:txBody>
      </p:sp>
      <p:sp>
        <p:nvSpPr>
          <p:cNvPr id="11" name="Process 10">
            <a:extLst xmlns:a="http://schemas.openxmlformats.org/drawingml/2006/main">
              <a:ext uri="{FF2B5EF4-FFF2-40B4-BE49-F238E27FC236}">
                <a16:creationId xmlns:a16="http://schemas.microsoft.com/office/drawing/2014/main" id="{1AA3583D-B8B6-42BE-ADCD-F1DC559E2CFA}"/>
              </a:ext>
            </a:extLst>
          </p:cNvPr>
          <p:cNvSpPr>
            <a:spLocks xmlns:a="http://schemas.openxmlformats.org/drawingml/2006/main" noGrp="1"/>
          </p:cNvSpPr>
          <p:nvPr/>
        </p:nvSpPr>
        <p:spPr>
          <a:xfrm xmlns:a="http://schemas.openxmlformats.org/drawingml/2006/main">
            <a:off x="777239" y="4293762"/>
            <a:ext cx="2834640" cy="420624"/>
          </a:xfrm>
          <a:prstGeom xmlns:a="http://schemas.openxmlformats.org/drawingml/2006/main" prst="flowChartProcess">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Locked test: trial-level predictions</a:t>
            </a:r>
          </a:p>
        </p:txBody>
      </p:sp>
      <p:sp>
        <p:nvSpPr>
          <p:cNvPr id="12" name="Terminator 11">
            <a:extLst xmlns:a="http://schemas.openxmlformats.org/drawingml/2006/main">
              <a:ext uri="{FF2B5EF4-FFF2-40B4-BE49-F238E27FC236}">
                <a16:creationId xmlns:a16="http://schemas.microsoft.com/office/drawing/2014/main" id="{175D2DF5-BE15-4CC7-90F0-5F800DD223A9}"/>
              </a:ext>
            </a:extLst>
          </p:cNvPr>
          <p:cNvSpPr>
            <a:spLocks xmlns:a="http://schemas.openxmlformats.org/drawingml/2006/main" noGrp="1"/>
          </p:cNvSpPr>
          <p:nvPr/>
        </p:nvSpPr>
        <p:spPr>
          <a:xfrm xmlns:a="http://schemas.openxmlformats.org/drawingml/2006/main">
            <a:off x="777239" y="4928617"/>
            <a:ext cx="2834640" cy="420624"/>
          </a:xfrm>
          <a:prstGeom xmlns:a="http://schemas.openxmlformats.org/drawingml/2006/main" prst="flowChartTerminator">
            <a:avLst/>
          </a:prstGeom>
          <a:solidFill xmlns:a="http://schemas.openxmlformats.org/drawingml/2006/main">
            <a:srgbClr val="92D050"/>
          </a:solidFill>
          <a:ln xmlns:a="http://schemas.openxmlformats.org/drawingml/2006/main" w="12700">
            <a:solidFill>
              <a:srgbClr val="5F7D3A"/>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000000"/>
                </a:solidFill>
              </a:rPr>
              <a:t>Compare five candidates: test H3</a:t>
            </a:r>
          </a:p>
        </p:txBody>
      </p:sp>
      <p:sp>
        <p:nvSpPr>
          <p:cNvPr id="13" name="Connector 12">
            <a:extLst xmlns:a="http://schemas.openxmlformats.org/drawingml/2006/main">
              <a:ext uri="{FF2B5EF4-FFF2-40B4-BE49-F238E27FC236}">
                <a16:creationId xmlns:a16="http://schemas.microsoft.com/office/drawing/2014/main" id="{B5F2DAA3-8662-4F19-BCC0-D4631F0756D5}"/>
              </a:ext>
            </a:extLst>
          </p:cNvPr>
          <p:cNvSpPr>
            <a:spLocks xmlns:a="http://schemas.openxmlformats.org/drawingml/2006/main" noGrp="1"/>
          </p:cNvSpPr>
          <p:nvPr/>
        </p:nvSpPr>
        <p:spPr>
          <a:xfrm xmlns:a="http://schemas.openxmlformats.org/drawingml/2006/main">
            <a:off x="2194560" y="740664"/>
            <a:ext cx="0" cy="214231"/>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1584E99-FFDB-44DA-BDCB-71FE2E728819}"/>
              </a:ext>
            </a:extLst>
          </p:cNvPr>
          <p:cNvSpPr>
            <a:spLocks xmlns:a="http://schemas.openxmlformats.org/drawingml/2006/main" noGrp="1"/>
          </p:cNvSpPr>
          <p:nvPr/>
        </p:nvSpPr>
        <p:spPr>
          <a:xfrm xmlns:a="http://schemas.openxmlformats.org/drawingml/2006/main">
            <a:off x="2194560" y="1375519"/>
            <a:ext cx="0" cy="214231"/>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97D3CC0B-0D5B-4F6D-B146-13A77ACB20C0}"/>
              </a:ext>
            </a:extLst>
          </p:cNvPr>
          <p:cNvSpPr>
            <a:spLocks xmlns:a="http://schemas.openxmlformats.org/drawingml/2006/main" noGrp="1"/>
          </p:cNvSpPr>
          <p:nvPr/>
        </p:nvSpPr>
        <p:spPr>
          <a:xfrm xmlns:a="http://schemas.openxmlformats.org/drawingml/2006/main">
            <a:off x="2194560" y="2010374"/>
            <a:ext cx="0" cy="214231"/>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583CD02C-9588-47C9-AE0B-4204E48317E1}"/>
              </a:ext>
            </a:extLst>
          </p:cNvPr>
          <p:cNvSpPr>
            <a:spLocks xmlns:a="http://schemas.openxmlformats.org/drawingml/2006/main" noGrp="1"/>
          </p:cNvSpPr>
          <p:nvPr/>
        </p:nvSpPr>
        <p:spPr>
          <a:xfrm xmlns:a="http://schemas.openxmlformats.org/drawingml/2006/main">
            <a:off x="2194560" y="3280084"/>
            <a:ext cx="0" cy="214231"/>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A1537A58-9446-478C-AC10-582F6597FFDB}"/>
              </a:ext>
            </a:extLst>
          </p:cNvPr>
          <p:cNvSpPr>
            <a:spLocks xmlns:a="http://schemas.openxmlformats.org/drawingml/2006/main" noGrp="1"/>
          </p:cNvSpPr>
          <p:nvPr/>
        </p:nvSpPr>
        <p:spPr>
          <a:xfrm xmlns:a="http://schemas.openxmlformats.org/drawingml/2006/main">
            <a:off x="2194560" y="4079531"/>
            <a:ext cx="0" cy="214231"/>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E53BEAE5-2E0B-42D4-A281-0CC4A650E4C0}"/>
              </a:ext>
            </a:extLst>
          </p:cNvPr>
          <p:cNvSpPr>
            <a:spLocks xmlns:a="http://schemas.openxmlformats.org/drawingml/2006/main" noGrp="1"/>
          </p:cNvSpPr>
          <p:nvPr/>
        </p:nvSpPr>
        <p:spPr>
          <a:xfrm xmlns:a="http://schemas.openxmlformats.org/drawingml/2006/main">
            <a:off x="2194560" y="4714386"/>
            <a:ext cx="0" cy="214231"/>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nector EDA">
            <a:extLst xmlns:a="http://schemas.openxmlformats.org/drawingml/2006/main">
              <a:ext uri="{FF2B5EF4-FFF2-40B4-BE49-F238E27FC236}">
                <a16:creationId xmlns:a16="http://schemas.microsoft.com/office/drawing/2014/main" id="{CA089205-E9F3-4129-BFC4-05209C63A3B6}"/>
              </a:ext>
            </a:extLst>
          </p:cNvPr>
          <p:cNvSpPr>
            <a:spLocks xmlns:a="http://schemas.openxmlformats.org/drawingml/2006/main" noGrp="1"/>
          </p:cNvSpPr>
          <p:nvPr/>
        </p:nvSpPr>
        <p:spPr>
          <a:xfrm xmlns:a="http://schemas.openxmlformats.org/drawingml/2006/main">
            <a:off x="2194560" y="2645229"/>
            <a:ext cx="0" cy="214231"/>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5B303061-BAEA-45D3-A34F-824BDD9603CD}"/>
              </a:ext>
            </a:extLst>
          </p:cNvPr>
          <p:cNvSpPr>
            <a:spLocks xmlns:a="http://schemas.openxmlformats.org/drawingml/2006/main" noGrp="1"/>
          </p:cNvSpPr>
          <p:nvPr/>
        </p:nvSpPr>
        <p:spPr>
          <a:xfrm xmlns:a="http://schemas.openxmlformats.org/drawingml/2006/main" flipH="1">
            <a:off x="411480" y="3786923"/>
            <a:ext cx="228600" cy="0"/>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3677D80E-5414-408C-A506-738050450B51}"/>
              </a:ext>
            </a:extLst>
          </p:cNvPr>
          <p:cNvSpPr>
            <a:spLocks xmlns:a="http://schemas.openxmlformats.org/drawingml/2006/main" noGrp="1"/>
          </p:cNvSpPr>
          <p:nvPr/>
        </p:nvSpPr>
        <p:spPr>
          <a:xfrm xmlns:a="http://schemas.openxmlformats.org/drawingml/2006/main" flipV="1">
            <a:off x="411480" y="3069772"/>
            <a:ext cx="0" cy="717151"/>
          </a:xfrm>
          <a:prstGeom xmlns:a="http://schemas.openxmlformats.org/drawingml/2006/main" prst="line">
            <a:avLst/>
          </a:prstGeom>
          <a:ln xmlns:a="http://schemas.openxmlformats.org/drawingml/2006/main" w="19050">
            <a:solidFill>
              <a:srgbClr val="4F81B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56C1F21F-0A73-4641-BC26-D75FF3356CCE}"/>
              </a:ext>
            </a:extLst>
          </p:cNvPr>
          <p:cNvSpPr>
            <a:spLocks xmlns:a="http://schemas.openxmlformats.org/drawingml/2006/main" noGrp="1"/>
          </p:cNvSpPr>
          <p:nvPr/>
        </p:nvSpPr>
        <p:spPr>
          <a:xfrm xmlns:a="http://schemas.openxmlformats.org/drawingml/2006/main">
            <a:off x="411480" y="3069772"/>
            <a:ext cx="365759" cy="0"/>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TextBox 21">
            <a:extLst xmlns:a="http://schemas.openxmlformats.org/drawingml/2006/main">
              <a:ext uri="{FF2B5EF4-FFF2-40B4-BE49-F238E27FC236}">
                <a16:creationId xmlns:a16="http://schemas.microsoft.com/office/drawing/2014/main" id="{86816CD3-A3CD-4D69-A8DB-F00E5540D3F5}"/>
              </a:ext>
            </a:extLst>
          </p:cNvPr>
          <p:cNvSpPr>
            <a:spLocks xmlns:a="http://schemas.openxmlformats.org/drawingml/2006/main" noGrp="1"/>
          </p:cNvSpPr>
          <p:nvPr/>
        </p:nvSpPr>
        <p:spPr>
          <a:xfrm xmlns:a="http://schemas.openxmlformats.org/drawingml/2006/main">
            <a:off x="438912" y="3585755"/>
            <a:ext cx="457200"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800">
                <a:solidFill>
                  <a:srgbClr val="000000"/>
                </a:solidFill>
              </a:rPr>
              <a:t>No</a:t>
            </a:r>
          </a:p>
        </p:txBody>
      </p:sp>
      <p:sp>
        <p:nvSpPr>
          <p:cNvPr id="23" name="TextBox 22">
            <a:extLst xmlns:a="http://schemas.openxmlformats.org/drawingml/2006/main">
              <a:ext uri="{FF2B5EF4-FFF2-40B4-BE49-F238E27FC236}">
                <a16:creationId xmlns:a16="http://schemas.microsoft.com/office/drawing/2014/main" id="{C6E757A1-69D3-46B9-9126-C99F400569DD}"/>
              </a:ext>
            </a:extLst>
          </p:cNvPr>
          <p:cNvSpPr>
            <a:spLocks xmlns:a="http://schemas.openxmlformats.org/drawingml/2006/main" noGrp="1"/>
          </p:cNvSpPr>
          <p:nvPr/>
        </p:nvSpPr>
        <p:spPr>
          <a:xfrm xmlns:a="http://schemas.openxmlformats.org/drawingml/2006/main">
            <a:off x="2231136" y="4079531"/>
            <a:ext cx="457200" cy="176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800">
                <a:solidFill>
                  <a:srgbClr val="000000"/>
                </a:solidFill>
              </a:rPr>
              <a:t>Yes</a:t>
            </a:r>
          </a:p>
        </p:txBody>
      </p:sp>
      <p:sp>
        <p:nvSpPr>
          <p:cNvPr id="24" name="Rectangle 23">
            <a:extLst xmlns:a="http://schemas.openxmlformats.org/drawingml/2006/main">
              <a:ext uri="{FF2B5EF4-FFF2-40B4-BE49-F238E27FC236}">
                <a16:creationId xmlns:a16="http://schemas.microsoft.com/office/drawing/2014/main" id="{B04C4569-B7DE-452B-8BD9-F2873DEF3680}"/>
              </a:ext>
            </a:extLst>
          </p:cNvPr>
          <p:cNvSpPr>
            <a:spLocks xmlns:a="http://schemas.openxmlformats.org/drawingml/2006/main" noGrp="1"/>
          </p:cNvSpPr>
          <p:nvPr/>
        </p:nvSpPr>
        <p:spPr>
          <a:xfrm xmlns:a="http://schemas.openxmlformats.org/drawingml/2006/main">
            <a:off x="3840480" y="4882897"/>
            <a:ext cx="914400" cy="512064"/>
          </a:xfrm>
          <a:prstGeom xmlns:a="http://schemas.openxmlformats.org/drawingml/2006/main" prst="rect">
            <a:avLst/>
          </a:prstGeom>
          <a:solidFill xmlns:a="http://schemas.openxmlformats.org/drawingml/2006/main">
            <a:srgbClr val="F2F2F2"/>
          </a:solidFill>
          <a:ln xmlns:a="http://schemas.openxmlformats.org/drawingml/2006/main" w="12700">
            <a:solidFill>
              <a:srgbClr val="7F7F7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27432" tIns="36576" rIns="27432" bIns="36576" anchor="ctr"/>
          <a:lstStyle xmlns:a="http://schemas.openxmlformats.org/drawingml/2006/main"/>
          <a:p xmlns:a="http://schemas.openxmlformats.org/drawingml/2006/main">
            <a:pPr algn="ctr">
              <a:buNone/>
            </a:pPr>
            <a:r>
              <a:rPr sz="800" b="0">
                <a:solidFill>
                  <a:srgbClr val="000000"/>
                </a:solidFill>
              </a:rPr>
              <a:t>LR for H2; dummy and shortcut diagnostics</a:t>
            </a:r>
          </a:p>
        </p:txBody>
      </p:sp>
      <p:sp>
        <p:nvSpPr>
          <p:cNvPr id="25" name="Connector 24">
            <a:extLst xmlns:a="http://schemas.openxmlformats.org/drawingml/2006/main">
              <a:ext uri="{FF2B5EF4-FFF2-40B4-BE49-F238E27FC236}">
                <a16:creationId xmlns:a16="http://schemas.microsoft.com/office/drawing/2014/main" id="{367A556B-2413-4B92-AD5C-25FF5BCA3A1A}"/>
              </a:ext>
            </a:extLst>
          </p:cNvPr>
          <p:cNvSpPr>
            <a:spLocks xmlns:a="http://schemas.openxmlformats.org/drawingml/2006/main" noGrp="1"/>
          </p:cNvSpPr>
          <p:nvPr/>
        </p:nvSpPr>
        <p:spPr>
          <a:xfrm xmlns:a="http://schemas.openxmlformats.org/drawingml/2006/main" flipH="1">
            <a:off x="3611880" y="5138929"/>
            <a:ext cx="228600" cy="0"/>
          </a:xfrm>
          <a:prstGeom xmlns:a="http://schemas.openxmlformats.org/drawingml/2006/main" prst="line">
            <a:avLst/>
          </a:prstGeom>
          <a:ln xmlns:a="http://schemas.openxmlformats.org/drawingml/2006/main" w="1270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1974324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F9CE1A97-BE32-44A6-8BA1-0C076029453D}"/>
              </a:ext>
            </a:extLst>
          </p:cNvPr>
          <p:cNvSpPr>
            <a:spLocks xmlns:a="http://schemas.openxmlformats.org/drawingml/2006/main" noGrp="1"/>
          </p:cNvSpPr>
          <p:nvPr>
            <p:ph type="title" idx="0"/>
          </p:nvPr>
        </p:nvSpPr>
        <p:spPr>
          <a:xfrm xmlns:a="http://schemas.openxmlformats.org/drawingml/2006/main">
            <a:off x="164592" y="0"/>
            <a:ext cx="7772400" cy="548640"/>
          </a:xfrm>
        </p:spPr>
        <p:txBody>
          <a:bodyPr xmlns:a="http://schemas.openxmlformats.org/drawingml/2006/main" wrap="square"/>
          <a:lstStyle xmlns:a="http://schemas.openxmlformats.org/drawingml/2006/main"/>
          <a:p xmlns:a="http://schemas.openxmlformats.org/drawingml/2006/main">
            <a:r>
              <a:rPr sz="1600" b="1" u="sng">
                <a:solidFill>
                  <a:srgbClr val="000000"/>
                </a:solidFill>
              </a:rPr>
              <a:t>Classifier Set (RQ3 / H3)</a:t>
            </a:r>
          </a:p>
        </p:txBody>
      </p:sp>
      <p:graphicFrame>
        <p:nvGraphicFramePr>
          <p:cNvPr id="4" name="Table 3">
            <a:extLst xmlns:a="http://schemas.openxmlformats.org/drawingml/2006/main">
              <a:ext uri="{FF2B5EF4-FFF2-40B4-BE49-F238E27FC236}">
                <a16:creationId xmlns:a16="http://schemas.microsoft.com/office/drawing/2014/main" id="{112769EF-D0B7-46F3-8BF1-C0D9B7E1B050}"/>
              </a:ext>
            </a:extLst>
          </p:cNvPr>
          <p:cNvGraphicFramePr/>
          <p:nvPr/>
        </p:nvGraphicFramePr>
        <p:xfrm>
          <a:off xmlns:a="http://schemas.openxmlformats.org/drawingml/2006/main" x="164592" y="566928"/>
          <a:ext xmlns:a="http://schemas.openxmlformats.org/drawingml/2006/main" cx="8814815" cy="4041647"/>
        </p:xfrm>
        <a:graphic xmlns:a="http://schemas.openxmlformats.org/drawingml/2006/main">
          <a:graphicData uri="http://schemas.openxmlformats.org/drawingml/2006/table">
            <a:tbl>
              <a:tblPr firstRow="1" bandRow="1">
                <a:tableStyleId>{5C22544A-7EE6-4342-B048-85BDC9FD1C3A}</a:tableStyleId>
              </a:tblPr>
              <a:tblGrid>
                <a:gridCol w="1737360"/>
                <a:gridCol w="3840480"/>
                <a:gridCol w="3236975"/>
              </a:tblGrid>
              <a:tr h="256031">
                <a:tc>
                  <a:txBody>
                    <a:bodyPr/>
                    <a:lstStyle/>
                    <a:p>
                      <a:r>
                        <a:rPr sz="1100" b="1"/>
                        <a:t>Classifier</a:t>
                      </a:r>
                    </a:p>
                  </a:txBody>
                  <a:tcPr marL="54864" marR="54864" marT="27432" marB="27432" anchor="ctr"/>
                </a:tc>
                <a:tc>
                  <a:txBody>
                    <a:bodyPr/>
                    <a:lstStyle/>
                    <a:p>
                      <a:pPr algn="ctr">
                        <a:buNone/>
                      </a:pPr>
                      <a:r>
                        <a:rPr sz="1100" b="1"/>
                        <a:t>Role</a:t>
                      </a:r>
                    </a:p>
                  </a:txBody>
                  <a:tcPr marL="54864" marR="54864" marT="27432" marB="27432" anchor="ctr"/>
                </a:tc>
                <a:tc>
                  <a:txBody>
                    <a:bodyPr/>
                    <a:lstStyle/>
                    <a:p>
                      <a:pPr algn="ctr">
                        <a:buNone/>
                      </a:pPr>
                      <a:r>
                        <a:rPr sz="1100" b="1"/>
                        <a:t>Training controls</a:t>
                      </a:r>
                    </a:p>
                  </a:txBody>
                  <a:tcPr marL="54864" marR="54864" marT="27432" marB="27432" anchor="ctr"/>
                </a:tc>
              </a:tr>
              <a:tr h="420624">
                <a:tc>
                  <a:txBody>
                    <a:bodyPr/>
                    <a:lstStyle/>
                    <a:p>
                      <a:r>
                        <a:rPr sz="1100" b="1"/>
                        <a:t>SVM</a:t>
                      </a:r>
                    </a:p>
                  </a:txBody>
                  <a:tcPr marL="54864" marR="54864" marT="27432" marB="27432"/>
                </a:tc>
                <a:tc>
                  <a:txBody>
                    <a:bodyPr/>
                    <a:lstStyle/>
                    <a:p>
                      <a:r>
                        <a:rPr sz="1100"/>
                        <a:t>H3 directional prediction, pending formal evidence</a:t>
                      </a:r>
                    </a:p>
                  </a:txBody>
                  <a:tcPr marL="54864" marR="54864" marT="27432" marB="27432"/>
                </a:tc>
                <a:tc>
                  <a:txBody>
                    <a:bodyPr/>
                    <a:lstStyle/>
                    <a:p>
                      <a:r>
                        <a:rPr sz="1100"/>
                        <a:t>Scale in training folds. Freeze linear/RBF search and C/gamma limits</a:t>
                      </a:r>
                    </a:p>
                  </a:txBody>
                  <a:tcPr marL="54864" marR="54864" marT="27432" marB="27432"/>
                </a:tc>
              </a:tr>
              <a:tr h="420624">
                <a:tc>
                  <a:txBody>
                    <a:bodyPr/>
                    <a:lstStyle/>
                    <a:p>
                      <a:r>
                        <a:rPr sz="1100" b="1"/>
                        <a:t>Random forest</a:t>
                      </a:r>
                    </a:p>
                  </a:txBody>
                  <a:tcPr marL="54864" marR="54864" marT="27432" marB="27432"/>
                </a:tc>
                <a:tc>
                  <a:txBody>
                    <a:bodyPr/>
                    <a:lstStyle/>
                    <a:p>
                      <a:r>
                        <a:rPr sz="1100"/>
                        <a:t>Tree ensemble comparator</a:t>
                      </a:r>
                    </a:p>
                  </a:txBody>
                  <a:tcPr marL="54864" marR="54864" marT="27432" marB="27432"/>
                </a:tc>
                <a:tc>
                  <a:txBody>
                    <a:bodyPr/>
                    <a:lstStyle/>
                    <a:p>
                      <a:r>
                        <a:rPr sz="1100"/>
                        <a:t>Bound depth, leaf size, number of trees and sampled features</a:t>
                      </a:r>
                    </a:p>
                  </a:txBody>
                  <a:tcPr marL="54864" marR="54864" marT="27432" marB="27432"/>
                </a:tc>
              </a:tr>
              <a:tr h="420624">
                <a:tc>
                  <a:txBody>
                    <a:bodyPr/>
                    <a:lstStyle/>
                    <a:p>
                      <a:r>
                        <a:rPr sz="1100" b="1"/>
                        <a:t>XGBoost</a:t>
                      </a:r>
                    </a:p>
                  </a:txBody>
                  <a:tcPr marL="54864" marR="54864" marT="27432" marB="27432"/>
                </a:tc>
                <a:tc>
                  <a:txBody>
                    <a:bodyPr/>
                    <a:lstStyle/>
                    <a:p>
                      <a:r>
                        <a:rPr sz="1100"/>
                        <a:t>Regularized boosted-tree comparator</a:t>
                      </a:r>
                    </a:p>
                  </a:txBody>
                  <a:tcPr marL="54864" marR="54864" marT="27432" marB="27432"/>
                </a:tc>
                <a:tc>
                  <a:txBody>
                    <a:bodyPr/>
                    <a:lstStyle/>
                    <a:p>
                      <a:r>
                        <a:rPr sz="1100"/>
                        <a:t>Bound tree capacity and regularization. Early stopping stays within training</a:t>
                      </a:r>
                    </a:p>
                  </a:txBody>
                  <a:tcPr marL="54864" marR="54864" marT="27432" marB="27432"/>
                </a:tc>
              </a:tr>
              <a:tr h="420624">
                <a:tc>
                  <a:txBody>
                    <a:bodyPr/>
                    <a:lstStyle/>
                    <a:p>
                      <a:r>
                        <a:rPr sz="1100" b="1"/>
                        <a:t>Decision tree</a:t>
                      </a:r>
                    </a:p>
                  </a:txBody>
                  <a:tcPr marL="54864" marR="54864" marT="27432" marB="27432"/>
                </a:tc>
                <a:tc>
                  <a:txBody>
                    <a:bodyPr/>
                    <a:lstStyle/>
                    <a:p>
                      <a:r>
                        <a:rPr sz="1100"/>
                        <a:t>Interpretable single-tree comparator</a:t>
                      </a:r>
                    </a:p>
                  </a:txBody>
                  <a:tcPr marL="54864" marR="54864" marT="27432" marB="27432"/>
                </a:tc>
                <a:tc>
                  <a:txBody>
                    <a:bodyPr/>
                    <a:lstStyle/>
                    <a:p>
                      <a:r>
                        <a:rPr sz="1100"/>
                        <a:t>Limit depth and minimum leaf support</a:t>
                      </a:r>
                    </a:p>
                  </a:txBody>
                  <a:tcPr marL="54864" marR="54864" marT="27432" marB="27432"/>
                </a:tc>
              </a:tr>
              <a:tr h="420624">
                <a:tc>
                  <a:txBody>
                    <a:bodyPr/>
                    <a:lstStyle/>
                    <a:p>
                      <a:r>
                        <a:rPr sz="1100" b="1"/>
                        <a:t>Logistic regression</a:t>
                      </a:r>
                    </a:p>
                  </a:txBody>
                  <a:tcPr marL="54864" marR="54864" marT="27432" marB="27432"/>
                </a:tc>
                <a:tc>
                  <a:txBody>
                    <a:bodyPr/>
                    <a:lstStyle/>
                    <a:p>
                      <a:r>
                        <a:rPr sz="1100"/>
                        <a:t>H2 transfer model and simple reference</a:t>
                      </a:r>
                    </a:p>
                  </a:txBody>
                  <a:tcPr marL="54864" marR="54864" marT="27432" marB="27432"/>
                </a:tc>
                <a:tc>
                  <a:txBody>
                    <a:bodyPr/>
                    <a:lstStyle/>
                    <a:p>
                      <a:r>
                        <a:rPr sz="1100"/>
                        <a:t>Training-only scaling and regularization</a:t>
                      </a:r>
                    </a:p>
                  </a:txBody>
                  <a:tcPr marL="54864" marR="54864" marT="27432" marB="27432"/>
                </a:tc>
              </a:tr>
              <a:tr h="420624">
                <a:tc>
                  <a:txBody>
                    <a:bodyPr/>
                    <a:lstStyle/>
                    <a:p>
                      <a:r>
                        <a:rPr sz="1100" b="1"/>
                        <a:t>Tabular transformer</a:t>
                      </a:r>
                    </a:p>
                  </a:txBody>
                  <a:tcPr marL="54864" marR="54864" marT="27432" marB="27432"/>
                </a:tc>
                <a:tc>
                  <a:txBody>
                    <a:bodyPr/>
                    <a:lstStyle/>
                    <a:p>
                      <a:r>
                        <a:rPr sz="1100"/>
                        <a:t>Neural candidate using the common feature table</a:t>
                      </a:r>
                    </a:p>
                  </a:txBody>
                  <a:tcPr marL="54864" marR="54864" marT="27432" marB="27432"/>
                </a:tc>
                <a:tc>
                  <a:txBody>
                    <a:bodyPr/>
                    <a:lstStyle/>
                    <a:p>
                      <a:r>
                        <a:rPr sz="1100"/>
                        <a:t>Bound width/depth, dropout and epochs. Qualify implementation and seeds</a:t>
                      </a:r>
                    </a:p>
                  </a:txBody>
                  <a:tcPr marL="54864" marR="54864" marT="27432" marB="27432"/>
                </a:tc>
              </a:tr>
              <a:tr h="420624">
                <a:tc>
                  <a:txBody>
                    <a:bodyPr/>
                    <a:lstStyle/>
                    <a:p>
                      <a:r>
                        <a:rPr sz="1100" b="1"/>
                        <a:t>No-skill dummy</a:t>
                      </a:r>
                    </a:p>
                  </a:txBody>
                  <a:tcPr marL="54864" marR="54864" marT="27432" marB="27432"/>
                </a:tc>
                <a:tc>
                  <a:txBody>
                    <a:bodyPr/>
                    <a:lstStyle/>
                    <a:p>
                      <a:r>
                        <a:rPr sz="1100"/>
                        <a:t>Reference performance</a:t>
                      </a:r>
                    </a:p>
                  </a:txBody>
                  <a:tcPr marL="54864" marR="54864" marT="27432" marB="27432"/>
                </a:tc>
                <a:tc>
                  <a:txBody>
                    <a:bodyPr/>
                    <a:lstStyle/>
                    <a:p>
                      <a:r>
                        <a:rPr sz="1100"/>
                        <a:t>Fit using training labels only</a:t>
                      </a:r>
                    </a:p>
                  </a:txBody>
                  <a:tcPr marL="54864" marR="54864" marT="27432" marB="27432"/>
                </a:tc>
              </a:tr>
              <a:tr h="420624">
                <a:tc>
                  <a:txBody>
                    <a:bodyPr/>
                    <a:lstStyle/>
                    <a:p>
                      <a:r>
                        <a:rPr sz="1100" b="1"/>
                        <a:t>Metadata / timing</a:t>
                      </a:r>
                    </a:p>
                  </a:txBody>
                  <a:tcPr marL="54864" marR="54864" marT="27432" marB="27432"/>
                </a:tc>
                <a:tc>
                  <a:txBody>
                    <a:bodyPr/>
                    <a:lstStyle/>
                    <a:p>
                      <a:r>
                        <a:rPr sz="1100"/>
                        <a:t>Shortcut diagnostics</a:t>
                      </a:r>
                    </a:p>
                  </a:txBody>
                  <a:tcPr marL="54864" marR="54864" marT="27432" marB="27432"/>
                </a:tc>
                <a:tc>
                  <a:txBody>
                    <a:bodyPr/>
                    <a:lstStyle/>
                    <a:p>
                      <a:r>
                        <a:rPr sz="1100"/>
                        <a:t>Keep setup metadata out of substantive predictors</a:t>
                      </a:r>
                    </a:p>
                  </a:txBody>
                  <a:tcPr marL="54864" marR="54864" marT="27432" marB="27432"/>
                </a:tc>
              </a:tr>
              <a:tr h="420624">
                <a:tc>
                  <a:txBody>
                    <a:bodyPr/>
                    <a:lstStyle/>
                    <a:p>
                      <a:r>
                        <a:rPr sz="1100" b="1"/>
                        <a:t>Common evaluation</a:t>
                      </a:r>
                    </a:p>
                  </a:txBody>
                  <a:tcPr marL="54864" marR="54864" marT="27432" marB="27432"/>
                </a:tc>
                <a:tc>
                  <a:txBody>
                    <a:bodyPr/>
                    <a:lstStyle/>
                    <a:p>
                      <a:r>
                        <a:rPr sz="1100"/>
                        <a:t>Five primary candidates plus references</a:t>
                      </a:r>
                    </a:p>
                  </a:txBody>
                  <a:tcPr marL="54864" marR="54864" marT="27432" marB="27432"/>
                </a:tc>
                <a:tc>
                  <a:txBody>
                    <a:bodyPr/>
                    <a:lstStyle/>
                    <a:p>
                      <a:r>
                        <a:rPr sz="1100"/>
                        <a:t>Same group splits, information, tuning limits and locked predictions</a:t>
                      </a:r>
                    </a:p>
                  </a:txBody>
                  <a:tcPr marL="54864" marR="54864" marT="27432" marB="27432"/>
                </a:tc>
              </a:tr>
            </a:tbl>
          </a:graphicData>
        </a:graphic>
      </p:graphicFrame>
    </p:spTree>
    <p:extLst>
      <p:ext uri="{BB962C8B-B14F-4D97-AF65-F5344CB8AC3E}">
        <p14:creationId xmlns:p14="http://schemas.microsoft.com/office/powerpoint/2010/main" val="1265595396"/>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C7316BC5-F8FF-4163-8AAF-959C5F013873}"/>
              </a:ext>
            </a:extLst>
          </p:cNvPr>
          <p:cNvSpPr>
            <a:spLocks xmlns:a="http://schemas.openxmlformats.org/drawingml/2006/main" noGrp="1"/>
          </p:cNvSpPr>
          <p:nvPr/>
        </p:nvSpPr>
        <p:spPr>
          <a:xfrm xmlns:a="http://schemas.openxmlformats.org/drawingml/2006/main">
            <a:off x="4434840" y="228600"/>
            <a:ext cx="4480560" cy="2987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1600" b="1">
                <a:solidFill>
                  <a:srgbClr val="000000"/>
                </a:solidFill>
              </a:rPr>
              <a:t>Transfer and Robustness (RQ1 / RQ2)</a:t>
            </a:r>
          </a:p>
        </p:txBody>
      </p:sp>
      <p:sp>
        <p:nvSpPr>
          <p:cNvPr id="5" name="TextBox 4">
            <a:extLst xmlns:a="http://schemas.openxmlformats.org/drawingml/2006/main">
              <a:ext uri="{FF2B5EF4-FFF2-40B4-BE49-F238E27FC236}">
                <a16:creationId xmlns:a16="http://schemas.microsoft.com/office/drawing/2014/main" id="{9FCE7C23-6D11-4739-9A81-97C5BA0044A5}"/>
              </a:ext>
            </a:extLst>
          </p:cNvPr>
          <p:cNvSpPr>
            <a:spLocks xmlns:a="http://schemas.openxmlformats.org/drawingml/2006/main" noGrp="1"/>
          </p:cNvSpPr>
          <p:nvPr/>
        </p:nvSpPr>
        <p:spPr>
          <a:xfrm xmlns:a="http://schemas.openxmlformats.org/drawingml/2006/main">
            <a:off x="4434840" y="731520"/>
            <a:ext cx="4480560" cy="25161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spcAft>
                <a:spcPts val="500"/>
              </a:spcAft>
              <a:buNone/>
            </a:pPr>
            <a:r>
              <a:rPr sz="1050" b="1">
                <a:solidFill>
                  <a:srgbClr val="000000"/>
                </a:solidFill>
              </a:rPr>
              <a:t>1. Start from Branch 2: frozen feature code and frozen candidates and logistic regression</a:t>
            </a:r>
          </a:p>
          <a:p xmlns:a="http://schemas.openxmlformats.org/drawingml/2006/main">
            <a:pPr>
              <a:spcAft>
                <a:spcPts val="500"/>
              </a:spcAft>
              <a:buNone/>
            </a:pPr>
            <a:r>
              <a:rPr sz="1050" b="1">
                <a:solidFill>
                  <a:srgbClr val="000000"/>
                </a:solidFill>
              </a:rPr>
              <a:t>2. Ablations (H1/H2): drop timing features, then timing plus tool identifiers; measure the macro-F1 change</a:t>
            </a:r>
          </a:p>
          <a:p xmlns:a="http://schemas.openxmlformats.org/drawingml/2006/main">
            <a:pPr>
              <a:spcAft>
                <a:spcPts val="500"/>
              </a:spcAft>
              <a:buNone/>
            </a:pPr>
            <a:r>
              <a:rPr sz="1050" b="1">
                <a:solidFill>
                  <a:srgbClr val="000000"/>
                </a:solidFill>
              </a:rPr>
              <a:t>3. Held-out groups (H2): reserve human and AI configuration groups from training</a:t>
            </a:r>
          </a:p>
          <a:p xmlns:a="http://schemas.openxmlformats.org/drawingml/2006/main">
            <a:pPr>
              <a:spcAft>
                <a:spcPts val="500"/>
              </a:spcAft>
              <a:buNone/>
            </a:pPr>
            <a:r>
              <a:rPr sz="1050" b="1">
                <a:solidFill>
                  <a:srgbClr val="000000"/>
                </a:solidFill>
              </a:rPr>
              <a:t>4. Optional pacing stress test: AI instructed to mimic human pacing; same lab, window and ROE</a:t>
            </a:r>
          </a:p>
          <a:p xmlns:a="http://schemas.openxmlformats.org/drawingml/2006/main">
            <a:pPr>
              <a:spcAft>
                <a:spcPts val="500"/>
              </a:spcAft>
              <a:buNone/>
            </a:pPr>
            <a:r>
              <a:rPr sz="1050" b="1">
                <a:solidFill>
                  <a:srgbClr val="000000"/>
                </a:solidFill>
              </a:rPr>
              <a:t>5. Single locked evaluation: trial-level metrics on held-out and evasion trials, with grouped uncertainty</a:t>
            </a:r>
          </a:p>
          <a:p xmlns:a="http://schemas.openxmlformats.org/drawingml/2006/main">
            <a:pPr>
              <a:spcAft>
                <a:spcPts val="500"/>
              </a:spcAft>
              <a:buNone/>
            </a:pPr>
            <a:r>
              <a:rPr sz="1050" b="1">
                <a:solidFill>
                  <a:srgbClr val="000000"/>
                </a:solidFill>
              </a:rPr>
              <a:t>6. Frozen decision criteria: feature benefit (H1), logistic transfer (H2), paired SVM superiority (H3)</a:t>
            </a:r>
          </a:p>
          <a:p xmlns:a="http://schemas.openxmlformats.org/drawingml/2006/main">
            <a:pPr>
              <a:spcAft>
                <a:spcPts val="500"/>
              </a:spcAft>
              <a:buNone/>
            </a:pPr>
            <a:r>
              <a:rPr sz="1050" b="1">
                <a:solidFill>
                  <a:srgbClr val="000000"/>
                </a:solidFill>
              </a:rPr>
              <a:t>7. Report: held-out and evasion results with every trial and exclusion</a:t>
            </a:r>
          </a:p>
        </p:txBody>
      </p:sp>
      <p:sp>
        <p:nvSpPr>
          <p:cNvPr id="6" name="Magnetic Disk 5">
            <a:extLst xmlns:a="http://schemas.openxmlformats.org/drawingml/2006/main">
              <a:ext uri="{FF2B5EF4-FFF2-40B4-BE49-F238E27FC236}">
                <a16:creationId xmlns:a16="http://schemas.microsoft.com/office/drawing/2014/main" id="{4DA32DB5-DE35-4460-AFC9-3ED01D10DF13}"/>
              </a:ext>
            </a:extLst>
          </p:cNvPr>
          <p:cNvSpPr>
            <a:spLocks xmlns:a="http://schemas.openxmlformats.org/drawingml/2006/main" noGrp="1"/>
          </p:cNvSpPr>
          <p:nvPr/>
        </p:nvSpPr>
        <p:spPr>
          <a:xfrm xmlns:a="http://schemas.openxmlformats.org/drawingml/2006/main">
            <a:off x="777239" y="320040"/>
            <a:ext cx="2834640" cy="475488"/>
          </a:xfrm>
          <a:prstGeom xmlns:a="http://schemas.openxmlformats.org/drawingml/2006/main" prst="flowChartMagneticDisk">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Frozen development pipeline</a:t>
            </a:r>
          </a:p>
          <a:p xmlns:a="http://schemas.openxmlformats.org/drawingml/2006/main">
            <a:pPr algn="ctr">
              <a:buNone/>
            </a:pPr>
            <a:r>
              <a:rPr sz="1000" b="0">
                <a:solidFill>
                  <a:srgbClr val="FFFFFF"/>
                </a:solidFill>
              </a:rPr>
              <a:t>(frozen code + configs)</a:t>
            </a:r>
          </a:p>
        </p:txBody>
      </p:sp>
      <p:sp>
        <p:nvSpPr>
          <p:cNvPr id="7" name="Process 6">
            <a:extLst xmlns:a="http://schemas.openxmlformats.org/drawingml/2006/main">
              <a:ext uri="{FF2B5EF4-FFF2-40B4-BE49-F238E27FC236}">
                <a16:creationId xmlns:a16="http://schemas.microsoft.com/office/drawing/2014/main" id="{C3F48FA8-71D5-4D87-B8E4-FA97EE2913D4}"/>
              </a:ext>
            </a:extLst>
          </p:cNvPr>
          <p:cNvSpPr>
            <a:spLocks xmlns:a="http://schemas.openxmlformats.org/drawingml/2006/main" noGrp="1"/>
          </p:cNvSpPr>
          <p:nvPr/>
        </p:nvSpPr>
        <p:spPr>
          <a:xfrm xmlns:a="http://schemas.openxmlformats.org/drawingml/2006/main">
            <a:off x="777239" y="1078992"/>
            <a:ext cx="2834640" cy="475488"/>
          </a:xfrm>
          <a:prstGeom xmlns:a="http://schemas.openxmlformats.org/drawingml/2006/main" prst="flowChartProcess">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Feature and timing/tool ablations</a:t>
            </a:r>
          </a:p>
        </p:txBody>
      </p:sp>
      <p:sp>
        <p:nvSpPr>
          <p:cNvPr id="8" name="Process 7">
            <a:extLst xmlns:a="http://schemas.openxmlformats.org/drawingml/2006/main">
              <a:ext uri="{FF2B5EF4-FFF2-40B4-BE49-F238E27FC236}">
                <a16:creationId xmlns:a16="http://schemas.microsoft.com/office/drawing/2014/main" id="{8B372566-3BFF-4BAF-A654-C1DCA2FD6A75}"/>
              </a:ext>
            </a:extLst>
          </p:cNvPr>
          <p:cNvSpPr>
            <a:spLocks xmlns:a="http://schemas.openxmlformats.org/drawingml/2006/main" noGrp="1"/>
          </p:cNvSpPr>
          <p:nvPr/>
        </p:nvSpPr>
        <p:spPr>
          <a:xfrm xmlns:a="http://schemas.openxmlformats.org/drawingml/2006/main">
            <a:off x="777239" y="1837944"/>
            <a:ext cx="2834640" cy="475488"/>
          </a:xfrm>
          <a:prstGeom xmlns:a="http://schemas.openxmlformats.org/drawingml/2006/main" prst="flowChartProcess">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Reserve human and AI groups (H2)</a:t>
            </a:r>
          </a:p>
        </p:txBody>
      </p:sp>
      <p:sp>
        <p:nvSpPr>
          <p:cNvPr id="9" name="Data 8">
            <a:extLst xmlns:a="http://schemas.openxmlformats.org/drawingml/2006/main">
              <a:ext uri="{FF2B5EF4-FFF2-40B4-BE49-F238E27FC236}">
                <a16:creationId xmlns:a16="http://schemas.microsoft.com/office/drawing/2014/main" id="{3A749E7D-8FDA-46DA-B64F-AFC425005AF2}"/>
              </a:ext>
            </a:extLst>
          </p:cNvPr>
          <p:cNvSpPr>
            <a:spLocks xmlns:a="http://schemas.openxmlformats.org/drawingml/2006/main" noGrp="1"/>
          </p:cNvSpPr>
          <p:nvPr/>
        </p:nvSpPr>
        <p:spPr>
          <a:xfrm xmlns:a="http://schemas.openxmlformats.org/drawingml/2006/main">
            <a:off x="640080" y="2596896"/>
            <a:ext cx="3108960" cy="475488"/>
          </a:xfrm>
          <a:prstGeom xmlns:a="http://schemas.openxmlformats.org/drawingml/2006/main" prst="flowChartInputOutput">
            <a:avLst/>
          </a:prstGeom>
          <a:solidFill xmlns:a="http://schemas.openxmlformats.org/drawingml/2006/main">
            <a:srgbClr val="92D050"/>
          </a:solidFill>
          <a:ln xmlns:a="http://schemas.openxmlformats.org/drawingml/2006/main" w="12700">
            <a:solidFill>
              <a:srgbClr val="5F7D3A"/>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000000"/>
                </a:solidFill>
              </a:rPr>
              <a:t>Optional AI pacing stress test</a:t>
            </a:r>
          </a:p>
        </p:txBody>
      </p:sp>
      <p:sp>
        <p:nvSpPr>
          <p:cNvPr id="10" name="Process 9">
            <a:extLst xmlns:a="http://schemas.openxmlformats.org/drawingml/2006/main">
              <a:ext uri="{FF2B5EF4-FFF2-40B4-BE49-F238E27FC236}">
                <a16:creationId xmlns:a16="http://schemas.microsoft.com/office/drawing/2014/main" id="{A10AB79E-9608-4FF9-A28F-A580B8D00145}"/>
              </a:ext>
            </a:extLst>
          </p:cNvPr>
          <p:cNvSpPr>
            <a:spLocks xmlns:a="http://schemas.openxmlformats.org/drawingml/2006/main" noGrp="1"/>
          </p:cNvSpPr>
          <p:nvPr/>
        </p:nvSpPr>
        <p:spPr>
          <a:xfrm xmlns:a="http://schemas.openxmlformats.org/drawingml/2006/main">
            <a:off x="777239" y="3355848"/>
            <a:ext cx="2834640" cy="475488"/>
          </a:xfrm>
          <a:prstGeom xmlns:a="http://schemas.openxmlformats.org/drawingml/2006/main" prst="flowChartProcess">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Single locked evaluation</a:t>
            </a:r>
          </a:p>
          <a:p xmlns:a="http://schemas.openxmlformats.org/drawingml/2006/main">
            <a:pPr algn="ctr">
              <a:buNone/>
            </a:pPr>
            <a:r>
              <a:rPr sz="1000" b="0">
                <a:solidFill>
                  <a:srgbClr val="FFFFFF"/>
                </a:solidFill>
              </a:rPr>
              <a:t>(grouped uncertainty)</a:t>
            </a:r>
          </a:p>
        </p:txBody>
      </p:sp>
      <p:sp>
        <p:nvSpPr>
          <p:cNvPr id="11" name="Process 10">
            <a:extLst xmlns:a="http://schemas.openxmlformats.org/drawingml/2006/main">
              <a:ext uri="{FF2B5EF4-FFF2-40B4-BE49-F238E27FC236}">
                <a16:creationId xmlns:a16="http://schemas.microsoft.com/office/drawing/2014/main" id="{9C668C36-B647-4CBE-A6FE-55C731A3D43B}"/>
              </a:ext>
            </a:extLst>
          </p:cNvPr>
          <p:cNvSpPr>
            <a:spLocks xmlns:a="http://schemas.openxmlformats.org/drawingml/2006/main" noGrp="1"/>
          </p:cNvSpPr>
          <p:nvPr/>
        </p:nvSpPr>
        <p:spPr>
          <a:xfrm xmlns:a="http://schemas.openxmlformats.org/drawingml/2006/main">
            <a:off x="777239" y="4114800"/>
            <a:ext cx="2834640" cy="475488"/>
          </a:xfrm>
          <a:prstGeom xmlns:a="http://schemas.openxmlformats.org/drawingml/2006/main" prst="flowChartProcess">
            <a:avLst/>
          </a:prstGeom>
          <a:solidFill xmlns:a="http://schemas.openxmlformats.org/drawingml/2006/main">
            <a:srgbClr val="4F81BD"/>
          </a:solidFill>
          <a:ln xmlns:a="http://schemas.openxmlformats.org/drawingml/2006/main" w="12700">
            <a:solidFill>
              <a:srgbClr val="365F91"/>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FFFFFF"/>
                </a:solidFill>
              </a:rPr>
              <a:t>Compare with frozen H1–H3 criteria</a:t>
            </a:r>
          </a:p>
        </p:txBody>
      </p:sp>
      <p:sp>
        <p:nvSpPr>
          <p:cNvPr id="12" name="Terminator 11">
            <a:extLst xmlns:a="http://schemas.openxmlformats.org/drawingml/2006/main">
              <a:ext uri="{FF2B5EF4-FFF2-40B4-BE49-F238E27FC236}">
                <a16:creationId xmlns:a16="http://schemas.microsoft.com/office/drawing/2014/main" id="{7DFC8A4B-52AC-4F01-9645-4F0495F22278}"/>
              </a:ext>
            </a:extLst>
          </p:cNvPr>
          <p:cNvSpPr>
            <a:spLocks xmlns:a="http://schemas.openxmlformats.org/drawingml/2006/main" noGrp="1"/>
          </p:cNvSpPr>
          <p:nvPr/>
        </p:nvSpPr>
        <p:spPr>
          <a:xfrm xmlns:a="http://schemas.openxmlformats.org/drawingml/2006/main">
            <a:off x="777239" y="4873752"/>
            <a:ext cx="2834640" cy="475488"/>
          </a:xfrm>
          <a:prstGeom xmlns:a="http://schemas.openxmlformats.org/drawingml/2006/main" prst="flowChartTerminator">
            <a:avLst/>
          </a:prstGeom>
          <a:solidFill xmlns:a="http://schemas.openxmlformats.org/drawingml/2006/main">
            <a:srgbClr val="92D050"/>
          </a:solidFill>
          <a:ln xmlns:a="http://schemas.openxmlformats.org/drawingml/2006/main" w="12700">
            <a:solidFill>
              <a:srgbClr val="5F7D3A"/>
            </a:solidFill>
          </a:ln>
          <a:effectLst xmlns:a="http://schemas.openxmlformats.org/drawingml/2006/main">
            <a:outerShdw blurRad="38100" dist="25400" dir="5400000" rotWithShape="0">
              <a:srgbClr val="000000">
                <a:alpha val="35000"/>
              </a:srgbClr>
            </a:outerShdw>
          </a:effectLst>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36576" tIns="36576" rIns="36576" bIns="36576" anchor="ctr"/>
          <a:lstStyle xmlns:a="http://schemas.openxmlformats.org/drawingml/2006/main"/>
          <a:p xmlns:a="http://schemas.openxmlformats.org/drawingml/2006/main">
            <a:pPr algn="ctr">
              <a:buNone/>
            </a:pPr>
            <a:r>
              <a:rPr sz="1000" b="0">
                <a:solidFill>
                  <a:srgbClr val="000000"/>
                </a:solidFill>
              </a:rPr>
              <a:t>Report held-out and evasion performance</a:t>
            </a:r>
          </a:p>
        </p:txBody>
      </p:sp>
      <p:sp>
        <p:nvSpPr>
          <p:cNvPr id="13" name="Connector 12">
            <a:extLst xmlns:a="http://schemas.openxmlformats.org/drawingml/2006/main">
              <a:ext uri="{FF2B5EF4-FFF2-40B4-BE49-F238E27FC236}">
                <a16:creationId xmlns:a16="http://schemas.microsoft.com/office/drawing/2014/main" id="{4C2802FE-26E6-435C-8E26-8EFED93E367F}"/>
              </a:ext>
            </a:extLst>
          </p:cNvPr>
          <p:cNvSpPr>
            <a:spLocks xmlns:a="http://schemas.openxmlformats.org/drawingml/2006/main" noGrp="1"/>
          </p:cNvSpPr>
          <p:nvPr/>
        </p:nvSpPr>
        <p:spPr>
          <a:xfrm xmlns:a="http://schemas.openxmlformats.org/drawingml/2006/main">
            <a:off x="2194560" y="795528"/>
            <a:ext cx="0" cy="283464"/>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447C40AD-A6F2-41CE-BC02-34B8B46DCC5E}"/>
              </a:ext>
            </a:extLst>
          </p:cNvPr>
          <p:cNvSpPr>
            <a:spLocks xmlns:a="http://schemas.openxmlformats.org/drawingml/2006/main" noGrp="1"/>
          </p:cNvSpPr>
          <p:nvPr/>
        </p:nvSpPr>
        <p:spPr>
          <a:xfrm xmlns:a="http://schemas.openxmlformats.org/drawingml/2006/main">
            <a:off x="2194560" y="1554480"/>
            <a:ext cx="0" cy="283464"/>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A4F8ABD2-2C84-4285-B7A5-6133612A0BF5}"/>
              </a:ext>
            </a:extLst>
          </p:cNvPr>
          <p:cNvSpPr>
            <a:spLocks xmlns:a="http://schemas.openxmlformats.org/drawingml/2006/main" noGrp="1"/>
          </p:cNvSpPr>
          <p:nvPr/>
        </p:nvSpPr>
        <p:spPr>
          <a:xfrm xmlns:a="http://schemas.openxmlformats.org/drawingml/2006/main">
            <a:off x="2194560" y="2313432"/>
            <a:ext cx="0" cy="283464"/>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27F5B16-5FD7-4A68-A5CF-FCE2FCD38D1D}"/>
              </a:ext>
            </a:extLst>
          </p:cNvPr>
          <p:cNvSpPr>
            <a:spLocks xmlns:a="http://schemas.openxmlformats.org/drawingml/2006/main" noGrp="1"/>
          </p:cNvSpPr>
          <p:nvPr/>
        </p:nvSpPr>
        <p:spPr>
          <a:xfrm xmlns:a="http://schemas.openxmlformats.org/drawingml/2006/main">
            <a:off x="2194560" y="3072384"/>
            <a:ext cx="0" cy="283464"/>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657BDBBE-DE95-47B3-99E9-887F32534712}"/>
              </a:ext>
            </a:extLst>
          </p:cNvPr>
          <p:cNvSpPr>
            <a:spLocks xmlns:a="http://schemas.openxmlformats.org/drawingml/2006/main" noGrp="1"/>
          </p:cNvSpPr>
          <p:nvPr/>
        </p:nvSpPr>
        <p:spPr>
          <a:xfrm xmlns:a="http://schemas.openxmlformats.org/drawingml/2006/main">
            <a:off x="2194560" y="3831336"/>
            <a:ext cx="0" cy="283464"/>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E70A171B-340D-4C88-8A20-63A544EB733A}"/>
              </a:ext>
            </a:extLst>
          </p:cNvPr>
          <p:cNvSpPr>
            <a:spLocks xmlns:a="http://schemas.openxmlformats.org/drawingml/2006/main" noGrp="1"/>
          </p:cNvSpPr>
          <p:nvPr/>
        </p:nvSpPr>
        <p:spPr>
          <a:xfrm xmlns:a="http://schemas.openxmlformats.org/drawingml/2006/main">
            <a:off x="2194560" y="4590288"/>
            <a:ext cx="0" cy="283464"/>
          </a:xfrm>
          <a:prstGeom xmlns:a="http://schemas.openxmlformats.org/drawingml/2006/main" prst="line">
            <a:avLst/>
          </a:prstGeom>
          <a:ln xmlns:a="http://schemas.openxmlformats.org/drawingml/2006/main" w="19050">
            <a:solidFill>
              <a:srgbClr val="4F81BD"/>
            </a:solidFill>
            <a:tailEnd type="triangle" w="med" len="med"/>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62650312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4" name="Appendix background">
            <a:extLst xmlns:a="http://schemas.openxmlformats.org/drawingml/2006/main">
              <a:ext uri="{FF2B5EF4-FFF2-40B4-BE49-F238E27FC236}">
                <a16:creationId xmlns:a16="http://schemas.microsoft.com/office/drawing/2014/main" id="{32BC91EA-40D8-485F-9160-3715AAD647D1}"/>
              </a:ext>
            </a:extLst>
          </p:cNvPr>
          <p:cNvSpPr>
            <a:spLocks xmlns:a="http://schemas.openxmlformats.org/drawingml/2006/main" noGrp="1"/>
          </p:cNvSpPr>
          <p:nvPr/>
        </p:nvSpPr>
        <p:spPr>
          <a:xfrm xmlns:a="http://schemas.openxmlformats.org/drawingml/2006/main">
            <a:off x="0" y="0"/>
            <a:ext cx="9144000" cy="5559552"/>
          </a:xfrm>
          <a:prstGeom xmlns:a="http://schemas.openxmlformats.org/drawingml/2006/main" prst="rect">
            <a:avLst/>
          </a:prstGeom>
          <a:solidFill xmlns:a="http://schemas.openxmlformats.org/drawingml/2006/main">
            <a:srgbClr val="00A55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54864" tIns="36576" rIns="54864" bIns="36576" anchor="t"/>
          <a:lstStyle xmlns:a="http://schemas.openxmlformats.org/drawingml/2006/main"/>
          <a:p xmlns:a="http://schemas.openxmlformats.org/drawingml/2006/main">
            <a:pPr algn="ctr">
              <a:buNone/>
            </a:pPr>
            <a:endParaRPr/>
          </a:p>
        </p:txBody>
      </p:sp>
      <p:sp>
        <p:nvSpPr>
          <p:cNvPr id="3" name="Title 2">
            <a:extLst xmlns:a="http://schemas.openxmlformats.org/drawingml/2006/main">
              <a:ext uri="{FF2B5EF4-FFF2-40B4-BE49-F238E27FC236}">
                <a16:creationId xmlns:a16="http://schemas.microsoft.com/office/drawing/2014/main" id="{A2FB742D-2670-4E18-9D3A-6C8220F08AB0}"/>
              </a:ext>
            </a:extLst>
          </p:cNvPr>
          <p:cNvSpPr>
            <a:spLocks xmlns:a="http://schemas.openxmlformats.org/drawingml/2006/main" noGrp="1"/>
          </p:cNvSpPr>
          <p:nvPr>
            <p:ph type="title" idx="0"/>
          </p:nvPr>
        </p:nvSpPr>
        <p:spPr>
          <a:xfrm xmlns:a="http://schemas.openxmlformats.org/drawingml/2006/main">
            <a:off x="640080" y="2011680"/>
            <a:ext cx="7315200" cy="914400"/>
          </a:xfrm>
        </p:spPr>
        <p:txBody>
          <a:bodyPr xmlns:a="http://schemas.openxmlformats.org/drawingml/2006/main" wrap="square"/>
          <a:lstStyle xmlns:a="http://schemas.openxmlformats.org/drawingml/2006/main"/>
          <a:p xmlns:a="http://schemas.openxmlformats.org/drawingml/2006/main">
            <a:r>
              <a:rPr sz="4000" b="1">
                <a:solidFill>
                  <a:srgbClr val="FFFFFF"/>
                </a:solidFill>
              </a:rPr>
              <a:t>Appendix</a:t>
            </a:r>
          </a:p>
        </p:txBody>
      </p:sp>
    </p:spTree>
    <p:extLst>
      <p:ext uri="{BB962C8B-B14F-4D97-AF65-F5344CB8AC3E}">
        <p14:creationId xmlns:p14="http://schemas.microsoft.com/office/powerpoint/2010/main" val="176277633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56C65CE8-8AB5-4A36-9517-15AEF75BC583}"/>
              </a:ext>
            </a:extLst>
          </p:cNvPr>
          <p:cNvCxnSpPr>
            <a:stCxn xmlns:a="http://schemas.openxmlformats.org/drawingml/2006/main" id="8" idx="3"/>
            <a:endCxn xmlns:a="http://schemas.openxmlformats.org/drawingml/2006/main" id="9" idx="1"/>
          </p:cNvCxnSpPr>
          <p:nvPr/>
        </p:nvCxnSpPr>
        <p:spPr>
          <a:xfrm xmlns:a="http://schemas.openxmlformats.org/drawingml/2006/main">
            <a:off x="5524500" y="4691063"/>
            <a:ext cx="809625" cy="0"/>
          </a:xfrm>
          <a:prstGeom xmlns:a="http://schemas.openxmlformats.org/drawingml/2006/main" prst="straightConnector1">
            <a:avLst/>
          </a:prstGeom>
          <a:ln xmlns:a="http://schemas.openxmlformats.org/drawingml/2006/main" w="14288">
            <a:solidFill>
              <a:srgbClr val="4F81BD"/>
            </a:solidFill>
            <a:tailEnd type="triangle" w="sm" len="sm"/>
          </a:ln>
        </p:spPr>
      </p:cxnSp>
      <p:cxnSp>
        <p:nvCxnSpPr>
          <p:cNvPr id="16" name="">
            <a:extLst xmlns:a="http://schemas.openxmlformats.org/drawingml/2006/main">
              <a:ext uri="{FF2B5EF4-FFF2-40B4-BE49-F238E27FC236}">
                <a16:creationId xmlns:a16="http://schemas.microsoft.com/office/drawing/2014/main" id="{B8C1BD48-685E-4791-8627-F0B3D85A8796}"/>
              </a:ext>
            </a:extLst>
          </p:cNvPr>
          <p:cNvCxnSpPr>
            <a:stCxn xmlns:a="http://schemas.openxmlformats.org/drawingml/2006/main" id="6" idx="2"/>
            <a:endCxn xmlns:a="http://schemas.openxmlformats.org/drawingml/2006/main" id="8" idx="0"/>
          </p:cNvCxnSpPr>
          <p:nvPr/>
        </p:nvCxnSpPr>
        <p:spPr>
          <a:xfrm xmlns:a="http://schemas.openxmlformats.org/drawingml/2006/main">
            <a:off x="4429125" y="3905250"/>
            <a:ext cx="0" cy="523875"/>
          </a:xfrm>
          <a:prstGeom xmlns:a="http://schemas.openxmlformats.org/drawingml/2006/main" prst="straightConnector1">
            <a:avLst/>
          </a:prstGeom>
          <a:ln xmlns:a="http://schemas.openxmlformats.org/drawingml/2006/main" w="14288">
            <a:solidFill>
              <a:srgbClr val="4F81BD"/>
            </a:solidFill>
            <a:tailEnd type="triangle" w="sm" len="sm"/>
          </a:ln>
        </p:spPr>
      </p:cxnSp>
      <p:cxnSp>
        <p:nvCxnSpPr>
          <p:cNvPr id="15" name="">
            <a:extLst xmlns:a="http://schemas.openxmlformats.org/drawingml/2006/main">
              <a:ext uri="{FF2B5EF4-FFF2-40B4-BE49-F238E27FC236}">
                <a16:creationId xmlns:a16="http://schemas.microsoft.com/office/drawing/2014/main" id="{148120FE-DDF4-44C4-AF73-31A9598A0930}"/>
              </a:ext>
            </a:extLst>
          </p:cNvPr>
          <p:cNvCxnSpPr>
            <a:stCxn xmlns:a="http://schemas.openxmlformats.org/drawingml/2006/main" id="7" idx="1"/>
            <a:endCxn xmlns:a="http://schemas.openxmlformats.org/drawingml/2006/main" id="6" idx="3"/>
          </p:cNvCxnSpPr>
          <p:nvPr/>
        </p:nvCxnSpPr>
        <p:spPr>
          <a:xfrm xmlns:a="http://schemas.openxmlformats.org/drawingml/2006/main" flipH="1">
            <a:off x="5524500" y="3595688"/>
            <a:ext cx="809625" cy="0"/>
          </a:xfrm>
          <a:prstGeom xmlns:a="http://schemas.openxmlformats.org/drawingml/2006/main" prst="straightConnector1">
            <a:avLst/>
          </a:prstGeom>
          <a:ln xmlns:a="http://schemas.openxmlformats.org/drawingml/2006/main" w="14288">
            <a:solidFill>
              <a:srgbClr val="4F81BD"/>
            </a:solidFill>
            <a:tailEnd type="triangle" w="sm" len="sm"/>
          </a:ln>
        </p:spPr>
      </p:cxnSp>
      <p:cxnSp>
        <p:nvCxnSpPr>
          <p:cNvPr id="14" name="">
            <a:extLst xmlns:a="http://schemas.openxmlformats.org/drawingml/2006/main">
              <a:ext uri="{FF2B5EF4-FFF2-40B4-BE49-F238E27FC236}">
                <a16:creationId xmlns:a16="http://schemas.microsoft.com/office/drawing/2014/main" id="{AF67ED06-AF78-4A0E-B53C-683DCD0641CE}"/>
              </a:ext>
            </a:extLst>
          </p:cNvPr>
          <p:cNvCxnSpPr>
            <a:stCxn xmlns:a="http://schemas.openxmlformats.org/drawingml/2006/main" id="4" idx="2"/>
            <a:endCxn xmlns:a="http://schemas.openxmlformats.org/drawingml/2006/main" id="6" idx="3"/>
          </p:cNvCxnSpPr>
          <p:nvPr/>
        </p:nvCxnSpPr>
        <p:spPr>
          <a:xfrm xmlns:a="http://schemas.openxmlformats.org/drawingml/2006/main" flipH="1">
            <a:off x="5524500" y="1666875"/>
            <a:ext cx="2000250" cy="1928813"/>
          </a:xfrm>
          <a:prstGeom xmlns:a="http://schemas.openxmlformats.org/drawingml/2006/main" prst="bentConnector5">
            <a:avLst>
              <a:gd name="adj1" fmla="val 0"/>
              <a:gd name="adj2" fmla="val 11852"/>
              <a:gd name="adj3" fmla="val 88571"/>
            </a:avLst>
          </a:prstGeom>
          <a:ln xmlns:a="http://schemas.openxmlformats.org/drawingml/2006/main" w="14288">
            <a:solidFill>
              <a:srgbClr val="4F81BD"/>
            </a:solidFill>
            <a:tailEnd type="triangle" w="sm" len="sm"/>
          </a:ln>
        </p:spPr>
      </p:cxnSp>
      <p:cxnSp>
        <p:nvCxnSpPr>
          <p:cNvPr id="13" name="">
            <a:extLst xmlns:a="http://schemas.openxmlformats.org/drawingml/2006/main">
              <a:ext uri="{FF2B5EF4-FFF2-40B4-BE49-F238E27FC236}">
                <a16:creationId xmlns:a16="http://schemas.microsoft.com/office/drawing/2014/main" id="{66ABF305-82AB-47A6-9767-E4362D02C636}"/>
              </a:ext>
            </a:extLst>
          </p:cNvPr>
          <p:cNvCxnSpPr>
            <a:stCxn xmlns:a="http://schemas.openxmlformats.org/drawingml/2006/main" id="5" idx="2"/>
            <a:endCxn xmlns:a="http://schemas.openxmlformats.org/drawingml/2006/main" id="6" idx="0"/>
          </p:cNvCxnSpPr>
          <p:nvPr/>
        </p:nvCxnSpPr>
        <p:spPr>
          <a:xfrm xmlns:a="http://schemas.openxmlformats.org/drawingml/2006/main">
            <a:off x="4429125" y="2714625"/>
            <a:ext cx="0" cy="571500"/>
          </a:xfrm>
          <a:prstGeom xmlns:a="http://schemas.openxmlformats.org/drawingml/2006/main" prst="straightConnector1">
            <a:avLst/>
          </a:prstGeom>
          <a:ln xmlns:a="http://schemas.openxmlformats.org/drawingml/2006/main" w="14288">
            <a:solidFill>
              <a:srgbClr val="4F81BD"/>
            </a:solidFill>
            <a:tailEnd type="triangle" w="sm" len="sm"/>
          </a:ln>
        </p:spPr>
      </p:cxnSp>
      <p:cxnSp>
        <p:nvCxnSpPr>
          <p:cNvPr id="12" name="">
            <a:extLst xmlns:a="http://schemas.openxmlformats.org/drawingml/2006/main">
              <a:ext uri="{FF2B5EF4-FFF2-40B4-BE49-F238E27FC236}">
                <a16:creationId xmlns:a16="http://schemas.microsoft.com/office/drawing/2014/main" id="{74F13828-0E35-4AA9-8342-994FA0119F0B}"/>
              </a:ext>
            </a:extLst>
          </p:cNvPr>
          <p:cNvCxnSpPr>
            <a:stCxn xmlns:a="http://schemas.openxmlformats.org/drawingml/2006/main" id="4" idx="2"/>
            <a:endCxn xmlns:a="http://schemas.openxmlformats.org/drawingml/2006/main" id="5" idx="0"/>
          </p:cNvCxnSpPr>
          <p:nvPr/>
        </p:nvCxnSpPr>
        <p:spPr>
          <a:xfrm xmlns:a="http://schemas.openxmlformats.org/drawingml/2006/main" flipH="1">
            <a:off x="4429125" y="1666875"/>
            <a:ext cx="3095625" cy="523875"/>
          </a:xfrm>
          <a:prstGeom xmlns:a="http://schemas.openxmlformats.org/drawingml/2006/main" prst="bentConnector4">
            <a:avLst>
              <a:gd name="adj1" fmla="val 0"/>
              <a:gd name="adj2" fmla="val 50000"/>
            </a:avLst>
          </a:prstGeom>
          <a:ln xmlns:a="http://schemas.openxmlformats.org/drawingml/2006/main" w="14288">
            <a:solidFill>
              <a:srgbClr val="4F81BD"/>
            </a:solidFill>
            <a:tailEnd type="triangle" w="sm" len="sm"/>
          </a:ln>
        </p:spPr>
      </p:cxnSp>
      <p:cxnSp>
        <p:nvCxnSpPr>
          <p:cNvPr id="11" name="">
            <a:extLst xmlns:a="http://schemas.openxmlformats.org/drawingml/2006/main">
              <a:ext uri="{FF2B5EF4-FFF2-40B4-BE49-F238E27FC236}">
                <a16:creationId xmlns:a16="http://schemas.microsoft.com/office/drawing/2014/main" id="{1827DEAC-9287-4F88-855C-C9A32FBA9417}"/>
              </a:ext>
            </a:extLst>
          </p:cNvPr>
          <p:cNvCxnSpPr>
            <a:stCxn xmlns:a="http://schemas.openxmlformats.org/drawingml/2006/main" id="3" idx="2"/>
            <a:endCxn xmlns:a="http://schemas.openxmlformats.org/drawingml/2006/main" id="5" idx="0"/>
          </p:cNvCxnSpPr>
          <p:nvPr/>
        </p:nvCxnSpPr>
        <p:spPr>
          <a:xfrm xmlns:a="http://schemas.openxmlformats.org/drawingml/2006/main">
            <a:off x="4429125" y="1666875"/>
            <a:ext cx="0" cy="523875"/>
          </a:xfrm>
          <a:prstGeom xmlns:a="http://schemas.openxmlformats.org/drawingml/2006/main" prst="straightConnector1">
            <a:avLst/>
          </a:prstGeom>
          <a:ln xmlns:a="http://schemas.openxmlformats.org/drawingml/2006/main" w="14288">
            <a:solidFill>
              <a:srgbClr val="4F81BD"/>
            </a:solidFill>
            <a:tailEnd type="triangle" w="sm" len="sm"/>
          </a:ln>
        </p:spPr>
      </p:cxnSp>
      <p:cxnSp>
        <p:nvCxnSpPr>
          <p:cNvPr id="10" name="">
            <a:extLst xmlns:a="http://schemas.openxmlformats.org/drawingml/2006/main">
              <a:ext uri="{FF2B5EF4-FFF2-40B4-BE49-F238E27FC236}">
                <a16:creationId xmlns:a16="http://schemas.microsoft.com/office/drawing/2014/main" id="{30B06CBF-CB0C-4BF0-B729-ECD9F4D6078B}"/>
              </a:ext>
            </a:extLst>
          </p:cNvPr>
          <p:cNvCxnSpPr>
            <a:stCxn xmlns:a="http://schemas.openxmlformats.org/drawingml/2006/main" id="2" idx="2"/>
            <a:endCxn xmlns:a="http://schemas.openxmlformats.org/drawingml/2006/main" id="5" idx="0"/>
          </p:cNvCxnSpPr>
          <p:nvPr/>
        </p:nvCxnSpPr>
        <p:spPr>
          <a:xfrm xmlns:a="http://schemas.openxmlformats.org/drawingml/2006/main">
            <a:off x="1428750" y="1666875"/>
            <a:ext cx="3000375" cy="523875"/>
          </a:xfrm>
          <a:prstGeom xmlns:a="http://schemas.openxmlformats.org/drawingml/2006/main" prst="bentConnector4">
            <a:avLst>
              <a:gd name="adj1" fmla="val 0"/>
              <a:gd name="adj2" fmla="val 50000"/>
            </a:avLst>
          </a:prstGeom>
          <a:ln xmlns:a="http://schemas.openxmlformats.org/drawingml/2006/main" w="14288">
            <a:solidFill>
              <a:srgbClr val="4F81BD"/>
            </a:solidFill>
            <a:tailEnd type="triangle" w="sm" len="sm"/>
          </a:ln>
        </p:spPr>
      </p:cxnSp>
      <p:sp>
        <p:nvSpPr>
          <p:cNvPr id="19" name="">
            <a:extLst xmlns:a="http://schemas.openxmlformats.org/drawingml/2006/main">
              <a:ext uri="{FF2B5EF4-FFF2-40B4-BE49-F238E27FC236}">
                <a16:creationId xmlns:a16="http://schemas.microsoft.com/office/drawing/2014/main" id="{C54159D0-4456-4B49-8B71-AF9C846975BF}"/>
              </a:ext>
            </a:extLst>
          </p:cNvPr>
          <p:cNvSpPr>
            <a:spLocks xmlns:a="http://schemas.openxmlformats.org/drawingml/2006/main" noGrp="1"/>
          </p:cNvSpPr>
          <p:nvPr/>
        </p:nvSpPr>
        <p:spPr>
          <a:xfrm xmlns:a="http://schemas.openxmlformats.org/drawingml/2006/main">
            <a:off x="381000" y="238125"/>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22222"/>
                </a:solidFill>
              </a:defRPr>
            </a:defPPr>
          </a:lstStyle>
          <a:p xmlns:a="http://schemas.openxmlformats.org/drawingml/2006/main">
            <a:pPr>
              <a:defRPr sz="2250" b="1">
                <a:solidFill>
                  <a:srgbClr val="222222"/>
                </a:solidFill>
              </a:defRPr>
            </a:pPr>
            <a:r>
              <a:rPr sz="2250" b="1">
                <a:solidFill>
                  <a:srgbClr val="222222"/>
                </a:solidFill>
              </a:rPr>
              <a:t>Graphical Model Representation</a:t>
            </a:r>
          </a:p>
        </p:txBody>
      </p:sp>
      <p:sp>
        <p:nvSpPr>
          <p:cNvPr id="2" name="">
            <a:extLst xmlns:a="http://schemas.openxmlformats.org/drawingml/2006/main">
              <a:ext uri="{FF2B5EF4-FFF2-40B4-BE49-F238E27FC236}">
                <a16:creationId xmlns:a16="http://schemas.microsoft.com/office/drawing/2014/main" id="{C94B416D-F4BC-42DB-9810-900AE93C3504}"/>
              </a:ext>
            </a:extLst>
          </p:cNvPr>
          <p:cNvSpPr>
            <a:spLocks xmlns:a="http://schemas.openxmlformats.org/drawingml/2006/main" noGrp="1"/>
          </p:cNvSpPr>
          <p:nvPr/>
        </p:nvSpPr>
        <p:spPr>
          <a:xfrm xmlns:a="http://schemas.openxmlformats.org/drawingml/2006/main">
            <a:off x="333375" y="1047750"/>
            <a:ext cx="2190750" cy="61912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Operator type</a:t>
            </a:r>
          </a:p>
          <a:p xmlns:a="http://schemas.openxmlformats.org/drawingml/2006/main">
            <a:pPr>
              <a:defRPr sz="1425">
                <a:solidFill>
                  <a:srgbClr val="222222"/>
                </a:solidFill>
              </a:defRPr>
            </a:pPr>
            <a:r>
              <a:rPr sz="1425">
                <a:solidFill>
                  <a:srgbClr val="222222"/>
                </a:solidFill>
              </a:rPr>
              <a:t>human or autonomous AI</a:t>
            </a:r>
          </a:p>
        </p:txBody>
      </p:sp>
      <p:sp>
        <p:nvSpPr>
          <p:cNvPr id="3" name="">
            <a:extLst xmlns:a="http://schemas.openxmlformats.org/drawingml/2006/main">
              <a:ext uri="{FF2B5EF4-FFF2-40B4-BE49-F238E27FC236}">
                <a16:creationId xmlns:a16="http://schemas.microsoft.com/office/drawing/2014/main" id="{22EE5DA4-ACB5-44EA-BB3D-0BAD202AA57E}"/>
              </a:ext>
            </a:extLst>
          </p:cNvPr>
          <p:cNvSpPr>
            <a:spLocks xmlns:a="http://schemas.openxmlformats.org/drawingml/2006/main" noGrp="1"/>
          </p:cNvSpPr>
          <p:nvPr/>
        </p:nvSpPr>
        <p:spPr>
          <a:xfrm xmlns:a="http://schemas.openxmlformats.org/drawingml/2006/main">
            <a:off x="3333750" y="1047750"/>
            <a:ext cx="2190750" cy="61912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Task and objective</a:t>
            </a:r>
          </a:p>
        </p:txBody>
      </p:sp>
      <p:sp>
        <p:nvSpPr>
          <p:cNvPr id="4" name="">
            <a:extLst xmlns:a="http://schemas.openxmlformats.org/drawingml/2006/main">
              <a:ext uri="{FF2B5EF4-FFF2-40B4-BE49-F238E27FC236}">
                <a16:creationId xmlns:a16="http://schemas.microsoft.com/office/drawing/2014/main" id="{67BB6717-F1EA-4B2D-87B6-94FA470E87FA}"/>
              </a:ext>
            </a:extLst>
          </p:cNvPr>
          <p:cNvSpPr>
            <a:spLocks xmlns:a="http://schemas.openxmlformats.org/drawingml/2006/main" noGrp="1"/>
          </p:cNvSpPr>
          <p:nvPr/>
        </p:nvSpPr>
        <p:spPr>
          <a:xfrm xmlns:a="http://schemas.openxmlformats.org/drawingml/2006/main">
            <a:off x="6334125" y="1047750"/>
            <a:ext cx="2381250" cy="61912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Range, tools and route</a:t>
            </a:r>
          </a:p>
        </p:txBody>
      </p:sp>
      <p:sp>
        <p:nvSpPr>
          <p:cNvPr id="5" name="">
            <a:extLst xmlns:a="http://schemas.openxmlformats.org/drawingml/2006/main">
              <a:ext uri="{FF2B5EF4-FFF2-40B4-BE49-F238E27FC236}">
                <a16:creationId xmlns:a16="http://schemas.microsoft.com/office/drawing/2014/main" id="{2507FFED-7F6C-470A-9352-7FF600A037FB}"/>
              </a:ext>
            </a:extLst>
          </p:cNvPr>
          <p:cNvSpPr>
            <a:spLocks xmlns:a="http://schemas.openxmlformats.org/drawingml/2006/main" noGrp="1"/>
          </p:cNvSpPr>
          <p:nvPr/>
        </p:nvSpPr>
        <p:spPr>
          <a:xfrm xmlns:a="http://schemas.openxmlformats.org/drawingml/2006/main">
            <a:off x="3333750" y="2190750"/>
            <a:ext cx="2190750" cy="52387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500">
                <a:solidFill>
                  <a:srgbClr val="222222"/>
                </a:solidFill>
              </a:defRPr>
            </a:defPPr>
          </a:lstStyle>
          <a:p xmlns:a="http://schemas.openxmlformats.org/drawingml/2006/main">
            <a:pPr>
              <a:defRPr sz="1500">
                <a:solidFill>
                  <a:srgbClr val="222222"/>
                </a:solidFill>
              </a:defRPr>
            </a:pPr>
            <a:r>
              <a:rPr sz="1500">
                <a:solidFill>
                  <a:srgbClr val="222222"/>
                </a:solidFill>
              </a:rPr>
              <a:t>Behavior</a:t>
            </a:r>
          </a:p>
        </p:txBody>
      </p:sp>
      <p:sp>
        <p:nvSpPr>
          <p:cNvPr id="6" name="">
            <a:extLst xmlns:a="http://schemas.openxmlformats.org/drawingml/2006/main">
              <a:ext uri="{FF2B5EF4-FFF2-40B4-BE49-F238E27FC236}">
                <a16:creationId xmlns:a16="http://schemas.microsoft.com/office/drawing/2014/main" id="{6D98B8DE-63EC-4901-97C5-2A449C1A8B50}"/>
              </a:ext>
            </a:extLst>
          </p:cNvPr>
          <p:cNvSpPr>
            <a:spLocks xmlns:a="http://schemas.openxmlformats.org/drawingml/2006/main" noGrp="1"/>
          </p:cNvSpPr>
          <p:nvPr/>
        </p:nvSpPr>
        <p:spPr>
          <a:xfrm xmlns:a="http://schemas.openxmlformats.org/drawingml/2006/main">
            <a:off x="3333750" y="3286125"/>
            <a:ext cx="2190750" cy="61912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Observed target telemetry</a:t>
            </a:r>
          </a:p>
        </p:txBody>
      </p:sp>
      <p:sp>
        <p:nvSpPr>
          <p:cNvPr id="7" name="">
            <a:extLst xmlns:a="http://schemas.openxmlformats.org/drawingml/2006/main">
              <a:ext uri="{FF2B5EF4-FFF2-40B4-BE49-F238E27FC236}">
                <a16:creationId xmlns:a16="http://schemas.microsoft.com/office/drawing/2014/main" id="{FB2ACF01-F65D-4B36-B8F1-A533862CCEE1}"/>
              </a:ext>
            </a:extLst>
          </p:cNvPr>
          <p:cNvSpPr>
            <a:spLocks xmlns:a="http://schemas.openxmlformats.org/drawingml/2006/main" noGrp="1"/>
          </p:cNvSpPr>
          <p:nvPr/>
        </p:nvSpPr>
        <p:spPr>
          <a:xfrm xmlns:a="http://schemas.openxmlformats.org/drawingml/2006/main">
            <a:off x="6334125" y="3286125"/>
            <a:ext cx="2381250" cy="61912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Sensor quality</a:t>
            </a:r>
          </a:p>
        </p:txBody>
      </p:sp>
      <p:sp>
        <p:nvSpPr>
          <p:cNvPr id="8" name="">
            <a:extLst xmlns:a="http://schemas.openxmlformats.org/drawingml/2006/main">
              <a:ext uri="{FF2B5EF4-FFF2-40B4-BE49-F238E27FC236}">
                <a16:creationId xmlns:a16="http://schemas.microsoft.com/office/drawing/2014/main" id="{BC746680-6679-4B56-A703-DF53D385D557}"/>
              </a:ext>
            </a:extLst>
          </p:cNvPr>
          <p:cNvSpPr>
            <a:spLocks xmlns:a="http://schemas.openxmlformats.org/drawingml/2006/main" noGrp="1"/>
          </p:cNvSpPr>
          <p:nvPr/>
        </p:nvSpPr>
        <p:spPr>
          <a:xfrm xmlns:a="http://schemas.openxmlformats.org/drawingml/2006/main">
            <a:off x="3333750" y="4429125"/>
            <a:ext cx="2190750" cy="52387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500">
                <a:solidFill>
                  <a:srgbClr val="222222"/>
                </a:solidFill>
              </a:defRPr>
            </a:defPPr>
          </a:lstStyle>
          <a:p xmlns:a="http://schemas.openxmlformats.org/drawingml/2006/main">
            <a:pPr>
              <a:defRPr sz="1500">
                <a:solidFill>
                  <a:srgbClr val="222222"/>
                </a:solidFill>
              </a:defRPr>
            </a:pPr>
            <a:r>
              <a:rPr sz="1500">
                <a:solidFill>
                  <a:srgbClr val="222222"/>
                </a:solidFill>
              </a:rPr>
              <a:t>Trial features</a:t>
            </a:r>
          </a:p>
        </p:txBody>
      </p:sp>
      <p:sp>
        <p:nvSpPr>
          <p:cNvPr id="9" name="">
            <a:extLst xmlns:a="http://schemas.openxmlformats.org/drawingml/2006/main">
              <a:ext uri="{FF2B5EF4-FFF2-40B4-BE49-F238E27FC236}">
                <a16:creationId xmlns:a16="http://schemas.microsoft.com/office/drawing/2014/main" id="{90C5446E-FFA9-40CA-B2F5-F3EBDBA84BA4}"/>
              </a:ext>
            </a:extLst>
          </p:cNvPr>
          <p:cNvSpPr>
            <a:spLocks xmlns:a="http://schemas.openxmlformats.org/drawingml/2006/main" noGrp="1"/>
          </p:cNvSpPr>
          <p:nvPr/>
        </p:nvSpPr>
        <p:spPr>
          <a:xfrm xmlns:a="http://schemas.openxmlformats.org/drawingml/2006/main">
            <a:off x="6334125" y="4429125"/>
            <a:ext cx="2381250" cy="523875"/>
          </a:xfrm>
          <a:prstGeom xmlns:a="http://schemas.openxmlformats.org/drawingml/2006/main" prst="rect">
            <a:avLst/>
          </a:prstGeom>
          <a:solidFill xmlns:a="http://schemas.openxmlformats.org/drawingml/2006/main">
            <a:srgbClr val="DCE6F1"/>
          </a:solidFill>
          <a:ln xmlns:a="http://schemas.openxmlformats.org/drawingml/2006/main" w="9525">
            <a:solidFill>
              <a:srgbClr val="4F81BD"/>
            </a:solidFill>
          </a:ln>
        </p:spPr>
        <p:txBody>
          <a:bodyPr xmlns:a="http://schemas.openxmlformats.org/drawingml/2006/main"/>
          <a:lstStyle xmlns:a="http://schemas.openxmlformats.org/drawingml/2006/main">
            <a:defPPr>
              <a:defRPr sz="1500">
                <a:solidFill>
                  <a:srgbClr val="222222"/>
                </a:solidFill>
              </a:defRPr>
            </a:defPPr>
          </a:lstStyle>
          <a:p xmlns:a="http://schemas.openxmlformats.org/drawingml/2006/main">
            <a:pPr>
              <a:defRPr sz="1500">
                <a:solidFill>
                  <a:srgbClr val="222222"/>
                </a:solidFill>
              </a:defRPr>
            </a:pPr>
            <a:r>
              <a:rPr sz="1500">
                <a:solidFill>
                  <a:srgbClr val="222222"/>
                </a:solidFill>
              </a:rPr>
              <a:t>Predicted class</a:t>
            </a:r>
          </a:p>
        </p:txBody>
      </p:sp>
      <p:sp>
        <p:nvSpPr>
          <p:cNvPr id="18" name="">
            <a:extLst xmlns:a="http://schemas.openxmlformats.org/drawingml/2006/main">
              <a:ext uri="{FF2B5EF4-FFF2-40B4-BE49-F238E27FC236}">
                <a16:creationId xmlns:a16="http://schemas.microsoft.com/office/drawing/2014/main" id="{B8563FB7-E9F1-4A9A-83F5-D18BF1DE9E49}"/>
              </a:ext>
            </a:extLst>
          </p:cNvPr>
          <p:cNvSpPr>
            <a:spLocks xmlns:a="http://schemas.openxmlformats.org/drawingml/2006/main" noGrp="1"/>
          </p:cNvSpPr>
          <p:nvPr/>
        </p:nvSpPr>
        <p:spPr>
          <a:xfrm xmlns:a="http://schemas.openxmlformats.org/drawingml/2006/main">
            <a:off x="333375" y="5095875"/>
            <a:ext cx="838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222222"/>
                </a:solidFill>
              </a:defRPr>
            </a:defPPr>
          </a:lstStyle>
          <a:p xmlns:a="http://schemas.openxmlformats.org/drawingml/2006/main">
            <a:pPr>
              <a:defRPr sz="1200">
                <a:solidFill>
                  <a:srgbClr val="222222"/>
                </a:solidFill>
              </a:defRPr>
            </a:pPr>
            <a:r>
              <a:rPr sz="1200">
                <a:solidFill>
                  <a:srgbClr val="222222"/>
                </a:solidFill>
              </a:rPr>
              <a:t>Conceptual dependencies. The graph does not estimate causal effects.</a:t>
            </a:r>
          </a:p>
          <a:p xmlns:a="http://schemas.openxmlformats.org/drawingml/2006/main">
            <a:pPr>
              <a:defRPr sz="1200">
                <a:solidFill>
                  <a:srgbClr val="222222"/>
                </a:solidFill>
              </a:defRPr>
            </a:pPr>
            <a:r>
              <a:rPr sz="1200">
                <a:solidFill>
                  <a:srgbClr val="222222"/>
                </a:solidFill>
              </a:rPr>
              <a:t>Range and sensor controls address alternate paths to classification.</a:t>
            </a:r>
          </a:p>
        </p:txBody>
      </p:sp>
    </p:spTree>
    <p:extLst>
      <p:ext uri="{BB962C8B-B14F-4D97-AF65-F5344CB8AC3E}">
        <p14:creationId xmlns:p14="http://schemas.microsoft.com/office/powerpoint/2010/main" val="135524204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5E864D8-3309-4F4B-9928-81EA4FE389BB}"/>
              </a:ext>
            </a:extLst>
          </p:cNvPr>
          <p:cNvSpPr>
            <a:spLocks xmlns:a="http://schemas.openxmlformats.org/drawingml/2006/main" noGrp="1"/>
          </p:cNvSpPr>
          <p:nvPr/>
        </p:nvSpPr>
        <p:spPr>
          <a:xfrm xmlns:a="http://schemas.openxmlformats.org/drawingml/2006/main">
            <a:off x="381000" y="238125"/>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22222"/>
                </a:solidFill>
              </a:defRPr>
            </a:defPPr>
          </a:lstStyle>
          <a:p xmlns:a="http://schemas.openxmlformats.org/drawingml/2006/main">
            <a:pPr>
              <a:defRPr sz="2250" b="1">
                <a:solidFill>
                  <a:srgbClr val="222222"/>
                </a:solidFill>
              </a:defRPr>
            </a:pPr>
            <a:r>
              <a:rPr sz="2250" b="1">
                <a:solidFill>
                  <a:srgbClr val="222222"/>
                </a:solidFill>
              </a:rPr>
              <a:t>Exploratory Evidence and Remaining Test</a:t>
            </a:r>
          </a:p>
        </p:txBody>
      </p:sp>
      <p:graphicFrame>
        <p:nvGraphicFramePr>
          <p:cNvPr id="2" name="">
            <a:extLst xmlns:a="http://schemas.openxmlformats.org/drawingml/2006/main">
              <a:ext uri="{FF2B5EF4-FFF2-40B4-BE49-F238E27FC236}">
                <a16:creationId xmlns:a16="http://schemas.microsoft.com/office/drawing/2014/main" id="{70D6878D-B472-4162-A299-585B6B34D4AC}"/>
              </a:ext>
            </a:extLst>
          </p:cNvPr>
          <p:cNvGraphicFramePr/>
          <p:nvPr/>
        </p:nvGraphicFramePr>
        <p:xfrm>
          <a:off xmlns:a="http://schemas.openxmlformats.org/drawingml/2006/main" x="333375" y="1000125"/>
          <a:ext xmlns:a="http://schemas.openxmlformats.org/drawingml/2006/main" cx="8477250" cy="3190875"/>
        </p:xfrm>
        <a:graphic xmlns:a="http://schemas.openxmlformats.org/drawingml/2006/main">
          <a:graphicData uri="http://schemas.openxmlformats.org/drawingml/2006/table">
            <a:tbl>
              <a:tblPr/>
              <a:tblGrid>
                <a:gridCol w="3143250"/>
                <a:gridCol w="1905000"/>
                <a:gridCol w="3429000"/>
              </a:tblGrid>
              <a:tr h="531813">
                <a:tc>
                  <a:txBody>
                    <a:bodyPr/>
                    <a:lstStyle/>
                    <a:p>
                      <a:r>
                        <a:rPr sz="1350" b="1">
                          <a:solidFill>
                            <a:srgbClr val="FFFFFF"/>
                          </a:solidFill>
                        </a:rPr>
                        <a:t>Completed archive screen</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Group-balanced accuracy</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Interpretation</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531813">
                <a:tc>
                  <a:txBody>
                    <a:bodyPr/>
                    <a:lstStyle/>
                    <a:p>
                      <a:r>
                        <a:rPr sz="1350" b="0">
                          <a:solidFill>
                            <a:srgbClr val="222222"/>
                          </a:solidFill>
                        </a:rPr>
                        <a:t>Logistic: Honey to COCHISE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0.708</a:t>
                      </a:r>
                    </a:p>
                  </a:txBody>
                  <a:tcPr marL="91440" marR="91440" marT="45720" marB="45720">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Transfer is weaker than within-source results</a:t>
                      </a:r>
                    </a:p>
                  </a:txBody>
                  <a:tcPr marL="91440" marR="91440" marT="45720" marB="45720">
                    <a:lnR w="9525">
                      <a:solidFill>
                        <a:srgbClr val="FFFFFF"/>
                      </a:solidFill>
                      <a:prstDash val="solid"/>
                    </a:lnR>
                    <a:lnB w="9525">
                      <a:solidFill>
                        <a:srgbClr val="FFFFFF"/>
                      </a:solidFill>
                      <a:prstDash val="solid"/>
                    </a:lnB>
                    <a:solidFill>
                      <a:srgbClr val="D0D8E8"/>
                    </a:solidFill>
                  </a:tcPr>
                </a:tc>
              </a:tr>
              <a:tr h="531813">
                <a:tc>
                  <a:txBody>
                    <a:bodyPr/>
                    <a:lstStyle/>
                    <a:p>
                      <a:r>
                        <a:rPr sz="1350" b="0">
                          <a:solidFill>
                            <a:srgbClr val="222222"/>
                          </a:solidFill>
                        </a:rPr>
                        <a:t>Logistic: COCHISE to Honey</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0.662</a:t>
                      </a:r>
                    </a:p>
                  </a:txBody>
                  <a:tcPr marL="91440" marR="91440" marT="45720" marB="45720">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Direction of transfer matters</a:t>
                      </a:r>
                    </a:p>
                  </a:txBody>
                  <a:tcPr marL="91440" marR="91440" marT="45720" marB="45720">
                    <a:lnR w="9525">
                      <a:solidFill>
                        <a:srgbClr val="FFFFFF"/>
                      </a:solidFill>
                      <a:prstDash val="solid"/>
                    </a:lnR>
                    <a:lnB w="9525">
                      <a:solidFill>
                        <a:srgbClr val="FFFFFF"/>
                      </a:solidFill>
                      <a:prstDash val="solid"/>
                    </a:lnB>
                    <a:solidFill>
                      <a:srgbClr val="E9EDF4"/>
                    </a:solidFill>
                  </a:tcPr>
                </a:tc>
              </a:tr>
              <a:tr h="531813">
                <a:tc>
                  <a:txBody>
                    <a:bodyPr/>
                    <a:lstStyle/>
                    <a:p>
                      <a:r>
                        <a:rPr sz="1350" b="0">
                          <a:solidFill>
                            <a:srgbClr val="222222"/>
                          </a:solidFill>
                        </a:rPr>
                        <a:t>SVM: Honey to COCHISE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0.713</a:t>
                      </a:r>
                    </a:p>
                  </a:txBody>
                  <a:tcPr marL="91440" marR="91440" marT="45720" marB="45720">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Supports testing SVM, not a five-model win</a:t>
                      </a:r>
                    </a:p>
                  </a:txBody>
                  <a:tcPr marL="91440" marR="91440" marT="45720" marB="45720">
                    <a:lnR w="9525">
                      <a:solidFill>
                        <a:srgbClr val="FFFFFF"/>
                      </a:solidFill>
                      <a:prstDash val="solid"/>
                    </a:lnR>
                    <a:lnB w="9525">
                      <a:solidFill>
                        <a:srgbClr val="FFFFFF"/>
                      </a:solidFill>
                      <a:prstDash val="solid"/>
                    </a:lnB>
                    <a:solidFill>
                      <a:srgbClr val="D0D8E8"/>
                    </a:solidFill>
                  </a:tcPr>
                </a:tc>
              </a:tr>
              <a:tr h="531813">
                <a:tc>
                  <a:txBody>
                    <a:bodyPr/>
                    <a:lstStyle/>
                    <a:p>
                      <a:r>
                        <a:rPr sz="1350" b="0">
                          <a:solidFill>
                            <a:srgbClr val="222222"/>
                          </a:solidFill>
                        </a:rPr>
                        <a:t>SVM: COCHISE to Honey</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0.643</a:t>
                      </a:r>
                    </a:p>
                  </a:txBody>
                  <a:tcPr marL="91440" marR="91440" marT="45720" marB="45720">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Human and AI error rates still matter</a:t>
                      </a:r>
                    </a:p>
                  </a:txBody>
                  <a:tcPr marL="91440" marR="91440" marT="45720" marB="45720">
                    <a:lnR w="9525">
                      <a:solidFill>
                        <a:srgbClr val="FFFFFF"/>
                      </a:solidFill>
                      <a:prstDash val="solid"/>
                    </a:lnR>
                    <a:lnB w="9525">
                      <a:solidFill>
                        <a:srgbClr val="FFFFFF"/>
                      </a:solidFill>
                      <a:prstDash val="solid"/>
                    </a:lnB>
                    <a:solidFill>
                      <a:srgbClr val="E9EDF4"/>
                    </a:solidFill>
                  </a:tcPr>
                </a:tc>
              </a:tr>
              <a:tr h="531813">
                <a:tc>
                  <a:txBody>
                    <a:bodyPr/>
                    <a:lstStyle/>
                    <a:p>
                      <a:r>
                        <a:rPr sz="1350" b="0">
                          <a:solidFill>
                            <a:srgbClr val="222222"/>
                          </a:solidFill>
                        </a:rPr>
                        <a:t>AI-source recognition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0.988</a:t>
                      </a:r>
                    </a:p>
                  </a:txBody>
                  <a:tcPr marL="91440" marR="91440" marT="45720" marB="45720">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Strong collection/source confounding</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780D4ED7-31BC-495A-92F4-321182770D5F}"/>
              </a:ext>
            </a:extLst>
          </p:cNvPr>
          <p:cNvSpPr>
            <a:spLocks xmlns:a="http://schemas.openxmlformats.org/drawingml/2006/main" noGrp="1"/>
          </p:cNvSpPr>
          <p:nvPr/>
        </p:nvSpPr>
        <p:spPr>
          <a:xfrm xmlns:a="http://schemas.openxmlformats.org/drawingml/2006/main">
            <a:off x="333375" y="4524375"/>
            <a:ext cx="847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a:solidFill>
                  <a:srgbClr val="222222"/>
                </a:solidFill>
              </a:defRPr>
            </a:defPPr>
          </a:lstStyle>
          <a:p xmlns:a="http://schemas.openxmlformats.org/drawingml/2006/main">
            <a:pPr>
              <a:defRPr sz="1500">
                <a:solidFill>
                  <a:srgbClr val="222222"/>
                </a:solidFill>
              </a:defRPr>
            </a:pPr>
            <a:r>
              <a:rPr sz="1500">
                <a:solidFill>
                  <a:srgbClr val="222222"/>
                </a:solidFill>
              </a:rPr>
              <a:t>These observations use archived controller-command records from different studies.</a:t>
            </a:r>
          </a:p>
          <a:p xmlns:a="http://schemas.openxmlformats.org/drawingml/2006/main">
            <a:pPr>
              <a:defRPr sz="1500">
                <a:solidFill>
                  <a:srgbClr val="222222"/>
                </a:solidFill>
              </a:defRPr>
            </a:pPr>
            <a:r>
              <a:rPr sz="1500">
                <a:solidFill>
                  <a:srgbClr val="222222"/>
                </a:solidFill>
              </a:rPr>
              <a:t>The GOAD/ARTEMIS matched target-side pilot remains pending.</a:t>
            </a:r>
          </a:p>
          <a:p xmlns:a="http://schemas.openxmlformats.org/drawingml/2006/main">
            <a:pPr>
              <a:defRPr sz="1500">
                <a:solidFill>
                  <a:srgbClr val="222222"/>
                </a:solidFill>
              </a:defRPr>
            </a:pPr>
            <a:r>
              <a:rPr sz="1500">
                <a:solidFill>
                  <a:srgbClr val="222222"/>
                </a:solidFill>
              </a:rPr>
              <a:t>Red results in the working paper are illustrative and are excluded here.</a:t>
            </a:r>
          </a:p>
        </p:txBody>
      </p:sp>
    </p:spTree>
    <p:extLst>
      <p:ext uri="{BB962C8B-B14F-4D97-AF65-F5344CB8AC3E}">
        <p14:creationId xmlns:p14="http://schemas.microsoft.com/office/powerpoint/2010/main" val="193708584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A57578E-12C0-4BE6-8E65-DAD7F6B006C2}"/>
              </a:ext>
            </a:extLst>
          </p:cNvPr>
          <p:cNvSpPr>
            <a:spLocks xmlns:a="http://schemas.openxmlformats.org/drawingml/2006/main" noGrp="1"/>
          </p:cNvSpPr>
          <p:nvPr/>
        </p:nvSpPr>
        <p:spPr>
          <a:xfrm xmlns:a="http://schemas.openxmlformats.org/drawingml/2006/main">
            <a:off x="381000" y="238125"/>
            <a:ext cx="838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22222"/>
                </a:solidFill>
              </a:defRPr>
            </a:defPPr>
          </a:lstStyle>
          <a:p xmlns:a="http://schemas.openxmlformats.org/drawingml/2006/main">
            <a:pPr>
              <a:defRPr sz="2250" b="1">
                <a:solidFill>
                  <a:srgbClr val="222222"/>
                </a:solidFill>
              </a:defRPr>
            </a:pPr>
            <a:r>
              <a:rPr sz="2250" b="1">
                <a:solidFill>
                  <a:srgbClr val="222222"/>
                </a:solidFill>
              </a:rPr>
              <a:t>Pilot Decision and Delivery Targets</a:t>
            </a:r>
          </a:p>
        </p:txBody>
      </p:sp>
      <p:graphicFrame>
        <p:nvGraphicFramePr>
          <p:cNvPr id="2" name="">
            <a:extLst xmlns:a="http://schemas.openxmlformats.org/drawingml/2006/main">
              <a:ext uri="{FF2B5EF4-FFF2-40B4-BE49-F238E27FC236}">
                <a16:creationId xmlns:a16="http://schemas.microsoft.com/office/drawing/2014/main" id="{DC4E88BC-1BE9-4EE9-A438-8C2121156861}"/>
              </a:ext>
            </a:extLst>
          </p:cNvPr>
          <p:cNvGraphicFramePr/>
          <p:nvPr/>
        </p:nvGraphicFramePr>
        <p:xfrm>
          <a:off xmlns:a="http://schemas.openxmlformats.org/drawingml/2006/main" x="333375" y="1000125"/>
          <a:ext xmlns:a="http://schemas.openxmlformats.org/drawingml/2006/main" cx="8477250" cy="3810000"/>
        </p:xfrm>
        <a:graphic xmlns:a="http://schemas.openxmlformats.org/drawingml/2006/main">
          <a:graphicData uri="http://schemas.openxmlformats.org/drawingml/2006/table">
            <a:tbl>
              <a:tblPr/>
              <a:tblGrid>
                <a:gridCol w="2190750"/>
                <a:gridCol w="4191000"/>
                <a:gridCol w="2095500"/>
              </a:tblGrid>
              <a:tr h="635000">
                <a:tc>
                  <a:txBody>
                    <a:bodyPr/>
                    <a:lstStyle/>
                    <a:p>
                      <a:r>
                        <a:rPr sz="1350" b="1">
                          <a:solidFill>
                            <a:srgbClr val="FFFFFF"/>
                          </a:solidFill>
                        </a:rPr>
                        <a:t>Stage</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Evidence needed</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Decision</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35000">
                <a:tc>
                  <a:txBody>
                    <a:bodyPr/>
                    <a:lstStyle/>
                    <a:p>
                      <a:r>
                        <a:rPr sz="1350" b="0">
                          <a:solidFill>
                            <a:srgbClr val="222222"/>
                          </a:solidFill>
                        </a:rPr>
                        <a:t>GOAD / ARTEMIS pilot</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Verified resets, common target capture, reliable autonomous labels and measured cost</a:t>
                      </a:r>
                    </a:p>
                  </a:txBody>
                  <a:tcPr marL="91440" marR="91440" marT="45720" marB="45720">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Repair failed checks before full collection</a:t>
                      </a:r>
                    </a:p>
                  </a:txBody>
                  <a:tcPr marL="91440" marR="91440" marT="45720" marB="45720">
                    <a:lnR w="9525">
                      <a:solidFill>
                        <a:srgbClr val="FFFFFF"/>
                      </a:solidFill>
                      <a:prstDash val="solid"/>
                    </a:lnR>
                    <a:lnB w="9525">
                      <a:solidFill>
                        <a:srgbClr val="FFFFFF"/>
                      </a:solidFill>
                      <a:prstDash val="solid"/>
                    </a:lnB>
                    <a:solidFill>
                      <a:srgbClr val="D0D8E8"/>
                    </a:solidFill>
                  </a:tcPr>
                </a:tc>
              </a:tr>
              <a:tr h="635000">
                <a:tc>
                  <a:txBody>
                    <a:bodyPr/>
                    <a:lstStyle/>
                    <a:p>
                      <a:r>
                        <a:rPr sz="1350" b="0">
                          <a:solidFill>
                            <a:srgbClr val="222222"/>
                          </a:solidFill>
                        </a:rPr>
                        <a:t>Full collection readiness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Feasible independent humans/configurations, balanced tasks and frozen analysis plan</a:t>
                      </a:r>
                    </a:p>
                  </a:txBody>
                  <a:tcPr marL="91440" marR="91440" marT="45720" marB="45720">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Proceed only if the design can address all three RQs</a:t>
                      </a:r>
                    </a:p>
                  </a:txBody>
                  <a:tcPr marL="91440" marR="91440" marT="45720" marB="45720">
                    <a:lnR w="9525">
                      <a:solidFill>
                        <a:srgbClr val="FFFFFF"/>
                      </a:solidFill>
                      <a:prstDash val="solid"/>
                    </a:lnR>
                    <a:lnB w="9525">
                      <a:solidFill>
                        <a:srgbClr val="FFFFFF"/>
                      </a:solidFill>
                      <a:prstDash val="solid"/>
                    </a:lnB>
                    <a:solidFill>
                      <a:srgbClr val="E9EDF4"/>
                    </a:solidFill>
                  </a:tcPr>
                </a:tc>
              </a:tr>
              <a:tr h="635000">
                <a:tc>
                  <a:txBody>
                    <a:bodyPr/>
                    <a:lstStyle/>
                    <a:p>
                      <a:r>
                        <a:rPr sz="1350" b="0">
                          <a:solidFill>
                            <a:srgbClr val="222222"/>
                          </a:solidFill>
                        </a:rPr>
                        <a:t>Five-day collection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Matched human/AI trials plus separate scripted and benign controls</a:t>
                      </a:r>
                    </a:p>
                  </a:txBody>
                  <a:tcPr marL="91440" marR="91440" marT="45720" marB="45720">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Preserve all attempts and exclusions</a:t>
                      </a:r>
                    </a:p>
                  </a:txBody>
                  <a:tcPr marL="91440" marR="91440" marT="45720" marB="45720">
                    <a:lnR w="9525">
                      <a:solidFill>
                        <a:srgbClr val="FFFFFF"/>
                      </a:solidFill>
                      <a:prstDash val="solid"/>
                    </a:lnR>
                    <a:lnB w="9525">
                      <a:solidFill>
                        <a:srgbClr val="FFFFFF"/>
                      </a:solidFill>
                      <a:prstDash val="solid"/>
                    </a:lnB>
                    <a:solidFill>
                      <a:srgbClr val="D0D8E8"/>
                    </a:solidFill>
                  </a:tcPr>
                </a:tc>
              </a:tr>
              <a:tr h="635000">
                <a:tc>
                  <a:txBody>
                    <a:bodyPr/>
                    <a:lstStyle/>
                    <a:p>
                      <a:r>
                        <a:rPr sz="1350" b="0">
                          <a:solidFill>
                            <a:srgbClr val="222222"/>
                          </a:solidFill>
                        </a:rPr>
                        <a:t>Review target: November 14</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Evidence-backed working Praxis and required integrity-review materials</a:t>
                      </a:r>
                    </a:p>
                  </a:txBody>
                  <a:tcPr marL="91440" marR="91440" marT="45720" marB="45720">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Confirm program requirements</a:t>
                      </a:r>
                    </a:p>
                  </a:txBody>
                  <a:tcPr marL="91440" marR="91440" marT="45720" marB="45720">
                    <a:lnR w="9525">
                      <a:solidFill>
                        <a:srgbClr val="FFFFFF"/>
                      </a:solidFill>
                      <a:prstDash val="solid"/>
                    </a:lnR>
                    <a:lnB w="9525">
                      <a:solidFill>
                        <a:srgbClr val="FFFFFF"/>
                      </a:solidFill>
                      <a:prstDash val="solid"/>
                    </a:lnB>
                    <a:solidFill>
                      <a:srgbClr val="E9EDF4"/>
                    </a:solidFill>
                  </a:tcPr>
                </a:tc>
              </a:tr>
              <a:tr h="635000">
                <a:tc>
                  <a:txBody>
                    <a:bodyPr/>
                    <a:lstStyle/>
                    <a:p>
                      <a:r>
                        <a:rPr sz="1350" b="0">
                          <a:solidFill>
                            <a:srgbClr val="222222"/>
                          </a:solidFill>
                        </a:rPr>
                        <a:t>Defense target: December 1</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Final results, limitations, reproducibility package and slides</a:t>
                      </a:r>
                    </a:p>
                  </a:txBody>
                  <a:tcPr marL="91440" marR="91440" marT="45720" marB="45720">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Confirm institutional booking</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2FFBA12B-FA49-4BF3-A9AD-46850E7A7AC7}"/>
              </a:ext>
            </a:extLst>
          </p:cNvPr>
          <p:cNvSpPr>
            <a:spLocks xmlns:a="http://schemas.openxmlformats.org/drawingml/2006/main" noGrp="1"/>
          </p:cNvSpPr>
          <p:nvPr/>
        </p:nvSpPr>
        <p:spPr>
          <a:xfrm xmlns:a="http://schemas.openxmlformats.org/drawingml/2006/main">
            <a:off x="333375" y="50006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222222"/>
                </a:solidFill>
              </a:defRPr>
            </a:defPPr>
          </a:lstStyle>
          <a:p xmlns:a="http://schemas.openxmlformats.org/drawingml/2006/main">
            <a:pPr>
              <a:defRPr sz="1425">
                <a:solidFill>
                  <a:srgbClr val="222222"/>
                </a:solidFill>
              </a:defRPr>
            </a:pPr>
            <a:r>
              <a:rPr sz="1425">
                <a:solidFill>
                  <a:srgbClr val="222222"/>
                </a:solidFill>
              </a:rPr>
              <a:t>Current status: working paper available, formal hypotheses pending.</a:t>
            </a:r>
          </a:p>
          <a:p xmlns:a="http://schemas.openxmlformats.org/drawingml/2006/main">
            <a:pPr>
              <a:defRPr sz="1425">
                <a:solidFill>
                  <a:srgbClr val="222222"/>
                </a:solidFill>
              </a:defRPr>
            </a:pPr>
            <a:r>
              <a:rPr sz="1425">
                <a:solidFill>
                  <a:srgbClr val="222222"/>
                </a:solidFill>
              </a:rPr>
              <a:t>Pilot success establishes feasibility. Full collection must establish the research findings.</a:t>
            </a:r>
          </a:p>
        </p:txBody>
      </p:sp>
    </p:spTree>
    <p:extLst>
      <p:ext uri="{BB962C8B-B14F-4D97-AF65-F5344CB8AC3E}">
        <p14:creationId xmlns:p14="http://schemas.microsoft.com/office/powerpoint/2010/main" val="812012583"/>
      </p:ext>
    </p:extLst>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2026-10-24T17:47:08.9770000Z</dcterms:created>
  <dcterms:modified xsi:type="dcterms:W3CDTF">2026-10-24T17:47:08.9770000Z</dcterms:modified>
</coreProperties>
</file>