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 id="2147483694" r:id="rId2"/>
  </p:sldMasterIdLst>
  <p:notesMasterIdLst>
    <p:notesMasterId r:id="rId37"/>
  </p:notesMasterIdLst>
  <p:sldIdLst>
    <p:sldId id="256" r:id="rId3"/>
    <p:sldId id="257" r:id="rId4"/>
    <p:sldId id="258" r:id="rId5"/>
    <p:sldId id="259" r:id="rId6"/>
    <p:sldId id="260" r:id="rId7"/>
    <p:sldId id="289"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90" r:id="rId34"/>
    <p:sldId id="286" r:id="rId35"/>
    <p:sldId id="288" r:id="rId36"/>
    <p:sldId id="325" r:id="rIdUpdatedSlide35"/>
    <p:sldId id="326" r:id="rIdUpdatedSlide3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0AD47"/>
    <a:srgbClr val="FFC000"/>
    <a:srgbClr val="505046"/>
    <a:srgbClr val="B22600"/>
    <a:srgbClr val="4472C4"/>
    <a:srgbClr val="E84C22"/>
    <a:srgbClr val="44546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953"/>
    <p:restoredTop sz="94681"/>
  </p:normalViewPr>
  <p:slideViewPr>
    <p:cSldViewPr snapToGrid="0">
      <p:cViewPr varScale="1">
        <p:scale>
          <a:sx n="149" d="100"/>
          <a:sy n="149" d="100"/>
        </p:scale>
        <p:origin x="768" y="168"/>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presProps" Target="presProps.xml"/><Relationship Id="rIdUpdatedSlide35" Type="http://schemas.openxmlformats.org/officeDocument/2006/relationships/slide" Target="slides/slide35.xml"/><Relationship Id="rIdUpdatedSlide36"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CF2B60-A650-A240-9969-3833CC7E6942}" type="datetimeFigureOut">
              <a:rPr lang="en-US" smtClean="0"/>
              <a:t>10/21/26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6EB8F1-786E-1E4C-8521-6592BFBA63DE}" type="slidenum">
              <a:rPr lang="en-US" smtClean="0"/>
              <a:t>‹#›</a:t>
            </a:fld>
            <a:endParaRPr lang="en-US"/>
          </a:p>
        </p:txBody>
      </p:sp>
    </p:spTree>
    <p:extLst>
      <p:ext uri="{BB962C8B-B14F-4D97-AF65-F5344CB8AC3E}">
        <p14:creationId xmlns:p14="http://schemas.microsoft.com/office/powerpoint/2010/main" val="24525865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Alt (2026) reported Gradient Boosting at macro-F1 0.809 and Random Forest at 0.808 on Cowrie SSH data, a difference the author called within fold-to-fold variation. H3 tests whether Gradient Boosting keeps the top rank on multi-host APT telemetry when all eight classifiers get identical features, folds and tuning budgets. H4 (Phase 2) was H3 in the previous version.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1 status: in progress.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2 status: in progress.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3 status: planned.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4 status: planned.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5 status: planned.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6 status: planned.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7 status: planned.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8 status: planned.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9 status: planned.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10 status: planned.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the eight classifiers run in Steps 8 and 9. Gradient Boosting is the hypothesized best (RQ3/H3); the other seven span bagging, regularized boosting, single-tree, linear, maximum-margin, probabilistic and distance-based families so the comparison shows whether the advantage comes from boosting itself.</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Graphical model representation from the October 24 working Praxis, Chapter 3. Operator, task and range affect behavior. Behavior, environment and sensor quality affect telemetry. Features support prediction. No fitted Bayesian network or causal-effect estimate is claimed. Source: https://github.com/garypagangit/praxis/tree/praxis-research/paper/working-praxis-20261024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Author-specified design, October 24, 2026. GOAD and ARTEMIS are the preliminary test case. Model short IDs: Qwen 36711483afce (19 GB), Gemma 63f914bef7f4 (16 GB). Exact digests and local-model compatibility remain to be qualified. GOAD: https://github.com/Orange-Cyberdefense/GOAD . ARTEMIS study: https://arxiv.org/abs/2512.09882 . Updated questions: https://github.com/garypagangit/praxis/blob/praxis-research/PRAXIS_RESEARCH_DESIGN.md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1" descr="photos-ppt.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Title 1"/>
          <p:cNvSpPr>
            <a:spLocks noGrp="1"/>
          </p:cNvSpPr>
          <p:nvPr>
            <p:ph type="ctrTitle" hasCustomPrompt="1"/>
          </p:nvPr>
        </p:nvSpPr>
        <p:spPr>
          <a:xfrm>
            <a:off x="360379" y="601091"/>
            <a:ext cx="4301269"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a:t>Click to edit </a:t>
            </a:r>
            <a:br>
              <a:rPr lang="en-US"/>
            </a:br>
            <a:r>
              <a:rPr lang="en-US"/>
              <a:t>Master title style</a:t>
            </a:r>
          </a:p>
        </p:txBody>
      </p:sp>
      <p:sp>
        <p:nvSpPr>
          <p:cNvPr id="9" name="Subtitle 2"/>
          <p:cNvSpPr>
            <a:spLocks noGrp="1"/>
          </p:cNvSpPr>
          <p:nvPr>
            <p:ph type="subTitle" idx="1" hasCustomPrompt="1"/>
          </p:nvPr>
        </p:nvSpPr>
        <p:spPr>
          <a:xfrm>
            <a:off x="360379" y="3137687"/>
            <a:ext cx="4301269" cy="1752600"/>
          </a:xfrm>
          <a:prstGeom prst="rect">
            <a:avLst/>
          </a:prstGeom>
        </p:spPr>
        <p:txBody>
          <a:bodyPr/>
          <a:lstStyle>
            <a:lvl1pPr marL="0" indent="0" algn="l">
              <a:buNone/>
              <a:defRPr>
                <a:solidFill>
                  <a:srgbClr val="ECE9C6"/>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a:t>
            </a:r>
            <a:br>
              <a:rPr lang="en-US"/>
            </a:br>
            <a:r>
              <a:rPr lang="en-US"/>
              <a:t>subtitle style</a:t>
            </a:r>
          </a:p>
        </p:txBody>
      </p:sp>
    </p:spTree>
    <p:extLst>
      <p:ext uri="{BB962C8B-B14F-4D97-AF65-F5344CB8AC3E}">
        <p14:creationId xmlns:p14="http://schemas.microsoft.com/office/powerpoint/2010/main" val="29488283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2"/>
          <p:cNvSpPr>
            <a:spLocks noGrp="1"/>
          </p:cNvSpPr>
          <p:nvPr>
            <p:ph idx="1"/>
          </p:nvPr>
        </p:nvSpPr>
        <p:spPr>
          <a:xfrm>
            <a:off x="699248" y="1861441"/>
            <a:ext cx="7745505" cy="3170264"/>
          </a:xfrm>
          <a:prstGeom prst="rect">
            <a:avLst/>
          </a:prstGeom>
        </p:spPr>
        <p:txBody>
          <a:bodyPr/>
          <a:lstStyle>
            <a:lvl1pPr>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r>
              <a:rPr lang="en-US"/>
              <a:t>Click to edit Master text styles</a:t>
            </a:r>
          </a:p>
        </p:txBody>
      </p:sp>
      <p:sp>
        <p:nvSpPr>
          <p:cNvPr id="8" name="Title 10"/>
          <p:cNvSpPr>
            <a:spLocks noGrp="1"/>
          </p:cNvSpPr>
          <p:nvPr>
            <p:ph type="title"/>
          </p:nvPr>
        </p:nvSpPr>
        <p:spPr>
          <a:xfrm>
            <a:off x="688490" y="570156"/>
            <a:ext cx="7756263" cy="1054250"/>
          </a:xfrm>
          <a:prstGeom prst="rect">
            <a:avLst/>
          </a:prstGeom>
        </p:spPr>
        <p:txBody>
          <a:bodyPr/>
          <a:lstStyle>
            <a:lvl1pPr algn="l">
              <a:defRPr sz="4000" b="1">
                <a:solidFill>
                  <a:schemeClr val="tx1">
                    <a:lumMod val="75000"/>
                    <a:lumOff val="25000"/>
                  </a:schemeClr>
                </a:solidFill>
                <a:latin typeface="Arial"/>
                <a:cs typeface="Arial"/>
              </a:defRPr>
            </a:lvl1pPr>
          </a:lstStyle>
          <a:p>
            <a:r>
              <a:rPr lang="en-US"/>
              <a:t>Click to edit Master title style</a:t>
            </a:r>
          </a:p>
        </p:txBody>
      </p:sp>
    </p:spTree>
    <p:extLst>
      <p:ext uri="{BB962C8B-B14F-4D97-AF65-F5344CB8AC3E}">
        <p14:creationId xmlns:p14="http://schemas.microsoft.com/office/powerpoint/2010/main" val="7861476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Title 1"/>
          <p:cNvSpPr>
            <a:spLocks noGrp="1"/>
          </p:cNvSpPr>
          <p:nvPr>
            <p:ph type="title"/>
          </p:nvPr>
        </p:nvSpPr>
        <p:spPr>
          <a:xfrm>
            <a:off x="690041" y="1204857"/>
            <a:ext cx="7754713" cy="1910716"/>
          </a:xfrm>
          <a:prstGeom prst="rect">
            <a:avLst/>
          </a:prstGeom>
        </p:spPr>
        <p:txBody>
          <a:bodyPr anchor="b"/>
          <a:lstStyle>
            <a:lvl1pPr algn="ctr">
              <a:defRPr sz="5400" b="1" cap="none" baseline="0">
                <a:solidFill>
                  <a:srgbClr val="595959"/>
                </a:solidFill>
                <a:latin typeface="Arial"/>
                <a:cs typeface="Arial"/>
              </a:defRPr>
            </a:lvl1pPr>
          </a:lstStyle>
          <a:p>
            <a:r>
              <a:rPr lang="en-US"/>
              <a:t>Click to edit Master title style</a:t>
            </a:r>
          </a:p>
        </p:txBody>
      </p:sp>
      <p:sp>
        <p:nvSpPr>
          <p:cNvPr id="9" name="Text Placeholder 2"/>
          <p:cNvSpPr>
            <a:spLocks noGrp="1"/>
          </p:cNvSpPr>
          <p:nvPr>
            <p:ph type="body" idx="1"/>
          </p:nvPr>
        </p:nvSpPr>
        <p:spPr>
          <a:xfrm>
            <a:off x="699248" y="3324433"/>
            <a:ext cx="7734747" cy="1500187"/>
          </a:xfrm>
          <a:prstGeom prst="rect">
            <a:avLst/>
          </a:prstGeom>
        </p:spPr>
        <p:txBody>
          <a:bodyPr anchor="t"/>
          <a:lstStyle>
            <a:lvl1pPr marL="0" indent="0" algn="ctr">
              <a:buNone/>
              <a:defRPr sz="2000">
                <a:solidFill>
                  <a:srgbClr val="595959"/>
                </a:solidFill>
                <a:latin typeface="Arial"/>
                <a:cs typeface="Aria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540038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Areas">
    <p:spTree>
      <p:nvGrpSpPr>
        <p:cNvPr id="1" name=""/>
        <p:cNvGrpSpPr/>
        <p:nvPr/>
      </p:nvGrpSpPr>
      <p:grpSpPr>
        <a:xfrm>
          <a:off x="0" y="0"/>
          <a:ext cx="0" cy="0"/>
          <a:chOff x="0" y="0"/>
          <a:chExt cx="0" cy="0"/>
        </a:xfrm>
      </p:grpSpPr>
      <p:sp>
        <p:nvSpPr>
          <p:cNvPr id="10" name="Title 1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a:t>Click to edit Master title style</a:t>
            </a:r>
          </a:p>
        </p:txBody>
      </p:sp>
      <p:sp>
        <p:nvSpPr>
          <p:cNvPr id="11" name="Content Placeholder 7"/>
          <p:cNvSpPr>
            <a:spLocks noGrp="1"/>
          </p:cNvSpPr>
          <p:nvPr>
            <p:ph sz="quarter" idx="13"/>
          </p:nvPr>
        </p:nvSpPr>
        <p:spPr>
          <a:xfrm>
            <a:off x="685800"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
        <p:nvSpPr>
          <p:cNvPr id="12" name="Content Placeholder 9"/>
          <p:cNvSpPr>
            <a:spLocks noGrp="1"/>
          </p:cNvSpPr>
          <p:nvPr>
            <p:ph sz="quarter" idx="14"/>
          </p:nvPr>
        </p:nvSpPr>
        <p:spPr>
          <a:xfrm>
            <a:off x="4645151"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Tree>
    <p:extLst>
      <p:ext uri="{BB962C8B-B14F-4D97-AF65-F5344CB8AC3E}">
        <p14:creationId xmlns:p14="http://schemas.microsoft.com/office/powerpoint/2010/main" val="34239932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lumns with Subtitles">
    <p:spTree>
      <p:nvGrpSpPr>
        <p:cNvPr id="1" name=""/>
        <p:cNvGrpSpPr/>
        <p:nvPr/>
      </p:nvGrpSpPr>
      <p:grpSpPr>
        <a:xfrm>
          <a:off x="0" y="0"/>
          <a:ext cx="0" cy="0"/>
          <a:chOff x="0" y="0"/>
          <a:chExt cx="0" cy="0"/>
        </a:xfrm>
      </p:grpSpPr>
      <p:sp>
        <p:nvSpPr>
          <p:cNvPr id="6" name="Title 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a:t>Click to edit Master title style</a:t>
            </a:r>
          </a:p>
        </p:txBody>
      </p:sp>
      <p:sp>
        <p:nvSpPr>
          <p:cNvPr id="7" name="Text Placeholder 2"/>
          <p:cNvSpPr>
            <a:spLocks noGrp="1"/>
          </p:cNvSpPr>
          <p:nvPr>
            <p:ph type="body" idx="1"/>
          </p:nvPr>
        </p:nvSpPr>
        <p:spPr>
          <a:xfrm>
            <a:off x="688491" y="1783601"/>
            <a:ext cx="3621929"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3"/>
          <p:cNvSpPr>
            <a:spLocks noGrp="1"/>
          </p:cNvSpPr>
          <p:nvPr>
            <p:ph sz="half" idx="2"/>
          </p:nvPr>
        </p:nvSpPr>
        <p:spPr>
          <a:xfrm>
            <a:off x="688489" y="2622290"/>
            <a:ext cx="3621931" cy="2595107"/>
          </a:xfrm>
          <a:prstGeom prst="rect">
            <a:avLst/>
          </a:prstGeom>
        </p:spPr>
        <p:txBody>
          <a:bodyPr>
            <a:normAutofit/>
          </a:bodyPr>
          <a:lstStyle>
            <a:lvl1pPr>
              <a:defRPr sz="2000">
                <a:solidFill>
                  <a:srgbClr val="595959"/>
                </a:solidFill>
                <a:latin typeface="Arial"/>
                <a:cs typeface="Arial"/>
              </a:defRPr>
            </a:lvl1pPr>
            <a:lvl2pPr>
              <a:defRPr sz="2000">
                <a:latin typeface="Arial"/>
                <a:cs typeface="Arial"/>
              </a:defRPr>
            </a:lvl2pPr>
            <a:lvl3pPr>
              <a:defRPr sz="2000">
                <a:latin typeface="Arial"/>
                <a:cs typeface="Arial"/>
              </a:defRPr>
            </a:lvl3pPr>
            <a:lvl4pPr>
              <a:defRPr sz="2000">
                <a:latin typeface="Arial"/>
                <a:cs typeface="Arial"/>
              </a:defRPr>
            </a:lvl4pPr>
            <a:lvl5pPr>
              <a:defRPr sz="2000">
                <a:latin typeface="Arial"/>
                <a:cs typeface="Arial"/>
              </a:defRPr>
            </a:lvl5pPr>
            <a:lvl6pPr>
              <a:defRPr sz="1600"/>
            </a:lvl6pPr>
            <a:lvl7pPr>
              <a:defRPr sz="1600"/>
            </a:lvl7pPr>
            <a:lvl8pPr>
              <a:defRPr sz="1600"/>
            </a:lvl8pPr>
            <a:lvl9pPr>
              <a:defRPr sz="1600"/>
            </a:lvl9pPr>
          </a:lstStyle>
          <a:p>
            <a:pPr lvl="0"/>
            <a:r>
              <a:rPr lang="en-US"/>
              <a:t>Click to edit Master text styles</a:t>
            </a:r>
          </a:p>
        </p:txBody>
      </p:sp>
      <p:sp>
        <p:nvSpPr>
          <p:cNvPr id="9" name="Text Placeholder 4"/>
          <p:cNvSpPr>
            <a:spLocks noGrp="1"/>
          </p:cNvSpPr>
          <p:nvPr>
            <p:ph type="body" sz="quarter" idx="3"/>
          </p:nvPr>
        </p:nvSpPr>
        <p:spPr>
          <a:xfrm>
            <a:off x="4785879" y="1783601"/>
            <a:ext cx="3663716"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5"/>
          <p:cNvSpPr>
            <a:spLocks noGrp="1"/>
          </p:cNvSpPr>
          <p:nvPr>
            <p:ph sz="quarter" idx="4"/>
          </p:nvPr>
        </p:nvSpPr>
        <p:spPr>
          <a:xfrm>
            <a:off x="4785878" y="2619063"/>
            <a:ext cx="3658875" cy="2595107"/>
          </a:xfrm>
          <a:prstGeom prst="rect">
            <a:avLst/>
          </a:prstGeom>
        </p:spPr>
        <p:txBody>
          <a:bodyPr>
            <a:normAutofit/>
          </a:bodyPr>
          <a:lstStyle>
            <a:lvl1pPr>
              <a:defRPr sz="2000">
                <a:solidFill>
                  <a:srgbClr val="595959"/>
                </a:solidFill>
                <a:latin typeface="Arial"/>
                <a:cs typeface="Arial"/>
              </a:defRPr>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p:txBody>
      </p:sp>
    </p:spTree>
    <p:extLst>
      <p:ext uri="{BB962C8B-B14F-4D97-AF65-F5344CB8AC3E}">
        <p14:creationId xmlns:p14="http://schemas.microsoft.com/office/powerpoint/2010/main" val="9492561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5" name="Content Placeholder 2"/>
          <p:cNvSpPr>
            <a:spLocks noGrp="1"/>
          </p:cNvSpPr>
          <p:nvPr>
            <p:ph idx="1"/>
          </p:nvPr>
        </p:nvSpPr>
        <p:spPr>
          <a:xfrm>
            <a:off x="692003" y="559401"/>
            <a:ext cx="3580882" cy="4414019"/>
          </a:xfrm>
          <a:prstGeom prst="rect">
            <a:avLst/>
          </a:prstGeom>
        </p:spPr>
        <p:txBody>
          <a:bodyPr anchor="t">
            <a:normAutofit/>
          </a:bodyPr>
          <a:lstStyle>
            <a:lvl1pPr marL="0" indent="0" algn="l">
              <a:buNone/>
              <a:defRPr sz="2000">
                <a:solidFill>
                  <a:srgbClr val="595959"/>
                </a:solidFill>
                <a:latin typeface="Arial"/>
                <a:cs typeface="Arial"/>
              </a:defRPr>
            </a:lvl1pPr>
            <a:lvl2pPr algn="l">
              <a:defRPr sz="2000">
                <a:latin typeface="Arial"/>
                <a:cs typeface="Arial"/>
              </a:defRPr>
            </a:lvl2pPr>
            <a:lvl3pPr algn="l">
              <a:defRPr sz="2000">
                <a:latin typeface="Arial"/>
                <a:cs typeface="Arial"/>
              </a:defRPr>
            </a:lvl3pPr>
            <a:lvl4pPr algn="l">
              <a:defRPr sz="2000">
                <a:latin typeface="Arial"/>
                <a:cs typeface="Arial"/>
              </a:defRPr>
            </a:lvl4pPr>
            <a:lvl5pPr algn="l">
              <a:defRPr sz="2000">
                <a:latin typeface="Arial"/>
                <a:cs typeface="Arial"/>
              </a:defRPr>
            </a:lvl5pPr>
            <a:lvl6pPr>
              <a:defRPr sz="2000"/>
            </a:lvl6pPr>
            <a:lvl7pPr>
              <a:defRPr sz="2000"/>
            </a:lvl7pPr>
            <a:lvl8pPr>
              <a:defRPr sz="2000"/>
            </a:lvl8pPr>
            <a:lvl9pPr>
              <a:defRPr sz="2000"/>
            </a:lvl9pPr>
          </a:lstStyle>
          <a:p>
            <a:pPr lvl="0"/>
            <a:r>
              <a:rPr lang="en-US"/>
              <a:t>Click to edit Master text styles</a:t>
            </a:r>
          </a:p>
        </p:txBody>
      </p:sp>
      <p:sp>
        <p:nvSpPr>
          <p:cNvPr id="6" name="Text Placeholder 3"/>
          <p:cNvSpPr>
            <a:spLocks noGrp="1"/>
          </p:cNvSpPr>
          <p:nvPr>
            <p:ph type="body" sz="half" idx="2"/>
          </p:nvPr>
        </p:nvSpPr>
        <p:spPr>
          <a:xfrm>
            <a:off x="4889813" y="562026"/>
            <a:ext cx="3580882" cy="4414018"/>
          </a:xfrm>
          <a:prstGeom prst="rect">
            <a:avLst/>
          </a:prstGeom>
        </p:spPr>
        <p:txBody>
          <a:bodyPr>
            <a:normAutofit/>
          </a:bodyPr>
          <a:lstStyle>
            <a:lvl1pPr marL="0" indent="0">
              <a:buNone/>
              <a:defRPr sz="200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8595193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hoto with Caption">
    <p:spTree>
      <p:nvGrpSpPr>
        <p:cNvPr id="1" name=""/>
        <p:cNvGrpSpPr/>
        <p:nvPr/>
      </p:nvGrpSpPr>
      <p:grpSpPr>
        <a:xfrm>
          <a:off x="0" y="0"/>
          <a:ext cx="0" cy="0"/>
          <a:chOff x="0" y="0"/>
          <a:chExt cx="0" cy="0"/>
        </a:xfrm>
      </p:grpSpPr>
      <p:sp>
        <p:nvSpPr>
          <p:cNvPr id="8" name="Picture Placeholder 2"/>
          <p:cNvSpPr>
            <a:spLocks noGrp="1"/>
          </p:cNvSpPr>
          <p:nvPr>
            <p:ph type="pic" idx="1"/>
          </p:nvPr>
        </p:nvSpPr>
        <p:spPr>
          <a:xfrm rot="344365">
            <a:off x="773476" y="536674"/>
            <a:ext cx="7578326" cy="3491307"/>
          </a:xfrm>
          <a:prstGeom prst="rect">
            <a:avLst/>
          </a:prstGeom>
          <a:solidFill>
            <a:srgbClr val="FFFFFF">
              <a:shade val="85000"/>
            </a:srgbClr>
          </a:solidFill>
          <a:ln w="190500" cap="sq">
            <a:solidFill>
              <a:srgbClr val="FFFFFF"/>
            </a:solidFill>
            <a:miter lim="800000"/>
          </a:ln>
          <a:effectLst/>
          <a:scene3d>
            <a:camera prst="orthographicFront">
              <a:rot lat="0" lon="0" rev="360000"/>
            </a:camera>
            <a:lightRig rig="twoPt" dir="t">
              <a:rot lat="0" lon="0" rev="7200000"/>
            </a:lightRig>
          </a:scene3d>
          <a:sp3d contourW="12700">
            <a:contourClr>
              <a:srgbClr val="969696"/>
            </a:contourClr>
          </a:sp3d>
        </p:spPr>
        <p:txBody>
          <a:bodyPr>
            <a:normAutofit/>
          </a:bodyPr>
          <a:lstStyle>
            <a:lvl1pPr marL="0" indent="0">
              <a:buNone/>
              <a:defRPr sz="200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p>
        </p:txBody>
      </p:sp>
      <p:sp>
        <p:nvSpPr>
          <p:cNvPr id="9" name="Text Placeholder 3"/>
          <p:cNvSpPr>
            <a:spLocks noGrp="1"/>
          </p:cNvSpPr>
          <p:nvPr>
            <p:ph type="body" sz="half" idx="2"/>
          </p:nvPr>
        </p:nvSpPr>
        <p:spPr>
          <a:xfrm>
            <a:off x="688490" y="4486019"/>
            <a:ext cx="7756264" cy="804862"/>
          </a:xfrm>
          <a:prstGeom prst="rect">
            <a:avLst/>
          </a:prstGeom>
        </p:spPr>
        <p:txBody>
          <a:bodyPr>
            <a:normAutofit/>
          </a:bodyPr>
          <a:lstStyle>
            <a:lvl1pPr marL="0" indent="0" algn="ctr">
              <a:buNone/>
              <a:defRPr sz="1600" b="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5476621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pic>
        <p:nvPicPr>
          <p:cNvPr id="3" name="Picture 2" descr="PPT-General9.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21065294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with Custom Photo">
    <p:spTree>
      <p:nvGrpSpPr>
        <p:cNvPr id="1" name=""/>
        <p:cNvGrpSpPr/>
        <p:nvPr/>
      </p:nvGrpSpPr>
      <p:grpSpPr>
        <a:xfrm>
          <a:off x="0" y="0"/>
          <a:ext cx="0" cy="0"/>
          <a:chOff x="0" y="0"/>
          <a:chExt cx="0" cy="0"/>
        </a:xfrm>
      </p:grpSpPr>
      <p:pic>
        <p:nvPicPr>
          <p:cNvPr id="7" name="Picture 6" descr="bgblueonephoto.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Subtitle 2"/>
          <p:cNvSpPr>
            <a:spLocks noGrp="1"/>
          </p:cNvSpPr>
          <p:nvPr>
            <p:ph type="subTitle" idx="1" hasCustomPrompt="1"/>
          </p:nvPr>
        </p:nvSpPr>
        <p:spPr>
          <a:xfrm>
            <a:off x="360378" y="3137687"/>
            <a:ext cx="3658798" cy="1752600"/>
          </a:xfrm>
          <a:prstGeom prst="rect">
            <a:avLst/>
          </a:prstGeom>
        </p:spPr>
        <p:txBody>
          <a:bodyPr/>
          <a:lstStyle>
            <a:lvl1pPr marL="0" indent="0" algn="l">
              <a:buNone/>
              <a:defRPr>
                <a:solidFill>
                  <a:schemeClr val="bg2"/>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a:t>
            </a:r>
            <a:br>
              <a:rPr lang="en-US"/>
            </a:br>
            <a:r>
              <a:rPr lang="en-US"/>
              <a:t>subtitle style</a:t>
            </a:r>
          </a:p>
        </p:txBody>
      </p:sp>
      <p:sp>
        <p:nvSpPr>
          <p:cNvPr id="9" name="Title 1"/>
          <p:cNvSpPr>
            <a:spLocks noGrp="1"/>
          </p:cNvSpPr>
          <p:nvPr>
            <p:ph type="ctrTitle" hasCustomPrompt="1"/>
          </p:nvPr>
        </p:nvSpPr>
        <p:spPr>
          <a:xfrm>
            <a:off x="360379" y="601091"/>
            <a:ext cx="4480563"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a:t>Click to edit </a:t>
            </a:r>
            <a:br>
              <a:rPr lang="en-US"/>
            </a:br>
            <a:r>
              <a:rPr lang="en-US"/>
              <a:t>Master title style</a:t>
            </a:r>
          </a:p>
        </p:txBody>
      </p:sp>
      <p:sp>
        <p:nvSpPr>
          <p:cNvPr id="10" name="Picture Placeholder 8"/>
          <p:cNvSpPr>
            <a:spLocks noGrp="1" noChangeAspect="1"/>
          </p:cNvSpPr>
          <p:nvPr>
            <p:ph type="pic" sz="quarter" idx="10" hasCustomPrompt="1"/>
          </p:nvPr>
        </p:nvSpPr>
        <p:spPr>
          <a:xfrm>
            <a:off x="1954870" y="0"/>
            <a:ext cx="7201580" cy="6858000"/>
          </a:xfrm>
          <a:custGeom>
            <a:avLst/>
            <a:gdLst>
              <a:gd name="connsiteX0" fmla="*/ 0 w 7201580"/>
              <a:gd name="connsiteY0" fmla="*/ 0 h 6858000"/>
              <a:gd name="connsiteX1" fmla="*/ 7201580 w 7201580"/>
              <a:gd name="connsiteY1" fmla="*/ 0 h 6858000"/>
              <a:gd name="connsiteX2" fmla="*/ 7201580 w 7201580"/>
              <a:gd name="connsiteY2" fmla="*/ 6858000 h 6858000"/>
              <a:gd name="connsiteX3" fmla="*/ 0 w 7201580"/>
              <a:gd name="connsiteY3" fmla="*/ 6858000 h 6858000"/>
              <a:gd name="connsiteX4" fmla="*/ 0 w 7201580"/>
              <a:gd name="connsiteY4" fmla="*/ 0 h 6858000"/>
              <a:gd name="connsiteX0" fmla="*/ 5050118 w 7201580"/>
              <a:gd name="connsiteY0" fmla="*/ 74706 h 6858000"/>
              <a:gd name="connsiteX1" fmla="*/ 7201580 w 7201580"/>
              <a:gd name="connsiteY1" fmla="*/ 0 h 6858000"/>
              <a:gd name="connsiteX2" fmla="*/ 7201580 w 7201580"/>
              <a:gd name="connsiteY2" fmla="*/ 6858000 h 6858000"/>
              <a:gd name="connsiteX3" fmla="*/ 0 w 7201580"/>
              <a:gd name="connsiteY3" fmla="*/ 6858000 h 6858000"/>
              <a:gd name="connsiteX4" fmla="*/ 5050118 w 7201580"/>
              <a:gd name="connsiteY4" fmla="*/ 74706 h 6858000"/>
              <a:gd name="connsiteX0" fmla="*/ 5020236 w 7201580"/>
              <a:gd name="connsiteY0" fmla="*/ 29883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29883 h 6858000"/>
              <a:gd name="connsiteX0" fmla="*/ 5020236 w 7201580"/>
              <a:gd name="connsiteY0" fmla="*/ 14941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14941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01580" h="6858000">
                <a:moveTo>
                  <a:pt x="5020236" y="14941"/>
                </a:moveTo>
                <a:lnTo>
                  <a:pt x="7201580" y="0"/>
                </a:lnTo>
                <a:lnTo>
                  <a:pt x="7201580" y="6858000"/>
                </a:lnTo>
                <a:lnTo>
                  <a:pt x="0" y="6858000"/>
                </a:lnTo>
                <a:lnTo>
                  <a:pt x="5020236" y="14941"/>
                </a:lnTo>
                <a:close/>
              </a:path>
            </a:pathLst>
          </a:custGeom>
        </p:spPr>
        <p:txBody>
          <a:bodyPr vert="horz" anchor="ctr"/>
          <a:lstStyle>
            <a:lvl1pPr algn="r">
              <a:lnSpc>
                <a:spcPct val="100000"/>
              </a:lnSpc>
              <a:defRPr sz="2000">
                <a:solidFill>
                  <a:srgbClr val="ECE9C6"/>
                </a:solidFill>
                <a:latin typeface="Arial"/>
                <a:cs typeface="Arial"/>
              </a:defRPr>
            </a:lvl1pPr>
          </a:lstStyle>
          <a:p>
            <a:r>
              <a:rPr lang="en-US"/>
              <a:t>Drag picture to placeholder </a:t>
            </a:r>
            <a:br>
              <a:rPr lang="en-US"/>
            </a:br>
            <a:r>
              <a:rPr lang="en-US"/>
              <a:t>or click icon to add</a:t>
            </a:r>
          </a:p>
        </p:txBody>
      </p:sp>
    </p:spTree>
    <p:extLst>
      <p:ext uri="{BB962C8B-B14F-4D97-AF65-F5344CB8AC3E}">
        <p14:creationId xmlns:p14="http://schemas.microsoft.com/office/powerpoint/2010/main" val="8917877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1" descr="photos-ppt.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Title 1"/>
          <p:cNvSpPr>
            <a:spLocks noGrp="1"/>
          </p:cNvSpPr>
          <p:nvPr>
            <p:ph type="ctrTitle" hasCustomPrompt="1"/>
          </p:nvPr>
        </p:nvSpPr>
        <p:spPr>
          <a:xfrm>
            <a:off x="360379" y="601091"/>
            <a:ext cx="4301269"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a:t>Click to edit </a:t>
            </a:r>
            <a:br>
              <a:rPr lang="en-US"/>
            </a:br>
            <a:r>
              <a:rPr lang="en-US"/>
              <a:t>Master title style</a:t>
            </a:r>
          </a:p>
        </p:txBody>
      </p:sp>
      <p:sp>
        <p:nvSpPr>
          <p:cNvPr id="9" name="Subtitle 2"/>
          <p:cNvSpPr>
            <a:spLocks noGrp="1"/>
          </p:cNvSpPr>
          <p:nvPr>
            <p:ph type="subTitle" idx="1" hasCustomPrompt="1"/>
          </p:nvPr>
        </p:nvSpPr>
        <p:spPr>
          <a:xfrm>
            <a:off x="360379" y="3137687"/>
            <a:ext cx="4301269" cy="1752600"/>
          </a:xfrm>
          <a:prstGeom prst="rect">
            <a:avLst/>
          </a:prstGeom>
        </p:spPr>
        <p:txBody>
          <a:bodyPr/>
          <a:lstStyle>
            <a:lvl1pPr marL="0" indent="0" algn="l">
              <a:buNone/>
              <a:defRPr>
                <a:solidFill>
                  <a:srgbClr val="ECE9C6"/>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a:t>
            </a:r>
            <a:br>
              <a:rPr lang="en-US"/>
            </a:br>
            <a:r>
              <a:rPr lang="en-US"/>
              <a:t>subtitle style</a:t>
            </a:r>
          </a:p>
        </p:txBody>
      </p:sp>
    </p:spTree>
    <p:extLst>
      <p:ext uri="{BB962C8B-B14F-4D97-AF65-F5344CB8AC3E}">
        <p14:creationId xmlns:p14="http://schemas.microsoft.com/office/powerpoint/2010/main" val="16495569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2"/>
          <p:cNvSpPr>
            <a:spLocks noGrp="1"/>
          </p:cNvSpPr>
          <p:nvPr>
            <p:ph idx="1"/>
          </p:nvPr>
        </p:nvSpPr>
        <p:spPr>
          <a:xfrm>
            <a:off x="699248" y="1264358"/>
            <a:ext cx="7745505" cy="4007555"/>
          </a:xfrm>
          <a:prstGeom prst="rect">
            <a:avLst/>
          </a:prstGeom>
        </p:spPr>
        <p:txBody>
          <a:bodyPr/>
          <a:lstStyle>
            <a:lvl1pPr>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r>
              <a:rPr lang="en-US"/>
              <a:t>Click to edit Master text styles</a:t>
            </a:r>
          </a:p>
        </p:txBody>
      </p:sp>
      <p:sp>
        <p:nvSpPr>
          <p:cNvPr id="8" name="Title 10"/>
          <p:cNvSpPr>
            <a:spLocks noGrp="1"/>
          </p:cNvSpPr>
          <p:nvPr>
            <p:ph type="title"/>
          </p:nvPr>
        </p:nvSpPr>
        <p:spPr>
          <a:xfrm>
            <a:off x="688490" y="366958"/>
            <a:ext cx="7756263" cy="739355"/>
          </a:xfrm>
          <a:prstGeom prst="rect">
            <a:avLst/>
          </a:prstGeom>
        </p:spPr>
        <p:txBody>
          <a:bodyPr/>
          <a:lstStyle>
            <a:lvl1pPr algn="l">
              <a:defRPr sz="4000" b="1">
                <a:solidFill>
                  <a:schemeClr val="tx1">
                    <a:lumMod val="75000"/>
                    <a:lumOff val="25000"/>
                  </a:schemeClr>
                </a:solidFill>
                <a:latin typeface="Arial"/>
                <a:cs typeface="Arial"/>
              </a:defRPr>
            </a:lvl1pPr>
          </a:lstStyle>
          <a:p>
            <a:r>
              <a:rPr lang="en-US"/>
              <a:t>Click to edit Master title style</a:t>
            </a:r>
          </a:p>
        </p:txBody>
      </p:sp>
    </p:spTree>
    <p:extLst>
      <p:ext uri="{BB962C8B-B14F-4D97-AF65-F5344CB8AC3E}">
        <p14:creationId xmlns:p14="http://schemas.microsoft.com/office/powerpoint/2010/main" val="20642732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Title 1"/>
          <p:cNvSpPr>
            <a:spLocks noGrp="1"/>
          </p:cNvSpPr>
          <p:nvPr>
            <p:ph type="title"/>
          </p:nvPr>
        </p:nvSpPr>
        <p:spPr>
          <a:xfrm>
            <a:off x="690041" y="1204857"/>
            <a:ext cx="7754713" cy="1910716"/>
          </a:xfrm>
          <a:prstGeom prst="rect">
            <a:avLst/>
          </a:prstGeom>
        </p:spPr>
        <p:txBody>
          <a:bodyPr anchor="b"/>
          <a:lstStyle>
            <a:lvl1pPr algn="ctr">
              <a:defRPr sz="5400" b="1" cap="none" baseline="0">
                <a:solidFill>
                  <a:srgbClr val="595959"/>
                </a:solidFill>
                <a:latin typeface="Arial"/>
                <a:cs typeface="Arial"/>
              </a:defRPr>
            </a:lvl1pPr>
          </a:lstStyle>
          <a:p>
            <a:r>
              <a:rPr lang="en-US"/>
              <a:t>Click to edit Master title style</a:t>
            </a:r>
          </a:p>
        </p:txBody>
      </p:sp>
      <p:sp>
        <p:nvSpPr>
          <p:cNvPr id="9" name="Text Placeholder 2"/>
          <p:cNvSpPr>
            <a:spLocks noGrp="1"/>
          </p:cNvSpPr>
          <p:nvPr>
            <p:ph type="body" idx="1"/>
          </p:nvPr>
        </p:nvSpPr>
        <p:spPr>
          <a:xfrm>
            <a:off x="699248" y="3324433"/>
            <a:ext cx="7734747" cy="1500187"/>
          </a:xfrm>
          <a:prstGeom prst="rect">
            <a:avLst/>
          </a:prstGeom>
        </p:spPr>
        <p:txBody>
          <a:bodyPr anchor="t"/>
          <a:lstStyle>
            <a:lvl1pPr marL="0" indent="0" algn="ctr">
              <a:buNone/>
              <a:defRPr sz="2000">
                <a:solidFill>
                  <a:srgbClr val="595959"/>
                </a:solidFill>
                <a:latin typeface="Arial"/>
                <a:cs typeface="Aria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6284256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Areas">
    <p:spTree>
      <p:nvGrpSpPr>
        <p:cNvPr id="1" name=""/>
        <p:cNvGrpSpPr/>
        <p:nvPr/>
      </p:nvGrpSpPr>
      <p:grpSpPr>
        <a:xfrm>
          <a:off x="0" y="0"/>
          <a:ext cx="0" cy="0"/>
          <a:chOff x="0" y="0"/>
          <a:chExt cx="0" cy="0"/>
        </a:xfrm>
      </p:grpSpPr>
      <p:sp>
        <p:nvSpPr>
          <p:cNvPr id="10" name="Title 1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a:t>Click to edit Master title style</a:t>
            </a:r>
          </a:p>
        </p:txBody>
      </p:sp>
      <p:sp>
        <p:nvSpPr>
          <p:cNvPr id="11" name="Content Placeholder 7"/>
          <p:cNvSpPr>
            <a:spLocks noGrp="1"/>
          </p:cNvSpPr>
          <p:nvPr>
            <p:ph sz="quarter" idx="13"/>
          </p:nvPr>
        </p:nvSpPr>
        <p:spPr>
          <a:xfrm>
            <a:off x="685800"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
        <p:nvSpPr>
          <p:cNvPr id="12" name="Content Placeholder 9"/>
          <p:cNvSpPr>
            <a:spLocks noGrp="1"/>
          </p:cNvSpPr>
          <p:nvPr>
            <p:ph sz="quarter" idx="14"/>
          </p:nvPr>
        </p:nvSpPr>
        <p:spPr>
          <a:xfrm>
            <a:off x="4645151"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Tree>
    <p:extLst>
      <p:ext uri="{BB962C8B-B14F-4D97-AF65-F5344CB8AC3E}">
        <p14:creationId xmlns:p14="http://schemas.microsoft.com/office/powerpoint/2010/main" val="36459362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lumns with Subtitles">
    <p:spTree>
      <p:nvGrpSpPr>
        <p:cNvPr id="1" name=""/>
        <p:cNvGrpSpPr/>
        <p:nvPr/>
      </p:nvGrpSpPr>
      <p:grpSpPr>
        <a:xfrm>
          <a:off x="0" y="0"/>
          <a:ext cx="0" cy="0"/>
          <a:chOff x="0" y="0"/>
          <a:chExt cx="0" cy="0"/>
        </a:xfrm>
      </p:grpSpPr>
      <p:sp>
        <p:nvSpPr>
          <p:cNvPr id="6" name="Title 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a:t>Click to edit Master title style</a:t>
            </a:r>
          </a:p>
        </p:txBody>
      </p:sp>
      <p:sp>
        <p:nvSpPr>
          <p:cNvPr id="7" name="Text Placeholder 2"/>
          <p:cNvSpPr>
            <a:spLocks noGrp="1"/>
          </p:cNvSpPr>
          <p:nvPr>
            <p:ph type="body" idx="1"/>
          </p:nvPr>
        </p:nvSpPr>
        <p:spPr>
          <a:xfrm>
            <a:off x="688491" y="1783601"/>
            <a:ext cx="3621929"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3"/>
          <p:cNvSpPr>
            <a:spLocks noGrp="1"/>
          </p:cNvSpPr>
          <p:nvPr>
            <p:ph sz="half" idx="2"/>
          </p:nvPr>
        </p:nvSpPr>
        <p:spPr>
          <a:xfrm>
            <a:off x="688489" y="2622290"/>
            <a:ext cx="3621931" cy="2595107"/>
          </a:xfrm>
          <a:prstGeom prst="rect">
            <a:avLst/>
          </a:prstGeom>
        </p:spPr>
        <p:txBody>
          <a:bodyPr>
            <a:normAutofit/>
          </a:bodyPr>
          <a:lstStyle>
            <a:lvl1pPr>
              <a:defRPr sz="2000">
                <a:solidFill>
                  <a:srgbClr val="595959"/>
                </a:solidFill>
                <a:latin typeface="Arial"/>
                <a:cs typeface="Arial"/>
              </a:defRPr>
            </a:lvl1pPr>
            <a:lvl2pPr>
              <a:defRPr sz="2000">
                <a:latin typeface="Arial"/>
                <a:cs typeface="Arial"/>
              </a:defRPr>
            </a:lvl2pPr>
            <a:lvl3pPr>
              <a:defRPr sz="2000">
                <a:latin typeface="Arial"/>
                <a:cs typeface="Arial"/>
              </a:defRPr>
            </a:lvl3pPr>
            <a:lvl4pPr>
              <a:defRPr sz="2000">
                <a:latin typeface="Arial"/>
                <a:cs typeface="Arial"/>
              </a:defRPr>
            </a:lvl4pPr>
            <a:lvl5pPr>
              <a:defRPr sz="2000">
                <a:latin typeface="Arial"/>
                <a:cs typeface="Arial"/>
              </a:defRPr>
            </a:lvl5pPr>
            <a:lvl6pPr>
              <a:defRPr sz="1600"/>
            </a:lvl6pPr>
            <a:lvl7pPr>
              <a:defRPr sz="1600"/>
            </a:lvl7pPr>
            <a:lvl8pPr>
              <a:defRPr sz="1600"/>
            </a:lvl8pPr>
            <a:lvl9pPr>
              <a:defRPr sz="1600"/>
            </a:lvl9pPr>
          </a:lstStyle>
          <a:p>
            <a:pPr lvl="0"/>
            <a:r>
              <a:rPr lang="en-US"/>
              <a:t>Click to edit Master text styles</a:t>
            </a:r>
          </a:p>
        </p:txBody>
      </p:sp>
      <p:sp>
        <p:nvSpPr>
          <p:cNvPr id="9" name="Text Placeholder 4"/>
          <p:cNvSpPr>
            <a:spLocks noGrp="1"/>
          </p:cNvSpPr>
          <p:nvPr>
            <p:ph type="body" sz="quarter" idx="3"/>
          </p:nvPr>
        </p:nvSpPr>
        <p:spPr>
          <a:xfrm>
            <a:off x="4785879" y="1783601"/>
            <a:ext cx="3663716"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5"/>
          <p:cNvSpPr>
            <a:spLocks noGrp="1"/>
          </p:cNvSpPr>
          <p:nvPr>
            <p:ph sz="quarter" idx="4"/>
          </p:nvPr>
        </p:nvSpPr>
        <p:spPr>
          <a:xfrm>
            <a:off x="4785878" y="2619063"/>
            <a:ext cx="3658875" cy="2595107"/>
          </a:xfrm>
          <a:prstGeom prst="rect">
            <a:avLst/>
          </a:prstGeom>
        </p:spPr>
        <p:txBody>
          <a:bodyPr>
            <a:normAutofit/>
          </a:bodyPr>
          <a:lstStyle>
            <a:lvl1pPr>
              <a:defRPr sz="2000">
                <a:solidFill>
                  <a:srgbClr val="595959"/>
                </a:solidFill>
                <a:latin typeface="Arial"/>
                <a:cs typeface="Arial"/>
              </a:defRPr>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p:txBody>
      </p:sp>
    </p:spTree>
    <p:extLst>
      <p:ext uri="{BB962C8B-B14F-4D97-AF65-F5344CB8AC3E}">
        <p14:creationId xmlns:p14="http://schemas.microsoft.com/office/powerpoint/2010/main" val="36758126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5" name="Content Placeholder 2"/>
          <p:cNvSpPr>
            <a:spLocks noGrp="1"/>
          </p:cNvSpPr>
          <p:nvPr>
            <p:ph idx="1"/>
          </p:nvPr>
        </p:nvSpPr>
        <p:spPr>
          <a:xfrm>
            <a:off x="692003" y="559401"/>
            <a:ext cx="3580882" cy="4414019"/>
          </a:xfrm>
          <a:prstGeom prst="rect">
            <a:avLst/>
          </a:prstGeom>
        </p:spPr>
        <p:txBody>
          <a:bodyPr anchor="t">
            <a:normAutofit/>
          </a:bodyPr>
          <a:lstStyle>
            <a:lvl1pPr marL="0" indent="0" algn="l">
              <a:buNone/>
              <a:defRPr sz="2000">
                <a:solidFill>
                  <a:srgbClr val="595959"/>
                </a:solidFill>
                <a:latin typeface="Arial"/>
                <a:cs typeface="Arial"/>
              </a:defRPr>
            </a:lvl1pPr>
            <a:lvl2pPr algn="l">
              <a:defRPr sz="2000">
                <a:latin typeface="Arial"/>
                <a:cs typeface="Arial"/>
              </a:defRPr>
            </a:lvl2pPr>
            <a:lvl3pPr algn="l">
              <a:defRPr sz="2000">
                <a:latin typeface="Arial"/>
                <a:cs typeface="Arial"/>
              </a:defRPr>
            </a:lvl3pPr>
            <a:lvl4pPr algn="l">
              <a:defRPr sz="2000">
                <a:latin typeface="Arial"/>
                <a:cs typeface="Arial"/>
              </a:defRPr>
            </a:lvl4pPr>
            <a:lvl5pPr algn="l">
              <a:defRPr sz="2000">
                <a:latin typeface="Arial"/>
                <a:cs typeface="Arial"/>
              </a:defRPr>
            </a:lvl5pPr>
            <a:lvl6pPr>
              <a:defRPr sz="2000"/>
            </a:lvl6pPr>
            <a:lvl7pPr>
              <a:defRPr sz="2000"/>
            </a:lvl7pPr>
            <a:lvl8pPr>
              <a:defRPr sz="2000"/>
            </a:lvl8pPr>
            <a:lvl9pPr>
              <a:defRPr sz="2000"/>
            </a:lvl9pPr>
          </a:lstStyle>
          <a:p>
            <a:pPr lvl="0"/>
            <a:r>
              <a:rPr lang="en-US"/>
              <a:t>Click to edit Master text styles</a:t>
            </a:r>
          </a:p>
        </p:txBody>
      </p:sp>
      <p:sp>
        <p:nvSpPr>
          <p:cNvPr id="6" name="Text Placeholder 3"/>
          <p:cNvSpPr>
            <a:spLocks noGrp="1"/>
          </p:cNvSpPr>
          <p:nvPr>
            <p:ph type="body" sz="half" idx="2"/>
          </p:nvPr>
        </p:nvSpPr>
        <p:spPr>
          <a:xfrm>
            <a:off x="4889813" y="562026"/>
            <a:ext cx="3580882" cy="4414018"/>
          </a:xfrm>
          <a:prstGeom prst="rect">
            <a:avLst/>
          </a:prstGeom>
        </p:spPr>
        <p:txBody>
          <a:bodyPr>
            <a:normAutofit/>
          </a:bodyPr>
          <a:lstStyle>
            <a:lvl1pPr marL="0" indent="0">
              <a:buNone/>
              <a:defRPr sz="200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0048885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hoto with Caption">
    <p:spTree>
      <p:nvGrpSpPr>
        <p:cNvPr id="1" name=""/>
        <p:cNvGrpSpPr/>
        <p:nvPr/>
      </p:nvGrpSpPr>
      <p:grpSpPr>
        <a:xfrm>
          <a:off x="0" y="0"/>
          <a:ext cx="0" cy="0"/>
          <a:chOff x="0" y="0"/>
          <a:chExt cx="0" cy="0"/>
        </a:xfrm>
      </p:grpSpPr>
      <p:sp>
        <p:nvSpPr>
          <p:cNvPr id="8" name="Picture Placeholder 2"/>
          <p:cNvSpPr>
            <a:spLocks noGrp="1"/>
          </p:cNvSpPr>
          <p:nvPr>
            <p:ph type="pic" idx="1"/>
          </p:nvPr>
        </p:nvSpPr>
        <p:spPr>
          <a:xfrm rot="344365">
            <a:off x="773476" y="536674"/>
            <a:ext cx="7578326" cy="3491307"/>
          </a:xfrm>
          <a:prstGeom prst="rect">
            <a:avLst/>
          </a:prstGeom>
          <a:solidFill>
            <a:srgbClr val="FFFFFF">
              <a:shade val="85000"/>
            </a:srgbClr>
          </a:solidFill>
          <a:ln w="190500" cap="sq">
            <a:solidFill>
              <a:srgbClr val="FFFFFF"/>
            </a:solidFill>
            <a:miter lim="800000"/>
          </a:ln>
          <a:effectLst/>
          <a:scene3d>
            <a:camera prst="orthographicFront">
              <a:rot lat="0" lon="0" rev="360000"/>
            </a:camera>
            <a:lightRig rig="twoPt" dir="t">
              <a:rot lat="0" lon="0" rev="7200000"/>
            </a:lightRig>
          </a:scene3d>
          <a:sp3d contourW="12700">
            <a:contourClr>
              <a:srgbClr val="969696"/>
            </a:contourClr>
          </a:sp3d>
        </p:spPr>
        <p:txBody>
          <a:bodyPr>
            <a:normAutofit/>
          </a:bodyPr>
          <a:lstStyle>
            <a:lvl1pPr marL="0" indent="0">
              <a:buNone/>
              <a:defRPr sz="200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p>
        </p:txBody>
      </p:sp>
      <p:sp>
        <p:nvSpPr>
          <p:cNvPr id="9" name="Text Placeholder 3"/>
          <p:cNvSpPr>
            <a:spLocks noGrp="1"/>
          </p:cNvSpPr>
          <p:nvPr>
            <p:ph type="body" sz="half" idx="2"/>
          </p:nvPr>
        </p:nvSpPr>
        <p:spPr>
          <a:xfrm>
            <a:off x="688490" y="4486019"/>
            <a:ext cx="7756264" cy="804862"/>
          </a:xfrm>
          <a:prstGeom prst="rect">
            <a:avLst/>
          </a:prstGeom>
        </p:spPr>
        <p:txBody>
          <a:bodyPr>
            <a:normAutofit/>
          </a:bodyPr>
          <a:lstStyle>
            <a:lvl1pPr marL="0" indent="0" algn="ctr">
              <a:buNone/>
              <a:defRPr sz="1600" b="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3180962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pic>
        <p:nvPicPr>
          <p:cNvPr id="3" name="Picture 2" descr="PPT-General9.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10484213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with Custom Photo">
    <p:spTree>
      <p:nvGrpSpPr>
        <p:cNvPr id="1" name=""/>
        <p:cNvGrpSpPr/>
        <p:nvPr/>
      </p:nvGrpSpPr>
      <p:grpSpPr>
        <a:xfrm>
          <a:off x="0" y="0"/>
          <a:ext cx="0" cy="0"/>
          <a:chOff x="0" y="0"/>
          <a:chExt cx="0" cy="0"/>
        </a:xfrm>
      </p:grpSpPr>
      <p:pic>
        <p:nvPicPr>
          <p:cNvPr id="7" name="Picture 6" descr="bgblueonephoto.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Subtitle 2"/>
          <p:cNvSpPr>
            <a:spLocks noGrp="1"/>
          </p:cNvSpPr>
          <p:nvPr>
            <p:ph type="subTitle" idx="1" hasCustomPrompt="1"/>
          </p:nvPr>
        </p:nvSpPr>
        <p:spPr>
          <a:xfrm>
            <a:off x="360378" y="3137687"/>
            <a:ext cx="3658798" cy="1752600"/>
          </a:xfrm>
          <a:prstGeom prst="rect">
            <a:avLst/>
          </a:prstGeom>
        </p:spPr>
        <p:txBody>
          <a:bodyPr/>
          <a:lstStyle>
            <a:lvl1pPr marL="0" indent="0" algn="l">
              <a:buNone/>
              <a:defRPr>
                <a:solidFill>
                  <a:schemeClr val="bg2"/>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a:t>
            </a:r>
            <a:br>
              <a:rPr lang="en-US"/>
            </a:br>
            <a:r>
              <a:rPr lang="en-US"/>
              <a:t>subtitle style</a:t>
            </a:r>
          </a:p>
        </p:txBody>
      </p:sp>
      <p:sp>
        <p:nvSpPr>
          <p:cNvPr id="9" name="Title 1"/>
          <p:cNvSpPr>
            <a:spLocks noGrp="1"/>
          </p:cNvSpPr>
          <p:nvPr>
            <p:ph type="ctrTitle" hasCustomPrompt="1"/>
          </p:nvPr>
        </p:nvSpPr>
        <p:spPr>
          <a:xfrm>
            <a:off x="360379" y="601091"/>
            <a:ext cx="4480563"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a:t>Click to edit </a:t>
            </a:r>
            <a:br>
              <a:rPr lang="en-US"/>
            </a:br>
            <a:r>
              <a:rPr lang="en-US"/>
              <a:t>Master title style</a:t>
            </a:r>
          </a:p>
        </p:txBody>
      </p:sp>
      <p:sp>
        <p:nvSpPr>
          <p:cNvPr id="10" name="Picture Placeholder 8"/>
          <p:cNvSpPr>
            <a:spLocks noGrp="1" noChangeAspect="1"/>
          </p:cNvSpPr>
          <p:nvPr>
            <p:ph type="pic" sz="quarter" idx="10" hasCustomPrompt="1"/>
          </p:nvPr>
        </p:nvSpPr>
        <p:spPr>
          <a:xfrm>
            <a:off x="1954870" y="0"/>
            <a:ext cx="7201580" cy="6858000"/>
          </a:xfrm>
          <a:custGeom>
            <a:avLst/>
            <a:gdLst>
              <a:gd name="connsiteX0" fmla="*/ 0 w 7201580"/>
              <a:gd name="connsiteY0" fmla="*/ 0 h 6858000"/>
              <a:gd name="connsiteX1" fmla="*/ 7201580 w 7201580"/>
              <a:gd name="connsiteY1" fmla="*/ 0 h 6858000"/>
              <a:gd name="connsiteX2" fmla="*/ 7201580 w 7201580"/>
              <a:gd name="connsiteY2" fmla="*/ 6858000 h 6858000"/>
              <a:gd name="connsiteX3" fmla="*/ 0 w 7201580"/>
              <a:gd name="connsiteY3" fmla="*/ 6858000 h 6858000"/>
              <a:gd name="connsiteX4" fmla="*/ 0 w 7201580"/>
              <a:gd name="connsiteY4" fmla="*/ 0 h 6858000"/>
              <a:gd name="connsiteX0" fmla="*/ 5050118 w 7201580"/>
              <a:gd name="connsiteY0" fmla="*/ 74706 h 6858000"/>
              <a:gd name="connsiteX1" fmla="*/ 7201580 w 7201580"/>
              <a:gd name="connsiteY1" fmla="*/ 0 h 6858000"/>
              <a:gd name="connsiteX2" fmla="*/ 7201580 w 7201580"/>
              <a:gd name="connsiteY2" fmla="*/ 6858000 h 6858000"/>
              <a:gd name="connsiteX3" fmla="*/ 0 w 7201580"/>
              <a:gd name="connsiteY3" fmla="*/ 6858000 h 6858000"/>
              <a:gd name="connsiteX4" fmla="*/ 5050118 w 7201580"/>
              <a:gd name="connsiteY4" fmla="*/ 74706 h 6858000"/>
              <a:gd name="connsiteX0" fmla="*/ 5020236 w 7201580"/>
              <a:gd name="connsiteY0" fmla="*/ 29883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29883 h 6858000"/>
              <a:gd name="connsiteX0" fmla="*/ 5020236 w 7201580"/>
              <a:gd name="connsiteY0" fmla="*/ 14941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14941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01580" h="6858000">
                <a:moveTo>
                  <a:pt x="5020236" y="14941"/>
                </a:moveTo>
                <a:lnTo>
                  <a:pt x="7201580" y="0"/>
                </a:lnTo>
                <a:lnTo>
                  <a:pt x="7201580" y="6858000"/>
                </a:lnTo>
                <a:lnTo>
                  <a:pt x="0" y="6858000"/>
                </a:lnTo>
                <a:lnTo>
                  <a:pt x="5020236" y="14941"/>
                </a:lnTo>
                <a:close/>
              </a:path>
            </a:pathLst>
          </a:custGeom>
        </p:spPr>
        <p:txBody>
          <a:bodyPr vert="horz" anchor="ctr"/>
          <a:lstStyle>
            <a:lvl1pPr algn="r">
              <a:lnSpc>
                <a:spcPct val="100000"/>
              </a:lnSpc>
              <a:defRPr sz="2000">
                <a:solidFill>
                  <a:srgbClr val="ECE9C6"/>
                </a:solidFill>
                <a:latin typeface="Arial"/>
                <a:cs typeface="Arial"/>
              </a:defRPr>
            </a:lvl1pPr>
          </a:lstStyle>
          <a:p>
            <a:r>
              <a:rPr lang="en-US"/>
              <a:t>Drag picture to placeholder </a:t>
            </a:r>
            <a:br>
              <a:rPr lang="en-US"/>
            </a:br>
            <a:r>
              <a:rPr lang="en-US"/>
              <a:t>or click icon to add</a:t>
            </a:r>
          </a:p>
        </p:txBody>
      </p:sp>
    </p:spTree>
    <p:extLst>
      <p:ext uri="{BB962C8B-B14F-4D97-AF65-F5344CB8AC3E}">
        <p14:creationId xmlns:p14="http://schemas.microsoft.com/office/powerpoint/2010/main" val="25492655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e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image" Target="../media/image1.jpeg"/><Relationship Id="rId5" Type="http://schemas.openxmlformats.org/officeDocument/2006/relationships/slideLayout" Target="../slideLayouts/slideLayout14.xml"/><Relationship Id="rId10" Type="http://schemas.openxmlformats.org/officeDocument/2006/relationships/theme" Target="../theme/theme2.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PPT-General11.jpg"/>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326307993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PPT-General11.jpg"/>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2494964538"/>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arxiv.org/abs/2512.09882" TargetMode="External"/><Relationship Id="rId2" Type="http://schemas.openxmlformats.org/officeDocument/2006/relationships/hyperlink" Target="https://arxiv.org/abs/2410.13919" TargetMode="External"/><Relationship Id="rId1" Type="http://schemas.openxmlformats.org/officeDocument/2006/relationships/slideLayout" Target="../slideLayouts/slideLayout2.xml"/><Relationship Id="rId4" Type="http://schemas.openxmlformats.org/officeDocument/2006/relationships/hyperlink" Target="https://assets.anthropic.com/m/ec212e6566a0d47/original/Disrupting-the-first-reported-AI-orchestrated-cyber-espionage-campaign.pdf"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github.com/Orange-Cyberdefense/GOAD" TargetMode="External"/><Relationship Id="rId2" Type="http://schemas.openxmlformats.org/officeDocument/2006/relationships/hyperlink" Target="https://arxiv.org/abs/2308.06782" TargetMode="External"/><Relationship Id="rId1" Type="http://schemas.openxmlformats.org/officeDocument/2006/relationships/slideLayout" Target="../slideLayouts/slideLayout2.xml"/><Relationship Id="rId4" Type="http://schemas.openxmlformats.org/officeDocument/2006/relationships/hyperlink" Target="https://www.ibm.com/reports/data-breach"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Layout" Type="http://schemas.openxmlformats.org/officeDocument/2006/relationships/slideLayout" Target="../slideLayouts/slideLayout2.xml"/><Relationship Id="rIdNotes"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Layout" Type="http://schemas.openxmlformats.org/officeDocument/2006/relationships/slideLayout" Target="../slideLayouts/slideLayout2.xml"/><Relationship Id="rIdNotes"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34500" y="2209817"/>
            <a:ext cx="4301269" cy="2305339"/>
          </a:xfrm>
        </p:spPr>
        <p:txBody>
          <a:bodyPr wrap="square"/>
          <a:lstStyle/>
          <a:p>
            <a:r>
              <a:rPr sz="2200" b="0" dirty="0"/>
              <a:t>Human vs. Autonomous AI Operator Classification in Advanced Persistent Threat (APT) Intrusions from Target-Side Telemetry</a:t>
            </a:r>
            <a:br>
              <a:rPr lang="en-US" sz="2200" b="0" dirty="0"/>
            </a:br>
            <a:endParaRPr sz="2200" b="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64592" y="0"/>
            <a:ext cx="7772400" cy="548640"/>
          </a:xfrm>
        </p:spPr>
        <p:txBody>
          <a:bodyPr wrap="square"/>
          <a:lstStyle/>
          <a:p>
            <a:r>
              <a:rPr sz="1600" b="1" u="sng">
                <a:solidFill>
                  <a:srgbClr val="000000"/>
                </a:solidFill>
              </a:rPr>
              <a:t>Problem Statement:</a:t>
            </a:r>
          </a:p>
        </p:txBody>
      </p:sp>
      <p:graphicFrame>
        <p:nvGraphicFramePr>
          <p:cNvPr id="4" name="Table 3"/>
          <p:cNvGraphicFramePr>
            <a:graphicFrameLocks noGrp="1"/>
          </p:cNvGraphicFramePr>
          <p:nvPr>
            <p:extLst>
              <p:ext uri="{D42A27DB-BD31-4B8C-83A1-F6EECF244321}">
                <p14:modId xmlns:p14="http://schemas.microsoft.com/office/powerpoint/2010/main" val="1823381766"/>
              </p:ext>
            </p:extLst>
          </p:nvPr>
        </p:nvGraphicFramePr>
        <p:xfrm>
          <a:off x="164592" y="566928"/>
          <a:ext cx="8814815" cy="4864605"/>
        </p:xfrm>
        <a:graphic>
          <a:graphicData uri="http://schemas.openxmlformats.org/drawingml/2006/table">
            <a:tbl>
              <a:tblPr firstRow="1" bandRow="1">
                <a:tableStyleId>{5C22544A-7EE6-4342-B048-85BDC9FD1C3A}</a:tableStyleId>
              </a:tblPr>
              <a:tblGrid>
                <a:gridCol w="1606867">
                  <a:extLst>
                    <a:ext uri="{9D8B030D-6E8A-4147-A177-3AD203B41FA5}">
                      <a16:colId xmlns:a16="http://schemas.microsoft.com/office/drawing/2014/main" val="20000"/>
                    </a:ext>
                  </a:extLst>
                </a:gridCol>
                <a:gridCol w="6519291">
                  <a:extLst>
                    <a:ext uri="{9D8B030D-6E8A-4147-A177-3AD203B41FA5}">
                      <a16:colId xmlns:a16="http://schemas.microsoft.com/office/drawing/2014/main" val="20001"/>
                    </a:ext>
                  </a:extLst>
                </a:gridCol>
                <a:gridCol w="688657">
                  <a:extLst>
                    <a:ext uri="{9D8B030D-6E8A-4147-A177-3AD203B41FA5}">
                      <a16:colId xmlns:a16="http://schemas.microsoft.com/office/drawing/2014/main" val="20002"/>
                    </a:ext>
                  </a:extLst>
                </a:gridCol>
              </a:tblGrid>
              <a:tr h="256031">
                <a:tc>
                  <a:txBody>
                    <a:bodyPr/>
                    <a:lstStyle/>
                    <a:p>
                      <a:r>
                        <a:rPr sz="1200" b="1"/>
                        <a:t>(A) Deliverable</a:t>
                      </a:r>
                    </a:p>
                  </a:txBody>
                  <a:tcPr marL="54864" marR="54864" marT="27432" marB="27432" anchor="ctr"/>
                </a:tc>
                <a:tc>
                  <a:txBody>
                    <a:bodyPr/>
                    <a:lstStyle/>
                    <a:p>
                      <a:pPr algn="ctr"/>
                      <a:r>
                        <a:rPr sz="1200" b="1"/>
                        <a:t>(B) Format</a:t>
                      </a:r>
                    </a:p>
                  </a:txBody>
                  <a:tcPr marL="54864" marR="54864" marT="27432" marB="27432" anchor="ctr"/>
                </a:tc>
                <a:tc>
                  <a:txBody>
                    <a:bodyPr/>
                    <a:lstStyle/>
                    <a:p>
                      <a:pPr algn="ctr"/>
                      <a:r>
                        <a:rPr sz="1200" b="1"/>
                        <a:t>(C) WC</a:t>
                      </a:r>
                    </a:p>
                  </a:txBody>
                  <a:tcPr marL="54864" marR="54864" marT="27432" marB="27432" anchor="ctr"/>
                </a:tc>
                <a:extLst>
                  <a:ext uri="{0D108BD9-81ED-4DB2-BD59-A6C34878D82A}">
                    <a16:rowId xmlns:a16="http://schemas.microsoft.com/office/drawing/2014/main" val="10000"/>
                  </a:ext>
                </a:extLst>
              </a:tr>
              <a:tr h="621792">
                <a:tc>
                  <a:txBody>
                    <a:bodyPr/>
                    <a:lstStyle/>
                    <a:p>
                      <a:r>
                        <a:rPr sz="1200" b="1"/>
                        <a:t>Issue</a:t>
                      </a:r>
                    </a:p>
                  </a:txBody>
                  <a:tcPr marL="54864" marR="54864" marT="27432" marB="27432"/>
                </a:tc>
                <a:tc>
                  <a:txBody>
                    <a:bodyPr/>
                    <a:lstStyle/>
                    <a:p>
                      <a:r>
                        <a:rPr lang="en-US" sz="1200" dirty="0"/>
                        <a:t>Defenders reviewing target-side telemetry during an advanced persistent threat (APT) intrusion cannot distinguish human from autonomous AI operators, leaving responders blind to an adversary class growing 89% (Anthropic, 2025; CrowdStrike, 2026).</a:t>
                      </a:r>
                    </a:p>
                  </a:txBody>
                  <a:tcPr marL="54864" marR="54864" marT="27432" marB="27432"/>
                </a:tc>
                <a:tc>
                  <a:txBody>
                    <a:bodyPr/>
                    <a:lstStyle/>
                    <a:p>
                      <a:pPr algn="ctr"/>
                      <a:r>
                        <a:rPr lang="en-US" sz="1200" dirty="0"/>
                        <a:t>27</a:t>
                      </a:r>
                      <a:endParaRPr sz="1200" dirty="0"/>
                    </a:p>
                  </a:txBody>
                  <a:tcPr marL="54864" marR="54864" marT="27432" marB="27432"/>
                </a:tc>
                <a:extLst>
                  <a:ext uri="{0D108BD9-81ED-4DB2-BD59-A6C34878D82A}">
                    <a16:rowId xmlns:a16="http://schemas.microsoft.com/office/drawing/2014/main" val="10001"/>
                  </a:ext>
                </a:extLst>
              </a:tr>
              <a:tr h="621792">
                <a:tc>
                  <a:txBody>
                    <a:bodyPr/>
                    <a:lstStyle/>
                    <a:p>
                      <a:r>
                        <a:rPr sz="1200" b="1"/>
                        <a:t>Reference</a:t>
                      </a:r>
                    </a:p>
                  </a:txBody>
                  <a:tcPr marL="54864" marR="54864" marT="27432" marB="27432"/>
                </a:tc>
                <a:tc>
                  <a:txBody>
                    <a:bodyPr/>
                    <a:lstStyle/>
                    <a:p>
                      <a:r>
                        <a:rPr sz="1200" dirty="0"/>
                        <a:t>Anthropic. (2025, November). Disrupting the first reported AI-orchestrated cyber espionage campaign [Threat intelligence report]. https://assets.anthropic.com/m/ec212e6566a0d47/original/Disrupting-the-first-reported-AI-orchestrated-cyber-espionage-campaign.pdf</a:t>
                      </a:r>
                    </a:p>
                  </a:txBody>
                  <a:tcPr marL="54864" marR="54864" marT="27432" marB="27432"/>
                </a:tc>
                <a:tc>
                  <a:txBody>
                    <a:bodyPr/>
                    <a:lstStyle/>
                    <a:p>
                      <a:pPr algn="ctr"/>
                      <a:r>
                        <a:rPr sz="1200"/>
                        <a:t>NA</a:t>
                      </a:r>
                    </a:p>
                  </a:txBody>
                  <a:tcPr marL="54864" marR="54864" marT="27432" marB="27432"/>
                </a:tc>
                <a:extLst>
                  <a:ext uri="{0D108BD9-81ED-4DB2-BD59-A6C34878D82A}">
                    <a16:rowId xmlns:a16="http://schemas.microsoft.com/office/drawing/2014/main" val="10002"/>
                  </a:ext>
                </a:extLst>
              </a:tr>
              <a:tr h="438912">
                <a:tc>
                  <a:txBody>
                    <a:bodyPr/>
                    <a:lstStyle/>
                    <a:p>
                      <a:r>
                        <a:rPr sz="1200" b="1"/>
                        <a:t>“so what”</a:t>
                      </a:r>
                    </a:p>
                  </a:txBody>
                  <a:tcPr marL="54864" marR="54864" marT="27432" marB="27432"/>
                </a:tc>
                <a:tc>
                  <a:txBody>
                    <a:bodyPr/>
                    <a:lstStyle/>
                    <a:p>
                      <a:r>
                        <a:rPr sz="1200" dirty="0"/>
                        <a:t>average </a:t>
                      </a:r>
                      <a:r>
                        <a:rPr lang="en-US" sz="1200" dirty="0"/>
                        <a:t>per </a:t>
                      </a:r>
                      <a:r>
                        <a:rPr sz="1200" dirty="0"/>
                        <a:t>breach costs $4.44 million globally and $10.22 million </a:t>
                      </a:r>
                      <a:r>
                        <a:rPr lang="en-US" sz="1200" dirty="0"/>
                        <a:t>per breach </a:t>
                      </a:r>
                      <a:r>
                        <a:rPr sz="1200" dirty="0"/>
                        <a:t>in the United States (IBM, 2025).</a:t>
                      </a:r>
                    </a:p>
                  </a:txBody>
                  <a:tcPr marL="54864" marR="54864" marT="27432" marB="27432"/>
                </a:tc>
                <a:tc>
                  <a:txBody>
                    <a:bodyPr/>
                    <a:lstStyle/>
                    <a:p>
                      <a:pPr algn="ctr"/>
                      <a:r>
                        <a:rPr lang="en-US" sz="1200" dirty="0"/>
                        <a:t>13</a:t>
                      </a:r>
                      <a:endParaRPr sz="1200" dirty="0"/>
                    </a:p>
                  </a:txBody>
                  <a:tcPr marL="54864" marR="54864" marT="27432" marB="27432"/>
                </a:tc>
                <a:extLst>
                  <a:ext uri="{0D108BD9-81ED-4DB2-BD59-A6C34878D82A}">
                    <a16:rowId xmlns:a16="http://schemas.microsoft.com/office/drawing/2014/main" val="10003"/>
                  </a:ext>
                </a:extLst>
              </a:tr>
              <a:tr h="621792">
                <a:tc>
                  <a:txBody>
                    <a:bodyPr/>
                    <a:lstStyle/>
                    <a:p>
                      <a:r>
                        <a:rPr sz="1200" b="1"/>
                        <a:t>Reference</a:t>
                      </a:r>
                    </a:p>
                  </a:txBody>
                  <a:tcPr marL="54864" marR="54864" marT="27432" marB="27432"/>
                </a:tc>
                <a:tc>
                  <a:txBody>
                    <a:bodyPr/>
                    <a:lstStyle/>
                    <a:p>
                      <a:r>
                        <a:rPr sz="1200" dirty="0"/>
                        <a:t>CrowdStrike. (2026, February 24). 2026 CrowdStrike Global Threat Report. https://www.crowdstrike.com/en-us/press-releases/2026-crowdstrike-global-threat-report  |  IBM. (2025). Cost of a Data Breach Report 2025. https://www.ibm.com/reports/data-breach</a:t>
                      </a:r>
                    </a:p>
                  </a:txBody>
                  <a:tcPr marL="54864" marR="54864" marT="27432" marB="27432"/>
                </a:tc>
                <a:tc>
                  <a:txBody>
                    <a:bodyPr/>
                    <a:lstStyle/>
                    <a:p>
                      <a:pPr algn="ctr"/>
                      <a:r>
                        <a:rPr sz="1200"/>
                        <a:t>NA</a:t>
                      </a:r>
                    </a:p>
                  </a:txBody>
                  <a:tcPr marL="54864" marR="54864" marT="27432" marB="27432"/>
                </a:tc>
                <a:extLst>
                  <a:ext uri="{0D108BD9-81ED-4DB2-BD59-A6C34878D82A}">
                    <a16:rowId xmlns:a16="http://schemas.microsoft.com/office/drawing/2014/main" val="10004"/>
                  </a:ext>
                </a:extLst>
              </a:tr>
              <a:tr h="804671">
                <a:tc>
                  <a:txBody>
                    <a:bodyPr/>
                    <a:lstStyle/>
                    <a:p>
                      <a:r>
                        <a:rPr sz="1200" b="1"/>
                        <a:t>Problem statement</a:t>
                      </a:r>
                    </a:p>
                  </a:txBody>
                  <a:tcPr marL="54864" marR="54864" marT="27432" marB="27432"/>
                </a:tc>
                <a:tc>
                  <a:txBody>
                    <a:bodyPr/>
                    <a:lstStyle/>
                    <a:p>
                      <a:r>
                        <a:rPr lang="en-US" sz="1200" dirty="0"/>
                        <a:t>Defenders reviewing target-side telemetry of advanced persistent threat (APT) intrusions cannot distinguish human from autonomous AI operators, leaving responders blind to an adversary class growing 89% and costing $4.44 million per breach (Anthropic, 2025; CrowdStrike, 2026; IBM, 2025).</a:t>
                      </a:r>
                    </a:p>
                  </a:txBody>
                  <a:tcPr marL="54864" marR="54864" marT="27432" marB="27432"/>
                </a:tc>
                <a:tc>
                  <a:txBody>
                    <a:bodyPr/>
                    <a:lstStyle/>
                    <a:p>
                      <a:pPr algn="ctr"/>
                      <a:r>
                        <a:rPr lang="en-US" sz="1200" dirty="0"/>
                        <a:t>32</a:t>
                      </a:r>
                      <a:endParaRPr sz="1200" dirty="0"/>
                    </a:p>
                  </a:txBody>
                  <a:tcPr marL="54864" marR="54864" marT="27432" marB="27432"/>
                </a:tc>
                <a:extLst>
                  <a:ext uri="{0D108BD9-81ED-4DB2-BD59-A6C34878D82A}">
                    <a16:rowId xmlns:a16="http://schemas.microsoft.com/office/drawing/2014/main" val="10005"/>
                  </a:ext>
                </a:extLst>
              </a:tr>
              <a:tr h="256031">
                <a:tc>
                  <a:txBody>
                    <a:bodyPr/>
                    <a:lstStyle/>
                    <a:p>
                      <a:r>
                        <a:rPr sz="1200" b="1"/>
                        <a:t>Industry</a:t>
                      </a:r>
                    </a:p>
                  </a:txBody>
                  <a:tcPr marL="54864" marR="54864" marT="27432" marB="27432"/>
                </a:tc>
                <a:tc>
                  <a:txBody>
                    <a:bodyPr/>
                    <a:lstStyle/>
                    <a:p>
                      <a:r>
                        <a:rPr sz="1200" dirty="0"/>
                        <a:t>Government, Commercial Industry (enterprise security operations, incident response, cyber ranges)</a:t>
                      </a:r>
                    </a:p>
                  </a:txBody>
                  <a:tcPr marL="54864" marR="54864" marT="27432" marB="27432"/>
                </a:tc>
                <a:tc>
                  <a:txBody>
                    <a:bodyPr/>
                    <a:lstStyle/>
                    <a:p>
                      <a:pPr algn="ctr"/>
                      <a:r>
                        <a:rPr sz="1200"/>
                        <a:t>NA</a:t>
                      </a:r>
                    </a:p>
                  </a:txBody>
                  <a:tcPr marL="54864" marR="54864" marT="27432" marB="27432"/>
                </a:tc>
                <a:extLst>
                  <a:ext uri="{0D108BD9-81ED-4DB2-BD59-A6C34878D82A}">
                    <a16:rowId xmlns:a16="http://schemas.microsoft.com/office/drawing/2014/main" val="10006"/>
                  </a:ext>
                </a:extLst>
              </a:tr>
              <a:tr h="621792">
                <a:tc>
                  <a:txBody>
                    <a:bodyPr/>
                    <a:lstStyle/>
                    <a:p>
                      <a:r>
                        <a:rPr sz="1200" b="1"/>
                        <a:t>PS elaboration 1</a:t>
                      </a:r>
                    </a:p>
                  </a:txBody>
                  <a:tcPr marL="54864" marR="54864" marT="27432" marB="27432"/>
                </a:tc>
                <a:tc>
                  <a:txBody>
                    <a:bodyPr/>
                    <a:lstStyle/>
                    <a:p>
                      <a:r>
                        <a:rPr sz="1200"/>
                        <a:t>Existing evidence comes from single-host SSH honeypots that observed humans using AI tools, not fully autonomous agents running a multi-host APT-style campaign under matched conditions (Alt, 2026; Reworr &amp; Volkov, 2025).</a:t>
                      </a:r>
                    </a:p>
                  </a:txBody>
                  <a:tcPr marL="54864" marR="54864" marT="27432" marB="27432"/>
                </a:tc>
                <a:tc>
                  <a:txBody>
                    <a:bodyPr/>
                    <a:lstStyle/>
                    <a:p>
                      <a:pPr algn="ctr"/>
                      <a:r>
                        <a:rPr sz="1200"/>
                        <a:t>25</a:t>
                      </a:r>
                    </a:p>
                  </a:txBody>
                  <a:tcPr marL="54864" marR="54864" marT="27432" marB="27432"/>
                </a:tc>
                <a:extLst>
                  <a:ext uri="{0D108BD9-81ED-4DB2-BD59-A6C34878D82A}">
                    <a16:rowId xmlns:a16="http://schemas.microsoft.com/office/drawing/2014/main" val="10007"/>
                  </a:ext>
                </a:extLst>
              </a:tr>
              <a:tr h="621792">
                <a:tc>
                  <a:txBody>
                    <a:bodyPr/>
                    <a:lstStyle/>
                    <a:p>
                      <a:r>
                        <a:rPr sz="1200" b="1"/>
                        <a:t>PS elaboration 2</a:t>
                      </a:r>
                    </a:p>
                  </a:txBody>
                  <a:tcPr marL="54864" marR="54864" marT="27432" marB="27432"/>
                </a:tc>
                <a:tc>
                  <a:txBody>
                    <a:bodyPr/>
                    <a:lstStyle/>
                    <a:p>
                      <a:r>
                        <a:rPr sz="1200"/>
                        <a:t>Knowing whether a human or an autonomous agent is behind an APT intrusion changes the response: agents enumerate in parallel, move on quickly and run around the clock, so containment speed, deception and attribution decisions differ (Lin et al., 2026).</a:t>
                      </a:r>
                    </a:p>
                  </a:txBody>
                  <a:tcPr marL="54864" marR="54864" marT="27432" marB="27432"/>
                </a:tc>
                <a:tc>
                  <a:txBody>
                    <a:bodyPr/>
                    <a:lstStyle/>
                    <a:p>
                      <a:pPr algn="ctr"/>
                      <a:r>
                        <a:rPr sz="1200" dirty="0"/>
                        <a:t>36</a:t>
                      </a:r>
                    </a:p>
                  </a:txBody>
                  <a:tcPr marL="54864" marR="54864" marT="27432" marB="27432"/>
                </a:tc>
                <a:extLst>
                  <a:ext uri="{0D108BD9-81ED-4DB2-BD59-A6C34878D82A}">
                    <a16:rowId xmlns:a16="http://schemas.microsoft.com/office/drawing/2014/main" val="10008"/>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64592" y="0"/>
            <a:ext cx="7772400" cy="548640"/>
          </a:xfrm>
        </p:spPr>
        <p:txBody>
          <a:bodyPr wrap="square"/>
          <a:lstStyle/>
          <a:p>
            <a:r>
              <a:rPr sz="1600" b="1" u="sng">
                <a:solidFill>
                  <a:srgbClr val="000000"/>
                </a:solidFill>
              </a:rPr>
              <a:t>Thesis Statement</a:t>
            </a:r>
          </a:p>
        </p:txBody>
      </p:sp>
      <p:graphicFrame>
        <p:nvGraphicFramePr>
          <p:cNvPr id="4" name="Table 3"/>
          <p:cNvGraphicFramePr>
            <a:graphicFrameLocks noGrp="1"/>
          </p:cNvGraphicFramePr>
          <p:nvPr>
            <p:extLst>
              <p:ext uri="{D42A27DB-BD31-4B8C-83A1-F6EECF244321}">
                <p14:modId xmlns:p14="http://schemas.microsoft.com/office/powerpoint/2010/main" val="113847965"/>
              </p:ext>
            </p:extLst>
          </p:nvPr>
        </p:nvGraphicFramePr>
        <p:xfrm>
          <a:off x="164592" y="566928"/>
          <a:ext cx="8814815" cy="4730496"/>
        </p:xfrm>
        <a:graphic>
          <a:graphicData uri="http://schemas.openxmlformats.org/drawingml/2006/table">
            <a:tbl>
              <a:tblPr firstRow="1" bandRow="1">
                <a:tableStyleId>{5C22544A-7EE6-4342-B048-85BDC9FD1C3A}</a:tableStyleId>
              </a:tblPr>
              <a:tblGrid>
                <a:gridCol w="1606867">
                  <a:extLst>
                    <a:ext uri="{9D8B030D-6E8A-4147-A177-3AD203B41FA5}">
                      <a16:colId xmlns:a16="http://schemas.microsoft.com/office/drawing/2014/main" val="20000"/>
                    </a:ext>
                  </a:extLst>
                </a:gridCol>
                <a:gridCol w="6519291">
                  <a:extLst>
                    <a:ext uri="{9D8B030D-6E8A-4147-A177-3AD203B41FA5}">
                      <a16:colId xmlns:a16="http://schemas.microsoft.com/office/drawing/2014/main" val="20001"/>
                    </a:ext>
                  </a:extLst>
                </a:gridCol>
                <a:gridCol w="688657">
                  <a:extLst>
                    <a:ext uri="{9D8B030D-6E8A-4147-A177-3AD203B41FA5}">
                      <a16:colId xmlns:a16="http://schemas.microsoft.com/office/drawing/2014/main" val="20002"/>
                    </a:ext>
                  </a:extLst>
                </a:gridCol>
              </a:tblGrid>
              <a:tr h="240791">
                <a:tc>
                  <a:txBody>
                    <a:bodyPr/>
                    <a:lstStyle/>
                    <a:p>
                      <a:r>
                        <a:rPr sz="1100" b="1"/>
                        <a:t>(A) Deliverable</a:t>
                      </a:r>
                    </a:p>
                  </a:txBody>
                  <a:tcPr marL="54864" marR="54864" marT="27432" marB="27432" anchor="ctr"/>
                </a:tc>
                <a:tc>
                  <a:txBody>
                    <a:bodyPr/>
                    <a:lstStyle/>
                    <a:p>
                      <a:pPr algn="ctr"/>
                      <a:endParaRPr/>
                    </a:p>
                  </a:txBody>
                  <a:tcPr marL="54864" marR="54864" marT="27432" marB="27432" anchor="ctr"/>
                </a:tc>
                <a:tc>
                  <a:txBody>
                    <a:bodyPr/>
                    <a:lstStyle/>
                    <a:p>
                      <a:pPr algn="ctr"/>
                      <a:r>
                        <a:rPr sz="1100" b="1"/>
                        <a:t>WC</a:t>
                      </a:r>
                    </a:p>
                  </a:txBody>
                  <a:tcPr marL="54864" marR="54864" marT="27432" marB="27432" anchor="ctr"/>
                </a:tc>
                <a:extLst>
                  <a:ext uri="{0D108BD9-81ED-4DB2-BD59-A6C34878D82A}">
                    <a16:rowId xmlns:a16="http://schemas.microsoft.com/office/drawing/2014/main" val="10000"/>
                  </a:ext>
                </a:extLst>
              </a:tr>
              <a:tr h="408432">
                <a:tc>
                  <a:txBody>
                    <a:bodyPr/>
                    <a:lstStyle/>
                    <a:p>
                      <a:r>
                        <a:rPr sz="1100" b="1"/>
                        <a:t>Thesis Statement</a:t>
                      </a:r>
                    </a:p>
                  </a:txBody>
                  <a:tcPr marL="54864" marR="54864" marT="27432" marB="27432"/>
                </a:tc>
                <a:tc>
                  <a:txBody>
                    <a:bodyPr/>
                    <a:lstStyle/>
                    <a:p>
                      <a:r>
                        <a:rPr lang="en-US" sz="1100" dirty="0"/>
                        <a:t>In emulated advanced persistent threat (APT) intrusions under matched conditions, target-side host and network telemetry can tell a human operator from an autonomous AI agent, even without timing features.</a:t>
                      </a:r>
                      <a:endParaRPr sz="1100" dirty="0"/>
                    </a:p>
                  </a:txBody>
                  <a:tcPr marL="54864" marR="54864" marT="27432" marB="27432"/>
                </a:tc>
                <a:tc>
                  <a:txBody>
                    <a:bodyPr/>
                    <a:lstStyle/>
                    <a:p>
                      <a:pPr algn="ctr"/>
                      <a:r>
                        <a:rPr lang="en-US" sz="1100" dirty="0"/>
                        <a:t>29</a:t>
                      </a:r>
                      <a:endParaRPr sz="1100" dirty="0"/>
                    </a:p>
                  </a:txBody>
                  <a:tcPr marL="54864" marR="54864" marT="27432" marB="27432"/>
                </a:tc>
                <a:extLst>
                  <a:ext uri="{0D108BD9-81ED-4DB2-BD59-A6C34878D82A}">
                    <a16:rowId xmlns:a16="http://schemas.microsoft.com/office/drawing/2014/main" val="10001"/>
                  </a:ext>
                </a:extLst>
              </a:tr>
              <a:tr h="408432">
                <a:tc>
                  <a:txBody>
                    <a:bodyPr/>
                    <a:lstStyle/>
                    <a:p>
                      <a:r>
                        <a:rPr sz="1100" b="1"/>
                        <a:t>Research Product</a:t>
                      </a:r>
                    </a:p>
                  </a:txBody>
                  <a:tcPr marL="54864" marR="54864" marT="27432" marB="27432"/>
                </a:tc>
                <a:tc>
                  <a:txBody>
                    <a:bodyPr/>
                    <a:lstStyle/>
                    <a:p>
                      <a:r>
                        <a:rPr sz="1100"/>
                        <a:t>A finding on how well, by which signals and with which of eight classifiers target-side telemetry separates human from autonomous-AI APT operators, backed by a reproducible private dataset, pipeline and models.</a:t>
                      </a:r>
                    </a:p>
                  </a:txBody>
                  <a:tcPr marL="54864" marR="54864" marT="27432" marB="27432"/>
                </a:tc>
                <a:tc>
                  <a:txBody>
                    <a:bodyPr/>
                    <a:lstStyle/>
                    <a:p>
                      <a:pPr algn="ctr"/>
                      <a:r>
                        <a:rPr sz="1100"/>
                        <a:t>NA</a:t>
                      </a:r>
                    </a:p>
                  </a:txBody>
                  <a:tcPr marL="54864" marR="54864" marT="27432" marB="27432"/>
                </a:tc>
                <a:extLst>
                  <a:ext uri="{0D108BD9-81ED-4DB2-BD59-A6C34878D82A}">
                    <a16:rowId xmlns:a16="http://schemas.microsoft.com/office/drawing/2014/main" val="10002"/>
                  </a:ext>
                </a:extLst>
              </a:tr>
              <a:tr h="408432">
                <a:tc>
                  <a:txBody>
                    <a:bodyPr/>
                    <a:lstStyle/>
                    <a:p>
                      <a:r>
                        <a:rPr sz="1100" b="1"/>
                        <a:t>Format</a:t>
                      </a:r>
                    </a:p>
                  </a:txBody>
                  <a:tcPr marL="54864" marR="54864" marT="27432" marB="27432"/>
                </a:tc>
                <a:tc>
                  <a:txBody>
                    <a:bodyPr/>
                    <a:lstStyle/>
                    <a:p>
                      <a:r>
                        <a:rPr sz="1100"/>
                        <a:t>Preregistered APT emulation experiment; Python feature-engineering, EDA and model code; archived native logs (EVTX, Sysmon, PowerShell, Zeek/Suricata, capped PCAP) with SHA-256 manifests; trial-level evaluation report.</a:t>
                      </a:r>
                    </a:p>
                  </a:txBody>
                  <a:tcPr marL="54864" marR="54864" marT="27432" marB="27432"/>
                </a:tc>
                <a:tc>
                  <a:txBody>
                    <a:bodyPr/>
                    <a:lstStyle/>
                    <a:p>
                      <a:pPr algn="ctr"/>
                      <a:r>
                        <a:rPr sz="1100"/>
                        <a:t>NA</a:t>
                      </a:r>
                    </a:p>
                  </a:txBody>
                  <a:tcPr marL="54864" marR="54864" marT="27432" marB="27432"/>
                </a:tc>
                <a:extLst>
                  <a:ext uri="{0D108BD9-81ED-4DB2-BD59-A6C34878D82A}">
                    <a16:rowId xmlns:a16="http://schemas.microsoft.com/office/drawing/2014/main" val="10003"/>
                  </a:ext>
                </a:extLst>
              </a:tr>
              <a:tr h="408432">
                <a:tc>
                  <a:txBody>
                    <a:bodyPr/>
                    <a:lstStyle/>
                    <a:p>
                      <a:r>
                        <a:rPr sz="1100" b="1"/>
                        <a:t>Deliverable Usage</a:t>
                      </a:r>
                    </a:p>
                  </a:txBody>
                  <a:tcPr marL="54864" marR="54864" marT="27432" marB="27432"/>
                </a:tc>
                <a:tc>
                  <a:txBody>
                    <a:bodyPr/>
                    <a:lstStyle/>
                    <a:p>
                      <a:r>
                        <a:rPr sz="1100"/>
                        <a:t>Only the research team runs the classifier against the archived logs; the archive regenerates every number in the paper.</a:t>
                      </a:r>
                    </a:p>
                  </a:txBody>
                  <a:tcPr marL="54864" marR="54864" marT="27432" marB="27432"/>
                </a:tc>
                <a:tc>
                  <a:txBody>
                    <a:bodyPr/>
                    <a:lstStyle/>
                    <a:p>
                      <a:pPr algn="ctr"/>
                      <a:r>
                        <a:rPr sz="1100"/>
                        <a:t>19</a:t>
                      </a:r>
                    </a:p>
                  </a:txBody>
                  <a:tcPr marL="54864" marR="54864" marT="27432" marB="27432"/>
                </a:tc>
                <a:extLst>
                  <a:ext uri="{0D108BD9-81ED-4DB2-BD59-A6C34878D82A}">
                    <a16:rowId xmlns:a16="http://schemas.microsoft.com/office/drawing/2014/main" val="10004"/>
                  </a:ext>
                </a:extLst>
              </a:tr>
              <a:tr h="408432">
                <a:tc>
                  <a:txBody>
                    <a:bodyPr/>
                    <a:lstStyle/>
                    <a:p>
                      <a:r>
                        <a:rPr sz="1100" b="1"/>
                        <a:t>Tie back to PS</a:t>
                      </a:r>
                    </a:p>
                  </a:txBody>
                  <a:tcPr marL="54864" marR="54864" marT="27432" marB="27432"/>
                </a:tc>
                <a:tc>
                  <a:txBody>
                    <a:bodyPr/>
                    <a:lstStyle/>
                    <a:p>
                      <a:r>
                        <a:rPr sz="1100"/>
                        <a:t>Gives defenders the first controlled evidence of which target-side signals reveal an autonomous AI operator inside an APT intrusion, so detection and response can be tuned to the adversary class.</a:t>
                      </a:r>
                    </a:p>
                  </a:txBody>
                  <a:tcPr marL="54864" marR="54864" marT="27432" marB="27432"/>
                </a:tc>
                <a:tc>
                  <a:txBody>
                    <a:bodyPr/>
                    <a:lstStyle/>
                    <a:p>
                      <a:pPr algn="ctr"/>
                      <a:r>
                        <a:rPr sz="1100"/>
                        <a:t>30</a:t>
                      </a:r>
                    </a:p>
                  </a:txBody>
                  <a:tcPr marL="54864" marR="54864" marT="27432" marB="27432"/>
                </a:tc>
                <a:extLst>
                  <a:ext uri="{0D108BD9-81ED-4DB2-BD59-A6C34878D82A}">
                    <a16:rowId xmlns:a16="http://schemas.microsoft.com/office/drawing/2014/main" val="10005"/>
                  </a:ext>
                </a:extLst>
              </a:tr>
              <a:tr h="408432">
                <a:tc>
                  <a:txBody>
                    <a:bodyPr/>
                    <a:lstStyle/>
                    <a:p>
                      <a:r>
                        <a:rPr sz="1100" b="1"/>
                        <a:t>New Contributions</a:t>
                      </a:r>
                    </a:p>
                  </a:txBody>
                  <a:tcPr marL="54864" marR="54864" marT="27432" marB="27432"/>
                </a:tc>
                <a:tc>
                  <a:txBody>
                    <a:bodyPr/>
                    <a:lstStyle/>
                    <a:p>
                      <a:r>
                        <a:rPr sz="1100"/>
                        <a:t>First matched human vs. fully autonomous AI comparison on multi-host, multi-day APT-style target-side telemetry, with an eight-classifier comparison, grouped trial-level evaluation and held-out operator tests.</a:t>
                      </a:r>
                    </a:p>
                  </a:txBody>
                  <a:tcPr marL="54864" marR="54864" marT="27432" marB="27432"/>
                </a:tc>
                <a:tc>
                  <a:txBody>
                    <a:bodyPr/>
                    <a:lstStyle/>
                    <a:p>
                      <a:pPr algn="ctr"/>
                      <a:r>
                        <a:rPr sz="1100"/>
                        <a:t>25</a:t>
                      </a:r>
                    </a:p>
                  </a:txBody>
                  <a:tcPr marL="54864" marR="54864" marT="27432" marB="27432"/>
                </a:tc>
                <a:extLst>
                  <a:ext uri="{0D108BD9-81ED-4DB2-BD59-A6C34878D82A}">
                    <a16:rowId xmlns:a16="http://schemas.microsoft.com/office/drawing/2014/main" val="10006"/>
                  </a:ext>
                </a:extLst>
              </a:tr>
              <a:tr h="408432">
                <a:tc>
                  <a:txBody>
                    <a:bodyPr/>
                    <a:lstStyle/>
                    <a:p>
                      <a:r>
                        <a:rPr sz="1100" b="1"/>
                        <a:t>Scope</a:t>
                      </a:r>
                    </a:p>
                  </a:txBody>
                  <a:tcPr marL="54864" marR="54864" marT="27432" marB="27432"/>
                </a:tc>
                <a:tc>
                  <a:txBody>
                    <a:bodyPr/>
                    <a:lstStyle/>
                    <a:p>
                      <a:r>
                        <a:rPr sz="1100"/>
                        <a:t>GOAD AD lab on AWS as an enterprise APT target; certified penetration testers vs. ARTEMIS-scaffolded autonomous agents; black-box and white-box conditions. AI-assisted humans and the cloud (IAM/S3) track deferred to Phase 2.</a:t>
                      </a:r>
                    </a:p>
                  </a:txBody>
                  <a:tcPr marL="54864" marR="54864" marT="27432" marB="27432"/>
                </a:tc>
                <a:tc>
                  <a:txBody>
                    <a:bodyPr/>
                    <a:lstStyle/>
                    <a:p>
                      <a:pPr algn="ctr"/>
                      <a:r>
                        <a:rPr sz="1100"/>
                        <a:t>32</a:t>
                      </a:r>
                    </a:p>
                  </a:txBody>
                  <a:tcPr marL="54864" marR="54864" marT="27432" marB="27432"/>
                </a:tc>
                <a:extLst>
                  <a:ext uri="{0D108BD9-81ED-4DB2-BD59-A6C34878D82A}">
                    <a16:rowId xmlns:a16="http://schemas.microsoft.com/office/drawing/2014/main" val="10007"/>
                  </a:ext>
                </a:extLst>
              </a:tr>
              <a:tr h="408432">
                <a:tc>
                  <a:txBody>
                    <a:bodyPr/>
                    <a:lstStyle/>
                    <a:p>
                      <a:r>
                        <a:rPr sz="1100" b="1"/>
                        <a:t>Main methodology</a:t>
                      </a:r>
                    </a:p>
                  </a:txBody>
                  <a:tcPr marL="54864" marR="54864" marT="27432" marB="27432"/>
                </a:tc>
                <a:tc>
                  <a:txBody>
                    <a:bodyPr/>
                    <a:lstStyle/>
                    <a:p>
                      <a:r>
                        <a:rPr sz="1100"/>
                        <a:t>Matched-trial APT emulation generating a labeled dataset; feature engineering; EDA (top features); eight-classifier comparison (GB, RF, XGBoost, DT, LR, linear SVM, NB, KNN); ablations; held-out tests.</a:t>
                      </a:r>
                    </a:p>
                  </a:txBody>
                  <a:tcPr marL="54864" marR="54864" marT="27432" marB="27432"/>
                </a:tc>
                <a:tc>
                  <a:txBody>
                    <a:bodyPr/>
                    <a:lstStyle/>
                    <a:p>
                      <a:pPr algn="ctr"/>
                      <a:r>
                        <a:rPr sz="1100"/>
                        <a:t>NA</a:t>
                      </a:r>
                    </a:p>
                  </a:txBody>
                  <a:tcPr marL="54864" marR="54864" marT="27432" marB="27432"/>
                </a:tc>
                <a:extLst>
                  <a:ext uri="{0D108BD9-81ED-4DB2-BD59-A6C34878D82A}">
                    <a16:rowId xmlns:a16="http://schemas.microsoft.com/office/drawing/2014/main" val="10008"/>
                  </a:ext>
                </a:extLst>
              </a:tr>
              <a:tr h="408432">
                <a:tc>
                  <a:txBody>
                    <a:bodyPr/>
                    <a:lstStyle/>
                    <a:p>
                      <a:r>
                        <a:rPr sz="1100" b="1"/>
                        <a:t>Inputs</a:t>
                      </a:r>
                    </a:p>
                  </a:txBody>
                  <a:tcPr marL="54864" marR="54864" marT="27432" marB="27432"/>
                </a:tc>
                <a:tc>
                  <a:txBody>
                    <a:bodyPr/>
                    <a:lstStyle/>
                    <a:p>
                      <a:r>
                        <a:rPr sz="1100"/>
                        <a:t>Target-side host logs (Security 4688/4624/4769/5145, Sysmon, PowerShell 4104, AD audit, DNS) and network capture (Zeek/Suricata logs, capped PCAP, VPC Flow Logs) from reset GOAD trials.</a:t>
                      </a:r>
                    </a:p>
                  </a:txBody>
                  <a:tcPr marL="54864" marR="54864" marT="27432" marB="27432"/>
                </a:tc>
                <a:tc>
                  <a:txBody>
                    <a:bodyPr/>
                    <a:lstStyle/>
                    <a:p>
                      <a:pPr algn="ctr"/>
                      <a:r>
                        <a:rPr sz="1100"/>
                        <a:t>NA</a:t>
                      </a:r>
                    </a:p>
                  </a:txBody>
                  <a:tcPr marL="54864" marR="54864" marT="27432" marB="27432"/>
                </a:tc>
                <a:extLst>
                  <a:ext uri="{0D108BD9-81ED-4DB2-BD59-A6C34878D82A}">
                    <a16:rowId xmlns:a16="http://schemas.microsoft.com/office/drawing/2014/main" val="10009"/>
                  </a:ext>
                </a:extLst>
              </a:tr>
              <a:tr h="576072">
                <a:tc>
                  <a:txBody>
                    <a:bodyPr/>
                    <a:lstStyle/>
                    <a:p>
                      <a:r>
                        <a:rPr sz="1100" b="1"/>
                        <a:t>Outputs</a:t>
                      </a:r>
                    </a:p>
                  </a:txBody>
                  <a:tcPr marL="54864" marR="54864" marT="27432" marB="27432"/>
                </a:tc>
                <a:tc>
                  <a:txBody>
                    <a:bodyPr/>
                    <a:lstStyle/>
                    <a:p>
                      <a:r>
                        <a:rPr sz="1100"/>
                        <a:t>Trial-level predictions with confidence; EDA top-feature and feature-family rankings; eight-classifier ranking by macro-F1 with per-class precision/recall and confusion matrices; ablations (no timing, no tool IDs); held-out performance. Benign false-positive rate, scenario success and time-to-objective reported separately.</a:t>
                      </a:r>
                    </a:p>
                  </a:txBody>
                  <a:tcPr marL="54864" marR="54864" marT="27432" marB="27432"/>
                </a:tc>
                <a:tc>
                  <a:txBody>
                    <a:bodyPr/>
                    <a:lstStyle/>
                    <a:p>
                      <a:pPr algn="ctr"/>
                      <a:r>
                        <a:rPr sz="1100" dirty="0"/>
                        <a:t>NA</a:t>
                      </a:r>
                    </a:p>
                  </a:txBody>
                  <a:tcPr marL="54864" marR="54864" marT="27432" marB="27432"/>
                </a:tc>
                <a:extLst>
                  <a:ext uri="{0D108BD9-81ED-4DB2-BD59-A6C34878D82A}">
                    <a16:rowId xmlns:a16="http://schemas.microsoft.com/office/drawing/2014/main" val="10010"/>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64592" y="0"/>
            <a:ext cx="7772400" cy="548640"/>
          </a:xfrm>
        </p:spPr>
        <p:txBody>
          <a:bodyPr wrap="square"/>
          <a:lstStyle/>
          <a:p>
            <a:r>
              <a:rPr sz="1600" b="1" u="sng">
                <a:solidFill>
                  <a:srgbClr val="000000"/>
                </a:solidFill>
              </a:rPr>
              <a:t>Research Questions</a:t>
            </a:r>
          </a:p>
        </p:txBody>
      </p:sp>
      <p:graphicFrame>
        <p:nvGraphicFramePr>
          <p:cNvPr id="4" name="Table 3"/>
          <p:cNvGraphicFramePr>
            <a:graphicFrameLocks noGrp="1"/>
          </p:cNvGraphicFramePr>
          <p:nvPr>
            <p:extLst>
              <p:ext uri="{D42A27DB-BD31-4B8C-83A1-F6EECF244321}">
                <p14:modId xmlns:p14="http://schemas.microsoft.com/office/powerpoint/2010/main" val="3394328296"/>
              </p:ext>
            </p:extLst>
          </p:nvPr>
        </p:nvGraphicFramePr>
        <p:xfrm>
          <a:off x="164592" y="566928"/>
          <a:ext cx="8814815" cy="2615183"/>
        </p:xfrm>
        <a:graphic>
          <a:graphicData uri="http://schemas.openxmlformats.org/drawingml/2006/table">
            <a:tbl>
              <a:tblPr firstRow="1" bandRow="1">
                <a:tableStyleId>{5C22544A-7EE6-4342-B048-85BDC9FD1C3A}</a:tableStyleId>
              </a:tblPr>
              <a:tblGrid>
                <a:gridCol w="1928241"/>
                <a:gridCol w="6197917"/>
                <a:gridCol w="688657"/>
              </a:tblGrid>
              <a:tr h="256031">
                <a:tc>
                  <a:txBody>
                    <a:bodyPr/>
                    <a:lstStyle/>
                    <a:p>
                      <a:r>
                        <a:rPr sz="1200" b="1"/>
                        <a:t>(A) Deliverable</a:t>
                      </a:r>
                    </a:p>
                  </a:txBody>
                  <a:tcPr marL="54864" marR="54864" marT="27432" marB="27432" anchor="ctr"/>
                </a:tc>
                <a:tc>
                  <a:txBody>
                    <a:bodyPr/>
                    <a:lstStyle/>
                    <a:p>
                      <a:pPr algn="ctr">
                        <a:buNone/>
                      </a:pPr>
                      <a:r>
                        <a:rPr sz="1200" b="1"/>
                        <a:t>(B) Format</a:t>
                      </a:r>
                    </a:p>
                  </a:txBody>
                  <a:tcPr marL="54864" marR="54864" marT="27432" marB="27432" anchor="ctr"/>
                </a:tc>
                <a:tc>
                  <a:txBody>
                    <a:bodyPr/>
                    <a:lstStyle/>
                    <a:p>
                      <a:pPr algn="ctr">
                        <a:buNone/>
                      </a:pPr>
                      <a:r>
                        <a:rPr sz="1200" b="1"/>
                        <a:t>(C) WC</a:t>
                      </a:r>
                    </a:p>
                  </a:txBody>
                  <a:tcPr marL="54864" marR="54864" marT="27432" marB="27432" anchor="ctr"/>
                </a:tc>
              </a:tr>
              <a:tr h="438912">
                <a:tc>
                  <a:txBody>
                    <a:bodyPr/>
                    <a:lstStyle/>
                    <a:p>
                      <a:r>
                        <a:rPr sz="1200" b="1"/>
                        <a:t>RQ1: feature identification</a:t>
                      </a:r>
                    </a:p>
                  </a:txBody>
                  <a:tcPr marL="54864" marR="54864" marT="27432" marB="27432"/>
                </a:tc>
                <a:tc>
                  <a:txBody>
                    <a:bodyPr/>
                    <a:lstStyle/>
                    <a:p>
                      <a:r>
                        <a:rPr sz="1200"/>
                        <a:t>Which target-side host and network behavioral feature families distinguish human-operated from autonomous-AI APT-like trials under matched conditions?</a:t>
                      </a:r>
                    </a:p>
                  </a:txBody>
                  <a:tcPr marL="54864" marR="54864" marT="27432" marB="27432"/>
                </a:tc>
                <a:tc>
                  <a:txBody>
                    <a:bodyPr/>
                    <a:lstStyle/>
                    <a:p>
                      <a:pPr algn="ctr">
                        <a:buNone/>
                      </a:pPr>
                      <a:r>
                        <a:rPr sz="1200"/>
                        <a:t>17</a:t>
                      </a:r>
                    </a:p>
                  </a:txBody>
                  <a:tcPr marL="54864" marR="54864" marT="27432" marB="27432"/>
                </a:tc>
              </a:tr>
              <a:tr h="438912">
                <a:tc>
                  <a:txBody>
                    <a:bodyPr/>
                    <a:lstStyle/>
                    <a:p>
                      <a:r>
                        <a:rPr sz="1200" b="1"/>
                        <a:t>RQ2: transfer and attributes</a:t>
                      </a:r>
                    </a:p>
                  </a:txBody>
                  <a:tcPr marL="54864" marR="54864" marT="27432" marB="27432"/>
                </a:tc>
                <a:tc>
                  <a:txBody>
                    <a:bodyPr/>
                    <a:lstStyle/>
                    <a:p>
                      <a:r>
                        <a:rPr sz="1200"/>
                        <a:t>Which classifiers retain useful behavioral attributes for classification performance on autonomous-AI APT data?</a:t>
                      </a:r>
                    </a:p>
                  </a:txBody>
                  <a:tcPr marL="54864" marR="54864" marT="27432" marB="27432"/>
                </a:tc>
                <a:tc>
                  <a:txBody>
                    <a:bodyPr/>
                    <a:lstStyle/>
                    <a:p>
                      <a:pPr algn="ctr">
                        <a:buNone/>
                      </a:pPr>
                      <a:r>
                        <a:rPr sz="1200"/>
                        <a:t>13</a:t>
                      </a:r>
                    </a:p>
                  </a:txBody>
                  <a:tcPr marL="54864" marR="54864" marT="27432" marB="27432"/>
                </a:tc>
              </a:tr>
              <a:tr h="438912">
                <a:tc>
                  <a:txBody>
                    <a:bodyPr/>
                    <a:lstStyle/>
                    <a:p>
                      <a:r>
                        <a:rPr sz="1200" b="1"/>
                        <a:t>RQ3: classifier comparison</a:t>
                      </a:r>
                    </a:p>
                  </a:txBody>
                  <a:tcPr marL="54864" marR="54864" marT="27432" marB="27432"/>
                </a:tc>
                <a:tc>
                  <a:txBody>
                    <a:bodyPr/>
                    <a:lstStyle/>
                    <a:p>
                      <a:r>
                        <a:rPr sz="1200"/>
                        <a:t>Among XGBoost, a decision tree, a random forest, SVM and a tabular transformer, which provides the strongest trial-level human-versus-autonomous-AI classification?</a:t>
                      </a:r>
                    </a:p>
                  </a:txBody>
                  <a:tcPr marL="54864" marR="54864" marT="27432" marB="27432"/>
                </a:tc>
                <a:tc>
                  <a:txBody>
                    <a:bodyPr/>
                    <a:lstStyle/>
                    <a:p>
                      <a:pPr algn="ctr">
                        <a:buNone/>
                      </a:pPr>
                      <a:r>
                        <a:rPr sz="1200"/>
                        <a:t>20</a:t>
                      </a:r>
                    </a:p>
                  </a:txBody>
                  <a:tcPr marL="54864" marR="54864" marT="27432" marB="27432"/>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64592" y="0"/>
            <a:ext cx="7772400" cy="548640"/>
          </a:xfrm>
        </p:spPr>
        <p:txBody>
          <a:bodyPr wrap="square"/>
          <a:lstStyle/>
          <a:p>
            <a:r>
              <a:rPr sz="1600" b="1" u="sng">
                <a:solidFill>
                  <a:srgbClr val="000000"/>
                </a:solidFill>
              </a:rPr>
              <a:t>Research Hypotheses (1 of 2)</a:t>
            </a:r>
          </a:p>
        </p:txBody>
      </p:sp>
      <p:graphicFrame>
        <p:nvGraphicFramePr>
          <p:cNvPr id="4" name="Table 3"/>
          <p:cNvGraphicFramePr>
            <a:graphicFrameLocks noGrp="1"/>
          </p:cNvGraphicFramePr>
          <p:nvPr>
            <p:extLst>
              <p:ext uri="{D42A27DB-BD31-4B8C-83A1-F6EECF244321}">
                <p14:modId xmlns:p14="http://schemas.microsoft.com/office/powerpoint/2010/main" val="2897980571"/>
              </p:ext>
            </p:extLst>
          </p:nvPr>
        </p:nvGraphicFramePr>
        <p:xfrm>
          <a:off x="164592" y="566928"/>
          <a:ext cx="8814815" cy="3035803"/>
        </p:xfrm>
        <a:graphic>
          <a:graphicData uri="http://schemas.openxmlformats.org/drawingml/2006/table">
            <a:tbl>
              <a:tblPr firstRow="1" bandRow="1">
                <a:tableStyleId>{5C22544A-7EE6-4342-B048-85BDC9FD1C3A}</a:tableStyleId>
              </a:tblPr>
              <a:tblGrid>
                <a:gridCol w="1606867"/>
                <a:gridCol w="6519291"/>
                <a:gridCol w="688657"/>
              </a:tblGrid>
              <a:tr h="256031">
                <a:tc>
                  <a:txBody>
                    <a:bodyPr/>
                    <a:lstStyle/>
                    <a:p>
                      <a:r>
                        <a:rPr sz="1200" b="1"/>
                        <a:t>(A) Deliverable</a:t>
                      </a:r>
                    </a:p>
                  </a:txBody>
                  <a:tcPr marL="54864" marR="54864" marT="27432" marB="27432" anchor="ctr"/>
                </a:tc>
                <a:tc>
                  <a:txBody>
                    <a:bodyPr/>
                    <a:lstStyle/>
                    <a:p>
                      <a:pPr algn="ctr">
                        <a:buNone/>
                      </a:pPr>
                      <a:r>
                        <a:rPr sz="1200" b="1"/>
                        <a:t>(B) Format</a:t>
                      </a:r>
                    </a:p>
                  </a:txBody>
                  <a:tcPr marL="54864" marR="54864" marT="27432" marB="27432" anchor="ctr"/>
                </a:tc>
                <a:tc>
                  <a:txBody>
                    <a:bodyPr/>
                    <a:lstStyle/>
                    <a:p>
                      <a:pPr algn="ctr">
                        <a:buNone/>
                      </a:pPr>
                      <a:r>
                        <a:rPr sz="1200" b="1"/>
                        <a:t>(C) WC</a:t>
                      </a:r>
                    </a:p>
                  </a:txBody>
                  <a:tcPr marL="54864" marR="54864" marT="27432" marB="27432" anchor="ctr"/>
                </a:tc>
              </a:tr>
              <a:tr h="438912">
                <a:tc>
                  <a:txBody>
                    <a:bodyPr/>
                    <a:lstStyle/>
                    <a:p>
                      <a:r>
                        <a:rPr sz="1200" b="1"/>
                        <a:t>H1 / RQ1</a:t>
                      </a:r>
                    </a:p>
                  </a:txBody>
                  <a:tcPr marL="54864" marR="54864" marT="27432" marB="27432"/>
                </a:tc>
                <a:tc>
                  <a:txBody>
                    <a:bodyPr/>
                    <a:lstStyle/>
                    <a:p>
                      <a:r>
                        <a:rPr sz="1200"/>
                        <a:t>Command diversity and command-sequence transition entropy improve classification of human-operated versus autonomous-AI APT-like activity compared with a predefined baseline.</a:t>
                      </a:r>
                    </a:p>
                  </a:txBody>
                  <a:tcPr marL="54864" marR="54864" marT="27432" marB="27432"/>
                </a:tc>
                <a:tc>
                  <a:txBody>
                    <a:bodyPr/>
                    <a:lstStyle/>
                    <a:p>
                      <a:pPr algn="ctr">
                        <a:buNone/>
                      </a:pPr>
                      <a:r>
                        <a:rPr sz="1200"/>
                        <a:t>19</a:t>
                      </a:r>
                    </a:p>
                  </a:txBody>
                  <a:tcPr marL="54864" marR="54864" marT="27432" marB="27432"/>
                </a:tc>
              </a:tr>
              <a:tr h="256031">
                <a:tc>
                  <a:txBody>
                    <a:bodyPr/>
                    <a:lstStyle/>
                    <a:p>
                      <a:r>
                        <a:rPr sz="1200" b="1"/>
                        <a:t>Independent variables</a:t>
                      </a:r>
                    </a:p>
                  </a:txBody>
                  <a:tcPr marL="54864" marR="54864" marT="27432" marB="27432"/>
                </a:tc>
                <a:tc>
                  <a:txBody>
                    <a:bodyPr/>
                    <a:lstStyle/>
                    <a:p>
                      <a:r>
                        <a:rPr sz="1200"/>
                        <a:t>Feature inclusion: diversity, entropy, each separately and jointly. Freeze the baseline and definitions before scoring.</a:t>
                      </a:r>
                    </a:p>
                  </a:txBody>
                  <a:tcPr marL="54864" marR="54864" marT="27432" marB="27432"/>
                </a:tc>
                <a:tc>
                  <a:txBody>
                    <a:bodyPr/>
                    <a:lstStyle/>
                    <a:p>
                      <a:pPr algn="ctr">
                        <a:buNone/>
                      </a:pPr>
                      <a:r>
                        <a:rPr sz="1200"/>
                        <a:t>15</a:t>
                      </a:r>
                    </a:p>
                  </a:txBody>
                  <a:tcPr marL="54864" marR="54864" marT="27432" marB="27432"/>
                </a:tc>
              </a:tr>
              <a:tr h="256031">
                <a:tc>
                  <a:txBody>
                    <a:bodyPr/>
                    <a:lstStyle/>
                    <a:p>
                      <a:r>
                        <a:rPr sz="1200" b="1"/>
                        <a:t>Dependent variable</a:t>
                      </a:r>
                    </a:p>
                  </a:txBody>
                  <a:tcPr marL="54864" marR="54864" marT="27432" marB="27432"/>
                </a:tc>
                <a:tc>
                  <a:txBody>
                    <a:bodyPr/>
                    <a:lstStyle/>
                    <a:p>
                      <a:r>
                        <a:rPr sz="1200"/>
                        <a:t>Paired change in trial macro-F1 and group uncertainty.</a:t>
                      </a:r>
                    </a:p>
                  </a:txBody>
                  <a:tcPr marL="54864" marR="54864" marT="27432" marB="27432"/>
                </a:tc>
                <a:tc>
                  <a:txBody>
                    <a:bodyPr/>
                    <a:lstStyle/>
                    <a:p>
                      <a:pPr algn="ctr">
                        <a:buNone/>
                      </a:pPr>
                      <a:r>
                        <a:rPr sz="1200"/>
                        <a:t>8</a:t>
                      </a:r>
                    </a:p>
                  </a:txBody>
                  <a:tcPr marL="54864" marR="54864" marT="27432" marB="27432"/>
                </a:tc>
              </a:tr>
              <a:tr h="438912">
                <a:tc>
                  <a:txBody>
                    <a:bodyPr/>
                    <a:lstStyle/>
                    <a:p>
                      <a:r>
                        <a:rPr sz="1200" b="1"/>
                        <a:t>Test</a:t>
                      </a:r>
                    </a:p>
                  </a:txBody>
                  <a:tcPr marL="54864" marR="54864" marT="27432" marB="27432"/>
                </a:tc>
                <a:tc>
                  <a:txBody>
                    <a:bodyPr/>
                    <a:lstStyle/>
                    <a:p>
                      <a:r>
                        <a:rPr sz="1200"/>
                        <a:t>Retrain ablations on common grouped splits. Feature-family importance alone cannot establish benefit from both named features.</a:t>
                      </a:r>
                    </a:p>
                  </a:txBody>
                  <a:tcPr marL="54864" marR="54864" marT="27432" marB="27432"/>
                </a:tc>
                <a:tc>
                  <a:txBody>
                    <a:bodyPr/>
                    <a:lstStyle/>
                    <a:p>
                      <a:pPr algn="ctr">
                        <a:buNone/>
                      </a:pPr>
                      <a:r>
                        <a:rPr sz="1200"/>
                        <a:t>16</a:t>
                      </a:r>
                    </a:p>
                  </a:txBody>
                  <a:tcPr marL="54864" marR="54864" marT="27432" marB="27432"/>
                </a:tc>
              </a:tr>
              <a:tr h="438912">
                <a:tc>
                  <a:txBody>
                    <a:bodyPr/>
                    <a:lstStyle/>
                    <a:p>
                      <a:r>
                        <a:rPr sz="1200" b="1"/>
                        <a:t>H2 / RQ2</a:t>
                      </a:r>
                    </a:p>
                  </a:txBody>
                  <a:tcPr marL="54864" marR="54864" marT="27432" marB="27432"/>
                </a:tc>
                <a:tc>
                  <a:txBody>
                    <a:bodyPr/>
                    <a:lstStyle/>
                    <a:p>
                      <a:r>
                        <a:rPr sz="1200"/>
                        <a:t>Logistic regression retains useful behavioral attributes and achieves above-baseline classification performance on previously unseen autonomous-AI configurations and human operators.</a:t>
                      </a:r>
                    </a:p>
                  </a:txBody>
                  <a:tcPr marL="54864" marR="54864" marT="27432" marB="27432"/>
                </a:tc>
                <a:tc>
                  <a:txBody>
                    <a:bodyPr/>
                    <a:lstStyle/>
                    <a:p>
                      <a:pPr algn="ctr">
                        <a:buNone/>
                      </a:pPr>
                      <a:r>
                        <a:rPr sz="1200"/>
                        <a:t>19</a:t>
                      </a:r>
                    </a:p>
                  </a:txBody>
                  <a:tcPr marL="54864" marR="54864" marT="27432" marB="27432"/>
                </a:tc>
              </a:tr>
              <a:tr h="256031">
                <a:tc>
                  <a:txBody>
                    <a:bodyPr/>
                    <a:lstStyle/>
                    <a:p>
                      <a:r>
                        <a:rPr sz="1200" b="1"/>
                        <a:t>Independent variables</a:t>
                      </a:r>
                    </a:p>
                  </a:txBody>
                  <a:tcPr marL="54864" marR="54864" marT="27432" marB="27432"/>
                </a:tc>
                <a:tc>
                  <a:txBody>
                    <a:bodyPr/>
                    <a:lstStyle/>
                    <a:p>
                      <a:r>
                        <a:rPr sz="1200"/>
                        <a:t>Held-out human/configuration groups and full versus reduced behavioral representation.</a:t>
                      </a:r>
                    </a:p>
                  </a:txBody>
                  <a:tcPr marL="54864" marR="54864" marT="27432" marB="27432"/>
                </a:tc>
                <a:tc>
                  <a:txBody>
                    <a:bodyPr/>
                    <a:lstStyle/>
                    <a:p>
                      <a:pPr algn="ctr">
                        <a:buNone/>
                      </a:pPr>
                      <a:r>
                        <a:rPr sz="1200"/>
                        <a:t>9</a:t>
                      </a:r>
                    </a:p>
                  </a:txBody>
                  <a:tcPr marL="54864" marR="54864" marT="27432" marB="27432"/>
                </a:tc>
              </a:tr>
              <a:tr h="256031">
                <a:tc>
                  <a:txBody>
                    <a:bodyPr/>
                    <a:lstStyle/>
                    <a:p>
                      <a:r>
                        <a:rPr sz="1200" b="1"/>
                        <a:t>Dependent variable</a:t>
                      </a:r>
                    </a:p>
                  </a:txBody>
                  <a:tcPr marL="54864" marR="54864" marT="27432" marB="27432"/>
                </a:tc>
                <a:tc>
                  <a:txBody>
                    <a:bodyPr/>
                    <a:lstStyle/>
                    <a:p>
                      <a:r>
                        <a:rPr sz="1200"/>
                        <a:t>Above-baseline macro-F1, human false-AI rate, feature stability and transfer loss.</a:t>
                      </a:r>
                    </a:p>
                  </a:txBody>
                  <a:tcPr marL="54864" marR="54864" marT="27432" marB="27432"/>
                </a:tc>
                <a:tc>
                  <a:txBody>
                    <a:bodyPr/>
                    <a:lstStyle/>
                    <a:p>
                      <a:pPr algn="ctr">
                        <a:buNone/>
                      </a:pPr>
                      <a:r>
                        <a:rPr sz="1200"/>
                        <a:t>10</a:t>
                      </a:r>
                    </a:p>
                  </a:txBody>
                  <a:tcPr marL="54864" marR="54864" marT="27432" marB="27432"/>
                </a:tc>
              </a:tr>
              <a:tr h="438912">
                <a:tc>
                  <a:txBody>
                    <a:bodyPr/>
                    <a:lstStyle/>
                    <a:p>
                      <a:r>
                        <a:rPr sz="1200" b="1"/>
                        <a:t>Test</a:t>
                      </a:r>
                    </a:p>
                  </a:txBody>
                  <a:tcPr marL="54864" marR="54864" marT="27432" marB="27432"/>
                </a:tc>
                <a:tc>
                  <a:txBody>
                    <a:bodyPr/>
                    <a:lstStyle/>
                    <a:p>
                      <a:r>
                        <a:rPr sz="1200"/>
                        <a:t>Freeze logistic regression and the baseline. Fit preprocessing inside training folds. Test unseen groups with timing/tool controls.</a:t>
                      </a:r>
                    </a:p>
                  </a:txBody>
                  <a:tcPr marL="54864" marR="54864" marT="27432" marB="27432"/>
                </a:tc>
                <a:tc>
                  <a:txBody>
                    <a:bodyPr/>
                    <a:lstStyle/>
                    <a:p>
                      <a:pPr algn="ctr">
                        <a:buNone/>
                      </a:pPr>
                      <a:r>
                        <a:rPr sz="1200"/>
                        <a:t>17</a:t>
                      </a:r>
                    </a:p>
                  </a:txBody>
                  <a:tcPr marL="54864" marR="54864" marT="27432" marB="27432"/>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64592" y="0"/>
            <a:ext cx="7772400" cy="548640"/>
          </a:xfrm>
        </p:spPr>
        <p:txBody>
          <a:bodyPr wrap="square"/>
          <a:lstStyle/>
          <a:p>
            <a:r>
              <a:rPr sz="1600" b="1" u="sng">
                <a:solidFill>
                  <a:srgbClr val="000000"/>
                </a:solidFill>
              </a:rPr>
              <a:t>Research Hypotheses (2 of 2)</a:t>
            </a:r>
          </a:p>
        </p:txBody>
      </p:sp>
      <p:graphicFrame>
        <p:nvGraphicFramePr>
          <p:cNvPr id="4" name="Table 3"/>
          <p:cNvGraphicFramePr>
            <a:graphicFrameLocks noGrp="1"/>
          </p:cNvGraphicFramePr>
          <p:nvPr>
            <p:extLst>
              <p:ext uri="{D42A27DB-BD31-4B8C-83A1-F6EECF244321}">
                <p14:modId xmlns:p14="http://schemas.microsoft.com/office/powerpoint/2010/main" val="2897980571"/>
              </p:ext>
            </p:extLst>
          </p:nvPr>
        </p:nvGraphicFramePr>
        <p:xfrm>
          <a:off x="164592" y="566928"/>
          <a:ext cx="8814815" cy="3364988"/>
        </p:xfrm>
        <a:graphic>
          <a:graphicData uri="http://schemas.openxmlformats.org/drawingml/2006/table">
            <a:tbl>
              <a:tblPr firstRow="1" bandRow="1">
                <a:tableStyleId>{5C22544A-7EE6-4342-B048-85BDC9FD1C3A}</a:tableStyleId>
              </a:tblPr>
              <a:tblGrid>
                <a:gridCol w="1606867"/>
                <a:gridCol w="6519291"/>
                <a:gridCol w="688657"/>
              </a:tblGrid>
              <a:tr h="256031">
                <a:tc>
                  <a:txBody>
                    <a:bodyPr/>
                    <a:lstStyle/>
                    <a:p>
                      <a:r>
                        <a:rPr sz="1200" b="1"/>
                        <a:t>(A) Deliverable</a:t>
                      </a:r>
                    </a:p>
                  </a:txBody>
                  <a:tcPr marL="54864" marR="54864" marT="27432" marB="27432" anchor="ctr"/>
                </a:tc>
                <a:tc>
                  <a:txBody>
                    <a:bodyPr/>
                    <a:lstStyle/>
                    <a:p>
                      <a:pPr algn="ctr">
                        <a:buNone/>
                      </a:pPr>
                      <a:r>
                        <a:rPr sz="1200" b="1"/>
                        <a:t>(B) Format</a:t>
                      </a:r>
                    </a:p>
                  </a:txBody>
                  <a:tcPr marL="54864" marR="54864" marT="27432" marB="27432" anchor="ctr"/>
                </a:tc>
                <a:tc>
                  <a:txBody>
                    <a:bodyPr/>
                    <a:lstStyle/>
                    <a:p>
                      <a:pPr algn="ctr">
                        <a:buNone/>
                      </a:pPr>
                      <a:r>
                        <a:rPr sz="1200" b="1"/>
                        <a:t>(C) WC</a:t>
                      </a:r>
                    </a:p>
                  </a:txBody>
                  <a:tcPr marL="54864" marR="54864" marT="27432" marB="27432" anchor="ctr"/>
                </a:tc>
              </a:tr>
              <a:tr h="438912">
                <a:tc>
                  <a:txBody>
                    <a:bodyPr/>
                    <a:lstStyle/>
                    <a:p>
                      <a:r>
                        <a:rPr sz="1200" b="1"/>
                        <a:t>H3 / RQ3</a:t>
                      </a:r>
                    </a:p>
                  </a:txBody>
                  <a:tcPr marL="54864" marR="54864" marT="27432" marB="27432"/>
                </a:tc>
                <a:tc>
                  <a:txBody>
                    <a:bodyPr/>
                    <a:lstStyle/>
                    <a:p>
                      <a:r>
                        <a:rPr sz="1200"/>
                        <a:t>SVM achieves higher trial-level macro-F1 than XGBoost, a decision tree, a random forest and a tabular transformer for human-versus-autonomous-AI classification.</a:t>
                      </a:r>
                    </a:p>
                  </a:txBody>
                  <a:tcPr marL="54864" marR="54864" marT="27432" marB="27432"/>
                </a:tc>
                <a:tc>
                  <a:txBody>
                    <a:bodyPr/>
                    <a:lstStyle/>
                    <a:p>
                      <a:pPr algn="ctr">
                        <a:buNone/>
                      </a:pPr>
                      <a:r>
                        <a:rPr sz="1200"/>
                        <a:t>20</a:t>
                      </a:r>
                    </a:p>
                  </a:txBody>
                  <a:tcPr marL="54864" marR="54864" marT="27432" marB="27432"/>
                </a:tc>
              </a:tr>
              <a:tr h="256031">
                <a:tc>
                  <a:txBody>
                    <a:bodyPr/>
                    <a:lstStyle/>
                    <a:p>
                      <a:r>
                        <a:rPr sz="1200" b="1"/>
                        <a:t>Independent variables</a:t>
                      </a:r>
                    </a:p>
                  </a:txBody>
                  <a:tcPr marL="54864" marR="54864" marT="27432" marB="27432"/>
                </a:tc>
                <a:tc>
                  <a:txBody>
                    <a:bodyPr/>
                    <a:lstStyle/>
                    <a:p>
                      <a:r>
                        <a:rPr sz="1200"/>
                        <a:t>Five primary classifiers using the same feature table, grouped splits and bounded tuning budgets.</a:t>
                      </a:r>
                    </a:p>
                  </a:txBody>
                  <a:tcPr marL="54864" marR="54864" marT="27432" marB="27432"/>
                </a:tc>
                <a:tc>
                  <a:txBody>
                    <a:bodyPr/>
                    <a:lstStyle/>
                    <a:p>
                      <a:pPr algn="ctr">
                        <a:buNone/>
                      </a:pPr>
                      <a:r>
                        <a:rPr sz="1200"/>
                        <a:t>14</a:t>
                      </a:r>
                    </a:p>
                  </a:txBody>
                  <a:tcPr marL="54864" marR="54864" marT="27432" marB="27432"/>
                </a:tc>
              </a:tr>
              <a:tr h="256031">
                <a:tc>
                  <a:txBody>
                    <a:bodyPr/>
                    <a:lstStyle/>
                    <a:p>
                      <a:r>
                        <a:rPr sz="1200" b="1"/>
                        <a:t>Dependent variable</a:t>
                      </a:r>
                    </a:p>
                  </a:txBody>
                  <a:tcPr marL="54864" marR="54864" marT="27432" marB="27432"/>
                </a:tc>
                <a:tc>
                  <a:txBody>
                    <a:bodyPr/>
                    <a:lstStyle/>
                    <a:p>
                      <a:r>
                        <a:rPr sz="1200"/>
                        <a:t>Trial macro-F1, paired score differences and corrected group uncertainty. Secondary metrics include errors, calibration and cost.</a:t>
                      </a:r>
                    </a:p>
                  </a:txBody>
                  <a:tcPr marL="54864" marR="54864" marT="27432" marB="27432"/>
                </a:tc>
                <a:tc>
                  <a:txBody>
                    <a:bodyPr/>
                    <a:lstStyle/>
                    <a:p>
                      <a:pPr algn="ctr">
                        <a:buNone/>
                      </a:pPr>
                      <a:r>
                        <a:rPr sz="1200"/>
                        <a:t>16</a:t>
                      </a:r>
                    </a:p>
                  </a:txBody>
                  <a:tcPr marL="54864" marR="54864" marT="27432" marB="27432"/>
                </a:tc>
              </a:tr>
              <a:tr h="438912">
                <a:tc>
                  <a:txBody>
                    <a:bodyPr/>
                    <a:lstStyle/>
                    <a:p>
                      <a:r>
                        <a:rPr sz="1200" b="1"/>
                        <a:t>Test</a:t>
                      </a:r>
                    </a:p>
                  </a:txBody>
                  <a:tcPr marL="54864" marR="54864" marT="27432" marB="27432"/>
                </a:tc>
                <a:tc>
                  <a:txBody>
                    <a:bodyPr/>
                    <a:lstStyle/>
                    <a:p>
                      <a:r>
                        <a:rPr sz="1200"/>
                        <a:t>Compare SVM with each of four candidates using paired predictions and a declared multiplicity procedure. A leading mean alone is insufficient.</a:t>
                      </a:r>
                    </a:p>
                  </a:txBody>
                  <a:tcPr marL="54864" marR="54864" marT="27432" marB="27432"/>
                </a:tc>
                <a:tc>
                  <a:txBody>
                    <a:bodyPr/>
                    <a:lstStyle/>
                    <a:p>
                      <a:pPr algn="ctr">
                        <a:buNone/>
                      </a:pPr>
                      <a:r>
                        <a:rPr sz="1200"/>
                        <a:t>21</a:t>
                      </a:r>
                    </a:p>
                  </a:txBody>
                  <a:tcPr marL="54864" marR="54864" marT="27432" marB="27432"/>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20040" y="109728"/>
            <a:ext cx="8595360" cy="548640"/>
          </a:xfrm>
        </p:spPr>
        <p:txBody>
          <a:bodyPr wrap="square"/>
          <a:lstStyle/>
          <a:p>
            <a:r>
              <a:rPr sz="2400" b="1">
                <a:solidFill>
                  <a:srgbClr val="B22600"/>
                </a:solidFill>
              </a:rPr>
              <a:t>Data Source – Primary (Dataset 1: Host Telemetry)</a:t>
            </a:r>
          </a:p>
        </p:txBody>
      </p:sp>
      <p:graphicFrame>
        <p:nvGraphicFramePr>
          <p:cNvPr id="4" name="Table 3"/>
          <p:cNvGraphicFramePr>
            <a:graphicFrameLocks noGrp="1"/>
          </p:cNvGraphicFramePr>
          <p:nvPr>
            <p:extLst>
              <p:ext uri="{D42A27DB-BD31-4B8C-83A1-F6EECF244321}">
                <p14:modId xmlns:p14="http://schemas.microsoft.com/office/powerpoint/2010/main" val="2938520460"/>
              </p:ext>
            </p:extLst>
          </p:nvPr>
        </p:nvGraphicFramePr>
        <p:xfrm>
          <a:off x="164592" y="777240"/>
          <a:ext cx="7898421" cy="1636776"/>
        </p:xfrm>
        <a:graphic>
          <a:graphicData uri="http://schemas.openxmlformats.org/drawingml/2006/table">
            <a:tbl>
              <a:tblPr firstRow="1" bandRow="1">
                <a:tableStyleId>{5C22544A-7EE6-4342-B048-85BDC9FD1C3A}</a:tableStyleId>
              </a:tblPr>
              <a:tblGrid>
                <a:gridCol w="349101"/>
                <a:gridCol w="1134580"/>
                <a:gridCol w="1570957"/>
                <a:gridCol w="1920058"/>
                <a:gridCol w="1134580"/>
                <a:gridCol w="1003667"/>
                <a:gridCol w="785478"/>
              </a:tblGrid>
              <a:tr h="408432">
                <a:tc>
                  <a:txBody>
                    <a:bodyPr/>
                    <a:lstStyle/>
                    <a:p>
                      <a:r>
                        <a:rPr sz="1100" b="1"/>
                        <a:t>ID</a:t>
                      </a:r>
                    </a:p>
                  </a:txBody>
                  <a:tcPr marL="54864" marR="54864" marT="27432" marB="27432" anchor="ctr"/>
                </a:tc>
                <a:tc>
                  <a:txBody>
                    <a:bodyPr/>
                    <a:lstStyle/>
                    <a:p>
                      <a:pPr algn="ctr">
                        <a:buNone/>
                      </a:pPr>
                      <a:r>
                        <a:rPr sz="1100" b="1"/>
                        <a:t>Name</a:t>
                      </a:r>
                    </a:p>
                  </a:txBody>
                  <a:tcPr marL="54864" marR="54864" marT="27432" marB="27432" anchor="ctr"/>
                </a:tc>
                <a:tc>
                  <a:txBody>
                    <a:bodyPr/>
                    <a:lstStyle/>
                    <a:p>
                      <a:pPr algn="ctr">
                        <a:buNone/>
                      </a:pPr>
                      <a:r>
                        <a:rPr sz="1100" b="1"/>
                        <a:t>Source</a:t>
                      </a:r>
                    </a:p>
                  </a:txBody>
                  <a:tcPr marL="54864" marR="54864" marT="27432" marB="27432" anchor="ctr"/>
                </a:tc>
                <a:tc>
                  <a:txBody>
                    <a:bodyPr/>
                    <a:lstStyle/>
                    <a:p>
                      <a:pPr algn="ctr">
                        <a:buNone/>
                      </a:pPr>
                      <a:r>
                        <a:rPr sz="1100" b="1"/>
                        <a:t>Brief Description</a:t>
                      </a:r>
                    </a:p>
                  </a:txBody>
                  <a:tcPr marL="54864" marR="54864" marT="27432" marB="27432" anchor="ctr"/>
                </a:tc>
                <a:tc>
                  <a:txBody>
                    <a:bodyPr/>
                    <a:lstStyle/>
                    <a:p>
                      <a:pPr algn="ctr">
                        <a:buNone/>
                      </a:pPr>
                      <a:r>
                        <a:rPr sz="1100" b="1"/>
                        <a:t>Format</a:t>
                      </a:r>
                    </a:p>
                  </a:txBody>
                  <a:tcPr marL="54864" marR="54864" marT="27432" marB="27432" anchor="ctr"/>
                </a:tc>
                <a:tc>
                  <a:txBody>
                    <a:bodyPr/>
                    <a:lstStyle/>
                    <a:p>
                      <a:pPr algn="ctr">
                        <a:buNone/>
                      </a:pPr>
                      <a:r>
                        <a:rPr sz="1100" b="1"/>
                        <a:t>Num. of records</a:t>
                      </a:r>
                    </a:p>
                  </a:txBody>
                  <a:tcPr marL="54864" marR="54864" marT="27432" marB="27432" anchor="ctr"/>
                </a:tc>
                <a:tc>
                  <a:txBody>
                    <a:bodyPr/>
                    <a:lstStyle/>
                    <a:p>
                      <a:pPr algn="ctr">
                        <a:buNone/>
                      </a:pPr>
                      <a:r>
                        <a:rPr sz="1100" b="1"/>
                        <a:t>Access (Y/N)</a:t>
                      </a:r>
                    </a:p>
                  </a:txBody>
                  <a:tcPr marL="54864" marR="54864" marT="27432" marB="27432" anchor="ctr"/>
                </a:tc>
              </a:tr>
              <a:tr h="1078992">
                <a:tc>
                  <a:txBody>
                    <a:bodyPr/>
                    <a:lstStyle/>
                    <a:p>
                      <a:pPr algn="ctr">
                        <a:buNone/>
                      </a:pPr>
                      <a:r>
                        <a:rPr sz="1100" b="1"/>
                        <a:t>1</a:t>
                      </a:r>
                    </a:p>
                  </a:txBody>
                  <a:tcPr marL="54864" marR="54864" marT="27432" marB="27432"/>
                </a:tc>
                <a:tc>
                  <a:txBody>
                    <a:bodyPr/>
                    <a:lstStyle/>
                    <a:p>
                      <a:r>
                        <a:rPr sz="1100"/>
                        <a:t>GOAD Host Telemetry Corpus (foothold + domain targets)</a:t>
                      </a:r>
                    </a:p>
                  </a:txBody>
                  <a:tcPr marL="54864" marR="54864" marT="27432" marB="27432"/>
                </a:tc>
                <a:tc>
                  <a:txBody>
                    <a:bodyPr/>
                    <a:lstStyle/>
                    <a:p>
                      <a:r>
                        <a:rPr sz="1100"/>
                        <a:t>Study-created GOAD AWS telemetry from matched human and ARTEMIS autonomous-AI trials. Pin range, scaffold, model and sensor versions.</a:t>
                      </a:r>
                    </a:p>
                  </a:txBody>
                  <a:tcPr marL="54864" marR="54864" marT="27432" marB="27432"/>
                </a:tc>
                <a:tc>
                  <a:txBody>
                    <a:bodyPr/>
                    <a:lstStyle/>
                    <a:p>
                      <a:r>
                        <a:rPr sz="1100"/>
                        <a:t>Native Windows event logs from the monitored foothold and five domain targets (two forests, three domains) for every human and autonomous-AI trial, from verified reset to window close.</a:t>
                      </a:r>
                    </a:p>
                  </a:txBody>
                  <a:tcPr marL="54864" marR="54864" marT="27432" marB="27432"/>
                </a:tc>
                <a:tc>
                  <a:txBody>
                    <a:bodyPr/>
                    <a:lstStyle/>
                    <a:p>
                      <a:r>
                        <a:rPr sz="1100"/>
                        <a:t>EVTX (Security, System, PowerShell 4104), Sysmon, AD audit and DNS logs</a:t>
                      </a:r>
                    </a:p>
                  </a:txBody>
                  <a:tcPr marL="54864" marR="54864" marT="27432" marB="27432"/>
                </a:tc>
                <a:tc>
                  <a:txBody>
                    <a:bodyPr/>
                    <a:lstStyle/>
                    <a:p>
                      <a:r>
                        <a:rPr sz="1100"/>
                        <a:t>Collection planned over five days. Pilot determines final trial and independent-group counts.</a:t>
                      </a:r>
                    </a:p>
                  </a:txBody>
                  <a:tcPr marL="54864" marR="54864" marT="27432" marB="27432"/>
                </a:tc>
                <a:tc>
                  <a:txBody>
                    <a:bodyPr/>
                    <a:lstStyle/>
                    <a:p>
                      <a:r>
                        <a:rPr sz="1100"/>
                        <a:t>Planned</a:t>
                      </a:r>
                    </a:p>
                  </a:txBody>
                  <a:tcPr marL="54864" marR="54864" marT="27432" marB="27432"/>
                </a:tc>
              </a:tr>
            </a:tbl>
          </a:graphicData>
        </a:graphic>
      </p:graphicFrame>
      <p:graphicFrame>
        <p:nvGraphicFramePr>
          <p:cNvPr id="5" name="Table 4"/>
          <p:cNvGraphicFramePr>
            <a:graphicFrameLocks noGrp="1"/>
          </p:cNvGraphicFramePr>
          <p:nvPr/>
        </p:nvGraphicFramePr>
        <p:xfrm>
          <a:off x="164592" y="2596286"/>
          <a:ext cx="8814816" cy="1057655"/>
        </p:xfrm>
        <a:graphic>
          <a:graphicData uri="http://schemas.openxmlformats.org/drawingml/2006/table">
            <a:tbl>
              <a:tblPr firstRow="1" bandRow="1">
                <a:tableStyleId>{5C22544A-7EE6-4342-B048-85BDC9FD1C3A}</a:tableStyleId>
              </a:tblPr>
              <a:tblGrid>
                <a:gridCol w="1285494"/>
                <a:gridCol w="6978396"/>
                <a:gridCol w="550926"/>
              </a:tblGrid>
              <a:tr h="240791">
                <a:tc>
                  <a:txBody>
                    <a:bodyPr/>
                    <a:lstStyle/>
                    <a:p>
                      <a:r>
                        <a:rPr sz="1100" b="1"/>
                        <a:t>Item</a:t>
                      </a:r>
                    </a:p>
                  </a:txBody>
                  <a:tcPr marL="54864" marR="54864" marT="27432" marB="27432" anchor="ctr"/>
                </a:tc>
                <a:tc>
                  <a:txBody>
                    <a:bodyPr/>
                    <a:lstStyle/>
                    <a:p>
                      <a:pPr algn="ctr">
                        <a:buNone/>
                      </a:pPr>
                      <a:r>
                        <a:rPr sz="1100" b="1"/>
                        <a:t>Description</a:t>
                      </a:r>
                    </a:p>
                  </a:txBody>
                  <a:tcPr marL="54864" marR="54864" marT="27432" marB="27432" anchor="ctr"/>
                </a:tc>
                <a:tc>
                  <a:txBody>
                    <a:bodyPr/>
                    <a:lstStyle/>
                    <a:p>
                      <a:pPr algn="ctr">
                        <a:buNone/>
                      </a:pPr>
                      <a:r>
                        <a:rPr sz="1100" b="1"/>
                        <a:t>WC</a:t>
                      </a:r>
                    </a:p>
                  </a:txBody>
                  <a:tcPr marL="54864" marR="54864" marT="27432" marB="27432" anchor="ctr"/>
                </a:tc>
              </a:tr>
              <a:tr h="408432">
                <a:tc>
                  <a:txBody>
                    <a:bodyPr/>
                    <a:lstStyle/>
                    <a:p>
                      <a:r>
                        <a:rPr sz="1100" b="1"/>
                        <a:t>Purpose</a:t>
                      </a:r>
                    </a:p>
                  </a:txBody>
                  <a:tcPr marL="54864" marR="54864" marT="27432" marB="27432"/>
                </a:tc>
                <a:tc>
                  <a:txBody>
                    <a:bodyPr/>
                    <a:lstStyle/>
                    <a:p>
                      <a:r>
                        <a:rPr sz="1100"/>
                        <a:t>Capture defender-visible command, logon, Kerberos, LDAP and share-access behavior on the targets for both arms under matched conditions.</a:t>
                      </a:r>
                    </a:p>
                  </a:txBody>
                  <a:tcPr marL="54864" marR="54864" marT="27432" marB="27432"/>
                </a:tc>
                <a:tc>
                  <a:txBody>
                    <a:bodyPr/>
                    <a:lstStyle/>
                    <a:p>
                      <a:pPr algn="ctr">
                        <a:buNone/>
                      </a:pPr>
                      <a:r>
                        <a:rPr sz="1100"/>
                        <a:t>18</a:t>
                      </a:r>
                    </a:p>
                  </a:txBody>
                  <a:tcPr marL="54864" marR="54864" marT="27432" marB="27432"/>
                </a:tc>
              </a:tr>
              <a:tr h="408432">
                <a:tc>
                  <a:txBody>
                    <a:bodyPr/>
                    <a:lstStyle/>
                    <a:p>
                      <a:r>
                        <a:rPr sz="1100" b="1"/>
                        <a:t>Data Treatment</a:t>
                      </a:r>
                    </a:p>
                  </a:txBody>
                  <a:tcPr marL="54864" marR="54864" marT="27432" marB="27432"/>
                </a:tc>
                <a:tc>
                  <a:txBody>
                    <a:bodyPr/>
                    <a:lstStyle/>
                    <a:p>
                      <a:r>
                        <a:rPr sz="1100"/>
                        <a:t>Segment by registry UTC bounds. Audit loss and clock alignment. Remove identity/runner cues. Keep all windows with their trial and reserve human/AI configuration groups.</a:t>
                      </a:r>
                    </a:p>
                  </a:txBody>
                  <a:tcPr marL="54864" marR="54864" marT="27432" marB="27432"/>
                </a:tc>
                <a:tc>
                  <a:txBody>
                    <a:bodyPr/>
                    <a:lstStyle/>
                    <a:p>
                      <a:pPr algn="ctr">
                        <a:buNone/>
                      </a:pPr>
                      <a:r>
                        <a:rPr sz="1100"/>
                        <a:t>24</a:t>
                      </a:r>
                    </a:p>
                  </a:txBody>
                  <a:tcPr marL="54864" marR="54864" marT="27432" marB="27432"/>
                </a:tc>
              </a:tr>
            </a:tbl>
          </a:graphicData>
        </a:graphic>
      </p:graphicFrame>
      <p:sp>
        <p:nvSpPr>
          <p:cNvPr id="6" name="Rectangle 5"/>
          <p:cNvSpPr/>
          <p:nvPr/>
        </p:nvSpPr>
        <p:spPr>
          <a:xfrm>
            <a:off x="164592" y="3818534"/>
            <a:ext cx="2724912" cy="822960"/>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050" b="1">
                <a:solidFill>
                  <a:srgbClr val="000000"/>
                </a:solidFill>
              </a:rPr>
              <a:t>Foothold host</a:t>
            </a:r>
          </a:p>
          <a:p>
            <a:pPr algn="l"/>
            <a:r>
              <a:rPr sz="1000" b="0">
                <a:solidFill>
                  <a:srgbClr val="000000"/>
                </a:solidFill>
              </a:rPr>
              <a:t>Sysmon 1 / Security 4688 with command lines; PowerShell 4104; logons 4624/4648</a:t>
            </a:r>
          </a:p>
        </p:txBody>
      </p:sp>
      <p:cxnSp>
        <p:nvCxnSpPr>
          <p:cNvPr id="7" name="Connector 6"/>
          <p:cNvCxnSpPr/>
          <p:nvPr/>
        </p:nvCxnSpPr>
        <p:spPr>
          <a:xfrm>
            <a:off x="2889504" y="4230014"/>
            <a:ext cx="32004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3209544" y="3818534"/>
            <a:ext cx="2724912" cy="822960"/>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050" b="1">
                <a:solidFill>
                  <a:srgbClr val="000000"/>
                </a:solidFill>
              </a:rPr>
              <a:t>Domain targets (5)</a:t>
            </a:r>
          </a:p>
          <a:p>
            <a:pPr algn="l"/>
            <a:r>
              <a:rPr sz="1000" b="0">
                <a:solidFill>
                  <a:srgbClr val="000000"/>
                </a:solidFill>
              </a:rPr>
              <a:t>Security 4624/4769/4768/5145; Sysmon; AD object audit; DNS server logs</a:t>
            </a:r>
          </a:p>
        </p:txBody>
      </p:sp>
      <p:cxnSp>
        <p:nvCxnSpPr>
          <p:cNvPr id="9" name="Connector 8"/>
          <p:cNvCxnSpPr/>
          <p:nvPr/>
        </p:nvCxnSpPr>
        <p:spPr>
          <a:xfrm>
            <a:off x="5934456" y="4230014"/>
            <a:ext cx="32004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6254496" y="3818534"/>
            <a:ext cx="2724912" cy="822960"/>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050" b="1">
                <a:solidFill>
                  <a:srgbClr val="000000"/>
                </a:solidFill>
              </a:rPr>
              <a:t>Evidence archive</a:t>
            </a:r>
          </a:p>
          <a:p>
            <a:pPr algn="l"/>
            <a:r>
              <a:rPr sz="1000" b="0">
                <a:solidFill>
                  <a:srgbClr val="000000"/>
                </a:solidFill>
              </a:rPr>
              <a:t>Native EVTX exports per trial; SHA-256 manifests; CloudWatch Logs for search only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20040" y="109728"/>
            <a:ext cx="8595360" cy="548640"/>
          </a:xfrm>
        </p:spPr>
        <p:txBody>
          <a:bodyPr wrap="square"/>
          <a:lstStyle/>
          <a:p>
            <a:r>
              <a:rPr sz="2400" b="1">
                <a:solidFill>
                  <a:srgbClr val="B22600"/>
                </a:solidFill>
              </a:rPr>
              <a:t>Data Source – Primary (Dataset 2: Network Telemetry)</a:t>
            </a:r>
          </a:p>
        </p:txBody>
      </p:sp>
      <p:graphicFrame>
        <p:nvGraphicFramePr>
          <p:cNvPr id="4" name="Table 3"/>
          <p:cNvGraphicFramePr>
            <a:graphicFrameLocks noGrp="1"/>
          </p:cNvGraphicFramePr>
          <p:nvPr>
            <p:extLst>
              <p:ext uri="{D42A27DB-BD31-4B8C-83A1-F6EECF244321}">
                <p14:modId xmlns:p14="http://schemas.microsoft.com/office/powerpoint/2010/main" val="1516912064"/>
              </p:ext>
            </p:extLst>
          </p:nvPr>
        </p:nvGraphicFramePr>
        <p:xfrm>
          <a:off x="164592" y="777240"/>
          <a:ext cx="7898421" cy="1804416"/>
        </p:xfrm>
        <a:graphic>
          <a:graphicData uri="http://schemas.openxmlformats.org/drawingml/2006/table">
            <a:tbl>
              <a:tblPr firstRow="1" bandRow="1">
                <a:tableStyleId>{5C22544A-7EE6-4342-B048-85BDC9FD1C3A}</a:tableStyleId>
              </a:tblPr>
              <a:tblGrid>
                <a:gridCol w="349101"/>
                <a:gridCol w="1134580"/>
                <a:gridCol w="1570957"/>
                <a:gridCol w="1920058"/>
                <a:gridCol w="1134580"/>
                <a:gridCol w="1003667"/>
                <a:gridCol w="785478"/>
              </a:tblGrid>
              <a:tr h="408432">
                <a:tc>
                  <a:txBody>
                    <a:bodyPr/>
                    <a:lstStyle/>
                    <a:p>
                      <a:r>
                        <a:rPr sz="1100" b="1"/>
                        <a:t>ID</a:t>
                      </a:r>
                    </a:p>
                  </a:txBody>
                  <a:tcPr marL="54864" marR="54864" marT="27432" marB="27432" anchor="ctr"/>
                </a:tc>
                <a:tc>
                  <a:txBody>
                    <a:bodyPr/>
                    <a:lstStyle/>
                    <a:p>
                      <a:pPr algn="ctr">
                        <a:buNone/>
                      </a:pPr>
                      <a:r>
                        <a:rPr sz="1100" b="1"/>
                        <a:t>Name</a:t>
                      </a:r>
                    </a:p>
                  </a:txBody>
                  <a:tcPr marL="54864" marR="54864" marT="27432" marB="27432" anchor="ctr"/>
                </a:tc>
                <a:tc>
                  <a:txBody>
                    <a:bodyPr/>
                    <a:lstStyle/>
                    <a:p>
                      <a:pPr algn="ctr">
                        <a:buNone/>
                      </a:pPr>
                      <a:r>
                        <a:rPr sz="1100" b="1"/>
                        <a:t>Source</a:t>
                      </a:r>
                    </a:p>
                  </a:txBody>
                  <a:tcPr marL="54864" marR="54864" marT="27432" marB="27432" anchor="ctr"/>
                </a:tc>
                <a:tc>
                  <a:txBody>
                    <a:bodyPr/>
                    <a:lstStyle/>
                    <a:p>
                      <a:pPr algn="ctr">
                        <a:buNone/>
                      </a:pPr>
                      <a:r>
                        <a:rPr sz="1100" b="1"/>
                        <a:t>Brief Description</a:t>
                      </a:r>
                    </a:p>
                  </a:txBody>
                  <a:tcPr marL="54864" marR="54864" marT="27432" marB="27432" anchor="ctr"/>
                </a:tc>
                <a:tc>
                  <a:txBody>
                    <a:bodyPr/>
                    <a:lstStyle/>
                    <a:p>
                      <a:pPr algn="ctr">
                        <a:buNone/>
                      </a:pPr>
                      <a:r>
                        <a:rPr sz="1100" b="1"/>
                        <a:t>Format</a:t>
                      </a:r>
                    </a:p>
                  </a:txBody>
                  <a:tcPr marL="54864" marR="54864" marT="27432" marB="27432" anchor="ctr"/>
                </a:tc>
                <a:tc>
                  <a:txBody>
                    <a:bodyPr/>
                    <a:lstStyle/>
                    <a:p>
                      <a:pPr algn="ctr">
                        <a:buNone/>
                      </a:pPr>
                      <a:r>
                        <a:rPr sz="1100" b="1"/>
                        <a:t>Num. of records</a:t>
                      </a:r>
                    </a:p>
                  </a:txBody>
                  <a:tcPr marL="54864" marR="54864" marT="27432" marB="27432" anchor="ctr"/>
                </a:tc>
                <a:tc>
                  <a:txBody>
                    <a:bodyPr/>
                    <a:lstStyle/>
                    <a:p>
                      <a:pPr algn="ctr">
                        <a:buNone/>
                      </a:pPr>
                      <a:r>
                        <a:rPr sz="1100" b="1"/>
                        <a:t>Access (Y/N)</a:t>
                      </a:r>
                    </a:p>
                  </a:txBody>
                  <a:tcPr marL="54864" marR="54864" marT="27432" marB="27432" anchor="ctr"/>
                </a:tc>
              </a:tr>
              <a:tr h="1246632">
                <a:tc>
                  <a:txBody>
                    <a:bodyPr/>
                    <a:lstStyle/>
                    <a:p>
                      <a:pPr algn="ctr">
                        <a:buNone/>
                      </a:pPr>
                      <a:r>
                        <a:rPr sz="1100" b="1"/>
                        <a:t>2</a:t>
                      </a:r>
                    </a:p>
                  </a:txBody>
                  <a:tcPr marL="54864" marR="54864" marT="27432" marB="27432"/>
                </a:tc>
                <a:tc>
                  <a:txBody>
                    <a:bodyPr/>
                    <a:lstStyle/>
                    <a:p>
                      <a:r>
                        <a:rPr sz="1100"/>
                        <a:t>GOAD Network Telemetry Corpus (traffic mirror + flow logs)</a:t>
                      </a:r>
                    </a:p>
                  </a:txBody>
                  <a:tcPr marL="54864" marR="54864" marT="27432" marB="27432"/>
                </a:tc>
                <a:tc>
                  <a:txBody>
                    <a:bodyPr/>
                    <a:lstStyle/>
                    <a:p>
                      <a:r>
                        <a:rPr sz="1100"/>
                        <a:t>Study-created GOAD AWS telemetry from matched human and ARTEMIS autonomous-AI trials. Pin range, scaffold, model and sensor versions.</a:t>
                      </a:r>
                    </a:p>
                  </a:txBody>
                  <a:tcPr marL="54864" marR="54864" marT="27432" marB="27432"/>
                </a:tc>
                <a:tc>
                  <a:txBody>
                    <a:bodyPr/>
                    <a:lstStyle/>
                    <a:p>
                      <a:r>
                        <a:rPr sz="1100"/>
                        <a:t>Connection-level records and capped packet capture for all lab traffic in each trial: Kerberos, LDAP, SMB, DNS and RDP/WinRM between the foothold and the targets.</a:t>
                      </a:r>
                    </a:p>
                  </a:txBody>
                  <a:tcPr marL="54864" marR="54864" marT="27432" marB="27432"/>
                </a:tc>
                <a:tc>
                  <a:txBody>
                    <a:bodyPr/>
                    <a:lstStyle/>
                    <a:p>
                      <a:r>
                        <a:rPr sz="1100"/>
                        <a:t>Zeek logs (conn, kerberos, dce_rpc, smb, dns), Suricata EVE JSON, capped PCAP, VPC Flow Logs</a:t>
                      </a:r>
                    </a:p>
                  </a:txBody>
                  <a:tcPr marL="54864" marR="54864" marT="27432" marB="27432"/>
                </a:tc>
                <a:tc>
                  <a:txBody>
                    <a:bodyPr/>
                    <a:lstStyle/>
                    <a:p>
                      <a:r>
                        <a:rPr sz="1100"/>
                        <a:t>Collection planned over five days. Pilot determines final trial and independent-group counts.</a:t>
                      </a:r>
                    </a:p>
                  </a:txBody>
                  <a:tcPr marL="54864" marR="54864" marT="27432" marB="27432"/>
                </a:tc>
                <a:tc>
                  <a:txBody>
                    <a:bodyPr/>
                    <a:lstStyle/>
                    <a:p>
                      <a:r>
                        <a:rPr sz="1100"/>
                        <a:t>Planned</a:t>
                      </a:r>
                    </a:p>
                  </a:txBody>
                  <a:tcPr marL="54864" marR="54864" marT="27432" marB="27432"/>
                </a:tc>
              </a:tr>
            </a:tbl>
          </a:graphicData>
        </a:graphic>
      </p:graphicFrame>
      <p:graphicFrame>
        <p:nvGraphicFramePr>
          <p:cNvPr id="5" name="Table 4"/>
          <p:cNvGraphicFramePr>
            <a:graphicFrameLocks noGrp="1"/>
          </p:cNvGraphicFramePr>
          <p:nvPr/>
        </p:nvGraphicFramePr>
        <p:xfrm>
          <a:off x="164592" y="2780690"/>
          <a:ext cx="8814816" cy="1057655"/>
        </p:xfrm>
        <a:graphic>
          <a:graphicData uri="http://schemas.openxmlformats.org/drawingml/2006/table">
            <a:tbl>
              <a:tblPr firstRow="1" bandRow="1">
                <a:tableStyleId>{5C22544A-7EE6-4342-B048-85BDC9FD1C3A}</a:tableStyleId>
              </a:tblPr>
              <a:tblGrid>
                <a:gridCol w="1285494"/>
                <a:gridCol w="6978396"/>
                <a:gridCol w="550926"/>
              </a:tblGrid>
              <a:tr h="240791">
                <a:tc>
                  <a:txBody>
                    <a:bodyPr/>
                    <a:lstStyle/>
                    <a:p>
                      <a:r>
                        <a:rPr sz="1100" b="1"/>
                        <a:t>Item</a:t>
                      </a:r>
                    </a:p>
                  </a:txBody>
                  <a:tcPr marL="54864" marR="54864" marT="27432" marB="27432" anchor="ctr"/>
                </a:tc>
                <a:tc>
                  <a:txBody>
                    <a:bodyPr/>
                    <a:lstStyle/>
                    <a:p>
                      <a:pPr algn="ctr">
                        <a:buNone/>
                      </a:pPr>
                      <a:r>
                        <a:rPr sz="1100" b="1"/>
                        <a:t>Description</a:t>
                      </a:r>
                    </a:p>
                  </a:txBody>
                  <a:tcPr marL="54864" marR="54864" marT="27432" marB="27432" anchor="ctr"/>
                </a:tc>
                <a:tc>
                  <a:txBody>
                    <a:bodyPr/>
                    <a:lstStyle/>
                    <a:p>
                      <a:pPr algn="ctr">
                        <a:buNone/>
                      </a:pPr>
                      <a:r>
                        <a:rPr sz="1100" b="1"/>
                        <a:t>WC</a:t>
                      </a:r>
                    </a:p>
                  </a:txBody>
                  <a:tcPr marL="54864" marR="54864" marT="27432" marB="27432" anchor="ctr"/>
                </a:tc>
              </a:tr>
              <a:tr h="408432">
                <a:tc>
                  <a:txBody>
                    <a:bodyPr/>
                    <a:lstStyle/>
                    <a:p>
                      <a:r>
                        <a:rPr sz="1100" b="1"/>
                        <a:t>Purpose</a:t>
                      </a:r>
                    </a:p>
                  </a:txBody>
                  <a:tcPr marL="54864" marR="54864" marT="27432" marB="27432"/>
                </a:tc>
                <a:tc>
                  <a:txBody>
                    <a:bodyPr/>
                    <a:lstStyle/>
                    <a:p>
                      <a:r>
                        <a:rPr sz="1100"/>
                        <a:t>Measure connection concurrency (parallelism), inter-arrival timing, protocol mix and burst structure that host logs alone cannot show.</a:t>
                      </a:r>
                    </a:p>
                  </a:txBody>
                  <a:tcPr marL="54864" marR="54864" marT="27432" marB="27432"/>
                </a:tc>
                <a:tc>
                  <a:txBody>
                    <a:bodyPr/>
                    <a:lstStyle/>
                    <a:p>
                      <a:pPr algn="ctr">
                        <a:buNone/>
                      </a:pPr>
                      <a:r>
                        <a:rPr sz="1100"/>
                        <a:t>17</a:t>
                      </a:r>
                    </a:p>
                  </a:txBody>
                  <a:tcPr marL="54864" marR="54864" marT="27432" marB="27432"/>
                </a:tc>
              </a:tr>
              <a:tr h="408432">
                <a:tc>
                  <a:txBody>
                    <a:bodyPr/>
                    <a:lstStyle/>
                    <a:p>
                      <a:r>
                        <a:rPr sz="1100" b="1"/>
                        <a:t>Data Treatment</a:t>
                      </a:r>
                    </a:p>
                  </a:txBody>
                  <a:tcPr marL="54864" marR="54864" marT="27432" marB="27432"/>
                </a:tc>
                <a:tc>
                  <a:txBody>
                    <a:bodyPr/>
                    <a:lstStyle/>
                    <a:p>
                      <a:r>
                        <a:rPr sz="1100"/>
                        <a:t>Segment by registry UTC bounds. Audit loss and clock alignment. Remove identity/runner cues. Keep all windows with their trial and reserve human/AI configuration groups.</a:t>
                      </a:r>
                    </a:p>
                  </a:txBody>
                  <a:tcPr marL="54864" marR="54864" marT="27432" marB="27432"/>
                </a:tc>
                <a:tc>
                  <a:txBody>
                    <a:bodyPr/>
                    <a:lstStyle/>
                    <a:p>
                      <a:pPr algn="ctr">
                        <a:buNone/>
                      </a:pPr>
                      <a:r>
                        <a:rPr sz="1100"/>
                        <a:t>24</a:t>
                      </a:r>
                    </a:p>
                  </a:txBody>
                  <a:tcPr marL="54864" marR="54864" marT="27432" marB="27432"/>
                </a:tc>
              </a:tr>
            </a:tbl>
          </a:graphicData>
        </a:graphic>
      </p:graphicFrame>
      <p:sp>
        <p:nvSpPr>
          <p:cNvPr id="6" name="Rectangle 5"/>
          <p:cNvSpPr/>
          <p:nvPr/>
        </p:nvSpPr>
        <p:spPr>
          <a:xfrm>
            <a:off x="164592" y="4002938"/>
            <a:ext cx="2724912" cy="822960"/>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050" b="1">
                <a:solidFill>
                  <a:srgbClr val="000000"/>
                </a:solidFill>
              </a:rPr>
              <a:t>Traffic mirror</a:t>
            </a:r>
          </a:p>
          <a:p>
            <a:pPr algn="l"/>
            <a:r>
              <a:rPr sz="1000" b="0">
                <a:solidFill>
                  <a:srgbClr val="000000"/>
                </a:solidFill>
              </a:rPr>
              <a:t>DC + member-server ENIs mirrored to the sensor instance; instance-type support confirmed at build</a:t>
            </a:r>
          </a:p>
        </p:txBody>
      </p:sp>
      <p:cxnSp>
        <p:nvCxnSpPr>
          <p:cNvPr id="7" name="Connector 6"/>
          <p:cNvCxnSpPr/>
          <p:nvPr/>
        </p:nvCxnSpPr>
        <p:spPr>
          <a:xfrm>
            <a:off x="2889504" y="4414418"/>
            <a:ext cx="32004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3209544" y="4002938"/>
            <a:ext cx="2724912" cy="822960"/>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050" b="1">
                <a:solidFill>
                  <a:srgbClr val="000000"/>
                </a:solidFill>
              </a:rPr>
              <a:t>Zeek / Suricata sensor</a:t>
            </a:r>
          </a:p>
          <a:p>
            <a:pPr algn="l"/>
            <a:r>
              <a:rPr sz="1000" b="0">
                <a:solidFill>
                  <a:srgbClr val="000000"/>
                </a:solidFill>
              </a:rPr>
              <a:t>Connection, Kerberos, SMB, DNS and alert logs; capped PCAP retained per trial</a:t>
            </a:r>
          </a:p>
        </p:txBody>
      </p:sp>
      <p:cxnSp>
        <p:nvCxnSpPr>
          <p:cNvPr id="9" name="Connector 8"/>
          <p:cNvCxnSpPr/>
          <p:nvPr/>
        </p:nvCxnSpPr>
        <p:spPr>
          <a:xfrm>
            <a:off x="5934456" y="4414418"/>
            <a:ext cx="32004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6254496" y="4002938"/>
            <a:ext cx="2724912" cy="822960"/>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050" b="1">
                <a:solidFill>
                  <a:srgbClr val="000000"/>
                </a:solidFill>
              </a:rPr>
              <a:t>VPC Flow Logs</a:t>
            </a:r>
          </a:p>
          <a:p>
            <a:pPr algn="l"/>
            <a:r>
              <a:rPr sz="1000" b="0">
                <a:solidFill>
                  <a:srgbClr val="000000"/>
                </a:solidFill>
              </a:rPr>
              <a:t>Accepted/rejected flows for coverage and loss checks, not for timing features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a:xfrm>
            <a:off x="320040" y="73152"/>
            <a:ext cx="8595360" cy="640080"/>
          </a:xfrm>
        </p:spPr>
        <p:txBody>
          <a:bodyPr wrap="square"/>
          <a:lstStyle/>
          <a:p>
            <a:r>
              <a:rPr sz="2800" b="1">
                <a:solidFill>
                  <a:srgbClr val="B22600"/>
                </a:solidFill>
              </a:rPr>
              <a:t>Trial Registry Labels (Ground Truth)</a:t>
            </a:r>
          </a:p>
        </p:txBody>
      </p:sp>
      <p:graphicFrame>
        <p:nvGraphicFramePr>
          <p:cNvPr id="4" name="Table 3"/>
          <p:cNvGraphicFramePr>
            <a:graphicFrameLocks noGrp="1"/>
          </p:cNvGraphicFramePr>
          <p:nvPr/>
        </p:nvGraphicFramePr>
        <p:xfrm>
          <a:off x="164592" y="822960"/>
          <a:ext cx="8814816" cy="2889492"/>
        </p:xfrm>
        <a:graphic>
          <a:graphicData uri="http://schemas.openxmlformats.org/drawingml/2006/table">
            <a:tbl>
              <a:tblPr firstRow="1" bandRow="1">
                <a:tableStyleId>{5C22544A-7EE6-4342-B048-85BDC9FD1C3A}</a:tableStyleId>
              </a:tblPr>
              <a:tblGrid>
                <a:gridCol w="1928241"/>
                <a:gridCol w="4223766"/>
                <a:gridCol w="2662809"/>
              </a:tblGrid>
              <a:tr h="240791">
                <a:tc>
                  <a:txBody>
                    <a:bodyPr/>
                    <a:lstStyle/>
                    <a:p>
                      <a:r>
                        <a:rPr sz="1100" b="1"/>
                        <a:t>Field</a:t>
                      </a:r>
                    </a:p>
                  </a:txBody>
                  <a:tcPr marL="54864" marR="54864" marT="27432" marB="27432" anchor="ctr"/>
                </a:tc>
                <a:tc>
                  <a:txBody>
                    <a:bodyPr/>
                    <a:lstStyle/>
                    <a:p>
                      <a:pPr algn="ctr">
                        <a:buNone/>
                      </a:pPr>
                      <a:r>
                        <a:rPr sz="1100" b="1"/>
                        <a:t>Values</a:t>
                      </a:r>
                    </a:p>
                  </a:txBody>
                  <a:tcPr marL="54864" marR="54864" marT="27432" marB="27432" anchor="ctr"/>
                </a:tc>
                <a:tc>
                  <a:txBody>
                    <a:bodyPr/>
                    <a:lstStyle/>
                    <a:p>
                      <a:pPr algn="ctr">
                        <a:buNone/>
                      </a:pPr>
                      <a:r>
                        <a:rPr sz="1100" b="1"/>
                        <a:t>Role in analysis</a:t>
                      </a:r>
                    </a:p>
                  </a:txBody>
                  <a:tcPr marL="54864" marR="54864" marT="27432" marB="27432" anchor="ctr"/>
                </a:tc>
              </a:tr>
              <a:tr h="240791">
                <a:tc>
                  <a:txBody>
                    <a:bodyPr/>
                    <a:lstStyle/>
                    <a:p>
                      <a:r>
                        <a:rPr sz="1100" b="1"/>
                        <a:t>run_id</a:t>
                      </a:r>
                    </a:p>
                  </a:txBody>
                  <a:tcPr marL="54864" marR="54864" marT="27432" marB="27432"/>
                </a:tc>
                <a:tc>
                  <a:txBody>
                    <a:bodyPr/>
                    <a:lstStyle/>
                    <a:p>
                      <a:r>
                        <a:rPr sz="1100"/>
                        <a:t>Unique trial identifier issued at reset</a:t>
                      </a:r>
                    </a:p>
                  </a:txBody>
                  <a:tcPr marL="54864" marR="54864" marT="27432" marB="27432"/>
                </a:tc>
                <a:tc>
                  <a:txBody>
                    <a:bodyPr/>
                    <a:lstStyle/>
                    <a:p>
                      <a:r>
                        <a:rPr sz="1100"/>
                        <a:t>Join key; opaque to the model</a:t>
                      </a:r>
                    </a:p>
                  </a:txBody>
                  <a:tcPr marL="54864" marR="54864" marT="27432" marB="27432"/>
                </a:tc>
              </a:tr>
              <a:tr h="240791">
                <a:tc>
                  <a:txBody>
                    <a:bodyPr/>
                    <a:lstStyle/>
                    <a:p>
                      <a:r>
                        <a:rPr sz="1100" b="1"/>
                        <a:t>arm</a:t>
                      </a:r>
                    </a:p>
                  </a:txBody>
                  <a:tcPr marL="54864" marR="54864" marT="27432" marB="27432"/>
                </a:tc>
                <a:tc>
                  <a:txBody>
                    <a:bodyPr/>
                    <a:lstStyle/>
                    <a:p>
                      <a:r>
                        <a:rPr sz="1100"/>
                        <a:t>human | autonomous_ai | scripted_replay (control) | benign_baseline</a:t>
                      </a:r>
                    </a:p>
                  </a:txBody>
                  <a:tcPr marL="54864" marR="54864" marT="27432" marB="27432"/>
                </a:tc>
                <a:tc>
                  <a:txBody>
                    <a:bodyPr/>
                    <a:lstStyle/>
                    <a:p>
                      <a:r>
                        <a:rPr sz="1100"/>
                        <a:t>Class label (ground truth)</a:t>
                      </a:r>
                    </a:p>
                  </a:txBody>
                  <a:tcPr marL="54864" marR="54864" marT="27432" marB="27432"/>
                </a:tc>
              </a:tr>
              <a:tr h="240791">
                <a:tc>
                  <a:txBody>
                    <a:bodyPr/>
                    <a:lstStyle/>
                    <a:p>
                      <a:r>
                        <a:rPr sz="1100" b="1"/>
                        <a:t>operator_id / ai_config_id</a:t>
                      </a:r>
                    </a:p>
                  </a:txBody>
                  <a:tcPr marL="54864" marR="54864" marT="27432" marB="27432"/>
                </a:tc>
                <a:tc>
                  <a:txBody>
                    <a:bodyPr/>
                    <a:lstStyle/>
                    <a:p>
                      <a:r>
                        <a:rPr sz="1100"/>
                        <a:t>Human operator ID, or ARTEMIS version + model digest + prompts + skills + runtime</a:t>
                      </a:r>
                    </a:p>
                  </a:txBody>
                  <a:tcPr marL="54864" marR="54864" marT="27432" marB="27432"/>
                </a:tc>
                <a:tc>
                  <a:txBody>
                    <a:bodyPr/>
                    <a:lstStyle/>
                    <a:p>
                      <a:r>
                        <a:rPr sz="1100"/>
                        <a:t>Grouping for held-out tests</a:t>
                      </a:r>
                    </a:p>
                  </a:txBody>
                  <a:tcPr marL="54864" marR="54864" marT="27432" marB="27432"/>
                </a:tc>
              </a:tr>
              <a:tr h="240791">
                <a:tc>
                  <a:txBody>
                    <a:bodyPr/>
                    <a:lstStyle/>
                    <a:p>
                      <a:r>
                        <a:rPr sz="1100" b="1"/>
                        <a:t>knowledge_condition</a:t>
                      </a:r>
                    </a:p>
                  </a:txBody>
                  <a:tcPr marL="54864" marR="54864" marT="27432" marB="27432"/>
                </a:tc>
                <a:tc>
                  <a:txBody>
                    <a:bodyPr/>
                    <a:lstStyle/>
                    <a:p>
                      <a:r>
                        <a:rPr sz="1100"/>
                        <a:t>black_box (primary) | white_box | walkthrough</a:t>
                      </a:r>
                    </a:p>
                  </a:txBody>
                  <a:tcPr marL="54864" marR="54864" marT="27432" marB="27432"/>
                </a:tc>
                <a:tc>
                  <a:txBody>
                    <a:bodyPr/>
                    <a:lstStyle/>
                    <a:p>
                      <a:r>
                        <a:rPr sz="1100"/>
                        <a:t>Stratification; reported separately</a:t>
                      </a:r>
                    </a:p>
                  </a:txBody>
                  <a:tcPr marL="54864" marR="54864" marT="27432" marB="27432"/>
                </a:tc>
              </a:tr>
              <a:tr h="240791">
                <a:tc>
                  <a:txBody>
                    <a:bodyPr/>
                    <a:lstStyle/>
                    <a:p>
                      <a:r>
                        <a:rPr sz="1100" b="1"/>
                        <a:t>scenario_version</a:t>
                      </a:r>
                    </a:p>
                  </a:txBody>
                  <a:tcPr marL="54864" marR="54864" marT="27432" marB="27432"/>
                </a:tc>
                <a:tc>
                  <a:txBody>
                    <a:bodyPr/>
                    <a:lstStyle/>
                    <a:p>
                      <a:r>
                        <a:rPr sz="1100"/>
                        <a:t>Objective, weakness and GOAD revision used</a:t>
                      </a:r>
                    </a:p>
                  </a:txBody>
                  <a:tcPr marL="54864" marR="54864" marT="27432" marB="27432"/>
                </a:tc>
                <a:tc>
                  <a:txBody>
                    <a:bodyPr/>
                    <a:lstStyle/>
                    <a:p>
                      <a:r>
                        <a:rPr sz="1100"/>
                        <a:t>Provenance</a:t>
                      </a:r>
                    </a:p>
                  </a:txBody>
                  <a:tcPr marL="54864" marR="54864" marT="27432" marB="27432"/>
                </a:tc>
              </a:tr>
              <a:tr h="240791">
                <a:tc>
                  <a:txBody>
                    <a:bodyPr/>
                    <a:lstStyle/>
                    <a:p>
                      <a:r>
                        <a:rPr sz="1100" b="1"/>
                        <a:t>reset_id + attestation</a:t>
                      </a:r>
                    </a:p>
                  </a:txBody>
                  <a:tcPr marL="54864" marR="54864" marT="27432" marB="27432"/>
                </a:tc>
                <a:tc>
                  <a:txBody>
                    <a:bodyPr/>
                    <a:lstStyle/>
                    <a:p>
                      <a:r>
                        <a:rPr sz="1100"/>
                        <a:t>Image IDs and verified clean-reset check</a:t>
                      </a:r>
                    </a:p>
                  </a:txBody>
                  <a:tcPr marL="54864" marR="54864" marT="27432" marB="27432"/>
                </a:tc>
                <a:tc>
                  <a:txBody>
                    <a:bodyPr/>
                    <a:lstStyle/>
                    <a:p>
                      <a:r>
                        <a:rPr sz="1100"/>
                        <a:t>Data quality evidence</a:t>
                      </a:r>
                    </a:p>
                  </a:txBody>
                  <a:tcPr marL="54864" marR="54864" marT="27432" marB="27432"/>
                </a:tc>
              </a:tr>
              <a:tr h="240791">
                <a:tc>
                  <a:txBody>
                    <a:bodyPr/>
                    <a:lstStyle/>
                    <a:p>
                      <a:r>
                        <a:rPr sz="1100" b="1"/>
                        <a:t>partition</a:t>
                      </a:r>
                    </a:p>
                  </a:txBody>
                  <a:tcPr marL="54864" marR="54864" marT="27432" marB="27432"/>
                </a:tc>
                <a:tc>
                  <a:txBody>
                    <a:bodyPr/>
                    <a:lstStyle/>
                    <a:p>
                      <a:r>
                        <a:rPr sz="1100"/>
                        <a:t>Train / validation / test groups frozen before scored collection</a:t>
                      </a:r>
                    </a:p>
                  </a:txBody>
                  <a:tcPr marL="54864" marR="54864" marT="27432" marB="27432"/>
                </a:tc>
                <a:tc>
                  <a:txBody>
                    <a:bodyPr/>
                    <a:lstStyle/>
                    <a:p>
                      <a:r>
                        <a:rPr sz="1100"/>
                        <a:t>Prevent human/configuration overlap</a:t>
                      </a:r>
                    </a:p>
                  </a:txBody>
                  <a:tcPr marL="54864" marR="54864" marT="27432" marB="27432"/>
                </a:tc>
              </a:tr>
              <a:tr h="240791">
                <a:tc>
                  <a:txBody>
                    <a:bodyPr/>
                    <a:lstStyle/>
                    <a:p>
                      <a:r>
                        <a:rPr sz="1100" b="1"/>
                        <a:t>utc_start / utc_stop</a:t>
                      </a:r>
                    </a:p>
                  </a:txBody>
                  <a:tcPr marL="54864" marR="54864" marT="27432" marB="27432"/>
                </a:tc>
                <a:tc>
                  <a:txBody>
                    <a:bodyPr/>
                    <a:lstStyle/>
                    <a:p>
                      <a:r>
                        <a:rPr sz="1100"/>
                        <a:t>Access window bounds; clock offset recorded</a:t>
                      </a:r>
                    </a:p>
                  </a:txBody>
                  <a:tcPr marL="54864" marR="54864" marT="27432" marB="27432"/>
                </a:tc>
                <a:tc>
                  <a:txBody>
                    <a:bodyPr/>
                    <a:lstStyle/>
                    <a:p>
                      <a:r>
                        <a:rPr sz="1100"/>
                        <a:t>Trial segmentation</a:t>
                      </a:r>
                    </a:p>
                  </a:txBody>
                  <a:tcPr marL="54864" marR="54864" marT="27432" marB="27432"/>
                </a:tc>
              </a:tr>
              <a:tr h="240791">
                <a:tc>
                  <a:txBody>
                    <a:bodyPr/>
                    <a:lstStyle/>
                    <a:p>
                      <a:r>
                        <a:rPr sz="1100" b="1"/>
                        <a:t>time_to_objective</a:t>
                      </a:r>
                    </a:p>
                  </a:txBody>
                  <a:tcPr marL="54864" marR="54864" marT="27432" marB="27432"/>
                </a:tc>
                <a:tc>
                  <a:txBody>
                    <a:bodyPr/>
                    <a:lstStyle/>
                    <a:p>
                      <a:r>
                        <a:rPr sz="1100"/>
                        <a:t>Seconds to marker file read; censored at window close</a:t>
                      </a:r>
                    </a:p>
                  </a:txBody>
                  <a:tcPr marL="54864" marR="54864" marT="27432" marB="27432"/>
                </a:tc>
                <a:tc>
                  <a:txBody>
                    <a:bodyPr/>
                    <a:lstStyle/>
                    <a:p>
                      <a:r>
                        <a:rPr sz="1100"/>
                        <a:t>Outcome (reported separately)</a:t>
                      </a:r>
                    </a:p>
                  </a:txBody>
                  <a:tcPr marL="54864" marR="54864" marT="27432" marB="27432"/>
                </a:tc>
              </a:tr>
              <a:tr h="240791">
                <a:tc>
                  <a:txBody>
                    <a:bodyPr/>
                    <a:lstStyle/>
                    <a:p>
                      <a:r>
                        <a:rPr sz="1100" b="1"/>
                        <a:t>interventions</a:t>
                      </a:r>
                    </a:p>
                  </a:txBody>
                  <a:tcPr marL="54864" marR="54864" marT="27432" marB="27432"/>
                </a:tc>
                <a:tc>
                  <a:txBody>
                    <a:bodyPr/>
                    <a:lstStyle/>
                    <a:p>
                      <a:r>
                        <a:rPr sz="1100"/>
                        <a:t>Safety-supervisor halts or tactical interventions, with rule applied</a:t>
                      </a:r>
                    </a:p>
                  </a:txBody>
                  <a:tcPr marL="54864" marR="54864" marT="27432" marB="27432"/>
                </a:tc>
                <a:tc>
                  <a:txBody>
                    <a:bodyPr/>
                    <a:lstStyle/>
                    <a:p>
                      <a:r>
                        <a:rPr sz="1100"/>
                        <a:t>Exclusion / sensitivity</a:t>
                      </a:r>
                    </a:p>
                  </a:txBody>
                  <a:tcPr marL="54864" marR="54864" marT="27432" marB="27432"/>
                </a:tc>
              </a:tr>
              <a:tr h="240791">
                <a:tc>
                  <a:txBody>
                    <a:bodyPr/>
                    <a:lstStyle/>
                    <a:p>
                      <a:r>
                        <a:rPr sz="1100" b="1"/>
                        <a:t>outcome / deviation</a:t>
                      </a:r>
                    </a:p>
                  </a:txBody>
                  <a:tcPr marL="54864" marR="54864" marT="27432" marB="27432"/>
                </a:tc>
                <a:tc>
                  <a:txBody>
                    <a:bodyPr/>
                    <a:lstStyle/>
                    <a:p>
                      <a:r>
                        <a:rPr sz="1100"/>
                        <a:t>Success, failure, abort, scope escape, collection loss</a:t>
                      </a:r>
                    </a:p>
                  </a:txBody>
                  <a:tcPr marL="54864" marR="54864" marT="27432" marB="27432"/>
                </a:tc>
                <a:tc>
                  <a:txBody>
                    <a:bodyPr/>
                    <a:lstStyle/>
                    <a:p>
                      <a:r>
                        <a:rPr sz="1100"/>
                        <a:t>Reported for every trial</a:t>
                      </a:r>
                    </a:p>
                  </a:txBody>
                  <a:tcPr marL="54864" marR="54864" marT="27432" marB="27432"/>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74320" y="182880"/>
            <a:ext cx="8595360" cy="731520"/>
          </a:xfrm>
        </p:spPr>
        <p:txBody>
          <a:bodyPr wrap="square"/>
          <a:lstStyle/>
          <a:p>
            <a:pPr algn="ctr"/>
            <a:r>
              <a:rPr sz="3400" b="1">
                <a:solidFill>
                  <a:srgbClr val="8064A2"/>
                </a:solidFill>
              </a:rPr>
              <a:t>Annotated Bibliography (1 of 5)</a:t>
            </a:r>
          </a:p>
        </p:txBody>
      </p:sp>
      <p:graphicFrame>
        <p:nvGraphicFramePr>
          <p:cNvPr id="4" name="Table 3"/>
          <p:cNvGraphicFramePr>
            <a:graphicFrameLocks noGrp="1"/>
          </p:cNvGraphicFramePr>
          <p:nvPr/>
        </p:nvGraphicFramePr>
        <p:xfrm>
          <a:off x="164592" y="1005840"/>
          <a:ext cx="8814816" cy="3456428"/>
        </p:xfrm>
        <a:graphic>
          <a:graphicData uri="http://schemas.openxmlformats.org/drawingml/2006/table">
            <a:tbl>
              <a:tblPr firstRow="1" bandRow="1">
                <a:tableStyleId>{5C22544A-7EE6-4342-B048-85BDC9FD1C3A}</a:tableStyleId>
              </a:tblPr>
              <a:tblGrid>
                <a:gridCol w="1193673">
                  <a:extLst>
                    <a:ext uri="{9D8B030D-6E8A-4147-A177-3AD203B41FA5}">
                      <a16:colId xmlns:a16="http://schemas.microsoft.com/office/drawing/2014/main" val="20000"/>
                    </a:ext>
                  </a:extLst>
                </a:gridCol>
                <a:gridCol w="7070217">
                  <a:extLst>
                    <a:ext uri="{9D8B030D-6E8A-4147-A177-3AD203B41FA5}">
                      <a16:colId xmlns:a16="http://schemas.microsoft.com/office/drawing/2014/main" val="20001"/>
                    </a:ext>
                  </a:extLst>
                </a:gridCol>
                <a:gridCol w="550926">
                  <a:extLst>
                    <a:ext uri="{9D8B030D-6E8A-4147-A177-3AD203B41FA5}">
                      <a16:colId xmlns:a16="http://schemas.microsoft.com/office/drawing/2014/main" val="20002"/>
                    </a:ext>
                  </a:extLst>
                </a:gridCol>
              </a:tblGrid>
              <a:tr h="240791">
                <a:tc>
                  <a:txBody>
                    <a:bodyPr/>
                    <a:lstStyle/>
                    <a:p>
                      <a:r>
                        <a:rPr sz="1100" b="1"/>
                        <a:t>(A) Deliverable</a:t>
                      </a:r>
                    </a:p>
                  </a:txBody>
                  <a:tcPr marL="54864" marR="54864" marT="27432" marB="27432" anchor="ctr"/>
                </a:tc>
                <a:tc>
                  <a:txBody>
                    <a:bodyPr/>
                    <a:lstStyle/>
                    <a:p>
                      <a:pPr algn="ctr"/>
                      <a:r>
                        <a:rPr sz="1100" b="1"/>
                        <a:t>(B) Format</a:t>
                      </a:r>
                    </a:p>
                  </a:txBody>
                  <a:tcPr marL="54864" marR="54864" marT="27432" marB="27432" anchor="ctr"/>
                </a:tc>
                <a:tc>
                  <a:txBody>
                    <a:bodyPr/>
                    <a:lstStyle/>
                    <a:p>
                      <a:pPr algn="ctr"/>
                      <a:r>
                        <a:rPr sz="1100" b="1"/>
                        <a:t>(C) WC</a:t>
                      </a:r>
                    </a:p>
                  </a:txBody>
                  <a:tcPr marL="54864" marR="54864" marT="27432" marB="27432" anchor="ctr"/>
                </a:tc>
                <a:extLst>
                  <a:ext uri="{0D108BD9-81ED-4DB2-BD59-A6C34878D82A}">
                    <a16:rowId xmlns:a16="http://schemas.microsoft.com/office/drawing/2014/main" val="10000"/>
                  </a:ext>
                </a:extLst>
              </a:tr>
              <a:tr h="408432">
                <a:tc>
                  <a:txBody>
                    <a:bodyPr/>
                    <a:lstStyle/>
                    <a:p>
                      <a:r>
                        <a:rPr sz="1100" b="1"/>
                        <a:t>Reference</a:t>
                      </a:r>
                    </a:p>
                  </a:txBody>
                  <a:tcPr marL="54864" marR="54864" marT="27432" marB="27432"/>
                </a:tc>
                <a:tc>
                  <a:txBody>
                    <a:bodyPr/>
                    <a:lstStyle/>
                    <a:p>
                      <a:r>
                        <a:rPr sz="1100"/>
                        <a:t>Alt, A. (2026). Beyond anomaly detection: Classifying attacker automation level from SSH honeypot behavioral signatures [Master’s thesis, Rochester Institute of Technology, Golisano College of Computing and Information Sciences].</a:t>
                      </a:r>
                    </a:p>
                  </a:txBody>
                  <a:tcPr marL="54864" marR="54864" marT="27432" marB="27432"/>
                </a:tc>
                <a:tc>
                  <a:txBody>
                    <a:bodyPr/>
                    <a:lstStyle/>
                    <a:p>
                      <a:pPr algn="ctr"/>
                      <a:r>
                        <a:rPr sz="1100"/>
                        <a:t>NA</a:t>
                      </a:r>
                    </a:p>
                  </a:txBody>
                  <a:tcPr marL="54864" marR="54864" marT="27432" marB="27432"/>
                </a:tc>
                <a:extLst>
                  <a:ext uri="{0D108BD9-81ED-4DB2-BD59-A6C34878D82A}">
                    <a16:rowId xmlns:a16="http://schemas.microsoft.com/office/drawing/2014/main" val="10001"/>
                  </a:ext>
                </a:extLst>
              </a:tr>
              <a:tr h="743711">
                <a:tc>
                  <a:txBody>
                    <a:bodyPr/>
                    <a:lstStyle/>
                    <a:p>
                      <a:r>
                        <a:rPr sz="1100" b="1"/>
                        <a:t>Summary</a:t>
                      </a:r>
                    </a:p>
                  </a:txBody>
                  <a:tcPr marL="54864" marR="54864" marT="27432" marB="27432"/>
                </a:tc>
                <a:tc>
                  <a:txBody>
                    <a:bodyPr/>
                    <a:lstStyle/>
                    <a:p>
                      <a:r>
                        <a:rPr sz="1100"/>
                        <a:t>Asks whether human-driven, traditionally automated and AI-assisted attackers leave distinguishable behavioral signatures in a Cowrie SSH honeypot and whether machine learning can classify them. Collected 281,621 sessions over two months (Hydra automation, one human operator, PentestGPT and ChatGPT-assisted sessions) and engineered 24 session-level features from command patterns, authentication behavior, timing, phase distribution and interaction depth.</a:t>
                      </a:r>
                    </a:p>
                  </a:txBody>
                  <a:tcPr marL="54864" marR="54864" marT="27432" marB="27432"/>
                </a:tc>
                <a:tc>
                  <a:txBody>
                    <a:bodyPr/>
                    <a:lstStyle/>
                    <a:p>
                      <a:pPr algn="ctr"/>
                      <a:r>
                        <a:rPr sz="1100"/>
                        <a:t>55</a:t>
                      </a:r>
                    </a:p>
                  </a:txBody>
                  <a:tcPr marL="54864" marR="54864" marT="27432" marB="27432"/>
                </a:tc>
                <a:extLst>
                  <a:ext uri="{0D108BD9-81ED-4DB2-BD59-A6C34878D82A}">
                    <a16:rowId xmlns:a16="http://schemas.microsoft.com/office/drawing/2014/main" val="10002"/>
                  </a:ext>
                </a:extLst>
              </a:tr>
              <a:tr h="743711">
                <a:tc>
                  <a:txBody>
                    <a:bodyPr/>
                    <a:lstStyle/>
                    <a:p>
                      <a:r>
                        <a:rPr sz="1100" b="1"/>
                        <a:t>Methodology</a:t>
                      </a:r>
                    </a:p>
                  </a:txBody>
                  <a:tcPr marL="54864" marR="54864" marT="27432" marB="27432"/>
                </a:tc>
                <a:tc>
                  <a:txBody>
                    <a:bodyPr/>
                    <a:lstStyle/>
                    <a:p>
                      <a:r>
                        <a:rPr sz="1100"/>
                        <a:t>Controlled VMware lab with a Cowrie medium-interaction honeypot and ELK logging; sessions reconstructed and labeled by attacker VM; automated class undersampled and the human class SMOTE-oversampled inside training folds; eight classifiers (LR, NB, DT, RF, GB, KNN, SVM, XGBoost) tuned with randomized search under 5-fold stratified CV; leave-one-out evaluation of the 45 human sessions.</a:t>
                      </a:r>
                    </a:p>
                  </a:txBody>
                  <a:tcPr marL="54864" marR="54864" marT="27432" marB="27432"/>
                </a:tc>
                <a:tc>
                  <a:txBody>
                    <a:bodyPr/>
                    <a:lstStyle/>
                    <a:p>
                      <a:pPr algn="ctr"/>
                      <a:r>
                        <a:rPr sz="1100"/>
                        <a:t>NA</a:t>
                      </a:r>
                    </a:p>
                  </a:txBody>
                  <a:tcPr marL="54864" marR="54864" marT="27432" marB="27432"/>
                </a:tc>
                <a:extLst>
                  <a:ext uri="{0D108BD9-81ED-4DB2-BD59-A6C34878D82A}">
                    <a16:rowId xmlns:a16="http://schemas.microsoft.com/office/drawing/2014/main" val="10003"/>
                  </a:ext>
                </a:extLst>
              </a:tr>
              <a:tr h="743711">
                <a:tc>
                  <a:txBody>
                    <a:bodyPr/>
                    <a:lstStyle/>
                    <a:p>
                      <a:r>
                        <a:rPr sz="1100" b="1"/>
                        <a:t>Evaluation</a:t>
                      </a:r>
                    </a:p>
                  </a:txBody>
                  <a:tcPr marL="54864" marR="54864" marT="27432" marB="27432"/>
                </a:tc>
                <a:tc>
                  <a:txBody>
                    <a:bodyPr/>
                    <a:lstStyle/>
                    <a:p>
                      <a:r>
                        <a:rPr sz="1100"/>
                        <a:t>Gradient Boosting and Random Forest reached macro-F1 0.809 at about 89.5% accuracy; AI-assisted F1 above 0.888 in the top three models; human precision was 1.000 in every model but recall only 0.44–0.58 (best LOO F1 0.732, KNN). Session duration, command diversity and events per minute were the dominant features; transition entropy separated humans from AI-assisted tools.</a:t>
                      </a:r>
                    </a:p>
                  </a:txBody>
                  <a:tcPr marL="54864" marR="54864" marT="27432" marB="27432"/>
                </a:tc>
                <a:tc>
                  <a:txBody>
                    <a:bodyPr/>
                    <a:lstStyle/>
                    <a:p>
                      <a:pPr algn="ctr"/>
                      <a:r>
                        <a:rPr sz="1100"/>
                        <a:t>56</a:t>
                      </a:r>
                    </a:p>
                  </a:txBody>
                  <a:tcPr marL="54864" marR="54864" marT="27432" marB="27432"/>
                </a:tc>
                <a:extLst>
                  <a:ext uri="{0D108BD9-81ED-4DB2-BD59-A6C34878D82A}">
                    <a16:rowId xmlns:a16="http://schemas.microsoft.com/office/drawing/2014/main" val="10004"/>
                  </a:ext>
                </a:extLst>
              </a:tr>
              <a:tr h="576072">
                <a:tc>
                  <a:txBody>
                    <a:bodyPr/>
                    <a:lstStyle/>
                    <a:p>
                      <a:r>
                        <a:rPr sz="1100" b="1"/>
                        <a:t>Relevance</a:t>
                      </a:r>
                    </a:p>
                  </a:txBody>
                  <a:tcPr marL="54864" marR="54864" marT="27432" marB="27432"/>
                </a:tc>
                <a:tc>
                  <a:txBody>
                    <a:bodyPr/>
                    <a:lstStyle/>
                    <a:p>
                      <a:r>
                        <a:rPr sz="1100"/>
                        <a:t>Supplies our question framing, feature families and eight-classifier protocol; its near-tie between Gradient Boosting and Random Forest motivates RQ3. Its limits define our gap: a single emulated host, one human operator, AI-assisted rather than autonomous agents, and no network features because Suricata could not see NAT traffic.</a:t>
                      </a:r>
                    </a:p>
                  </a:txBody>
                  <a:tcPr marL="54864" marR="54864" marT="27432" marB="27432"/>
                </a:tc>
                <a:tc>
                  <a:txBody>
                    <a:bodyPr/>
                    <a:lstStyle/>
                    <a:p>
                      <a:pPr algn="ctr"/>
                      <a:r>
                        <a:rPr sz="1100"/>
                        <a:t>47</a:t>
                      </a:r>
                    </a:p>
                  </a:txBody>
                  <a:tcPr marL="54864" marR="54864" marT="27432" marB="27432"/>
                </a:tc>
                <a:extLst>
                  <a:ext uri="{0D108BD9-81ED-4DB2-BD59-A6C34878D82A}">
                    <a16:rowId xmlns:a16="http://schemas.microsoft.com/office/drawing/2014/main" val="10005"/>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74320" y="182880"/>
            <a:ext cx="8595360" cy="731520"/>
          </a:xfrm>
        </p:spPr>
        <p:txBody>
          <a:bodyPr wrap="square"/>
          <a:lstStyle/>
          <a:p>
            <a:pPr algn="ctr"/>
            <a:r>
              <a:rPr sz="3400" b="1">
                <a:solidFill>
                  <a:srgbClr val="8064A2"/>
                </a:solidFill>
              </a:rPr>
              <a:t>Annotated Bibliography (2 of 5)</a:t>
            </a:r>
          </a:p>
        </p:txBody>
      </p:sp>
      <p:graphicFrame>
        <p:nvGraphicFramePr>
          <p:cNvPr id="4" name="Table 3"/>
          <p:cNvGraphicFramePr>
            <a:graphicFrameLocks noGrp="1"/>
          </p:cNvGraphicFramePr>
          <p:nvPr/>
        </p:nvGraphicFramePr>
        <p:xfrm>
          <a:off x="164592" y="1005840"/>
          <a:ext cx="8814816" cy="3102863"/>
        </p:xfrm>
        <a:graphic>
          <a:graphicData uri="http://schemas.openxmlformats.org/drawingml/2006/table">
            <a:tbl>
              <a:tblPr firstRow="1" bandRow="1">
                <a:tableStyleId>{5C22544A-7EE6-4342-B048-85BDC9FD1C3A}</a:tableStyleId>
              </a:tblPr>
              <a:tblGrid>
                <a:gridCol w="1193673">
                  <a:extLst>
                    <a:ext uri="{9D8B030D-6E8A-4147-A177-3AD203B41FA5}">
                      <a16:colId xmlns:a16="http://schemas.microsoft.com/office/drawing/2014/main" val="20000"/>
                    </a:ext>
                  </a:extLst>
                </a:gridCol>
                <a:gridCol w="7070217">
                  <a:extLst>
                    <a:ext uri="{9D8B030D-6E8A-4147-A177-3AD203B41FA5}">
                      <a16:colId xmlns:a16="http://schemas.microsoft.com/office/drawing/2014/main" val="20001"/>
                    </a:ext>
                  </a:extLst>
                </a:gridCol>
                <a:gridCol w="550926">
                  <a:extLst>
                    <a:ext uri="{9D8B030D-6E8A-4147-A177-3AD203B41FA5}">
                      <a16:colId xmlns:a16="http://schemas.microsoft.com/office/drawing/2014/main" val="20002"/>
                    </a:ext>
                  </a:extLst>
                </a:gridCol>
              </a:tblGrid>
              <a:tr h="240791">
                <a:tc>
                  <a:txBody>
                    <a:bodyPr/>
                    <a:lstStyle/>
                    <a:p>
                      <a:r>
                        <a:rPr sz="1100" b="1"/>
                        <a:t>(A) Deliverable</a:t>
                      </a:r>
                    </a:p>
                  </a:txBody>
                  <a:tcPr marL="54864" marR="54864" marT="27432" marB="27432" anchor="ctr"/>
                </a:tc>
                <a:tc>
                  <a:txBody>
                    <a:bodyPr/>
                    <a:lstStyle/>
                    <a:p>
                      <a:pPr algn="ctr"/>
                      <a:r>
                        <a:rPr sz="1100" b="1"/>
                        <a:t>(B) Format</a:t>
                      </a:r>
                    </a:p>
                  </a:txBody>
                  <a:tcPr marL="54864" marR="54864" marT="27432" marB="27432" anchor="ctr"/>
                </a:tc>
                <a:tc>
                  <a:txBody>
                    <a:bodyPr/>
                    <a:lstStyle/>
                    <a:p>
                      <a:pPr algn="ctr"/>
                      <a:r>
                        <a:rPr sz="1100" b="1"/>
                        <a:t>(C) WC</a:t>
                      </a:r>
                    </a:p>
                  </a:txBody>
                  <a:tcPr marL="54864" marR="54864" marT="27432" marB="27432" anchor="ctr"/>
                </a:tc>
                <a:extLst>
                  <a:ext uri="{0D108BD9-81ED-4DB2-BD59-A6C34878D82A}">
                    <a16:rowId xmlns:a16="http://schemas.microsoft.com/office/drawing/2014/main" val="10000"/>
                  </a:ext>
                </a:extLst>
              </a:tr>
              <a:tr h="408432">
                <a:tc>
                  <a:txBody>
                    <a:bodyPr/>
                    <a:lstStyle/>
                    <a:p>
                      <a:r>
                        <a:rPr sz="1100" b="1"/>
                        <a:t>Reference</a:t>
                      </a:r>
                    </a:p>
                  </a:txBody>
                  <a:tcPr marL="54864" marR="54864" marT="27432" marB="27432"/>
                </a:tc>
                <a:tc>
                  <a:txBody>
                    <a:bodyPr/>
                    <a:lstStyle/>
                    <a:p>
                      <a:r>
                        <a:rPr sz="1100"/>
                        <a:t>Reworr, &amp; Volkov, D. (2025). LLM agent honeypot: Monitoring AI hacking agents in the wild (arXiv:2410.13919v2). Palisade Research. https://arxiv.org/abs/2410.13919</a:t>
                      </a:r>
                    </a:p>
                  </a:txBody>
                  <a:tcPr marL="54864" marR="54864" marT="27432" marB="27432"/>
                </a:tc>
                <a:tc>
                  <a:txBody>
                    <a:bodyPr/>
                    <a:lstStyle/>
                    <a:p>
                      <a:pPr algn="ctr"/>
                      <a:r>
                        <a:rPr sz="1100"/>
                        <a:t>NA</a:t>
                      </a:r>
                    </a:p>
                  </a:txBody>
                  <a:tcPr marL="54864" marR="54864" marT="27432" marB="27432"/>
                </a:tc>
                <a:extLst>
                  <a:ext uri="{0D108BD9-81ED-4DB2-BD59-A6C34878D82A}">
                    <a16:rowId xmlns:a16="http://schemas.microsoft.com/office/drawing/2014/main" val="10001"/>
                  </a:ext>
                </a:extLst>
              </a:tr>
              <a:tr h="576072">
                <a:tc>
                  <a:txBody>
                    <a:bodyPr/>
                    <a:lstStyle/>
                    <a:p>
                      <a:r>
                        <a:rPr sz="1100" b="1"/>
                        <a:t>Summary</a:t>
                      </a:r>
                    </a:p>
                  </a:txBody>
                  <a:tcPr marL="54864" marR="54864" marT="27432" marB="27432"/>
                </a:tc>
                <a:tc>
                  <a:txBody>
                    <a:bodyPr/>
                    <a:lstStyle/>
                    <a:p>
                      <a:r>
                        <a:rPr sz="1100"/>
                        <a:t>Presents a public SSH honeypot augmented with prompt injections and timing analysis to detect autonomous LLM agents among attackers. Over about three months it recorded 8,130,731 interaction attempts and flagged 8 potential AI agents, offering early evidence that LLM-driven hacking attempts exist in the wild.</a:t>
                      </a:r>
                    </a:p>
                  </a:txBody>
                  <a:tcPr marL="54864" marR="54864" marT="27432" marB="27432"/>
                </a:tc>
                <a:tc>
                  <a:txBody>
                    <a:bodyPr/>
                    <a:lstStyle/>
                    <a:p>
                      <a:pPr algn="ctr"/>
                      <a:r>
                        <a:rPr sz="1100"/>
                        <a:t>45</a:t>
                      </a:r>
                    </a:p>
                  </a:txBody>
                  <a:tcPr marL="54864" marR="54864" marT="27432" marB="27432"/>
                </a:tc>
                <a:extLst>
                  <a:ext uri="{0D108BD9-81ED-4DB2-BD59-A6C34878D82A}">
                    <a16:rowId xmlns:a16="http://schemas.microsoft.com/office/drawing/2014/main" val="10002"/>
                  </a:ext>
                </a:extLst>
              </a:tr>
              <a:tr h="576072">
                <a:tc>
                  <a:txBody>
                    <a:bodyPr/>
                    <a:lstStyle/>
                    <a:p>
                      <a:r>
                        <a:rPr sz="1100" b="1"/>
                        <a:t>Methodology</a:t>
                      </a:r>
                    </a:p>
                  </a:txBody>
                  <a:tcPr marL="54864" marR="54864" marT="27432" marB="27432"/>
                </a:tc>
                <a:tc>
                  <a:txBody>
                    <a:bodyPr/>
                    <a:lstStyle/>
                    <a:p>
                      <a:r>
                        <a:rPr sz="1100"/>
                        <a:t>Customized Cowrie honeypot on 10 IP addresses with prompts injected into banners, command outputs and files; two-step detection: a goal-hijacking “Important Message” injection followed by prompt stealing; timing thresholds calibrated on internal GPT-4o agents; actors classed as software bots, LLM agents or humans; the dashboard separates potential from confirmed agents.</a:t>
                      </a:r>
                    </a:p>
                  </a:txBody>
                  <a:tcPr marL="54864" marR="54864" marT="27432" marB="27432"/>
                </a:tc>
                <a:tc>
                  <a:txBody>
                    <a:bodyPr/>
                    <a:lstStyle/>
                    <a:p>
                      <a:pPr algn="ctr"/>
                      <a:r>
                        <a:rPr sz="1100"/>
                        <a:t>NA</a:t>
                      </a:r>
                    </a:p>
                  </a:txBody>
                  <a:tcPr marL="54864" marR="54864" marT="27432" marB="27432"/>
                </a:tc>
                <a:extLst>
                  <a:ext uri="{0D108BD9-81ED-4DB2-BD59-A6C34878D82A}">
                    <a16:rowId xmlns:a16="http://schemas.microsoft.com/office/drawing/2014/main" val="10003"/>
                  </a:ext>
                </a:extLst>
              </a:tr>
              <a:tr h="576072">
                <a:tc>
                  <a:txBody>
                    <a:bodyPr/>
                    <a:lstStyle/>
                    <a:p>
                      <a:r>
                        <a:rPr sz="1100" b="1"/>
                        <a:t>Evaluation</a:t>
                      </a:r>
                    </a:p>
                  </a:txBody>
                  <a:tcPr marL="54864" marR="54864" marT="27432" marB="27432"/>
                </a:tc>
                <a:tc>
                  <a:txBody>
                    <a:bodyPr/>
                    <a:lstStyle/>
                    <a:p>
                      <a:r>
                        <a:rPr sz="1100"/>
                        <a:t>Internal LLM agents replied within about 1.7 s (mean 1.20 s, median 1.06 s); “Important Message” hijacks succeeded 100% versus 6–82% for “ignore instructions”; in the wild, bot responses had a median of 0.69 s while a suspected human-driven session exceeded 10 s between commands. Only a handful of 8M+ sessions passed both checks.</a:t>
                      </a:r>
                    </a:p>
                  </a:txBody>
                  <a:tcPr marL="54864" marR="54864" marT="27432" marB="27432"/>
                </a:tc>
                <a:tc>
                  <a:txBody>
                    <a:bodyPr/>
                    <a:lstStyle/>
                    <a:p>
                      <a:pPr algn="ctr"/>
                      <a:r>
                        <a:rPr sz="1100"/>
                        <a:t>54</a:t>
                      </a:r>
                    </a:p>
                  </a:txBody>
                  <a:tcPr marL="54864" marR="54864" marT="27432" marB="27432"/>
                </a:tc>
                <a:extLst>
                  <a:ext uri="{0D108BD9-81ED-4DB2-BD59-A6C34878D82A}">
                    <a16:rowId xmlns:a16="http://schemas.microsoft.com/office/drawing/2014/main" val="10004"/>
                  </a:ext>
                </a:extLst>
              </a:tr>
              <a:tr h="576072">
                <a:tc>
                  <a:txBody>
                    <a:bodyPr/>
                    <a:lstStyle/>
                    <a:p>
                      <a:r>
                        <a:rPr sz="1100" b="1"/>
                        <a:t>Relevance</a:t>
                      </a:r>
                    </a:p>
                  </a:txBody>
                  <a:tcPr marL="54864" marR="54864" marT="27432" marB="27432"/>
                </a:tc>
                <a:tc>
                  <a:txBody>
                    <a:bodyPr/>
                    <a:lstStyle/>
                    <a:p>
                      <a:r>
                        <a:rPr sz="1100"/>
                        <a:t>Establishes response timing as the clearest current AI signal and prompt injection as an active probe. We treat timing as one feature family to ablate rather than the answer, log inference latency to normalize it, and avoid lures so both arms face identical targets.</a:t>
                      </a:r>
                    </a:p>
                  </a:txBody>
                  <a:tcPr marL="54864" marR="54864" marT="27432" marB="27432"/>
                </a:tc>
                <a:tc>
                  <a:txBody>
                    <a:bodyPr/>
                    <a:lstStyle/>
                    <a:p>
                      <a:pPr algn="ctr"/>
                      <a:r>
                        <a:rPr sz="1100"/>
                        <a:t>44</a:t>
                      </a:r>
                    </a:p>
                  </a:txBody>
                  <a:tcPr marL="54864" marR="54864" marT="27432" marB="27432"/>
                </a:tc>
                <a:extLst>
                  <a:ext uri="{0D108BD9-81ED-4DB2-BD59-A6C34878D82A}">
                    <a16:rowId xmlns:a16="http://schemas.microsoft.com/office/drawing/2014/main" val="10005"/>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74320" y="182880"/>
            <a:ext cx="8595360" cy="731520"/>
          </a:xfrm>
        </p:spPr>
        <p:txBody>
          <a:bodyPr wrap="square"/>
          <a:lstStyle/>
          <a:p>
            <a:pPr algn="ctr"/>
            <a:r>
              <a:rPr sz="3400" b="1">
                <a:solidFill>
                  <a:srgbClr val="8064A2"/>
                </a:solidFill>
              </a:rPr>
              <a:t>Annotated Bibliography (3 of 5)</a:t>
            </a:r>
          </a:p>
        </p:txBody>
      </p:sp>
      <p:graphicFrame>
        <p:nvGraphicFramePr>
          <p:cNvPr id="4" name="Table 3"/>
          <p:cNvGraphicFramePr>
            <a:graphicFrameLocks noGrp="1"/>
          </p:cNvGraphicFramePr>
          <p:nvPr/>
        </p:nvGraphicFramePr>
        <p:xfrm>
          <a:off x="164592" y="1005840"/>
          <a:ext cx="8814816" cy="3288790"/>
        </p:xfrm>
        <a:graphic>
          <a:graphicData uri="http://schemas.openxmlformats.org/drawingml/2006/table">
            <a:tbl>
              <a:tblPr firstRow="1" bandRow="1">
                <a:tableStyleId>{5C22544A-7EE6-4342-B048-85BDC9FD1C3A}</a:tableStyleId>
              </a:tblPr>
              <a:tblGrid>
                <a:gridCol w="1193673">
                  <a:extLst>
                    <a:ext uri="{9D8B030D-6E8A-4147-A177-3AD203B41FA5}">
                      <a16:colId xmlns:a16="http://schemas.microsoft.com/office/drawing/2014/main" val="20000"/>
                    </a:ext>
                  </a:extLst>
                </a:gridCol>
                <a:gridCol w="7070217">
                  <a:extLst>
                    <a:ext uri="{9D8B030D-6E8A-4147-A177-3AD203B41FA5}">
                      <a16:colId xmlns:a16="http://schemas.microsoft.com/office/drawing/2014/main" val="20001"/>
                    </a:ext>
                  </a:extLst>
                </a:gridCol>
                <a:gridCol w="550926">
                  <a:extLst>
                    <a:ext uri="{9D8B030D-6E8A-4147-A177-3AD203B41FA5}">
                      <a16:colId xmlns:a16="http://schemas.microsoft.com/office/drawing/2014/main" val="20002"/>
                    </a:ext>
                  </a:extLst>
                </a:gridCol>
              </a:tblGrid>
              <a:tr h="240791">
                <a:tc>
                  <a:txBody>
                    <a:bodyPr/>
                    <a:lstStyle/>
                    <a:p>
                      <a:r>
                        <a:rPr sz="1100" b="1"/>
                        <a:t>(A) Deliverable</a:t>
                      </a:r>
                    </a:p>
                  </a:txBody>
                  <a:tcPr marL="54864" marR="54864" marT="27432" marB="27432" anchor="ctr"/>
                </a:tc>
                <a:tc>
                  <a:txBody>
                    <a:bodyPr/>
                    <a:lstStyle/>
                    <a:p>
                      <a:pPr algn="ctr"/>
                      <a:r>
                        <a:rPr sz="1100" b="1"/>
                        <a:t>(B) Format</a:t>
                      </a:r>
                    </a:p>
                  </a:txBody>
                  <a:tcPr marL="54864" marR="54864" marT="27432" marB="27432" anchor="ctr"/>
                </a:tc>
                <a:tc>
                  <a:txBody>
                    <a:bodyPr/>
                    <a:lstStyle/>
                    <a:p>
                      <a:pPr algn="ctr"/>
                      <a:r>
                        <a:rPr sz="1100" b="1"/>
                        <a:t>(C) WC</a:t>
                      </a:r>
                    </a:p>
                  </a:txBody>
                  <a:tcPr marL="54864" marR="54864" marT="27432" marB="27432" anchor="ctr"/>
                </a:tc>
                <a:extLst>
                  <a:ext uri="{0D108BD9-81ED-4DB2-BD59-A6C34878D82A}">
                    <a16:rowId xmlns:a16="http://schemas.microsoft.com/office/drawing/2014/main" val="10000"/>
                  </a:ext>
                </a:extLst>
              </a:tr>
              <a:tr h="576072">
                <a:tc>
                  <a:txBody>
                    <a:bodyPr/>
                    <a:lstStyle/>
                    <a:p>
                      <a:r>
                        <a:rPr sz="1100" b="1"/>
                        <a:t>Reference</a:t>
                      </a:r>
                    </a:p>
                  </a:txBody>
                  <a:tcPr marL="54864" marR="54864" marT="27432" marB="27432"/>
                </a:tc>
                <a:tc>
                  <a:txBody>
                    <a:bodyPr/>
                    <a:lstStyle/>
                    <a:p>
                      <a:r>
                        <a:rPr sz="1100"/>
                        <a:t>Lin, J. W., Jones, E. K., Jasper, D. J., Ho, E. J., Wu, A., Yang, A. T., Perry, N., Zou, A., Fredrikson, M., Kolter, J. Z., Liang, P., Boneh, D., &amp; Ho, D. E. (2026). Comparing AI agents to cybersecurity professionals in real-world penetration testing (arXiv:2512.09882v2). Stanford University. https://arxiv.org/abs/2512.09882</a:t>
                      </a:r>
                    </a:p>
                  </a:txBody>
                  <a:tcPr marL="54864" marR="54864" marT="27432" marB="27432"/>
                </a:tc>
                <a:tc>
                  <a:txBody>
                    <a:bodyPr/>
                    <a:lstStyle/>
                    <a:p>
                      <a:pPr algn="ctr"/>
                      <a:r>
                        <a:rPr sz="1100"/>
                        <a:t>NA</a:t>
                      </a:r>
                    </a:p>
                  </a:txBody>
                  <a:tcPr marL="54864" marR="54864" marT="27432" marB="27432"/>
                </a:tc>
                <a:extLst>
                  <a:ext uri="{0D108BD9-81ED-4DB2-BD59-A6C34878D82A}">
                    <a16:rowId xmlns:a16="http://schemas.microsoft.com/office/drawing/2014/main" val="10001"/>
                  </a:ext>
                </a:extLst>
              </a:tr>
              <a:tr h="576072">
                <a:tc>
                  <a:txBody>
                    <a:bodyPr/>
                    <a:lstStyle/>
                    <a:p>
                      <a:r>
                        <a:rPr sz="1100" b="1"/>
                        <a:t>Summary</a:t>
                      </a:r>
                    </a:p>
                  </a:txBody>
                  <a:tcPr marL="54864" marR="54864" marT="27432" marB="27432"/>
                </a:tc>
                <a:tc>
                  <a:txBody>
                    <a:bodyPr/>
                    <a:lstStyle/>
                    <a:p>
                      <a:r>
                        <a:rPr sz="1100"/>
                        <a:t>First comparison of AI agents and human professionals in a live enterprise network: ten penetration testers, six existing agents and ARTEMIS, a new multi-agent scaffold, attacked a university network of about 8,000 hosts across 12 subnets. ARTEMIS placed second overall with 9 valid vulnerabilities and an 82% valid-submission rate.</a:t>
                      </a:r>
                    </a:p>
                  </a:txBody>
                  <a:tcPr marL="54864" marR="54864" marT="27432" marB="27432"/>
                </a:tc>
                <a:tc>
                  <a:txBody>
                    <a:bodyPr/>
                    <a:lstStyle/>
                    <a:p>
                      <a:pPr algn="ctr"/>
                      <a:r>
                        <a:rPr sz="1100"/>
                        <a:t>49</a:t>
                      </a:r>
                    </a:p>
                  </a:txBody>
                  <a:tcPr marL="54864" marR="54864" marT="27432" marB="27432"/>
                </a:tc>
                <a:extLst>
                  <a:ext uri="{0D108BD9-81ED-4DB2-BD59-A6C34878D82A}">
                    <a16:rowId xmlns:a16="http://schemas.microsoft.com/office/drawing/2014/main" val="10002"/>
                  </a:ext>
                </a:extLst>
              </a:tr>
              <a:tr h="743711">
                <a:tc>
                  <a:txBody>
                    <a:bodyPr/>
                    <a:lstStyle/>
                    <a:p>
                      <a:r>
                        <a:rPr sz="1100" b="1"/>
                        <a:t>Methodology</a:t>
                      </a:r>
                    </a:p>
                  </a:txBody>
                  <a:tcPr marL="54864" marR="54864" marT="27432" marB="27432"/>
                </a:tc>
                <a:tc>
                  <a:txBody>
                    <a:bodyPr/>
                    <a:lstStyle/>
                    <a:p>
                      <a:r>
                        <a:rPr sz="1100"/>
                        <a:t>Participants and agents used identical Kali VMs with screen, terminal and connection logging; 10 hours of active engagement within 4 days of VPN access; findings scored by technical complexity plus weighted criticality; ARTEMIS combines dynamic prompt generation, parallel sub-agents and an automatic vulnerability triager, in two configurations (A1 GPT-5; A2 model ensemble).</a:t>
                      </a:r>
                    </a:p>
                  </a:txBody>
                  <a:tcPr marL="54864" marR="54864" marT="27432" marB="27432"/>
                </a:tc>
                <a:tc>
                  <a:txBody>
                    <a:bodyPr/>
                    <a:lstStyle/>
                    <a:p>
                      <a:pPr algn="ctr"/>
                      <a:r>
                        <a:rPr sz="1100"/>
                        <a:t>NA</a:t>
                      </a:r>
                    </a:p>
                  </a:txBody>
                  <a:tcPr marL="54864" marR="54864" marT="27432" marB="27432"/>
                </a:tc>
                <a:extLst>
                  <a:ext uri="{0D108BD9-81ED-4DB2-BD59-A6C34878D82A}">
                    <a16:rowId xmlns:a16="http://schemas.microsoft.com/office/drawing/2014/main" val="10003"/>
                  </a:ext>
                </a:extLst>
              </a:tr>
              <a:tr h="576072">
                <a:tc>
                  <a:txBody>
                    <a:bodyPr/>
                    <a:lstStyle/>
                    <a:p>
                      <a:r>
                        <a:rPr sz="1100" b="1"/>
                        <a:t>Evaluation</a:t>
                      </a:r>
                    </a:p>
                  </a:txBody>
                  <a:tcPr marL="54864" marR="54864" marT="27432" marB="27432"/>
                </a:tc>
                <a:tc>
                  <a:txBody>
                    <a:bodyPr/>
                    <a:lstStyle/>
                    <a:p>
                      <a:r>
                        <a:rPr sz="1100"/>
                        <a:t>ARTEMIS outperformed 9 of 10 humans; peaked at 8 concurrent sub-agents (mean 2.82); cost $18–59 per hour versus $60 per hour for professionals; produced more false positives than humans and failed GUI-based tasks (missed a TinyPilot RCE that 80% of humans found) yet exploited an outdated iDRAC with curl -k that no human did.</a:t>
                      </a:r>
                    </a:p>
                  </a:txBody>
                  <a:tcPr marL="54864" marR="54864" marT="27432" marB="27432"/>
                </a:tc>
                <a:tc>
                  <a:txBody>
                    <a:bodyPr/>
                    <a:lstStyle/>
                    <a:p>
                      <a:pPr algn="ctr"/>
                      <a:r>
                        <a:rPr sz="1100"/>
                        <a:t>54</a:t>
                      </a:r>
                    </a:p>
                  </a:txBody>
                  <a:tcPr marL="54864" marR="54864" marT="27432" marB="27432"/>
                </a:tc>
                <a:extLst>
                  <a:ext uri="{0D108BD9-81ED-4DB2-BD59-A6C34878D82A}">
                    <a16:rowId xmlns:a16="http://schemas.microsoft.com/office/drawing/2014/main" val="10004"/>
                  </a:ext>
                </a:extLst>
              </a:tr>
              <a:tr h="576072">
                <a:tc>
                  <a:txBody>
                    <a:bodyPr/>
                    <a:lstStyle/>
                    <a:p>
                      <a:r>
                        <a:rPr sz="1100" b="1"/>
                        <a:t>Relevance</a:t>
                      </a:r>
                    </a:p>
                  </a:txBody>
                  <a:tcPr marL="54864" marR="54864" marT="27432" marB="27432"/>
                </a:tc>
                <a:tc>
                  <a:txBody>
                    <a:bodyPr/>
                    <a:lstStyle/>
                    <a:p>
                      <a:r>
                        <a:rPr sz="1100"/>
                        <a:t>Supplies the autonomous attacker scaffold and documents behavioral differences we will test as features: parallel enumeration, immediate submission and moving on, CLI-only interaction. It compares performance, not identifiability, and logged only the operator side; we capture the target side.</a:t>
                      </a:r>
                    </a:p>
                  </a:txBody>
                  <a:tcPr marL="54864" marR="54864" marT="27432" marB="27432"/>
                </a:tc>
                <a:tc>
                  <a:txBody>
                    <a:bodyPr/>
                    <a:lstStyle/>
                    <a:p>
                      <a:pPr algn="ctr"/>
                      <a:r>
                        <a:rPr sz="1100"/>
                        <a:t>39</a:t>
                      </a:r>
                    </a:p>
                  </a:txBody>
                  <a:tcPr marL="54864" marR="54864" marT="27432" marB="27432"/>
                </a:tc>
                <a:extLst>
                  <a:ext uri="{0D108BD9-81ED-4DB2-BD59-A6C34878D82A}">
                    <a16:rowId xmlns:a16="http://schemas.microsoft.com/office/drawing/2014/main" val="10005"/>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74320" y="182880"/>
            <a:ext cx="8595360" cy="731520"/>
          </a:xfrm>
        </p:spPr>
        <p:txBody>
          <a:bodyPr wrap="square"/>
          <a:lstStyle/>
          <a:p>
            <a:pPr algn="ctr"/>
            <a:r>
              <a:rPr sz="3400" b="1">
                <a:solidFill>
                  <a:srgbClr val="8064A2"/>
                </a:solidFill>
              </a:rPr>
              <a:t>Annotated Bibliography (4 of 5)</a:t>
            </a:r>
          </a:p>
        </p:txBody>
      </p:sp>
      <p:graphicFrame>
        <p:nvGraphicFramePr>
          <p:cNvPr id="4" name="Table 3"/>
          <p:cNvGraphicFramePr>
            <a:graphicFrameLocks noGrp="1"/>
          </p:cNvGraphicFramePr>
          <p:nvPr/>
        </p:nvGraphicFramePr>
        <p:xfrm>
          <a:off x="164592" y="1005840"/>
          <a:ext cx="8814816" cy="3121151"/>
        </p:xfrm>
        <a:graphic>
          <a:graphicData uri="http://schemas.openxmlformats.org/drawingml/2006/table">
            <a:tbl>
              <a:tblPr firstRow="1" bandRow="1">
                <a:tableStyleId>{5C22544A-7EE6-4342-B048-85BDC9FD1C3A}</a:tableStyleId>
              </a:tblPr>
              <a:tblGrid>
                <a:gridCol w="1193673">
                  <a:extLst>
                    <a:ext uri="{9D8B030D-6E8A-4147-A177-3AD203B41FA5}">
                      <a16:colId xmlns:a16="http://schemas.microsoft.com/office/drawing/2014/main" val="20000"/>
                    </a:ext>
                  </a:extLst>
                </a:gridCol>
                <a:gridCol w="7070217">
                  <a:extLst>
                    <a:ext uri="{9D8B030D-6E8A-4147-A177-3AD203B41FA5}">
                      <a16:colId xmlns:a16="http://schemas.microsoft.com/office/drawing/2014/main" val="20001"/>
                    </a:ext>
                  </a:extLst>
                </a:gridCol>
                <a:gridCol w="550926">
                  <a:extLst>
                    <a:ext uri="{9D8B030D-6E8A-4147-A177-3AD203B41FA5}">
                      <a16:colId xmlns:a16="http://schemas.microsoft.com/office/drawing/2014/main" val="20002"/>
                    </a:ext>
                  </a:extLst>
                </a:gridCol>
              </a:tblGrid>
              <a:tr h="240791">
                <a:tc>
                  <a:txBody>
                    <a:bodyPr/>
                    <a:lstStyle/>
                    <a:p>
                      <a:r>
                        <a:rPr sz="1100" b="1"/>
                        <a:t>(A) Deliverable</a:t>
                      </a:r>
                    </a:p>
                  </a:txBody>
                  <a:tcPr marL="54864" marR="54864" marT="27432" marB="27432" anchor="ctr"/>
                </a:tc>
                <a:tc>
                  <a:txBody>
                    <a:bodyPr/>
                    <a:lstStyle/>
                    <a:p>
                      <a:pPr algn="ctr"/>
                      <a:r>
                        <a:rPr sz="1100" b="1"/>
                        <a:t>(B) Format</a:t>
                      </a:r>
                    </a:p>
                  </a:txBody>
                  <a:tcPr marL="54864" marR="54864" marT="27432" marB="27432" anchor="ctr"/>
                </a:tc>
                <a:tc>
                  <a:txBody>
                    <a:bodyPr/>
                    <a:lstStyle/>
                    <a:p>
                      <a:pPr algn="ctr"/>
                      <a:r>
                        <a:rPr sz="1100" b="1"/>
                        <a:t>(C) WC</a:t>
                      </a:r>
                    </a:p>
                  </a:txBody>
                  <a:tcPr marL="54864" marR="54864" marT="27432" marB="27432" anchor="ctr"/>
                </a:tc>
                <a:extLst>
                  <a:ext uri="{0D108BD9-81ED-4DB2-BD59-A6C34878D82A}">
                    <a16:rowId xmlns:a16="http://schemas.microsoft.com/office/drawing/2014/main" val="10000"/>
                  </a:ext>
                </a:extLst>
              </a:tr>
              <a:tr h="576072">
                <a:tc>
                  <a:txBody>
                    <a:bodyPr/>
                    <a:lstStyle/>
                    <a:p>
                      <a:r>
                        <a:rPr sz="1100" b="1"/>
                        <a:t>Reference</a:t>
                      </a:r>
                    </a:p>
                  </a:txBody>
                  <a:tcPr marL="54864" marR="54864" marT="27432" marB="27432"/>
                </a:tc>
                <a:tc>
                  <a:txBody>
                    <a:bodyPr/>
                    <a:lstStyle/>
                    <a:p>
                      <a:r>
                        <a:rPr sz="1100"/>
                        <a:t>Anthropic. (2025, November). Disrupting the first reported AI-orchestrated cyber espionage campaign [Threat intelligence report]. https://assets.anthropic.com/m/ec212e6566a0d47/original/Disrupting-the-first-reported-AI-orchestrated-cyber-espionage-campaign.pdf</a:t>
                      </a:r>
                    </a:p>
                  </a:txBody>
                  <a:tcPr marL="54864" marR="54864" marT="27432" marB="27432"/>
                </a:tc>
                <a:tc>
                  <a:txBody>
                    <a:bodyPr/>
                    <a:lstStyle/>
                    <a:p>
                      <a:pPr algn="ctr"/>
                      <a:r>
                        <a:rPr sz="1100"/>
                        <a:t>NA</a:t>
                      </a:r>
                    </a:p>
                  </a:txBody>
                  <a:tcPr marL="54864" marR="54864" marT="27432" marB="27432"/>
                </a:tc>
                <a:extLst>
                  <a:ext uri="{0D108BD9-81ED-4DB2-BD59-A6C34878D82A}">
                    <a16:rowId xmlns:a16="http://schemas.microsoft.com/office/drawing/2014/main" val="10001"/>
                  </a:ext>
                </a:extLst>
              </a:tr>
              <a:tr h="576072">
                <a:tc>
                  <a:txBody>
                    <a:bodyPr/>
                    <a:lstStyle/>
                    <a:p>
                      <a:r>
                        <a:rPr sz="1100" b="1"/>
                        <a:t>Summary</a:t>
                      </a:r>
                    </a:p>
                  </a:txBody>
                  <a:tcPr marL="54864" marR="54864" marT="27432" marB="27432"/>
                </a:tc>
                <a:tc>
                  <a:txBody>
                    <a:bodyPr/>
                    <a:lstStyle/>
                    <a:p>
                      <a:r>
                        <a:rPr sz="1100"/>
                        <a:t>Reports a mid-September 2025 campaign (GTG-1002, assessed with high confidence as Chinese state-sponsored) in which a jailbroken agentic coding tool executed roughly 80–90% of tactical operations against about 30 organizations, with humans intervening only at strategic junctures such as approving exploitation, lateral movement and exfiltration scope.</a:t>
                      </a:r>
                    </a:p>
                  </a:txBody>
                  <a:tcPr marL="54864" marR="54864" marT="27432" marB="27432"/>
                </a:tc>
                <a:tc>
                  <a:txBody>
                    <a:bodyPr/>
                    <a:lstStyle/>
                    <a:p>
                      <a:pPr algn="ctr"/>
                      <a:r>
                        <a:rPr sz="1100"/>
                        <a:t>46</a:t>
                      </a:r>
                    </a:p>
                  </a:txBody>
                  <a:tcPr marL="54864" marR="54864" marT="27432" marB="27432"/>
                </a:tc>
                <a:extLst>
                  <a:ext uri="{0D108BD9-81ED-4DB2-BD59-A6C34878D82A}">
                    <a16:rowId xmlns:a16="http://schemas.microsoft.com/office/drawing/2014/main" val="10002"/>
                  </a:ext>
                </a:extLst>
              </a:tr>
              <a:tr h="576072">
                <a:tc>
                  <a:txBody>
                    <a:bodyPr/>
                    <a:lstStyle/>
                    <a:p>
                      <a:r>
                        <a:rPr sz="1100" b="1"/>
                        <a:t>Methodology</a:t>
                      </a:r>
                    </a:p>
                  </a:txBody>
                  <a:tcPr marL="54864" marR="54864" marT="27432" marB="27432"/>
                </a:tc>
                <a:tc>
                  <a:txBody>
                    <a:bodyPr/>
                    <a:lstStyle/>
                    <a:p>
                      <a:r>
                        <a:rPr sz="1100"/>
                        <a:t>Incident investigation of platform usage: operators posed as a legitimate security firm, decomposed the intrusion into innocuous-looking tasks, and drove open-source penetration-testing tools through custom Model Context Protocol automation across reconnaissance, exploitation, credential harvesting, lateral movement and exfiltration.</a:t>
                      </a:r>
                    </a:p>
                  </a:txBody>
                  <a:tcPr marL="54864" marR="54864" marT="27432" marB="27432"/>
                </a:tc>
                <a:tc>
                  <a:txBody>
                    <a:bodyPr/>
                    <a:lstStyle/>
                    <a:p>
                      <a:pPr algn="ctr"/>
                      <a:r>
                        <a:rPr sz="1100"/>
                        <a:t>NA</a:t>
                      </a:r>
                    </a:p>
                  </a:txBody>
                  <a:tcPr marL="54864" marR="54864" marT="27432" marB="27432"/>
                </a:tc>
                <a:extLst>
                  <a:ext uri="{0D108BD9-81ED-4DB2-BD59-A6C34878D82A}">
                    <a16:rowId xmlns:a16="http://schemas.microsoft.com/office/drawing/2014/main" val="10003"/>
                  </a:ext>
                </a:extLst>
              </a:tr>
              <a:tr h="576072">
                <a:tc>
                  <a:txBody>
                    <a:bodyPr/>
                    <a:lstStyle/>
                    <a:p>
                      <a:r>
                        <a:rPr sz="1100" b="1"/>
                        <a:t>Evaluation</a:t>
                      </a:r>
                    </a:p>
                  </a:txBody>
                  <a:tcPr marL="54864" marR="54864" marT="27432" marB="27432"/>
                </a:tc>
                <a:tc>
                  <a:txBody>
                    <a:bodyPr/>
                    <a:lstStyle/>
                    <a:p>
                      <a:r>
                        <a:rPr sz="1100"/>
                        <a:t>Human effort estimated at 10–20% of the campaign; the sustained, high-volume activity eventually triggered detection; the report notes hallucinated results in the AI’s output and that visibility is limited to one vendor’s platform; accounts were banned and affected organizations notified.</a:t>
                      </a:r>
                    </a:p>
                  </a:txBody>
                  <a:tcPr marL="54864" marR="54864" marT="27432" marB="27432"/>
                </a:tc>
                <a:tc>
                  <a:txBody>
                    <a:bodyPr/>
                    <a:lstStyle/>
                    <a:p>
                      <a:pPr algn="ctr"/>
                      <a:r>
                        <a:rPr sz="1100"/>
                        <a:t>40</a:t>
                      </a:r>
                    </a:p>
                  </a:txBody>
                  <a:tcPr marL="54864" marR="54864" marT="27432" marB="27432"/>
                </a:tc>
                <a:extLst>
                  <a:ext uri="{0D108BD9-81ED-4DB2-BD59-A6C34878D82A}">
                    <a16:rowId xmlns:a16="http://schemas.microsoft.com/office/drawing/2014/main" val="10004"/>
                  </a:ext>
                </a:extLst>
              </a:tr>
              <a:tr h="576072">
                <a:tc>
                  <a:txBody>
                    <a:bodyPr/>
                    <a:lstStyle/>
                    <a:p>
                      <a:r>
                        <a:rPr sz="1100" b="1"/>
                        <a:t>Relevance</a:t>
                      </a:r>
                    </a:p>
                  </a:txBody>
                  <a:tcPr marL="54864" marR="54864" marT="27432" marB="27432"/>
                </a:tc>
                <a:tc>
                  <a:txBody>
                    <a:bodyPr/>
                    <a:lstStyle/>
                    <a:p>
                      <a:r>
                        <a:rPr sz="1100"/>
                        <a:t>Motivates the problem statement and the APT framing: a state-sponsored APT ran an AI-orchestrated intrusion campaign with commodity tooling and was caught by volume and persistence, not by any target-side classifier. Our experiment measures how well target telemetry alone makes that distinction under controlled conditions.</a:t>
                      </a:r>
                    </a:p>
                  </a:txBody>
                  <a:tcPr marL="54864" marR="54864" marT="27432" marB="27432"/>
                </a:tc>
                <a:tc>
                  <a:txBody>
                    <a:bodyPr/>
                    <a:lstStyle/>
                    <a:p>
                      <a:pPr algn="ctr"/>
                      <a:r>
                        <a:rPr sz="1100"/>
                        <a:t>45</a:t>
                      </a:r>
                    </a:p>
                  </a:txBody>
                  <a:tcPr marL="54864" marR="54864" marT="27432" marB="27432"/>
                </a:tc>
                <a:extLst>
                  <a:ext uri="{0D108BD9-81ED-4DB2-BD59-A6C34878D82A}">
                    <a16:rowId xmlns:a16="http://schemas.microsoft.com/office/drawing/2014/main" val="10005"/>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74320" y="182880"/>
            <a:ext cx="8595360" cy="731520"/>
          </a:xfrm>
        </p:spPr>
        <p:txBody>
          <a:bodyPr wrap="square"/>
          <a:lstStyle/>
          <a:p>
            <a:pPr algn="ctr"/>
            <a:r>
              <a:rPr sz="3400" b="1">
                <a:solidFill>
                  <a:srgbClr val="8064A2"/>
                </a:solidFill>
              </a:rPr>
              <a:t>Annotated Bibliography (5 of 5)</a:t>
            </a:r>
          </a:p>
        </p:txBody>
      </p:sp>
      <p:graphicFrame>
        <p:nvGraphicFramePr>
          <p:cNvPr id="4" name="Table 3"/>
          <p:cNvGraphicFramePr>
            <a:graphicFrameLocks noGrp="1"/>
          </p:cNvGraphicFramePr>
          <p:nvPr/>
        </p:nvGraphicFramePr>
        <p:xfrm>
          <a:off x="164592" y="1005840"/>
          <a:ext cx="8814816" cy="2767583"/>
        </p:xfrm>
        <a:graphic>
          <a:graphicData uri="http://schemas.openxmlformats.org/drawingml/2006/table">
            <a:tbl>
              <a:tblPr firstRow="1" bandRow="1">
                <a:tableStyleId>{5C22544A-7EE6-4342-B048-85BDC9FD1C3A}</a:tableStyleId>
              </a:tblPr>
              <a:tblGrid>
                <a:gridCol w="1193673">
                  <a:extLst>
                    <a:ext uri="{9D8B030D-6E8A-4147-A177-3AD203B41FA5}">
                      <a16:colId xmlns:a16="http://schemas.microsoft.com/office/drawing/2014/main" val="20000"/>
                    </a:ext>
                  </a:extLst>
                </a:gridCol>
                <a:gridCol w="7070217">
                  <a:extLst>
                    <a:ext uri="{9D8B030D-6E8A-4147-A177-3AD203B41FA5}">
                      <a16:colId xmlns:a16="http://schemas.microsoft.com/office/drawing/2014/main" val="20001"/>
                    </a:ext>
                  </a:extLst>
                </a:gridCol>
                <a:gridCol w="550926">
                  <a:extLst>
                    <a:ext uri="{9D8B030D-6E8A-4147-A177-3AD203B41FA5}">
                      <a16:colId xmlns:a16="http://schemas.microsoft.com/office/drawing/2014/main" val="20002"/>
                    </a:ext>
                  </a:extLst>
                </a:gridCol>
              </a:tblGrid>
              <a:tr h="240791">
                <a:tc>
                  <a:txBody>
                    <a:bodyPr/>
                    <a:lstStyle/>
                    <a:p>
                      <a:r>
                        <a:rPr sz="1100" b="1"/>
                        <a:t>(A) Deliverable</a:t>
                      </a:r>
                    </a:p>
                  </a:txBody>
                  <a:tcPr marL="54864" marR="54864" marT="27432" marB="27432" anchor="ctr"/>
                </a:tc>
                <a:tc>
                  <a:txBody>
                    <a:bodyPr/>
                    <a:lstStyle/>
                    <a:p>
                      <a:pPr algn="ctr"/>
                      <a:r>
                        <a:rPr sz="1100" b="1"/>
                        <a:t>(B) Format</a:t>
                      </a:r>
                    </a:p>
                  </a:txBody>
                  <a:tcPr marL="54864" marR="54864" marT="27432" marB="27432" anchor="ctr"/>
                </a:tc>
                <a:tc>
                  <a:txBody>
                    <a:bodyPr/>
                    <a:lstStyle/>
                    <a:p>
                      <a:pPr algn="ctr"/>
                      <a:r>
                        <a:rPr sz="1100" b="1"/>
                        <a:t>(C) WC</a:t>
                      </a:r>
                    </a:p>
                  </a:txBody>
                  <a:tcPr marL="54864" marR="54864" marT="27432" marB="27432" anchor="ctr"/>
                </a:tc>
                <a:extLst>
                  <a:ext uri="{0D108BD9-81ED-4DB2-BD59-A6C34878D82A}">
                    <a16:rowId xmlns:a16="http://schemas.microsoft.com/office/drawing/2014/main" val="10000"/>
                  </a:ext>
                </a:extLst>
              </a:tr>
              <a:tr h="240791">
                <a:tc>
                  <a:txBody>
                    <a:bodyPr/>
                    <a:lstStyle/>
                    <a:p>
                      <a:r>
                        <a:rPr sz="1100" b="1"/>
                        <a:t>Reference</a:t>
                      </a:r>
                    </a:p>
                  </a:txBody>
                  <a:tcPr marL="54864" marR="54864" marT="27432" marB="27432"/>
                </a:tc>
                <a:tc>
                  <a:txBody>
                    <a:bodyPr/>
                    <a:lstStyle/>
                    <a:p>
                      <a:r>
                        <a:rPr sz="1100"/>
                        <a:t>IBM. (2025). Cost of a Data Breach Report 2025. IBM Security and Ponemon Institute. https://www.ibm.com/reports/data-breach</a:t>
                      </a:r>
                    </a:p>
                  </a:txBody>
                  <a:tcPr marL="54864" marR="54864" marT="27432" marB="27432"/>
                </a:tc>
                <a:tc>
                  <a:txBody>
                    <a:bodyPr/>
                    <a:lstStyle/>
                    <a:p>
                      <a:pPr algn="ctr"/>
                      <a:r>
                        <a:rPr sz="1100"/>
                        <a:t>NA</a:t>
                      </a:r>
                    </a:p>
                  </a:txBody>
                  <a:tcPr marL="54864" marR="54864" marT="27432" marB="27432"/>
                </a:tc>
                <a:extLst>
                  <a:ext uri="{0D108BD9-81ED-4DB2-BD59-A6C34878D82A}">
                    <a16:rowId xmlns:a16="http://schemas.microsoft.com/office/drawing/2014/main" val="10001"/>
                  </a:ext>
                </a:extLst>
              </a:tr>
              <a:tr h="576072">
                <a:tc>
                  <a:txBody>
                    <a:bodyPr/>
                    <a:lstStyle/>
                    <a:p>
                      <a:r>
                        <a:rPr sz="1100" b="1"/>
                        <a:t>Summary</a:t>
                      </a:r>
                    </a:p>
                  </a:txBody>
                  <a:tcPr marL="54864" marR="54864" marT="27432" marB="27432"/>
                </a:tc>
                <a:tc>
                  <a:txBody>
                    <a:bodyPr/>
                    <a:lstStyle/>
                    <a:p>
                      <a:r>
                        <a:rPr sz="1100"/>
                        <a:t>Annual study of the financial impact of data breaches. The 2025 edition reports a global average cost of $4.44 million (down 9%) and a U.S. average of $10.22 million (an all-time high), a mean of 241 days to identify and contain a breach, and 13% of organizations reporting breaches that involved an AI model or application.</a:t>
                      </a:r>
                    </a:p>
                  </a:txBody>
                  <a:tcPr marL="54864" marR="54864" marT="27432" marB="27432"/>
                </a:tc>
                <a:tc>
                  <a:txBody>
                    <a:bodyPr/>
                    <a:lstStyle/>
                    <a:p>
                      <a:pPr algn="ctr"/>
                      <a:r>
                        <a:rPr sz="1100"/>
                        <a:t>56</a:t>
                      </a:r>
                    </a:p>
                  </a:txBody>
                  <a:tcPr marL="54864" marR="54864" marT="27432" marB="27432"/>
                </a:tc>
                <a:extLst>
                  <a:ext uri="{0D108BD9-81ED-4DB2-BD59-A6C34878D82A}">
                    <a16:rowId xmlns:a16="http://schemas.microsoft.com/office/drawing/2014/main" val="10002"/>
                  </a:ext>
                </a:extLst>
              </a:tr>
              <a:tr h="576072">
                <a:tc>
                  <a:txBody>
                    <a:bodyPr/>
                    <a:lstStyle/>
                    <a:p>
                      <a:r>
                        <a:rPr sz="1100" b="1"/>
                        <a:t>Methodology</a:t>
                      </a:r>
                    </a:p>
                  </a:txBody>
                  <a:tcPr marL="54864" marR="54864" marT="27432" marB="27432"/>
                </a:tc>
                <a:tc>
                  <a:txBody>
                    <a:bodyPr/>
                    <a:lstStyle/>
                    <a:p>
                      <a:r>
                        <a:rPr sz="1100"/>
                        <a:t>Ponemon Institute interviews with organizations that experienced a breach in the prior year (roughly 600 organizations across 16 countries and regions and 17 industries), using activity-based costing of detection and escalation, notification, post-breach response and lost business.</a:t>
                      </a:r>
                    </a:p>
                  </a:txBody>
                  <a:tcPr marL="54864" marR="54864" marT="27432" marB="27432"/>
                </a:tc>
                <a:tc>
                  <a:txBody>
                    <a:bodyPr/>
                    <a:lstStyle/>
                    <a:p>
                      <a:pPr algn="ctr"/>
                      <a:r>
                        <a:rPr sz="1100"/>
                        <a:t>NA</a:t>
                      </a:r>
                    </a:p>
                  </a:txBody>
                  <a:tcPr marL="54864" marR="54864" marT="27432" marB="27432"/>
                </a:tc>
                <a:extLst>
                  <a:ext uri="{0D108BD9-81ED-4DB2-BD59-A6C34878D82A}">
                    <a16:rowId xmlns:a16="http://schemas.microsoft.com/office/drawing/2014/main" val="10003"/>
                  </a:ext>
                </a:extLst>
              </a:tr>
              <a:tr h="576072">
                <a:tc>
                  <a:txBody>
                    <a:bodyPr/>
                    <a:lstStyle/>
                    <a:p>
                      <a:r>
                        <a:rPr sz="1100" b="1"/>
                        <a:t>Evaluation</a:t>
                      </a:r>
                    </a:p>
                  </a:txBody>
                  <a:tcPr marL="54864" marR="54864" marT="27432" marB="27432"/>
                </a:tc>
                <a:tc>
                  <a:txBody>
                    <a:bodyPr/>
                    <a:lstStyle/>
                    <a:p>
                      <a:r>
                        <a:rPr sz="1100"/>
                        <a:t>Breach cost tracks time to identify and contain; organizations using security AI and automation extensively reported lower costs; 31% of AI-related incidents caused operational disruption with access to sensitive data; nearly two-thirds of organizations lack AI governance policies.</a:t>
                      </a:r>
                    </a:p>
                  </a:txBody>
                  <a:tcPr marL="54864" marR="54864" marT="27432" marB="27432"/>
                </a:tc>
                <a:tc>
                  <a:txBody>
                    <a:bodyPr/>
                    <a:lstStyle/>
                    <a:p>
                      <a:pPr algn="ctr"/>
                      <a:r>
                        <a:rPr sz="1100"/>
                        <a:t>38</a:t>
                      </a:r>
                    </a:p>
                  </a:txBody>
                  <a:tcPr marL="54864" marR="54864" marT="27432" marB="27432"/>
                </a:tc>
                <a:extLst>
                  <a:ext uri="{0D108BD9-81ED-4DB2-BD59-A6C34878D82A}">
                    <a16:rowId xmlns:a16="http://schemas.microsoft.com/office/drawing/2014/main" val="10004"/>
                  </a:ext>
                </a:extLst>
              </a:tr>
              <a:tr h="408432">
                <a:tc>
                  <a:txBody>
                    <a:bodyPr/>
                    <a:lstStyle/>
                    <a:p>
                      <a:r>
                        <a:rPr sz="1100" b="1"/>
                        <a:t>Relevance</a:t>
                      </a:r>
                    </a:p>
                  </a:txBody>
                  <a:tcPr marL="54864" marR="54864" marT="27432" marB="27432"/>
                </a:tc>
                <a:tc>
                  <a:txBody>
                    <a:bodyPr/>
                    <a:lstStyle/>
                    <a:p>
                      <a:r>
                        <a:rPr sz="1100"/>
                        <a:t>Quantifies the “so what” of the problem statement: cost scales with time to identify and respond, so a classifier that tells responders whether an adversary is an autonomous agent can shape containment speed and priority.</a:t>
                      </a:r>
                    </a:p>
                  </a:txBody>
                  <a:tcPr marL="54864" marR="54864" marT="27432" marB="27432"/>
                </a:tc>
                <a:tc>
                  <a:txBody>
                    <a:bodyPr/>
                    <a:lstStyle/>
                    <a:p>
                      <a:pPr algn="ctr"/>
                      <a:r>
                        <a:rPr sz="1100"/>
                        <a:t>35</a:t>
                      </a:r>
                    </a:p>
                  </a:txBody>
                  <a:tcPr marL="54864" marR="54864" marT="27432" marB="27432"/>
                </a:tc>
                <a:extLst>
                  <a:ext uri="{0D108BD9-81ED-4DB2-BD59-A6C34878D82A}">
                    <a16:rowId xmlns:a16="http://schemas.microsoft.com/office/drawing/2014/main" val="10005"/>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45720"/>
            <a:ext cx="7772400" cy="502920"/>
          </a:xfrm>
        </p:spPr>
        <p:txBody>
          <a:bodyPr wrap="square"/>
          <a:lstStyle/>
          <a:p>
            <a:r>
              <a:rPr sz="1800" b="1">
                <a:solidFill>
                  <a:srgbClr val="404040"/>
                </a:solidFill>
              </a:rPr>
              <a:t>Research Matrix 1/2</a:t>
            </a:r>
          </a:p>
        </p:txBody>
      </p:sp>
      <p:graphicFrame>
        <p:nvGraphicFramePr>
          <p:cNvPr id="4" name="Table 3"/>
          <p:cNvGraphicFramePr>
            <a:graphicFrameLocks noGrp="1"/>
          </p:cNvGraphicFramePr>
          <p:nvPr/>
        </p:nvGraphicFramePr>
        <p:xfrm>
          <a:off x="164592" y="566928"/>
          <a:ext cx="8814815" cy="3986783"/>
        </p:xfrm>
        <a:graphic>
          <a:graphicData uri="http://schemas.openxmlformats.org/drawingml/2006/table">
            <a:tbl>
              <a:tblPr firstRow="1" bandRow="1">
                <a:tableStyleId>{5C22544A-7EE6-4342-B048-85BDC9FD1C3A}</a:tableStyleId>
              </a:tblPr>
              <a:tblGrid>
                <a:gridCol w="1606867">
                  <a:extLst>
                    <a:ext uri="{9D8B030D-6E8A-4147-A177-3AD203B41FA5}">
                      <a16:colId xmlns:a16="http://schemas.microsoft.com/office/drawing/2014/main" val="20000"/>
                    </a:ext>
                  </a:extLst>
                </a:gridCol>
                <a:gridCol w="1193673">
                  <a:extLst>
                    <a:ext uri="{9D8B030D-6E8A-4147-A177-3AD203B41FA5}">
                      <a16:colId xmlns:a16="http://schemas.microsoft.com/office/drawing/2014/main" val="20001"/>
                    </a:ext>
                  </a:extLst>
                </a:gridCol>
                <a:gridCol w="2662809">
                  <a:extLst>
                    <a:ext uri="{9D8B030D-6E8A-4147-A177-3AD203B41FA5}">
                      <a16:colId xmlns:a16="http://schemas.microsoft.com/office/drawing/2014/main" val="20002"/>
                    </a:ext>
                  </a:extLst>
                </a:gridCol>
                <a:gridCol w="1606867">
                  <a:extLst>
                    <a:ext uri="{9D8B030D-6E8A-4147-A177-3AD203B41FA5}">
                      <a16:colId xmlns:a16="http://schemas.microsoft.com/office/drawing/2014/main" val="20003"/>
                    </a:ext>
                  </a:extLst>
                </a:gridCol>
                <a:gridCol w="1744599">
                  <a:extLst>
                    <a:ext uri="{9D8B030D-6E8A-4147-A177-3AD203B41FA5}">
                      <a16:colId xmlns:a16="http://schemas.microsoft.com/office/drawing/2014/main" val="20004"/>
                    </a:ext>
                  </a:extLst>
                </a:gridCol>
              </a:tblGrid>
              <a:tr h="225551">
                <a:tc>
                  <a:txBody>
                    <a:bodyPr/>
                    <a:lstStyle/>
                    <a:p>
                      <a:r>
                        <a:rPr sz="1000" b="1"/>
                        <a:t>Title</a:t>
                      </a:r>
                    </a:p>
                  </a:txBody>
                  <a:tcPr marL="54864" marR="54864" marT="27432" marB="27432" anchor="ctr"/>
                </a:tc>
                <a:tc>
                  <a:txBody>
                    <a:bodyPr/>
                    <a:lstStyle/>
                    <a:p>
                      <a:pPr algn="ctr"/>
                      <a:r>
                        <a:rPr sz="1000" b="1"/>
                        <a:t>Link</a:t>
                      </a:r>
                    </a:p>
                  </a:txBody>
                  <a:tcPr marL="54864" marR="54864" marT="27432" marB="27432" anchor="ctr"/>
                </a:tc>
                <a:tc>
                  <a:txBody>
                    <a:bodyPr/>
                    <a:lstStyle/>
                    <a:p>
                      <a:pPr algn="ctr"/>
                      <a:r>
                        <a:rPr sz="1000" b="1"/>
                        <a:t>Summary</a:t>
                      </a:r>
                    </a:p>
                  </a:txBody>
                  <a:tcPr marL="54864" marR="54864" marT="27432" marB="27432" anchor="ctr"/>
                </a:tc>
                <a:tc>
                  <a:txBody>
                    <a:bodyPr/>
                    <a:lstStyle/>
                    <a:p>
                      <a:pPr algn="ctr"/>
                      <a:r>
                        <a:rPr sz="1000" b="1"/>
                        <a:t>Models + Metrics</a:t>
                      </a:r>
                    </a:p>
                  </a:txBody>
                  <a:tcPr marL="54864" marR="54864" marT="27432" marB="27432" anchor="ctr"/>
                </a:tc>
                <a:tc>
                  <a:txBody>
                    <a:bodyPr/>
                    <a:lstStyle/>
                    <a:p>
                      <a:pPr algn="ctr"/>
                      <a:r>
                        <a:rPr sz="1000" b="1"/>
                        <a:t>Dataset + Modifications</a:t>
                      </a:r>
                    </a:p>
                  </a:txBody>
                  <a:tcPr marL="54864" marR="54864" marT="27432" marB="27432" anchor="ctr"/>
                </a:tc>
                <a:extLst>
                  <a:ext uri="{0D108BD9-81ED-4DB2-BD59-A6C34878D82A}">
                    <a16:rowId xmlns:a16="http://schemas.microsoft.com/office/drawing/2014/main" val="10000"/>
                  </a:ext>
                </a:extLst>
              </a:tr>
              <a:tr h="987552">
                <a:tc>
                  <a:txBody>
                    <a:bodyPr/>
                    <a:lstStyle/>
                    <a:p>
                      <a:r>
                        <a:rPr sz="1000"/>
                        <a:t>Beyond Anomaly Detection: Classifying Attacker Automation Level from SSH Honeypot Behavioral Signatures (2026)</a:t>
                      </a:r>
                    </a:p>
                  </a:txBody>
                  <a:tcPr marL="54864" marR="54864" marT="27432" marB="27432"/>
                </a:tc>
                <a:tc>
                  <a:txBody>
                    <a:bodyPr/>
                    <a:lstStyle/>
                    <a:p>
                      <a:r>
                        <a:rPr sz="1000"/>
                        <a:t>RIT M.S. thesis, Alt (April 2026)</a:t>
                      </a:r>
                    </a:p>
                  </a:txBody>
                  <a:tcPr marL="54864" marR="54864" marT="27432" marB="27432"/>
                </a:tc>
                <a:tc>
                  <a:txBody>
                    <a:bodyPr/>
                    <a:lstStyle/>
                    <a:p>
                      <a:r>
                        <a:rPr sz="1000"/>
                        <a:t>Problem: honeypot logs are used to detect attacks, not to tell what kind of attacker is present. Hypothesis: human, automated and AI-assisted attackers leave separable session-level signatures. Research: can ML classify automation level from Cowrie sessions?</a:t>
                      </a:r>
                    </a:p>
                  </a:txBody>
                  <a:tcPr marL="54864" marR="54864" marT="27432" marB="27432"/>
                </a:tc>
                <a:tc>
                  <a:txBody>
                    <a:bodyPr/>
                    <a:lstStyle/>
                    <a:p>
                      <a:r>
                        <a:rPr sz="1000"/>
                        <a:t>GB and RF macro-F1 0.809; AI-assisted F1 &gt; 0.888; human precision 1.000, best human LOO F1 0.732 (KNN)</a:t>
                      </a:r>
                    </a:p>
                  </a:txBody>
                  <a:tcPr marL="54864" marR="54864" marT="27432" marB="27432"/>
                </a:tc>
                <a:tc>
                  <a:txBody>
                    <a:bodyPr/>
                    <a:lstStyle/>
                    <a:p>
                      <a:r>
                        <a:rPr sz="1000"/>
                        <a:t>281,621 Cowrie sessions (Feb–Mar 2026), 24 features; undersampling + in-fold SMOTE; single host, one human operator, no network features</a:t>
                      </a:r>
                    </a:p>
                  </a:txBody>
                  <a:tcPr marL="54864" marR="54864" marT="27432" marB="27432"/>
                </a:tc>
                <a:extLst>
                  <a:ext uri="{0D108BD9-81ED-4DB2-BD59-A6C34878D82A}">
                    <a16:rowId xmlns:a16="http://schemas.microsoft.com/office/drawing/2014/main" val="10001"/>
                  </a:ext>
                </a:extLst>
              </a:tr>
              <a:tr h="835152">
                <a:tc>
                  <a:txBody>
                    <a:bodyPr/>
                    <a:lstStyle/>
                    <a:p>
                      <a:r>
                        <a:rPr sz="1000"/>
                        <a:t>LLM Agent Honeypot: Monitoring AI Hacking Agents in the Wild (2025)</a:t>
                      </a:r>
                    </a:p>
                  </a:txBody>
                  <a:tcPr marL="54864" marR="54864" marT="27432" marB="27432"/>
                </a:tc>
                <a:tc>
                  <a:txBody>
                    <a:bodyPr/>
                    <a:lstStyle/>
                    <a:p>
                      <a:r>
                        <a:rPr sz="1000" u="sng">
                          <a:solidFill>
                            <a:srgbClr val="0563C1"/>
                          </a:solidFill>
                          <a:hlinkClick r:id="rId2"/>
                        </a:rPr>
                        <a:t>arXiv:2410.13919</a:t>
                      </a:r>
                    </a:p>
                  </a:txBody>
                  <a:tcPr marL="54864" marR="54864" marT="27432" marB="27432"/>
                </a:tc>
                <a:tc>
                  <a:txBody>
                    <a:bodyPr/>
                    <a:lstStyle/>
                    <a:p>
                      <a:r>
                        <a:rPr sz="1000"/>
                        <a:t>Problem: no empirical data on LLM agents attacking real systems. Hypothesis: prompt injection plus response timing separates LLM agents from bots and humans. Research: how prevalent are autonomous AI attackers in the wild?</a:t>
                      </a:r>
                    </a:p>
                  </a:txBody>
                  <a:tcPr marL="54864" marR="54864" marT="27432" marB="27432"/>
                </a:tc>
                <a:tc>
                  <a:txBody>
                    <a:bodyPr/>
                    <a:lstStyle/>
                    <a:p>
                      <a:r>
                        <a:rPr sz="1000"/>
                        <a:t>Rule-based detector; agents respond in about 1.7 s or less (median 1.06 s internally); “Important Message” hijack 100% success</a:t>
                      </a:r>
                    </a:p>
                  </a:txBody>
                  <a:tcPr marL="54864" marR="54864" marT="27432" marB="27432"/>
                </a:tc>
                <a:tc>
                  <a:txBody>
                    <a:bodyPr/>
                    <a:lstStyle/>
                    <a:p>
                      <a:r>
                        <a:rPr sz="1000"/>
                        <a:t>8,130,731 SSH interactions over about 3 months on 10 IPs; 8 potential AI agents; public dashboard; not replicable as a labeled corpus</a:t>
                      </a:r>
                    </a:p>
                  </a:txBody>
                  <a:tcPr marL="54864" marR="54864" marT="27432" marB="27432"/>
                </a:tc>
                <a:extLst>
                  <a:ext uri="{0D108BD9-81ED-4DB2-BD59-A6C34878D82A}">
                    <a16:rowId xmlns:a16="http://schemas.microsoft.com/office/drawing/2014/main" val="10002"/>
                  </a:ext>
                </a:extLst>
              </a:tr>
              <a:tr h="835152">
                <a:tc>
                  <a:txBody>
                    <a:bodyPr/>
                    <a:lstStyle/>
                    <a:p>
                      <a:r>
                        <a:rPr sz="1000"/>
                        <a:t>Comparing AI Agents to Cybersecurity Professionals in Real-World Penetration Testing (2026)</a:t>
                      </a:r>
                    </a:p>
                  </a:txBody>
                  <a:tcPr marL="54864" marR="54864" marT="27432" marB="27432"/>
                </a:tc>
                <a:tc>
                  <a:txBody>
                    <a:bodyPr/>
                    <a:lstStyle/>
                    <a:p>
                      <a:r>
                        <a:rPr sz="1000" u="sng">
                          <a:solidFill>
                            <a:srgbClr val="0563C1"/>
                          </a:solidFill>
                          <a:hlinkClick r:id="rId3"/>
                        </a:rPr>
                        <a:t>arXiv:2512.09882</a:t>
                      </a:r>
                    </a:p>
                  </a:txBody>
                  <a:tcPr marL="54864" marR="54864" marT="27432" marB="27432"/>
                </a:tc>
                <a:tc>
                  <a:txBody>
                    <a:bodyPr/>
                    <a:lstStyle/>
                    <a:p>
                      <a:r>
                        <a:rPr sz="1000"/>
                        <a:t>Problem: benchmarks omit the realism of live networks. Hypothesis: a multi-agent scaffold (ARTEMIS) can match professionals. Research: how do agents and humans compare on a live enterprise network?</a:t>
                      </a:r>
                    </a:p>
                  </a:txBody>
                  <a:tcPr marL="54864" marR="54864" marT="27432" marB="27432"/>
                </a:tc>
                <a:tc>
                  <a:txBody>
                    <a:bodyPr/>
                    <a:lstStyle/>
                    <a:p>
                      <a:r>
                        <a:rPr sz="1000"/>
                        <a:t>Scoring by complexity + criticality; ARTEMIS 2nd of 15 entrants (9 valid findings, 82% valid rate); $18–59/hr vs $60/hr</a:t>
                      </a:r>
                    </a:p>
                  </a:txBody>
                  <a:tcPr marL="54864" marR="54864" marT="27432" marB="27432"/>
                </a:tc>
                <a:tc>
                  <a:txBody>
                    <a:bodyPr/>
                    <a:lstStyle/>
                    <a:p>
                      <a:r>
                        <a:rPr sz="1000"/>
                        <a:t>Live university network, about 8,000 hosts / 12 subnets; 10 professionals, 6 scaffolds + ARTEMIS; operator-side screen and terminal logs; not resettable</a:t>
                      </a:r>
                    </a:p>
                  </a:txBody>
                  <a:tcPr marL="54864" marR="54864" marT="27432" marB="27432"/>
                </a:tc>
                <a:extLst>
                  <a:ext uri="{0D108BD9-81ED-4DB2-BD59-A6C34878D82A}">
                    <a16:rowId xmlns:a16="http://schemas.microsoft.com/office/drawing/2014/main" val="10003"/>
                  </a:ext>
                </a:extLst>
              </a:tr>
              <a:tr h="835152">
                <a:tc>
                  <a:txBody>
                    <a:bodyPr/>
                    <a:lstStyle/>
                    <a:p>
                      <a:r>
                        <a:rPr sz="1000"/>
                        <a:t>Disrupting the First Reported AI-Orchestrated Cyber Espionage Campaign (2025)</a:t>
                      </a:r>
                    </a:p>
                  </a:txBody>
                  <a:tcPr marL="54864" marR="54864" marT="27432" marB="27432"/>
                </a:tc>
                <a:tc>
                  <a:txBody>
                    <a:bodyPr/>
                    <a:lstStyle/>
                    <a:p>
                      <a:r>
                        <a:rPr sz="1000" u="sng">
                          <a:solidFill>
                            <a:srgbClr val="0563C1"/>
                          </a:solidFill>
                          <a:hlinkClick r:id="rId4"/>
                        </a:rPr>
                        <a:t>Anthropic threat report, Nov 2025</a:t>
                      </a:r>
                    </a:p>
                  </a:txBody>
                  <a:tcPr marL="54864" marR="54864" marT="27432" marB="27432"/>
                </a:tc>
                <a:tc>
                  <a:txBody>
                    <a:bodyPr/>
                    <a:lstStyle/>
                    <a:p>
                      <a:r>
                        <a:rPr sz="1000"/>
                        <a:t>Problem: agentic AI can run intrusion campaigns with minimal oversight. Finding: GTG-1002 automated 80–90% of tactical work against about 30 targets. Research: how were the operations structured and detected?</a:t>
                      </a:r>
                    </a:p>
                  </a:txBody>
                  <a:tcPr marL="54864" marR="54864" marT="27432" marB="27432"/>
                </a:tc>
                <a:tc>
                  <a:txBody>
                    <a:bodyPr/>
                    <a:lstStyle/>
                    <a:p>
                      <a:r>
                        <a:rPr sz="1000"/>
                        <a:t>No ML model; incident investigation; detection triggered by sustained activity volume</a:t>
                      </a:r>
                    </a:p>
                  </a:txBody>
                  <a:tcPr marL="54864" marR="54864" marT="27432" marB="27432"/>
                </a:tc>
                <a:tc>
                  <a:txBody>
                    <a:bodyPr/>
                    <a:lstStyle/>
                    <a:p>
                      <a:r>
                        <a:rPr sz="1000"/>
                        <a:t>Vendor platform telemetry only; open-source pentest tools driven through MCP automation; humans at a few strategic decision points</a:t>
                      </a:r>
                    </a:p>
                  </a:txBody>
                  <a:tcPr marL="54864" marR="54864" marT="27432" marB="27432"/>
                </a:tc>
                <a:extLst>
                  <a:ext uri="{0D108BD9-81ED-4DB2-BD59-A6C34878D82A}">
                    <a16:rowId xmlns:a16="http://schemas.microsoft.com/office/drawing/2014/main" val="10004"/>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45720"/>
            <a:ext cx="7772400" cy="502920"/>
          </a:xfrm>
        </p:spPr>
        <p:txBody>
          <a:bodyPr wrap="square"/>
          <a:lstStyle/>
          <a:p>
            <a:r>
              <a:rPr sz="1800" b="1">
                <a:solidFill>
                  <a:srgbClr val="404040"/>
                </a:solidFill>
              </a:rPr>
              <a:t>Research Matrix 2/2</a:t>
            </a:r>
          </a:p>
        </p:txBody>
      </p:sp>
      <p:graphicFrame>
        <p:nvGraphicFramePr>
          <p:cNvPr id="4" name="Table 3"/>
          <p:cNvGraphicFramePr>
            <a:graphicFrameLocks noGrp="1"/>
          </p:cNvGraphicFramePr>
          <p:nvPr/>
        </p:nvGraphicFramePr>
        <p:xfrm>
          <a:off x="164592" y="566928"/>
          <a:ext cx="8814815" cy="3017519"/>
        </p:xfrm>
        <a:graphic>
          <a:graphicData uri="http://schemas.openxmlformats.org/drawingml/2006/table">
            <a:tbl>
              <a:tblPr firstRow="1" bandRow="1">
                <a:tableStyleId>{5C22544A-7EE6-4342-B048-85BDC9FD1C3A}</a:tableStyleId>
              </a:tblPr>
              <a:tblGrid>
                <a:gridCol w="1606867">
                  <a:extLst>
                    <a:ext uri="{9D8B030D-6E8A-4147-A177-3AD203B41FA5}">
                      <a16:colId xmlns:a16="http://schemas.microsoft.com/office/drawing/2014/main" val="20000"/>
                    </a:ext>
                  </a:extLst>
                </a:gridCol>
                <a:gridCol w="1193673">
                  <a:extLst>
                    <a:ext uri="{9D8B030D-6E8A-4147-A177-3AD203B41FA5}">
                      <a16:colId xmlns:a16="http://schemas.microsoft.com/office/drawing/2014/main" val="20001"/>
                    </a:ext>
                  </a:extLst>
                </a:gridCol>
                <a:gridCol w="2662809">
                  <a:extLst>
                    <a:ext uri="{9D8B030D-6E8A-4147-A177-3AD203B41FA5}">
                      <a16:colId xmlns:a16="http://schemas.microsoft.com/office/drawing/2014/main" val="20002"/>
                    </a:ext>
                  </a:extLst>
                </a:gridCol>
                <a:gridCol w="1606867">
                  <a:extLst>
                    <a:ext uri="{9D8B030D-6E8A-4147-A177-3AD203B41FA5}">
                      <a16:colId xmlns:a16="http://schemas.microsoft.com/office/drawing/2014/main" val="20003"/>
                    </a:ext>
                  </a:extLst>
                </a:gridCol>
                <a:gridCol w="1744599">
                  <a:extLst>
                    <a:ext uri="{9D8B030D-6E8A-4147-A177-3AD203B41FA5}">
                      <a16:colId xmlns:a16="http://schemas.microsoft.com/office/drawing/2014/main" val="20004"/>
                    </a:ext>
                  </a:extLst>
                </a:gridCol>
              </a:tblGrid>
              <a:tr h="225551">
                <a:tc>
                  <a:txBody>
                    <a:bodyPr/>
                    <a:lstStyle/>
                    <a:p>
                      <a:r>
                        <a:rPr sz="1000" b="1"/>
                        <a:t>Title</a:t>
                      </a:r>
                    </a:p>
                  </a:txBody>
                  <a:tcPr marL="54864" marR="54864" marT="27432" marB="27432" anchor="ctr"/>
                </a:tc>
                <a:tc>
                  <a:txBody>
                    <a:bodyPr/>
                    <a:lstStyle/>
                    <a:p>
                      <a:pPr algn="ctr"/>
                      <a:r>
                        <a:rPr sz="1000" b="1"/>
                        <a:t>Link</a:t>
                      </a:r>
                    </a:p>
                  </a:txBody>
                  <a:tcPr marL="54864" marR="54864" marT="27432" marB="27432" anchor="ctr"/>
                </a:tc>
                <a:tc>
                  <a:txBody>
                    <a:bodyPr/>
                    <a:lstStyle/>
                    <a:p>
                      <a:pPr algn="ctr"/>
                      <a:r>
                        <a:rPr sz="1000" b="1"/>
                        <a:t>Summary</a:t>
                      </a:r>
                    </a:p>
                  </a:txBody>
                  <a:tcPr marL="54864" marR="54864" marT="27432" marB="27432" anchor="ctr"/>
                </a:tc>
                <a:tc>
                  <a:txBody>
                    <a:bodyPr/>
                    <a:lstStyle/>
                    <a:p>
                      <a:pPr algn="ctr"/>
                      <a:r>
                        <a:rPr sz="1000" b="1"/>
                        <a:t>Models + Metrics</a:t>
                      </a:r>
                    </a:p>
                  </a:txBody>
                  <a:tcPr marL="54864" marR="54864" marT="27432" marB="27432" anchor="ctr"/>
                </a:tc>
                <a:tc>
                  <a:txBody>
                    <a:bodyPr/>
                    <a:lstStyle/>
                    <a:p>
                      <a:pPr algn="ctr"/>
                      <a:r>
                        <a:rPr sz="1000" b="1"/>
                        <a:t>Dataset + Modifications</a:t>
                      </a:r>
                    </a:p>
                  </a:txBody>
                  <a:tcPr marL="54864" marR="54864" marT="27432" marB="27432" anchor="ctr"/>
                </a:tc>
                <a:extLst>
                  <a:ext uri="{0D108BD9-81ED-4DB2-BD59-A6C34878D82A}">
                    <a16:rowId xmlns:a16="http://schemas.microsoft.com/office/drawing/2014/main" val="10000"/>
                  </a:ext>
                </a:extLst>
              </a:tr>
              <a:tr h="835152">
                <a:tc>
                  <a:txBody>
                    <a:bodyPr/>
                    <a:lstStyle/>
                    <a:p>
                      <a:r>
                        <a:rPr sz="1000"/>
                        <a:t>PentestGPT: Evaluating and Harnessing Large Language Models for Automated Penetration Testing (2024)</a:t>
                      </a:r>
                    </a:p>
                  </a:txBody>
                  <a:tcPr marL="54864" marR="54864" marT="27432" marB="27432"/>
                </a:tc>
                <a:tc>
                  <a:txBody>
                    <a:bodyPr/>
                    <a:lstStyle/>
                    <a:p>
                      <a:r>
                        <a:rPr sz="1000" u="sng">
                          <a:solidFill>
                            <a:srgbClr val="0563C1"/>
                          </a:solidFill>
                          <a:hlinkClick r:id="rId2"/>
                        </a:rPr>
                        <a:t>USENIX Security 2024; arXiv:2308.06782</a:t>
                      </a:r>
                    </a:p>
                  </a:txBody>
                  <a:tcPr marL="54864" marR="54864" marT="27432" marB="27432"/>
                </a:tc>
                <a:tc>
                  <a:txBody>
                    <a:bodyPr/>
                    <a:lstStyle/>
                    <a:p>
                      <a:r>
                        <a:rPr sz="1000"/>
                        <a:t>Problem: LLMs lose context across long penetration tests. Hypothesis: separating reasoning, generation and parsing modules improves completion. Research: can an LLM tool automate end-to-end testing?</a:t>
                      </a:r>
                    </a:p>
                  </a:txBody>
                  <a:tcPr marL="54864" marR="54864" marT="27432" marB="27432"/>
                </a:tc>
                <a:tc>
                  <a:txBody>
                    <a:bodyPr/>
                    <a:lstStyle/>
                    <a:p>
                      <a:r>
                        <a:rPr sz="1000"/>
                        <a:t>GPT-4-based PentestGPT; 228.6% task-completion increase over GPT-3.5 on the authors’ benchmark</a:t>
                      </a:r>
                    </a:p>
                  </a:txBody>
                  <a:tcPr marL="54864" marR="54864" marT="27432" marB="27432"/>
                </a:tc>
                <a:tc>
                  <a:txBody>
                    <a:bodyPr/>
                    <a:lstStyle/>
                    <a:p>
                      <a:r>
                        <a:rPr sz="1000"/>
                        <a:t>Benchmark of HackTheBox and VulnHub machines (13 targets, 182 sub-tasks); this is the AI-assisted tool behind Alt (2026)</a:t>
                      </a:r>
                    </a:p>
                  </a:txBody>
                  <a:tcPr marL="54864" marR="54864" marT="27432" marB="27432"/>
                </a:tc>
                <a:extLst>
                  <a:ext uri="{0D108BD9-81ED-4DB2-BD59-A6C34878D82A}">
                    <a16:rowId xmlns:a16="http://schemas.microsoft.com/office/drawing/2014/main" val="10001"/>
                  </a:ext>
                </a:extLst>
              </a:tr>
              <a:tr h="1139952">
                <a:tc>
                  <a:txBody>
                    <a:bodyPr/>
                    <a:lstStyle/>
                    <a:p>
                      <a:r>
                        <a:rPr sz="1000"/>
                        <a:t>GOAD – Game of Active Directory (Orange Cyberdefense)</a:t>
                      </a:r>
                    </a:p>
                  </a:txBody>
                  <a:tcPr marL="54864" marR="54864" marT="27432" marB="27432"/>
                </a:tc>
                <a:tc>
                  <a:txBody>
                    <a:bodyPr/>
                    <a:lstStyle/>
                    <a:p>
                      <a:r>
                        <a:rPr sz="1000" u="sng">
                          <a:solidFill>
                            <a:srgbClr val="0563C1"/>
                          </a:solidFill>
                          <a:hlinkClick r:id="rId3"/>
                        </a:rPr>
                        <a:t>github.com/Orange-Cyberdefense/GOAD</a:t>
                      </a:r>
                    </a:p>
                  </a:txBody>
                  <a:tcPr marL="54864" marR="54864" marT="27432" marB="27432"/>
                </a:tc>
                <a:tc>
                  <a:txBody>
                    <a:bodyPr/>
                    <a:lstStyle/>
                    <a:p>
                      <a:r>
                        <a:rPr sz="1000"/>
                        <a:t>Problem: researchers need a realistic, resettable Active Directory lab. Approach: scripted deployment of a vulnerable multi-domain forest. Our use: reproducible target environment for matched trials.</a:t>
                      </a:r>
                    </a:p>
                  </a:txBody>
                  <a:tcPr marL="54864" marR="54864" marT="27432" marB="27432"/>
                </a:tc>
                <a:tc>
                  <a:txBody>
                    <a:bodyPr/>
                    <a:lstStyle/>
                    <a:p>
                      <a:r>
                        <a:rPr sz="1000"/>
                        <a:t>Not a model; lab with scripted weaknesses (Kerberoasting, ACL abuse, relay paths)</a:t>
                      </a:r>
                    </a:p>
                  </a:txBody>
                  <a:tcPr marL="54864" marR="54864" marT="27432" marB="27432"/>
                </a:tc>
                <a:tc>
                  <a:txBody>
                    <a:bodyPr/>
                    <a:lstStyle/>
                    <a:p>
                      <a:r>
                        <a:rPr sz="1000"/>
                        <a:t>5 Windows targets, 2 forests, 3 domains; AWS/Azure/Proxmox providers; GPL-3.0. We pin a revision, start with one narrow objective and avoid LLMNR/NBT-NS paths the AWS provider does not support</a:t>
                      </a:r>
                    </a:p>
                  </a:txBody>
                  <a:tcPr marL="54864" marR="54864" marT="27432" marB="27432"/>
                </a:tc>
                <a:extLst>
                  <a:ext uri="{0D108BD9-81ED-4DB2-BD59-A6C34878D82A}">
                    <a16:rowId xmlns:a16="http://schemas.microsoft.com/office/drawing/2014/main" val="10002"/>
                  </a:ext>
                </a:extLst>
              </a:tr>
              <a:tr h="682751">
                <a:tc>
                  <a:txBody>
                    <a:bodyPr/>
                    <a:lstStyle/>
                    <a:p>
                      <a:r>
                        <a:rPr sz="1000"/>
                        <a:t>Cost of a Data Breach Report 2025 (IBM / Ponemon)</a:t>
                      </a:r>
                    </a:p>
                  </a:txBody>
                  <a:tcPr marL="54864" marR="54864" marT="27432" marB="27432"/>
                </a:tc>
                <a:tc>
                  <a:txBody>
                    <a:bodyPr/>
                    <a:lstStyle/>
                    <a:p>
                      <a:r>
                        <a:rPr sz="1000" u="sng">
                          <a:solidFill>
                            <a:srgbClr val="0563C1"/>
                          </a:solidFill>
                          <a:hlinkClick r:id="rId4"/>
                        </a:rPr>
                        <a:t>ibm.com/reports/data-breach</a:t>
                      </a:r>
                    </a:p>
                  </a:txBody>
                  <a:tcPr marL="54864" marR="54864" marT="27432" marB="27432"/>
                </a:tc>
                <a:tc>
                  <a:txBody>
                    <a:bodyPr/>
                    <a:lstStyle/>
                    <a:p>
                      <a:r>
                        <a:rPr sz="1000"/>
                        <a:t>Problem: quantify the financial impact of breaches and the effect of response speed. Finding: $4.44M global and $10.22M U.S. average; 241 days to identify and contain.</a:t>
                      </a:r>
                    </a:p>
                  </a:txBody>
                  <a:tcPr marL="54864" marR="54864" marT="27432" marB="27432"/>
                </a:tc>
                <a:tc>
                  <a:txBody>
                    <a:bodyPr/>
                    <a:lstStyle/>
                    <a:p>
                      <a:r>
                        <a:rPr sz="1000"/>
                        <a:t>Survey with activity-based costing; no predictive model</a:t>
                      </a:r>
                    </a:p>
                  </a:txBody>
                  <a:tcPr marL="54864" marR="54864" marT="27432" marB="27432"/>
                </a:tc>
                <a:tc>
                  <a:txBody>
                    <a:bodyPr/>
                    <a:lstStyle/>
                    <a:p>
                      <a:r>
                        <a:rPr sz="1000"/>
                        <a:t>About 600 breached organizations, 16 countries/regions, 17 industries; context for the “so what”, not a modeling dataset</a:t>
                      </a:r>
                    </a:p>
                  </a:txBody>
                  <a:tcPr marL="54864" marR="54864" marT="27432" marB="27432"/>
                </a:tc>
                <a:extLst>
                  <a:ext uri="{0D108BD9-81ED-4DB2-BD59-A6C34878D82A}">
                    <a16:rowId xmlns:a16="http://schemas.microsoft.com/office/drawing/2014/main" val="10003"/>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40080" y="411480"/>
            <a:ext cx="7772400" cy="640080"/>
          </a:xfrm>
        </p:spPr>
        <p:txBody>
          <a:bodyPr wrap="square"/>
          <a:lstStyle/>
          <a:p>
            <a:r>
              <a:rPr sz="2800" b="1"/>
              <a:t>Glossary of Terms</a:t>
            </a:r>
          </a:p>
        </p:txBody>
      </p:sp>
      <p:graphicFrame>
        <p:nvGraphicFramePr>
          <p:cNvPr id="4" name="Table 3"/>
          <p:cNvGraphicFramePr>
            <a:graphicFrameLocks noGrp="1"/>
          </p:cNvGraphicFramePr>
          <p:nvPr/>
        </p:nvGraphicFramePr>
        <p:xfrm>
          <a:off x="164592" y="960120"/>
          <a:ext cx="8814816" cy="4343400"/>
        </p:xfrm>
        <a:graphic>
          <a:graphicData uri="http://schemas.openxmlformats.org/drawingml/2006/table">
            <a:tbl>
              <a:tblPr firstRow="1" bandRow="1">
                <a:tableStyleId>{5C22544A-7EE6-4342-B048-85BDC9FD1C3A}</a:tableStyleId>
              </a:tblPr>
              <a:tblGrid>
                <a:gridCol w="1836420">
                  <a:extLst>
                    <a:ext uri="{9D8B030D-6E8A-4147-A177-3AD203B41FA5}">
                      <a16:colId xmlns:a16="http://schemas.microsoft.com/office/drawing/2014/main" val="20000"/>
                    </a:ext>
                  </a:extLst>
                </a:gridCol>
                <a:gridCol w="6978396">
                  <a:extLst>
                    <a:ext uri="{9D8B030D-6E8A-4147-A177-3AD203B41FA5}">
                      <a16:colId xmlns:a16="http://schemas.microsoft.com/office/drawing/2014/main" val="20001"/>
                    </a:ext>
                  </a:extLst>
                </a:gridCol>
              </a:tblGrid>
              <a:tr h="201168">
                <a:tc>
                  <a:txBody>
                    <a:bodyPr/>
                    <a:lstStyle/>
                    <a:p>
                      <a:r>
                        <a:rPr sz="950" b="1"/>
                        <a:t>Term</a:t>
                      </a:r>
                    </a:p>
                  </a:txBody>
                  <a:tcPr marL="54864" marR="54864" marT="18288" marB="18288" anchor="ctr"/>
                </a:tc>
                <a:tc>
                  <a:txBody>
                    <a:bodyPr/>
                    <a:lstStyle/>
                    <a:p>
                      <a:pPr algn="ctr"/>
                      <a:r>
                        <a:rPr sz="950" b="1"/>
                        <a:t>Definition</a:t>
                      </a:r>
                    </a:p>
                  </a:txBody>
                  <a:tcPr marL="54864" marR="54864" marT="18288" marB="18288" anchor="ctr"/>
                </a:tc>
                <a:extLst>
                  <a:ext uri="{0D108BD9-81ED-4DB2-BD59-A6C34878D82A}">
                    <a16:rowId xmlns:a16="http://schemas.microsoft.com/office/drawing/2014/main" val="10000"/>
                  </a:ext>
                </a:extLst>
              </a:tr>
              <a:tr h="320040">
                <a:tc>
                  <a:txBody>
                    <a:bodyPr/>
                    <a:lstStyle/>
                    <a:p>
                      <a:r>
                        <a:rPr sz="950" b="1"/>
                        <a:t>APT emulation</a:t>
                      </a:r>
                    </a:p>
                  </a:txBody>
                  <a:tcPr marL="54864" marR="54864" marT="18288" marB="18288"/>
                </a:tc>
                <a:tc>
                  <a:txBody>
                    <a:bodyPr/>
                    <a:lstStyle/>
                    <a:p>
                      <a:r>
                        <a:rPr sz="950"/>
                        <a:t>A multi-stage intrusion following advanced persistent threat tradecraft (discovery, credential access, lateral movement, objective access) run against the GOAD lab by either arm.</a:t>
                      </a:r>
                    </a:p>
                  </a:txBody>
                  <a:tcPr marL="54864" marR="54864" marT="18288" marB="18288"/>
                </a:tc>
                <a:extLst>
                  <a:ext uri="{0D108BD9-81ED-4DB2-BD59-A6C34878D82A}">
                    <a16:rowId xmlns:a16="http://schemas.microsoft.com/office/drawing/2014/main" val="20002"/>
                  </a:ext>
                </a:extLst>
              </a:tr>
              <a:tr h="201168">
                <a:tc>
                  <a:txBody>
                    <a:bodyPr/>
                    <a:lstStyle/>
                    <a:p>
                      <a:r>
                        <a:rPr sz="950" b="1"/>
                        <a:t>Trial</a:t>
                      </a:r>
                    </a:p>
                  </a:txBody>
                  <a:tcPr marL="54864" marR="54864" marT="18288" marB="18288"/>
                </a:tc>
                <a:tc>
                  <a:txBody>
                    <a:bodyPr/>
                    <a:lstStyle/>
                    <a:p>
                      <a:r>
                        <a:rPr sz="950"/>
                        <a:t>One operator’s APT emulation attempt at the objective, from a verified clean reset to window close; the independent unit for every metric and split.</a:t>
                      </a:r>
                    </a:p>
                  </a:txBody>
                  <a:tcPr marL="54864" marR="54864" marT="18288" marB="18288"/>
                </a:tc>
                <a:extLst>
                  <a:ext uri="{0D108BD9-81ED-4DB2-BD59-A6C34878D82A}">
                    <a16:rowId xmlns:a16="http://schemas.microsoft.com/office/drawing/2014/main" val="10001"/>
                  </a:ext>
                </a:extLst>
              </a:tr>
              <a:tr h="320040">
                <a:tc>
                  <a:txBody>
                    <a:bodyPr/>
                    <a:lstStyle/>
                    <a:p>
                      <a:r>
                        <a:rPr sz="950" b="1"/>
                        <a:t>Arm</a:t>
                      </a:r>
                    </a:p>
                  </a:txBody>
                  <a:tcPr marL="54864" marR="54864" marT="18288" marB="18288"/>
                </a:tc>
                <a:tc>
                  <a:txBody>
                    <a:bodyPr/>
                    <a:lstStyle/>
                    <a:p>
                      <a:r>
                        <a:rPr sz="950"/>
                        <a:t>The operator class under test: human penetration tester or fully autonomous AI. Scripted replay is a telemetry control and benign baselines are never labeled as an arm.</a:t>
                      </a:r>
                    </a:p>
                  </a:txBody>
                  <a:tcPr marL="54864" marR="54864" marT="18288" marB="18288"/>
                </a:tc>
                <a:extLst>
                  <a:ext uri="{0D108BD9-81ED-4DB2-BD59-A6C34878D82A}">
                    <a16:rowId xmlns:a16="http://schemas.microsoft.com/office/drawing/2014/main" val="10002"/>
                  </a:ext>
                </a:extLst>
              </a:tr>
              <a:tr h="320040">
                <a:tc>
                  <a:txBody>
                    <a:bodyPr/>
                    <a:lstStyle/>
                    <a:p>
                      <a:r>
                        <a:rPr sz="950" b="1"/>
                        <a:t>Autonomous AI operator</a:t>
                      </a:r>
                    </a:p>
                  </a:txBody>
                  <a:tcPr marL="54864" marR="54864" marT="18288" marB="18288"/>
                </a:tc>
                <a:tc>
                  <a:txBody>
                    <a:bodyPr/>
                    <a:lstStyle/>
                    <a:p>
                      <a:r>
                        <a:rPr sz="950"/>
                        <a:t>A scaffold (e.g., ARTEMIS) driving a model that chooses its own actions after the brief; safety supervision allowed, any tactical intervention logged.</a:t>
                      </a:r>
                    </a:p>
                  </a:txBody>
                  <a:tcPr marL="54864" marR="54864" marT="18288" marB="18288"/>
                </a:tc>
                <a:extLst>
                  <a:ext uri="{0D108BD9-81ED-4DB2-BD59-A6C34878D82A}">
                    <a16:rowId xmlns:a16="http://schemas.microsoft.com/office/drawing/2014/main" val="10003"/>
                  </a:ext>
                </a:extLst>
              </a:tr>
              <a:tr h="320040">
                <a:tc>
                  <a:txBody>
                    <a:bodyPr/>
                    <a:lstStyle/>
                    <a:p>
                      <a:r>
                        <a:rPr sz="950" b="1"/>
                        <a:t>Target-side telemetry</a:t>
                      </a:r>
                    </a:p>
                  </a:txBody>
                  <a:tcPr marL="54864" marR="54864" marT="18288" marB="18288"/>
                </a:tc>
                <a:tc>
                  <a:txBody>
                    <a:bodyPr/>
                    <a:lstStyle/>
                    <a:p>
                      <a:r>
                        <a:rPr sz="950"/>
                        <a:t>Evidence recorded on the foothold, domain targets and network sensor; operator-side logs (prompts, terminal I/O) are ground truth only, never features.</a:t>
                      </a:r>
                    </a:p>
                  </a:txBody>
                  <a:tcPr marL="54864" marR="54864" marT="18288" marB="18288"/>
                </a:tc>
                <a:extLst>
                  <a:ext uri="{0D108BD9-81ED-4DB2-BD59-A6C34878D82A}">
                    <a16:rowId xmlns:a16="http://schemas.microsoft.com/office/drawing/2014/main" val="10004"/>
                  </a:ext>
                </a:extLst>
              </a:tr>
              <a:tr h="201168">
                <a:tc>
                  <a:txBody>
                    <a:bodyPr/>
                    <a:lstStyle/>
                    <a:p>
                      <a:r>
                        <a:rPr sz="950" b="1"/>
                        <a:t>Matched conditions</a:t>
                      </a:r>
                    </a:p>
                  </a:txBody>
                  <a:tcPr marL="54864" marR="54864" marT="18288" marB="18288"/>
                </a:tc>
                <a:tc>
                  <a:txBody>
                    <a:bodyPr/>
                    <a:lstStyle/>
                    <a:p>
                      <a:r>
                        <a:rPr sz="950"/>
                        <a:t>Same objective, foothold, OS, tool manifest, offline corpus, access window and rules of engagement for both arms.</a:t>
                      </a:r>
                    </a:p>
                  </a:txBody>
                  <a:tcPr marL="54864" marR="54864" marT="18288" marB="18288"/>
                </a:tc>
                <a:extLst>
                  <a:ext uri="{0D108BD9-81ED-4DB2-BD59-A6C34878D82A}">
                    <a16:rowId xmlns:a16="http://schemas.microsoft.com/office/drawing/2014/main" val="10005"/>
                  </a:ext>
                </a:extLst>
              </a:tr>
              <a:tr h="201168">
                <a:tc>
                  <a:txBody>
                    <a:bodyPr/>
                    <a:lstStyle/>
                    <a:p>
                      <a:r>
                        <a:rPr sz="950" b="1"/>
                        <a:t>Foothold</a:t>
                      </a:r>
                    </a:p>
                  </a:txBody>
                  <a:tcPr marL="54864" marR="54864" marT="18288" marB="18288"/>
                </a:tc>
                <a:tc>
                  <a:txBody>
                    <a:bodyPr/>
                    <a:lstStyle/>
                    <a:p>
                      <a:r>
                        <a:rPr sz="950"/>
                        <a:t>The domain-joined host inside the lab where every trial starts, with command-line and script-block logging enabled.</a:t>
                      </a:r>
                    </a:p>
                  </a:txBody>
                  <a:tcPr marL="54864" marR="54864" marT="18288" marB="18288"/>
                </a:tc>
                <a:extLst>
                  <a:ext uri="{0D108BD9-81ED-4DB2-BD59-A6C34878D82A}">
                    <a16:rowId xmlns:a16="http://schemas.microsoft.com/office/drawing/2014/main" val="10006"/>
                  </a:ext>
                </a:extLst>
              </a:tr>
              <a:tr h="320040">
                <a:tc>
                  <a:txBody>
                    <a:bodyPr/>
                    <a:lstStyle/>
                    <a:p>
                      <a:r>
                        <a:rPr sz="950" b="1"/>
                        <a:t>Access window</a:t>
                      </a:r>
                    </a:p>
                  </a:txBody>
                  <a:tcPr marL="54864" marR="54864" marT="18288" marB="18288"/>
                </a:tc>
                <a:tc>
                  <a:txBody>
                    <a:bodyPr/>
                    <a:lstStyle/>
                    <a:p>
                      <a:r>
                        <a:rPr sz="950"/>
                        <a:t>The fixed time both arms receive, sized from a dry run at several times the human median; runs continue past the objective until the window closes.</a:t>
                      </a:r>
                    </a:p>
                  </a:txBody>
                  <a:tcPr marL="54864" marR="54864" marT="18288" marB="18288"/>
                </a:tc>
                <a:extLst>
                  <a:ext uri="{0D108BD9-81ED-4DB2-BD59-A6C34878D82A}">
                    <a16:rowId xmlns:a16="http://schemas.microsoft.com/office/drawing/2014/main" val="10007"/>
                  </a:ext>
                </a:extLst>
              </a:tr>
              <a:tr h="320040">
                <a:tc>
                  <a:txBody>
                    <a:bodyPr/>
                    <a:lstStyle/>
                    <a:p>
                      <a:r>
                        <a:rPr sz="950" b="1"/>
                        <a:t>Knowledge condition</a:t>
                      </a:r>
                    </a:p>
                  </a:txBody>
                  <a:tcPr marL="54864" marR="54864" marT="18288" marB="18288"/>
                </a:tc>
                <a:tc>
                  <a:txBody>
                    <a:bodyPr/>
                    <a:lstStyle/>
                    <a:p>
                      <a:r>
                        <a:rPr sz="950"/>
                        <a:t>Black-box (objective, scope, foothold identity only), white-box (adds topology and configuration), walkthrough (rule development and stress test).</a:t>
                      </a:r>
                    </a:p>
                  </a:txBody>
                  <a:tcPr marL="54864" marR="54864" marT="18288" marB="18288"/>
                </a:tc>
                <a:extLst>
                  <a:ext uri="{0D108BD9-81ED-4DB2-BD59-A6C34878D82A}">
                    <a16:rowId xmlns:a16="http://schemas.microsoft.com/office/drawing/2014/main" val="10008"/>
                  </a:ext>
                </a:extLst>
              </a:tr>
              <a:tr h="201168">
                <a:tc>
                  <a:txBody>
                    <a:bodyPr/>
                    <a:lstStyle/>
                    <a:p>
                      <a:r>
                        <a:rPr sz="950" b="1"/>
                        <a:t>Data quality checks</a:t>
                      </a:r>
                    </a:p>
                  </a:txBody>
                  <a:tcPr marL="54864" marR="54864" marT="18288" marB="18288"/>
                </a:tc>
                <a:tc>
                  <a:txBody>
                    <a:bodyPr/>
                    <a:lstStyle/>
                    <a:p>
                      <a:r>
                        <a:rPr sz="950"/>
                        <a:t>Per-trial canary, clock, hash and reset checks; a trial that fails one is remediated and rerun.</a:t>
                      </a:r>
                    </a:p>
                  </a:txBody>
                  <a:tcPr marL="54864" marR="54864" marT="18288" marB="18288"/>
                </a:tc>
                <a:extLst>
                  <a:ext uri="{0D108BD9-81ED-4DB2-BD59-A6C34878D82A}">
                    <a16:rowId xmlns:a16="http://schemas.microsoft.com/office/drawing/2014/main" val="10009"/>
                  </a:ext>
                </a:extLst>
              </a:tr>
              <a:tr h="320040">
                <a:tc>
                  <a:txBody>
                    <a:bodyPr/>
                    <a:lstStyle/>
                    <a:p>
                      <a:r>
                        <a:rPr sz="950" b="1"/>
                        <a:t>Deny-list</a:t>
                      </a:r>
                    </a:p>
                  </a:txBody>
                  <a:tcPr marL="54864" marR="54864" marT="18288" marB="18288"/>
                </a:tc>
                <a:tc>
                  <a:txBody>
                    <a:bodyPr/>
                    <a:lstStyle/>
                    <a:p>
                      <a:r>
                        <a:rPr sz="950"/>
                        <a:t>Fields removed from model inputs because they reveal setup rather than behavior: IPs, hostnames, account IDs, credential, banners, parent process, runner artifacts, experimenter-set hours.</a:t>
                      </a:r>
                    </a:p>
                  </a:txBody>
                  <a:tcPr marL="54864" marR="54864" marT="18288" marB="18288"/>
                </a:tc>
                <a:extLst>
                  <a:ext uri="{0D108BD9-81ED-4DB2-BD59-A6C34878D82A}">
                    <a16:rowId xmlns:a16="http://schemas.microsoft.com/office/drawing/2014/main" val="10010"/>
                  </a:ext>
                </a:extLst>
              </a:tr>
              <a:tr h="201168">
                <a:tc>
                  <a:txBody>
                    <a:bodyPr/>
                    <a:lstStyle/>
                    <a:p>
                      <a:r>
                        <a:rPr sz="950" b="1"/>
                        <a:t>Metadata-only baseline</a:t>
                      </a:r>
                    </a:p>
                  </a:txBody>
                  <a:tcPr marL="54864" marR="54864" marT="18288" marB="18288"/>
                </a:tc>
                <a:tc>
                  <a:txBody>
                    <a:bodyPr/>
                    <a:lstStyle/>
                    <a:p>
                      <a:r>
                        <a:rPr sz="950"/>
                        <a:t>A model that sees only setup metadata; it should fail if leakage is controlled and is the bar the behavioral model must beat (H1).</a:t>
                      </a:r>
                    </a:p>
                  </a:txBody>
                  <a:tcPr marL="54864" marR="54864" marT="18288" marB="18288"/>
                </a:tc>
                <a:extLst>
                  <a:ext uri="{0D108BD9-81ED-4DB2-BD59-A6C34878D82A}">
                    <a16:rowId xmlns:a16="http://schemas.microsoft.com/office/drawing/2014/main" val="10011"/>
                  </a:ext>
                </a:extLst>
              </a:tr>
              <a:tr h="320040">
                <a:tc>
                  <a:txBody>
                    <a:bodyPr/>
                    <a:lstStyle/>
                    <a:p>
                      <a:r>
                        <a:rPr sz="950" b="1"/>
                        <a:t>Grouped split</a:t>
                      </a:r>
                    </a:p>
                  </a:txBody>
                  <a:tcPr marL="54864" marR="54864" marT="18288" marB="18288"/>
                </a:tc>
                <a:tc>
                  <a:txBody>
                    <a:bodyPr/>
                    <a:lstStyle/>
                    <a:p>
                      <a:r>
                        <a:rPr sz="950"/>
                        <a:t>Train/validation/test partitions assigned by trial (and by operator or AI configuration for generalization tests); all windows from one trial stay on one side.</a:t>
                      </a:r>
                    </a:p>
                  </a:txBody>
                  <a:tcPr marL="54864" marR="54864" marT="18288" marB="18288"/>
                </a:tc>
                <a:extLst>
                  <a:ext uri="{0D108BD9-81ED-4DB2-BD59-A6C34878D82A}">
                    <a16:rowId xmlns:a16="http://schemas.microsoft.com/office/drawing/2014/main" val="10012"/>
                  </a:ext>
                </a:extLst>
              </a:tr>
              <a:tr h="201168">
                <a:tc>
                  <a:txBody>
                    <a:bodyPr/>
                    <a:lstStyle/>
                    <a:p>
                      <a:r>
                        <a:rPr sz="950" b="1"/>
                        <a:t>Exploratory data analysis (EDA)</a:t>
                      </a:r>
                    </a:p>
                  </a:txBody>
                  <a:tcPr marL="54864" marR="54864" marT="18288" marB="18288"/>
                </a:tc>
                <a:tc>
                  <a:txBody>
                    <a:bodyPr/>
                    <a:lstStyle/>
                    <a:p>
                      <a:r>
                        <a:rPr sz="950"/>
                        <a:t>Profiling the training trials before modeling: class balance, feature distributions by arm, correlations and a ranked list of top features.</a:t>
                      </a:r>
                    </a:p>
                  </a:txBody>
                  <a:tcPr marL="54864" marR="54864" marT="18288" marB="18288"/>
                </a:tc>
                <a:extLst>
                  <a:ext uri="{0D108BD9-81ED-4DB2-BD59-A6C34878D82A}">
                    <a16:rowId xmlns:a16="http://schemas.microsoft.com/office/drawing/2014/main" val="20003"/>
                  </a:ext>
                </a:extLst>
              </a:tr>
              <a:tr h="201168">
                <a:tc>
                  <a:txBody>
                    <a:bodyPr/>
                    <a:lstStyle/>
                    <a:p>
                      <a:r>
                        <a:rPr sz="950" b="1"/>
                        <a:t>Censored time-to-objective</a:t>
                      </a:r>
                    </a:p>
                  </a:txBody>
                  <a:tcPr marL="54864" marR="54864" marT="18288" marB="18288"/>
                </a:tc>
                <a:tc>
                  <a:txBody>
                    <a:bodyPr/>
                    <a:lstStyle/>
                    <a:p>
                      <a:r>
                        <a:rPr sz="950"/>
                        <a:t>Time to reach the marker file; trials that end at window close without success are recorded as censored rather than discarded.</a:t>
                      </a:r>
                    </a:p>
                  </a:txBody>
                  <a:tcPr marL="54864" marR="54864" marT="18288" marB="18288"/>
                </a:tc>
                <a:extLst>
                  <a:ext uri="{0D108BD9-81ED-4DB2-BD59-A6C34878D82A}">
                    <a16:rowId xmlns:a16="http://schemas.microsoft.com/office/drawing/2014/main" val="10013"/>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40080" y="411480"/>
            <a:ext cx="7772400" cy="640080"/>
          </a:xfrm>
        </p:spPr>
        <p:txBody>
          <a:bodyPr wrap="square"/>
          <a:lstStyle/>
          <a:p>
            <a:r>
              <a:rPr sz="2800" b="1"/>
              <a:t>Acronyms</a:t>
            </a:r>
          </a:p>
        </p:txBody>
      </p:sp>
      <p:graphicFrame>
        <p:nvGraphicFramePr>
          <p:cNvPr id="4" name="Table 3"/>
          <p:cNvGraphicFramePr>
            <a:graphicFrameLocks noGrp="1"/>
          </p:cNvGraphicFramePr>
          <p:nvPr/>
        </p:nvGraphicFramePr>
        <p:xfrm>
          <a:off x="164592" y="960120"/>
          <a:ext cx="8814816" cy="4319016"/>
        </p:xfrm>
        <a:graphic>
          <a:graphicData uri="http://schemas.openxmlformats.org/drawingml/2006/table">
            <a:tbl>
              <a:tblPr firstRow="1" bandRow="1">
                <a:tableStyleId>{5C22544A-7EE6-4342-B048-85BDC9FD1C3A}</a:tableStyleId>
              </a:tblPr>
              <a:tblGrid>
                <a:gridCol w="2387346">
                  <a:extLst>
                    <a:ext uri="{9D8B030D-6E8A-4147-A177-3AD203B41FA5}">
                      <a16:colId xmlns:a16="http://schemas.microsoft.com/office/drawing/2014/main" val="20000"/>
                    </a:ext>
                  </a:extLst>
                </a:gridCol>
                <a:gridCol w="6427470">
                  <a:extLst>
                    <a:ext uri="{9D8B030D-6E8A-4147-A177-3AD203B41FA5}">
                      <a16:colId xmlns:a16="http://schemas.microsoft.com/office/drawing/2014/main" val="20001"/>
                    </a:ext>
                  </a:extLst>
                </a:gridCol>
              </a:tblGrid>
              <a:tr h="173736">
                <a:tc>
                  <a:txBody>
                    <a:bodyPr/>
                    <a:lstStyle/>
                    <a:p>
                      <a:r>
                        <a:rPr sz="1000" b="1"/>
                        <a:t>Acronym</a:t>
                      </a:r>
                    </a:p>
                  </a:txBody>
                  <a:tcPr marL="54864" marR="54864" marT="9144" marB="9144" anchor="ctr"/>
                </a:tc>
                <a:tc>
                  <a:txBody>
                    <a:bodyPr/>
                    <a:lstStyle/>
                    <a:p>
                      <a:pPr algn="ctr"/>
                      <a:r>
                        <a:rPr sz="1000" b="1"/>
                        <a:t>Definition</a:t>
                      </a:r>
                    </a:p>
                  </a:txBody>
                  <a:tcPr marL="54864" marR="54864" marT="9144" marB="9144" anchor="ctr"/>
                </a:tc>
                <a:extLst>
                  <a:ext uri="{0D108BD9-81ED-4DB2-BD59-A6C34878D82A}">
                    <a16:rowId xmlns:a16="http://schemas.microsoft.com/office/drawing/2014/main" val="10000"/>
                  </a:ext>
                </a:extLst>
              </a:tr>
              <a:tr h="173736">
                <a:tc>
                  <a:txBody>
                    <a:bodyPr/>
                    <a:lstStyle/>
                    <a:p>
                      <a:r>
                        <a:rPr sz="1000" b="1"/>
                        <a:t>AD</a:t>
                      </a:r>
                    </a:p>
                  </a:txBody>
                  <a:tcPr marL="54864" marR="54864" marT="9144" marB="9144"/>
                </a:tc>
                <a:tc>
                  <a:txBody>
                    <a:bodyPr/>
                    <a:lstStyle/>
                    <a:p>
                      <a:r>
                        <a:rPr sz="1000"/>
                        <a:t>Active Directory</a:t>
                      </a:r>
                    </a:p>
                  </a:txBody>
                  <a:tcPr marL="54864" marR="54864" marT="9144" marB="9144"/>
                </a:tc>
                <a:extLst>
                  <a:ext uri="{0D108BD9-81ED-4DB2-BD59-A6C34878D82A}">
                    <a16:rowId xmlns:a16="http://schemas.microsoft.com/office/drawing/2014/main" val="10001"/>
                  </a:ext>
                </a:extLst>
              </a:tr>
              <a:tr h="173736">
                <a:tc>
                  <a:txBody>
                    <a:bodyPr/>
                    <a:lstStyle/>
                    <a:p>
                      <a:r>
                        <a:rPr sz="1000" b="1"/>
                        <a:t>APT</a:t>
                      </a:r>
                    </a:p>
                  </a:txBody>
                  <a:tcPr marL="54864" marR="54864" marT="9144" marB="9144"/>
                </a:tc>
                <a:tc>
                  <a:txBody>
                    <a:bodyPr/>
                    <a:lstStyle/>
                    <a:p>
                      <a:r>
                        <a:rPr sz="1000"/>
                        <a:t>Advanced Persistent Threat</a:t>
                      </a:r>
                    </a:p>
                  </a:txBody>
                  <a:tcPr marL="54864" marR="54864" marT="9144" marB="9144"/>
                </a:tc>
                <a:extLst>
                  <a:ext uri="{0D108BD9-81ED-4DB2-BD59-A6C34878D82A}">
                    <a16:rowId xmlns:a16="http://schemas.microsoft.com/office/drawing/2014/main" val="20004"/>
                  </a:ext>
                </a:extLst>
              </a:tr>
              <a:tr h="173736">
                <a:tc>
                  <a:txBody>
                    <a:bodyPr/>
                    <a:lstStyle/>
                    <a:p>
                      <a:r>
                        <a:rPr sz="1000" b="1"/>
                        <a:t>ARTEMIS</a:t>
                      </a:r>
                    </a:p>
                  </a:txBody>
                  <a:tcPr marL="54864" marR="54864" marT="9144" marB="9144"/>
                </a:tc>
                <a:tc>
                  <a:txBody>
                    <a:bodyPr/>
                    <a:lstStyle/>
                    <a:p>
                      <a:r>
                        <a:rPr sz="1000"/>
                        <a:t>Stanford multi-agent autonomous penetration-testing scaffold (Lin et al., 2026)</a:t>
                      </a:r>
                    </a:p>
                  </a:txBody>
                  <a:tcPr marL="54864" marR="54864" marT="9144" marB="9144"/>
                </a:tc>
                <a:extLst>
                  <a:ext uri="{0D108BD9-81ED-4DB2-BD59-A6C34878D82A}">
                    <a16:rowId xmlns:a16="http://schemas.microsoft.com/office/drawing/2014/main" val="10002"/>
                  </a:ext>
                </a:extLst>
              </a:tr>
              <a:tr h="173736">
                <a:tc>
                  <a:txBody>
                    <a:bodyPr/>
                    <a:lstStyle/>
                    <a:p>
                      <a:r>
                        <a:rPr sz="1000" b="1"/>
                        <a:t>ATT&amp;CK</a:t>
                      </a:r>
                    </a:p>
                  </a:txBody>
                  <a:tcPr marL="54864" marR="54864" marT="9144" marB="9144"/>
                </a:tc>
                <a:tc>
                  <a:txBody>
                    <a:bodyPr/>
                    <a:lstStyle/>
                    <a:p>
                      <a:r>
                        <a:rPr sz="1000"/>
                        <a:t>MITRE Adversarial Tactics, Techniques and Common Knowledge</a:t>
                      </a:r>
                    </a:p>
                  </a:txBody>
                  <a:tcPr marL="54864" marR="54864" marT="9144" marB="9144"/>
                </a:tc>
                <a:extLst>
                  <a:ext uri="{0D108BD9-81ED-4DB2-BD59-A6C34878D82A}">
                    <a16:rowId xmlns:a16="http://schemas.microsoft.com/office/drawing/2014/main" val="10003"/>
                  </a:ext>
                </a:extLst>
              </a:tr>
              <a:tr h="173736">
                <a:tc>
                  <a:txBody>
                    <a:bodyPr/>
                    <a:lstStyle/>
                    <a:p>
                      <a:r>
                        <a:rPr sz="1000" b="1"/>
                        <a:t>AWS / VPC / S3 / IAM</a:t>
                      </a:r>
                    </a:p>
                  </a:txBody>
                  <a:tcPr marL="54864" marR="54864" marT="9144" marB="9144"/>
                </a:tc>
                <a:tc>
                  <a:txBody>
                    <a:bodyPr/>
                    <a:lstStyle/>
                    <a:p>
                      <a:r>
                        <a:rPr sz="1000"/>
                        <a:t>Amazon Web Services / Virtual Private Cloud / Simple Storage Service / Identity and Access Management</a:t>
                      </a:r>
                    </a:p>
                  </a:txBody>
                  <a:tcPr marL="54864" marR="54864" marT="9144" marB="9144"/>
                </a:tc>
                <a:extLst>
                  <a:ext uri="{0D108BD9-81ED-4DB2-BD59-A6C34878D82A}">
                    <a16:rowId xmlns:a16="http://schemas.microsoft.com/office/drawing/2014/main" val="10004"/>
                  </a:ext>
                </a:extLst>
              </a:tr>
              <a:tr h="173736">
                <a:tc>
                  <a:txBody>
                    <a:bodyPr/>
                    <a:lstStyle/>
                    <a:p>
                      <a:r>
                        <a:rPr sz="1000" b="1"/>
                        <a:t>DC</a:t>
                      </a:r>
                    </a:p>
                  </a:txBody>
                  <a:tcPr marL="54864" marR="54864" marT="9144" marB="9144"/>
                </a:tc>
                <a:tc>
                  <a:txBody>
                    <a:bodyPr/>
                    <a:lstStyle/>
                    <a:p>
                      <a:r>
                        <a:rPr sz="1000"/>
                        <a:t>Domain Controller</a:t>
                      </a:r>
                    </a:p>
                  </a:txBody>
                  <a:tcPr marL="54864" marR="54864" marT="9144" marB="9144"/>
                </a:tc>
                <a:extLst>
                  <a:ext uri="{0D108BD9-81ED-4DB2-BD59-A6C34878D82A}">
                    <a16:rowId xmlns:a16="http://schemas.microsoft.com/office/drawing/2014/main" val="10005"/>
                  </a:ext>
                </a:extLst>
              </a:tr>
              <a:tr h="173736">
                <a:tc>
                  <a:txBody>
                    <a:bodyPr/>
                    <a:lstStyle/>
                    <a:p>
                      <a:r>
                        <a:rPr sz="1000" b="1"/>
                        <a:t>DGX Spark</a:t>
                      </a:r>
                    </a:p>
                  </a:txBody>
                  <a:tcPr marL="54864" marR="54864" marT="9144" marB="9144"/>
                </a:tc>
                <a:tc>
                  <a:txBody>
                    <a:bodyPr/>
                    <a:lstStyle/>
                    <a:p>
                      <a:r>
                        <a:rPr sz="1000"/>
                        <a:t>NVIDIA desktop AI system hosting the local model for the autonomous arm</a:t>
                      </a:r>
                    </a:p>
                  </a:txBody>
                  <a:tcPr marL="54864" marR="54864" marT="9144" marB="9144"/>
                </a:tc>
                <a:extLst>
                  <a:ext uri="{0D108BD9-81ED-4DB2-BD59-A6C34878D82A}">
                    <a16:rowId xmlns:a16="http://schemas.microsoft.com/office/drawing/2014/main" val="10006"/>
                  </a:ext>
                </a:extLst>
              </a:tr>
              <a:tr h="173736">
                <a:tc>
                  <a:txBody>
                    <a:bodyPr/>
                    <a:lstStyle/>
                    <a:p>
                      <a:r>
                        <a:rPr sz="1000" b="1"/>
                        <a:t>EDA</a:t>
                      </a:r>
                    </a:p>
                  </a:txBody>
                  <a:tcPr marL="54864" marR="54864" marT="9144" marB="9144"/>
                </a:tc>
                <a:tc>
                  <a:txBody>
                    <a:bodyPr/>
                    <a:lstStyle/>
                    <a:p>
                      <a:r>
                        <a:rPr sz="1000"/>
                        <a:t>Exploratory Data Analysis</a:t>
                      </a:r>
                    </a:p>
                  </a:txBody>
                  <a:tcPr marL="54864" marR="54864" marT="9144" marB="9144"/>
                </a:tc>
                <a:extLst>
                  <a:ext uri="{0D108BD9-81ED-4DB2-BD59-A6C34878D82A}">
                    <a16:rowId xmlns:a16="http://schemas.microsoft.com/office/drawing/2014/main" val="20005"/>
                  </a:ext>
                </a:extLst>
              </a:tr>
              <a:tr h="173736">
                <a:tc>
                  <a:txBody>
                    <a:bodyPr/>
                    <a:lstStyle/>
                    <a:p>
                      <a:r>
                        <a:rPr sz="1000" b="1"/>
                        <a:t>EVTX</a:t>
                      </a:r>
                    </a:p>
                  </a:txBody>
                  <a:tcPr marL="54864" marR="54864" marT="9144" marB="9144"/>
                </a:tc>
                <a:tc>
                  <a:txBody>
                    <a:bodyPr/>
                    <a:lstStyle/>
                    <a:p>
                      <a:r>
                        <a:rPr sz="1000"/>
                        <a:t>Windows Event Log native file format</a:t>
                      </a:r>
                    </a:p>
                  </a:txBody>
                  <a:tcPr marL="54864" marR="54864" marT="9144" marB="9144"/>
                </a:tc>
                <a:extLst>
                  <a:ext uri="{0D108BD9-81ED-4DB2-BD59-A6C34878D82A}">
                    <a16:rowId xmlns:a16="http://schemas.microsoft.com/office/drawing/2014/main" val="10007"/>
                  </a:ext>
                </a:extLst>
              </a:tr>
              <a:tr h="173736">
                <a:tc>
                  <a:txBody>
                    <a:bodyPr/>
                    <a:lstStyle/>
                    <a:p>
                      <a:r>
                        <a:rPr sz="1000" b="1"/>
                        <a:t>GOAD</a:t>
                      </a:r>
                    </a:p>
                  </a:txBody>
                  <a:tcPr marL="54864" marR="54864" marT="9144" marB="9144"/>
                </a:tc>
                <a:tc>
                  <a:txBody>
                    <a:bodyPr/>
                    <a:lstStyle/>
                    <a:p>
                      <a:r>
                        <a:rPr sz="1000"/>
                        <a:t>Game of Active Directory (Orange Cyberdefense lab)</a:t>
                      </a:r>
                    </a:p>
                  </a:txBody>
                  <a:tcPr marL="54864" marR="54864" marT="9144" marB="9144"/>
                </a:tc>
                <a:extLst>
                  <a:ext uri="{0D108BD9-81ED-4DB2-BD59-A6C34878D82A}">
                    <a16:rowId xmlns:a16="http://schemas.microsoft.com/office/drawing/2014/main" val="10008"/>
                  </a:ext>
                </a:extLst>
              </a:tr>
              <a:tr h="173736">
                <a:tc>
                  <a:txBody>
                    <a:bodyPr/>
                    <a:lstStyle/>
                    <a:p>
                      <a:r>
                        <a:rPr sz="1000" b="1"/>
                        <a:t>LDAP / SMB / RDP</a:t>
                      </a:r>
                    </a:p>
                  </a:txBody>
                  <a:tcPr marL="54864" marR="54864" marT="9144" marB="9144"/>
                </a:tc>
                <a:tc>
                  <a:txBody>
                    <a:bodyPr/>
                    <a:lstStyle/>
                    <a:p>
                      <a:r>
                        <a:rPr sz="1000"/>
                        <a:t>Lightweight Directory Access Protocol / Server Message Block / Remote Desktop Protocol</a:t>
                      </a:r>
                    </a:p>
                  </a:txBody>
                  <a:tcPr marL="54864" marR="54864" marT="9144" marB="9144"/>
                </a:tc>
                <a:extLst>
                  <a:ext uri="{0D108BD9-81ED-4DB2-BD59-A6C34878D82A}">
                    <a16:rowId xmlns:a16="http://schemas.microsoft.com/office/drawing/2014/main" val="10009"/>
                  </a:ext>
                </a:extLst>
              </a:tr>
              <a:tr h="173736">
                <a:tc>
                  <a:txBody>
                    <a:bodyPr/>
                    <a:lstStyle/>
                    <a:p>
                      <a:r>
                        <a:rPr sz="1000" b="1"/>
                        <a:t>LLM</a:t>
                      </a:r>
                    </a:p>
                  </a:txBody>
                  <a:tcPr marL="54864" marR="54864" marT="9144" marB="9144"/>
                </a:tc>
                <a:tc>
                  <a:txBody>
                    <a:bodyPr/>
                    <a:lstStyle/>
                    <a:p>
                      <a:r>
                        <a:rPr sz="1000"/>
                        <a:t>Large Language Model</a:t>
                      </a:r>
                    </a:p>
                  </a:txBody>
                  <a:tcPr marL="54864" marR="54864" marT="9144" marB="9144"/>
                </a:tc>
                <a:extLst>
                  <a:ext uri="{0D108BD9-81ED-4DB2-BD59-A6C34878D82A}">
                    <a16:rowId xmlns:a16="http://schemas.microsoft.com/office/drawing/2014/main" val="10010"/>
                  </a:ext>
                </a:extLst>
              </a:tr>
              <a:tr h="173736">
                <a:tc>
                  <a:txBody>
                    <a:bodyPr/>
                    <a:lstStyle/>
                    <a:p>
                      <a:r>
                        <a:rPr sz="1000" b="1"/>
                        <a:t>LLMNR / NBT-NS</a:t>
                      </a:r>
                    </a:p>
                  </a:txBody>
                  <a:tcPr marL="54864" marR="54864" marT="9144" marB="9144"/>
                </a:tc>
                <a:tc>
                  <a:txBody>
                    <a:bodyPr/>
                    <a:lstStyle/>
                    <a:p>
                      <a:r>
                        <a:rPr sz="1000"/>
                        <a:t>Link-Local Multicast Name Resolution / NetBIOS Name Service</a:t>
                      </a:r>
                    </a:p>
                  </a:txBody>
                  <a:tcPr marL="54864" marR="54864" marT="9144" marB="9144"/>
                </a:tc>
                <a:extLst>
                  <a:ext uri="{0D108BD9-81ED-4DB2-BD59-A6C34878D82A}">
                    <a16:rowId xmlns:a16="http://schemas.microsoft.com/office/drawing/2014/main" val="10011"/>
                  </a:ext>
                </a:extLst>
              </a:tr>
              <a:tr h="173736">
                <a:tc>
                  <a:txBody>
                    <a:bodyPr/>
                    <a:lstStyle/>
                    <a:p>
                      <a:r>
                        <a:rPr sz="1000" b="1"/>
                        <a:t>LOO</a:t>
                      </a:r>
                    </a:p>
                  </a:txBody>
                  <a:tcPr marL="54864" marR="54864" marT="9144" marB="9144"/>
                </a:tc>
                <a:tc>
                  <a:txBody>
                    <a:bodyPr/>
                    <a:lstStyle/>
                    <a:p>
                      <a:r>
                        <a:rPr sz="1000"/>
                        <a:t>Leave-One-Out cross-validation</a:t>
                      </a:r>
                    </a:p>
                  </a:txBody>
                  <a:tcPr marL="54864" marR="54864" marT="9144" marB="9144"/>
                </a:tc>
                <a:extLst>
                  <a:ext uri="{0D108BD9-81ED-4DB2-BD59-A6C34878D82A}">
                    <a16:rowId xmlns:a16="http://schemas.microsoft.com/office/drawing/2014/main" val="10012"/>
                  </a:ext>
                </a:extLst>
              </a:tr>
              <a:tr h="173736">
                <a:tc>
                  <a:txBody>
                    <a:bodyPr/>
                    <a:lstStyle/>
                    <a:p>
                      <a:r>
                        <a:rPr sz="1000" b="1"/>
                        <a:t>MCP</a:t>
                      </a:r>
                    </a:p>
                  </a:txBody>
                  <a:tcPr marL="54864" marR="54864" marT="9144" marB="9144"/>
                </a:tc>
                <a:tc>
                  <a:txBody>
                    <a:bodyPr/>
                    <a:lstStyle/>
                    <a:p>
                      <a:r>
                        <a:rPr sz="1000"/>
                        <a:t>Model Context Protocol</a:t>
                      </a:r>
                    </a:p>
                  </a:txBody>
                  <a:tcPr marL="54864" marR="54864" marT="9144" marB="9144"/>
                </a:tc>
                <a:extLst>
                  <a:ext uri="{0D108BD9-81ED-4DB2-BD59-A6C34878D82A}">
                    <a16:rowId xmlns:a16="http://schemas.microsoft.com/office/drawing/2014/main" val="10013"/>
                  </a:ext>
                </a:extLst>
              </a:tr>
              <a:tr h="173736">
                <a:tc>
                  <a:txBody>
                    <a:bodyPr/>
                    <a:lstStyle/>
                    <a:p>
                      <a:r>
                        <a:rPr sz="1000" b="1"/>
                        <a:t>PCA / t-SNE</a:t>
                      </a:r>
                    </a:p>
                  </a:txBody>
                  <a:tcPr marL="54864" marR="54864" marT="9144" marB="9144"/>
                </a:tc>
                <a:tc>
                  <a:txBody>
                    <a:bodyPr/>
                    <a:lstStyle/>
                    <a:p>
                      <a:r>
                        <a:rPr sz="1000"/>
                        <a:t>Principal Component Analysis / t-distributed Stochastic Neighbor Embedding</a:t>
                      </a:r>
                    </a:p>
                  </a:txBody>
                  <a:tcPr marL="54864" marR="54864" marT="9144" marB="9144"/>
                </a:tc>
                <a:extLst>
                  <a:ext uri="{0D108BD9-81ED-4DB2-BD59-A6C34878D82A}">
                    <a16:rowId xmlns:a16="http://schemas.microsoft.com/office/drawing/2014/main" val="20006"/>
                  </a:ext>
                </a:extLst>
              </a:tr>
              <a:tr h="173736">
                <a:tc>
                  <a:txBody>
                    <a:bodyPr/>
                    <a:lstStyle/>
                    <a:p>
                      <a:r>
                        <a:rPr sz="1000" b="1"/>
                        <a:t>PCAP</a:t>
                      </a:r>
                    </a:p>
                  </a:txBody>
                  <a:tcPr marL="54864" marR="54864" marT="9144" marB="9144"/>
                </a:tc>
                <a:tc>
                  <a:txBody>
                    <a:bodyPr/>
                    <a:lstStyle/>
                    <a:p>
                      <a:r>
                        <a:rPr sz="1000"/>
                        <a:t>Packet capture</a:t>
                      </a:r>
                    </a:p>
                  </a:txBody>
                  <a:tcPr marL="54864" marR="54864" marT="9144" marB="9144"/>
                </a:tc>
                <a:extLst>
                  <a:ext uri="{0D108BD9-81ED-4DB2-BD59-A6C34878D82A}">
                    <a16:rowId xmlns:a16="http://schemas.microsoft.com/office/drawing/2014/main" val="10014"/>
                  </a:ext>
                </a:extLst>
              </a:tr>
              <a:tr h="173736">
                <a:tc>
                  <a:txBody>
                    <a:bodyPr/>
                    <a:lstStyle/>
                    <a:p>
                      <a:r>
                        <a:rPr sz="1000" b="1"/>
                        <a:t>RF / GB / XGB / DT / LR / SVM / NB / KNN</a:t>
                      </a:r>
                    </a:p>
                  </a:txBody>
                  <a:tcPr marL="54864" marR="54864" marT="9144" marB="9144"/>
                </a:tc>
                <a:tc>
                  <a:txBody>
                    <a:bodyPr/>
                    <a:lstStyle/>
                    <a:p>
                      <a:r>
                        <a:rPr sz="1000"/>
                        <a:t>Random Forest / Gradient Boosting / XGBoost / Decision Tree / Logistic Regression / Support Vector Machine / Naïve Bayes / K-Nearest Neighbors</a:t>
                      </a:r>
                    </a:p>
                  </a:txBody>
                  <a:tcPr marL="54864" marR="54864" marT="9144" marB="9144"/>
                </a:tc>
                <a:extLst>
                  <a:ext uri="{0D108BD9-81ED-4DB2-BD59-A6C34878D82A}">
                    <a16:rowId xmlns:a16="http://schemas.microsoft.com/office/drawing/2014/main" val="10015"/>
                  </a:ext>
                </a:extLst>
              </a:tr>
              <a:tr h="173736">
                <a:tc>
                  <a:txBody>
                    <a:bodyPr/>
                    <a:lstStyle/>
                    <a:p>
                      <a:r>
                        <a:rPr sz="1000" b="1"/>
                        <a:t>ROC-AUC</a:t>
                      </a:r>
                    </a:p>
                  </a:txBody>
                  <a:tcPr marL="54864" marR="54864" marT="9144" marB="9144"/>
                </a:tc>
                <a:tc>
                  <a:txBody>
                    <a:bodyPr/>
                    <a:lstStyle/>
                    <a:p>
                      <a:r>
                        <a:rPr sz="1000"/>
                        <a:t>Area Under the Receiver Operating Characteristic Curve</a:t>
                      </a:r>
                    </a:p>
                  </a:txBody>
                  <a:tcPr marL="54864" marR="54864" marT="9144" marB="9144"/>
                </a:tc>
                <a:extLst>
                  <a:ext uri="{0D108BD9-81ED-4DB2-BD59-A6C34878D82A}">
                    <a16:rowId xmlns:a16="http://schemas.microsoft.com/office/drawing/2014/main" val="20007"/>
                  </a:ext>
                </a:extLst>
              </a:tr>
              <a:tr h="173736">
                <a:tc>
                  <a:txBody>
                    <a:bodyPr/>
                    <a:lstStyle/>
                    <a:p>
                      <a:r>
                        <a:rPr sz="1000" b="1"/>
                        <a:t>ROE</a:t>
                      </a:r>
                    </a:p>
                  </a:txBody>
                  <a:tcPr marL="54864" marR="54864" marT="9144" marB="9144"/>
                </a:tc>
                <a:tc>
                  <a:txBody>
                    <a:bodyPr/>
                    <a:lstStyle/>
                    <a:p>
                      <a:r>
                        <a:rPr sz="1000"/>
                        <a:t>Rules of Engagement</a:t>
                      </a:r>
                    </a:p>
                  </a:txBody>
                  <a:tcPr marL="54864" marR="54864" marT="9144" marB="9144"/>
                </a:tc>
                <a:extLst>
                  <a:ext uri="{0D108BD9-81ED-4DB2-BD59-A6C34878D82A}">
                    <a16:rowId xmlns:a16="http://schemas.microsoft.com/office/drawing/2014/main" val="10016"/>
                  </a:ext>
                </a:extLst>
              </a:tr>
              <a:tr h="173736">
                <a:tc>
                  <a:txBody>
                    <a:bodyPr/>
                    <a:lstStyle/>
                    <a:p>
                      <a:r>
                        <a:rPr sz="1000" b="1"/>
                        <a:t>SHA-256</a:t>
                      </a:r>
                    </a:p>
                  </a:txBody>
                  <a:tcPr marL="54864" marR="54864" marT="9144" marB="9144"/>
                </a:tc>
                <a:tc>
                  <a:txBody>
                    <a:bodyPr/>
                    <a:lstStyle/>
                    <a:p>
                      <a:r>
                        <a:rPr sz="1000"/>
                        <a:t>Secure Hash Algorithm, 256-bit (evidence manifests)</a:t>
                      </a:r>
                    </a:p>
                  </a:txBody>
                  <a:tcPr marL="54864" marR="54864" marT="9144" marB="9144"/>
                </a:tc>
                <a:extLst>
                  <a:ext uri="{0D108BD9-81ED-4DB2-BD59-A6C34878D82A}">
                    <a16:rowId xmlns:a16="http://schemas.microsoft.com/office/drawing/2014/main" val="10017"/>
                  </a:ext>
                </a:extLst>
              </a:tr>
              <a:tr h="173736">
                <a:tc>
                  <a:txBody>
                    <a:bodyPr/>
                    <a:lstStyle/>
                    <a:p>
                      <a:r>
                        <a:rPr sz="1000" b="1"/>
                        <a:t>SHAP</a:t>
                      </a:r>
                    </a:p>
                  </a:txBody>
                  <a:tcPr marL="54864" marR="54864" marT="9144" marB="9144"/>
                </a:tc>
                <a:tc>
                  <a:txBody>
                    <a:bodyPr/>
                    <a:lstStyle/>
                    <a:p>
                      <a:r>
                        <a:rPr sz="1000"/>
                        <a:t>SHapley Additive exPlanations (feature attribution)</a:t>
                      </a:r>
                    </a:p>
                  </a:txBody>
                  <a:tcPr marL="54864" marR="54864" marT="9144" marB="9144"/>
                </a:tc>
                <a:extLst>
                  <a:ext uri="{0D108BD9-81ED-4DB2-BD59-A6C34878D82A}">
                    <a16:rowId xmlns:a16="http://schemas.microsoft.com/office/drawing/2014/main" val="20008"/>
                  </a:ext>
                </a:extLst>
              </a:tr>
              <a:tr h="173736">
                <a:tc>
                  <a:txBody>
                    <a:bodyPr/>
                    <a:lstStyle/>
                    <a:p>
                      <a:r>
                        <a:rPr sz="1000" b="1"/>
                        <a:t>SMOTE</a:t>
                      </a:r>
                    </a:p>
                  </a:txBody>
                  <a:tcPr marL="54864" marR="54864" marT="9144" marB="9144"/>
                </a:tc>
                <a:tc>
                  <a:txBody>
                    <a:bodyPr/>
                    <a:lstStyle/>
                    <a:p>
                      <a:r>
                        <a:rPr sz="1000"/>
                        <a:t>Synthetic Minority Over-sampling Technique</a:t>
                      </a:r>
                    </a:p>
                  </a:txBody>
                  <a:tcPr marL="54864" marR="54864" marT="9144" marB="9144"/>
                </a:tc>
                <a:extLst>
                  <a:ext uri="{0D108BD9-81ED-4DB2-BD59-A6C34878D82A}">
                    <a16:rowId xmlns:a16="http://schemas.microsoft.com/office/drawing/2014/main" val="10018"/>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74320" y="0"/>
            <a:ext cx="8595360" cy="640080"/>
          </a:xfrm>
        </p:spPr>
        <p:txBody>
          <a:bodyPr wrap="square"/>
          <a:lstStyle/>
          <a:p>
            <a:pPr algn="ctr"/>
            <a:r>
              <a:rPr sz="1500" b="1">
                <a:solidFill>
                  <a:srgbClr val="404040"/>
                </a:solidFill>
              </a:rPr>
              <a:t>Block Diagram (start on this page and continues in subsequent pages)</a:t>
            </a:r>
          </a:p>
          <a:p>
            <a:pPr algn="ctr"/>
            <a:r>
              <a:rPr sz="1500" b="1">
                <a:solidFill>
                  <a:srgbClr val="404040"/>
                </a:solidFill>
              </a:rPr>
              <a:t>Level 1</a:t>
            </a:r>
          </a:p>
        </p:txBody>
      </p:sp>
      <p:sp>
        <p:nvSpPr>
          <p:cNvPr id="4" name="Rectangle 3"/>
          <p:cNvSpPr/>
          <p:nvPr/>
        </p:nvSpPr>
        <p:spPr>
          <a:xfrm>
            <a:off x="342900" y="731520"/>
            <a:ext cx="2514600" cy="914400"/>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050" b="1">
                <a:solidFill>
                  <a:srgbClr val="000000"/>
                </a:solidFill>
              </a:rPr>
              <a:t>1. Build the APT emulation range</a:t>
            </a:r>
          </a:p>
          <a:p>
            <a:pPr algn="l"/>
            <a:r>
              <a:rPr sz="950" b="0">
                <a:solidFill>
                  <a:srgbClr val="000000"/>
                </a:solidFill>
              </a:rPr>
              <a:t>Deploy GOAD on AWS at a pinned revision with host auditing, a network sensor and a separate evidence account.</a:t>
            </a:r>
          </a:p>
        </p:txBody>
      </p:sp>
      <p:sp>
        <p:nvSpPr>
          <p:cNvPr id="5" name="Rectangle 4"/>
          <p:cNvSpPr/>
          <p:nvPr/>
        </p:nvSpPr>
        <p:spPr>
          <a:xfrm>
            <a:off x="3314700" y="731520"/>
            <a:ext cx="2514600" cy="914400"/>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050" b="1">
                <a:solidFill>
                  <a:srgbClr val="000000"/>
                </a:solidFill>
              </a:rPr>
              <a:t>2. Define the APT campaign and preregister</a:t>
            </a:r>
          </a:p>
          <a:p>
            <a:pPr algn="l"/>
            <a:r>
              <a:rPr sz="950" b="0">
                <a:solidFill>
                  <a:srgbClr val="000000"/>
                </a:solidFill>
              </a:rPr>
              <a:t>Fix the APT objective, rules of engagement, access window, hypotheses, classifier set and split plan.</a:t>
            </a:r>
          </a:p>
        </p:txBody>
      </p:sp>
      <p:sp>
        <p:nvSpPr>
          <p:cNvPr id="6" name="Rectangle 5"/>
          <p:cNvSpPr/>
          <p:nvPr/>
        </p:nvSpPr>
        <p:spPr>
          <a:xfrm>
            <a:off x="6286500" y="731520"/>
            <a:ext cx="2514600" cy="914400"/>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050" b="1">
                <a:solidFill>
                  <a:srgbClr val="000000"/>
                </a:solidFill>
              </a:rPr>
              <a:t>3. Prepare both operator arms</a:t>
            </a:r>
          </a:p>
          <a:p>
            <a:pPr algn="l"/>
            <a:r>
              <a:rPr sz="950" b="0">
                <a:solidFill>
                  <a:srgbClr val="000000"/>
                </a:solidFill>
              </a:rPr>
              <a:t>Brief the human testers, configure the autonomous AI agent and give both arms an identical foothold.</a:t>
            </a:r>
          </a:p>
        </p:txBody>
      </p:sp>
      <p:sp>
        <p:nvSpPr>
          <p:cNvPr id="7" name="Rectangle 6"/>
          <p:cNvSpPr/>
          <p:nvPr/>
        </p:nvSpPr>
        <p:spPr>
          <a:xfrm>
            <a:off x="342900" y="1920240"/>
            <a:ext cx="2514600" cy="914400"/>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050" b="1">
                <a:solidFill>
                  <a:srgbClr val="000000"/>
                </a:solidFill>
              </a:rPr>
              <a:t>4. Generate the dataset: run matched APT trials</a:t>
            </a:r>
          </a:p>
          <a:p>
            <a:pPr algn="l"/>
            <a:r>
              <a:rPr sz="950" b="0">
                <a:solidFill>
                  <a:srgbClr val="000000"/>
                </a:solidFill>
              </a:rPr>
              <a:t>Black-box and white-box trials per arm from verified resets, with per-trial data quality checks.</a:t>
            </a:r>
          </a:p>
        </p:txBody>
      </p:sp>
      <p:sp>
        <p:nvSpPr>
          <p:cNvPr id="8" name="Rectangle 7"/>
          <p:cNvSpPr/>
          <p:nvPr/>
        </p:nvSpPr>
        <p:spPr>
          <a:xfrm>
            <a:off x="3314700" y="1920240"/>
            <a:ext cx="2514600" cy="914400"/>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050" b="1">
                <a:solidFill>
                  <a:srgbClr val="000000"/>
                </a:solidFill>
              </a:rPr>
              <a:t>5. Archive and assemble the labeled dataset</a:t>
            </a:r>
          </a:p>
          <a:p>
            <a:pPr algn="l"/>
            <a:r>
              <a:rPr sz="950" b="0">
                <a:solidFill>
                  <a:srgbClr val="000000"/>
                </a:solidFill>
              </a:rPr>
              <a:t>Native logs with hash manifests plus ground-truth labels, released as a versioned per-trial dataset.</a:t>
            </a:r>
          </a:p>
        </p:txBody>
      </p:sp>
      <p:sp>
        <p:nvSpPr>
          <p:cNvPr id="9" name="Rectangle 8"/>
          <p:cNvSpPr/>
          <p:nvPr/>
        </p:nvSpPr>
        <p:spPr>
          <a:xfrm>
            <a:off x="6286500" y="1920240"/>
            <a:ext cx="2514600" cy="914400"/>
          </a:xfrm>
          <a:prstGeom prst="rect">
            <a:avLst/>
          </a:prstGeom>
          <a:solidFill>
            <a:srgbClr val="E5E0EC"/>
          </a:solidFill>
          <a:ln w="12700">
            <a:solidFill>
              <a:srgbClr val="8064A2"/>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050" b="1">
                <a:solidFill>
                  <a:srgbClr val="000000"/>
                </a:solidFill>
              </a:rPr>
              <a:t>6. Engineer target-side features</a:t>
            </a:r>
          </a:p>
          <a:p>
            <a:pPr algn="l"/>
            <a:r>
              <a:rPr sz="950" b="0">
                <a:solidFill>
                  <a:srgbClr val="000000"/>
                </a:solidFill>
              </a:rPr>
              <a:t>Turn host and network evidence into pre-declared behavioral feature families behind a leakage deny-list.</a:t>
            </a:r>
          </a:p>
        </p:txBody>
      </p:sp>
      <p:sp>
        <p:nvSpPr>
          <p:cNvPr id="10" name="Rectangle 9"/>
          <p:cNvSpPr/>
          <p:nvPr/>
        </p:nvSpPr>
        <p:spPr>
          <a:xfrm>
            <a:off x="342900" y="3108960"/>
            <a:ext cx="2514600" cy="914400"/>
          </a:xfrm>
          <a:prstGeom prst="rect">
            <a:avLst/>
          </a:prstGeom>
          <a:solidFill>
            <a:srgbClr val="E5E0EC"/>
          </a:solidFill>
          <a:ln w="12700">
            <a:solidFill>
              <a:srgbClr val="8064A2"/>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050" b="1">
                <a:solidFill>
                  <a:srgbClr val="000000"/>
                </a:solidFill>
              </a:rPr>
              <a:t>7. Exploratory data analysis (EDA)</a:t>
            </a:r>
          </a:p>
          <a:p>
            <a:pPr algn="l"/>
            <a:r>
              <a:rPr sz="950" b="0">
                <a:solidFill>
                  <a:srgbClr val="000000"/>
                </a:solidFill>
              </a:rPr>
              <a:t>Profile the training trials: class balance, distributions by arm, correlations and top-ranked features.</a:t>
            </a:r>
          </a:p>
        </p:txBody>
      </p:sp>
      <p:sp>
        <p:nvSpPr>
          <p:cNvPr id="11" name="Rectangle 10"/>
          <p:cNvSpPr/>
          <p:nvPr/>
        </p:nvSpPr>
        <p:spPr>
          <a:xfrm>
            <a:off x="3314700" y="3108960"/>
            <a:ext cx="2514600" cy="914400"/>
          </a:xfrm>
          <a:prstGeom prst="rect">
            <a:avLst/>
          </a:prstGeom>
          <a:solidFill>
            <a:srgbClr val="E5E0EC"/>
          </a:solidFill>
          <a:ln w="12700">
            <a:solidFill>
              <a:srgbClr val="8064A2"/>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050" b="1">
                <a:solidFill>
                  <a:srgbClr val="000000"/>
                </a:solidFill>
              </a:rPr>
              <a:t>8. Train and tune eight classifiers</a:t>
            </a:r>
          </a:p>
          <a:p>
            <a:pPr algn="l"/>
            <a:r>
              <a:rPr sz="950" b="0">
                <a:solidFill>
                  <a:srgbClr val="000000"/>
                </a:solidFill>
              </a:rPr>
              <a:t>GB, RF, XGBoost, DT, LR, linear SVM, NB and KNN on identical grouped folds with equal tuning budgets.</a:t>
            </a:r>
          </a:p>
        </p:txBody>
      </p:sp>
      <p:sp>
        <p:nvSpPr>
          <p:cNvPr id="12" name="Rectangle 11"/>
          <p:cNvSpPr/>
          <p:nvPr/>
        </p:nvSpPr>
        <p:spPr>
          <a:xfrm>
            <a:off x="6286500" y="3108960"/>
            <a:ext cx="2514600" cy="914400"/>
          </a:xfrm>
          <a:prstGeom prst="rect">
            <a:avLst/>
          </a:prstGeom>
          <a:solidFill>
            <a:srgbClr val="E5E0EC"/>
          </a:solidFill>
          <a:ln w="12700">
            <a:solidFill>
              <a:srgbClr val="8064A2"/>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050" b="1" dirty="0">
                <a:solidFill>
                  <a:srgbClr val="000000"/>
                </a:solidFill>
              </a:rPr>
              <a:t>9. Evaluate, compare and interpret</a:t>
            </a:r>
          </a:p>
          <a:p>
            <a:pPr algn="l"/>
            <a:r>
              <a:rPr sz="950" b="0" dirty="0">
                <a:solidFill>
                  <a:srgbClr val="000000"/>
                </a:solidFill>
              </a:rPr>
              <a:t>Rank classifiers on locked test trials</a:t>
            </a:r>
            <a:r>
              <a:rPr lang="en-US" sz="950" b="0" dirty="0">
                <a:solidFill>
                  <a:srgbClr val="000000"/>
                </a:solidFill>
              </a:rPr>
              <a:t>, </a:t>
            </a:r>
            <a:r>
              <a:rPr sz="950" b="0" dirty="0">
                <a:solidFill>
                  <a:srgbClr val="000000"/>
                </a:solidFill>
              </a:rPr>
              <a:t>compare with baselines and ablate feature families.</a:t>
            </a:r>
          </a:p>
        </p:txBody>
      </p:sp>
      <p:sp>
        <p:nvSpPr>
          <p:cNvPr id="13" name="Rectangle 12"/>
          <p:cNvSpPr/>
          <p:nvPr/>
        </p:nvSpPr>
        <p:spPr>
          <a:xfrm>
            <a:off x="342900" y="4297680"/>
            <a:ext cx="2514600" cy="914400"/>
          </a:xfrm>
          <a:prstGeom prst="rect">
            <a:avLst/>
          </a:prstGeom>
          <a:solidFill>
            <a:srgbClr val="F2F2F2"/>
          </a:solidFill>
          <a:ln w="12700">
            <a:solidFill>
              <a:srgbClr val="7F7F7F"/>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050" b="1">
                <a:solidFill>
                  <a:srgbClr val="000000"/>
                </a:solidFill>
              </a:rPr>
              <a:t>10. Phase 2 extension and defense</a:t>
            </a:r>
          </a:p>
          <a:p>
            <a:pPr algn="l"/>
            <a:r>
              <a:rPr sz="950" b="0">
                <a:solidFill>
                  <a:srgbClr val="000000"/>
                </a:solidFill>
              </a:rPr>
              <a:t>Held-out operators, evasion arm, reproducibility package, write-up and praxis defense.</a:t>
            </a:r>
          </a:p>
        </p:txBody>
      </p:sp>
      <p:cxnSp>
        <p:nvCxnSpPr>
          <p:cNvPr id="14" name="Connector 13"/>
          <p:cNvCxnSpPr/>
          <p:nvPr/>
        </p:nvCxnSpPr>
        <p:spPr>
          <a:xfrm>
            <a:off x="2857500" y="1188720"/>
            <a:ext cx="45720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829300" y="1188720"/>
            <a:ext cx="45720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7543800" y="1645920"/>
            <a:ext cx="0" cy="13716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1600200" y="1783080"/>
            <a:ext cx="594360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600200" y="1783080"/>
            <a:ext cx="0" cy="13716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2857500" y="2377440"/>
            <a:ext cx="45720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829300" y="2377440"/>
            <a:ext cx="45720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7543800" y="2834640"/>
            <a:ext cx="0" cy="13716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1600200" y="2971800"/>
            <a:ext cx="594360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600200" y="2971800"/>
            <a:ext cx="0" cy="13716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857500" y="3566160"/>
            <a:ext cx="45720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829300" y="3566160"/>
            <a:ext cx="45720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543800" y="4023360"/>
            <a:ext cx="0" cy="13716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1600200" y="4160520"/>
            <a:ext cx="594360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600200" y="4160520"/>
            <a:ext cx="0" cy="13716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Legend Title"/>
          <p:cNvSpPr txBox="1"/>
          <p:nvPr/>
        </p:nvSpPr>
        <p:spPr>
          <a:xfrm>
            <a:off x="3429000" y="4326636"/>
            <a:ext cx="4800600" cy="201168"/>
          </a:xfrm>
          <a:prstGeom prst="rect">
            <a:avLst/>
          </a:prstGeom>
          <a:noFill/>
        </p:spPr>
        <p:txBody>
          <a:bodyPr wrap="square" lIns="0" tIns="0" rIns="0" bIns="0" anchor="ctr"/>
          <a:lstStyle/>
          <a:p>
            <a:r>
              <a:rPr lang="en-US" sz="1000" b="1" dirty="0">
                <a:solidFill>
                  <a:srgbClr val="000000"/>
                </a:solidFill>
              </a:rPr>
              <a:t>Phases</a:t>
            </a:r>
          </a:p>
        </p:txBody>
      </p:sp>
      <p:sp>
        <p:nvSpPr>
          <p:cNvPr id="30" name="Legend Swatch 1"/>
          <p:cNvSpPr/>
          <p:nvPr/>
        </p:nvSpPr>
        <p:spPr>
          <a:xfrm>
            <a:off x="3429000" y="4546092"/>
            <a:ext cx="320040" cy="164592"/>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endParaRPr/>
          </a:p>
        </p:txBody>
      </p:sp>
      <p:sp>
        <p:nvSpPr>
          <p:cNvPr id="31" name="Legend Label 1"/>
          <p:cNvSpPr txBox="1"/>
          <p:nvPr/>
        </p:nvSpPr>
        <p:spPr>
          <a:xfrm>
            <a:off x="3840480" y="4527804"/>
            <a:ext cx="4892040" cy="201168"/>
          </a:xfrm>
          <a:prstGeom prst="rect">
            <a:avLst/>
          </a:prstGeom>
          <a:noFill/>
        </p:spPr>
        <p:txBody>
          <a:bodyPr wrap="square" lIns="0" tIns="0" rIns="0" bIns="0" anchor="ctr"/>
          <a:lstStyle/>
          <a:p>
            <a:r>
              <a:rPr lang="en-US" sz="1000" dirty="0">
                <a:solidFill>
                  <a:srgbClr val="000000"/>
                </a:solidFill>
              </a:rPr>
              <a:t>Steps 1–5: Generate the labeled APT dataset</a:t>
            </a:r>
          </a:p>
        </p:txBody>
      </p:sp>
      <p:sp>
        <p:nvSpPr>
          <p:cNvPr id="32" name="Legend Swatch 2"/>
          <p:cNvSpPr/>
          <p:nvPr/>
        </p:nvSpPr>
        <p:spPr>
          <a:xfrm>
            <a:off x="3429000" y="4829556"/>
            <a:ext cx="320040" cy="164592"/>
          </a:xfrm>
          <a:prstGeom prst="rect">
            <a:avLst/>
          </a:prstGeom>
          <a:solidFill>
            <a:srgbClr val="E5E0EC"/>
          </a:solidFill>
          <a:ln w="12700">
            <a:solidFill>
              <a:srgbClr val="8064A2"/>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endParaRPr/>
          </a:p>
        </p:txBody>
      </p:sp>
      <p:sp>
        <p:nvSpPr>
          <p:cNvPr id="33" name="Legend Label 2"/>
          <p:cNvSpPr txBox="1"/>
          <p:nvPr/>
        </p:nvSpPr>
        <p:spPr>
          <a:xfrm>
            <a:off x="3840480" y="4811268"/>
            <a:ext cx="4892040" cy="201168"/>
          </a:xfrm>
          <a:prstGeom prst="rect">
            <a:avLst/>
          </a:prstGeom>
          <a:noFill/>
        </p:spPr>
        <p:txBody>
          <a:bodyPr wrap="square" lIns="0" tIns="0" rIns="0" bIns="0" anchor="ctr"/>
          <a:lstStyle/>
          <a:p>
            <a:r>
              <a:rPr lang="en-US" sz="1000" dirty="0">
                <a:solidFill>
                  <a:srgbClr val="000000"/>
                </a:solidFill>
              </a:rPr>
              <a:t>Steps 6–9: Feature engineering, EDA and eight-classifier comparison</a:t>
            </a:r>
          </a:p>
        </p:txBody>
      </p:sp>
      <p:sp>
        <p:nvSpPr>
          <p:cNvPr id="34" name="Legend Swatch 3"/>
          <p:cNvSpPr/>
          <p:nvPr/>
        </p:nvSpPr>
        <p:spPr>
          <a:xfrm>
            <a:off x="3429000" y="5113020"/>
            <a:ext cx="320040" cy="164592"/>
          </a:xfrm>
          <a:prstGeom prst="rect">
            <a:avLst/>
          </a:prstGeom>
          <a:solidFill>
            <a:srgbClr val="F2F2F2"/>
          </a:solidFill>
          <a:ln w="12700">
            <a:solidFill>
              <a:srgbClr val="7F7F7F"/>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endParaRPr/>
          </a:p>
        </p:txBody>
      </p:sp>
      <p:sp>
        <p:nvSpPr>
          <p:cNvPr id="35" name="Legend Label 3"/>
          <p:cNvSpPr txBox="1"/>
          <p:nvPr/>
        </p:nvSpPr>
        <p:spPr>
          <a:xfrm>
            <a:off x="3840480" y="5094732"/>
            <a:ext cx="4892040" cy="201168"/>
          </a:xfrm>
          <a:prstGeom prst="rect">
            <a:avLst/>
          </a:prstGeom>
          <a:noFill/>
        </p:spPr>
        <p:txBody>
          <a:bodyPr wrap="square" lIns="0" tIns="0" rIns="0" bIns="0" anchor="ctr"/>
          <a:lstStyle/>
          <a:p>
            <a:r>
              <a:rPr lang="en-US" sz="1000" dirty="0">
                <a:solidFill>
                  <a:srgbClr val="000000"/>
                </a:solidFill>
              </a:rPr>
              <a:t>Step 10: Phase 2 extension and defense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40080" y="411480"/>
            <a:ext cx="7772400" cy="640080"/>
          </a:xfrm>
        </p:spPr>
        <p:txBody>
          <a:bodyPr wrap="square"/>
          <a:lstStyle/>
          <a:p>
            <a:r>
              <a:rPr sz="2800" b="1"/>
              <a:t>Methodology Steps – Second Level</a:t>
            </a:r>
          </a:p>
        </p:txBody>
      </p:sp>
      <p:sp>
        <p:nvSpPr>
          <p:cNvPr id="4" name="Rectangle 3"/>
          <p:cNvSpPr/>
          <p:nvPr/>
        </p:nvSpPr>
        <p:spPr>
          <a:xfrm>
            <a:off x="182880" y="1325880"/>
            <a:ext cx="2468880" cy="1554480"/>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200" b="1">
                <a:solidFill>
                  <a:srgbClr val="000000"/>
                </a:solidFill>
              </a:rPr>
              <a:t>1. Build the APT emulation range</a:t>
            </a:r>
          </a:p>
          <a:p>
            <a:pPr algn="l"/>
            <a:r>
              <a:rPr sz="1100" b="0">
                <a:solidFill>
                  <a:srgbClr val="000000"/>
                </a:solidFill>
              </a:rPr>
              <a:t>Deploy GOAD on AWS at a pinned revision with host auditing, a network sensor and a separate evidence account.</a:t>
            </a:r>
          </a:p>
        </p:txBody>
      </p:sp>
      <p:cxnSp>
        <p:nvCxnSpPr>
          <p:cNvPr id="5" name="Connector 4"/>
          <p:cNvCxnSpPr/>
          <p:nvPr/>
        </p:nvCxnSpPr>
        <p:spPr>
          <a:xfrm>
            <a:off x="2651760" y="2103120"/>
            <a:ext cx="50292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54680" y="1645920"/>
            <a:ext cx="0" cy="265176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566160" y="118872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1.1 Deploy GOAD on AWS</a:t>
            </a:r>
          </a:p>
          <a:p>
            <a:pPr algn="l"/>
            <a:r>
              <a:rPr sz="1000" b="0">
                <a:solidFill>
                  <a:srgbClr val="000000"/>
                </a:solidFill>
              </a:rPr>
              <a:t>Pinned revision in us-east-1 as an enterprise Active Directory APT target, with disposable targets and a separate persistent evidence account (private S3 plus CloudWatch Logs for search).</a:t>
            </a:r>
          </a:p>
        </p:txBody>
      </p:sp>
      <p:cxnSp>
        <p:nvCxnSpPr>
          <p:cNvPr id="8" name="Connector 7"/>
          <p:cNvCxnSpPr/>
          <p:nvPr/>
        </p:nvCxnSpPr>
        <p:spPr>
          <a:xfrm>
            <a:off x="3154680" y="164592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8183879" y="1371600"/>
            <a:ext cx="274320" cy="274320"/>
          </a:xfrm>
          <a:prstGeom prst="ellipse">
            <a:avLst/>
          </a:prstGeom>
          <a:solidFill>
            <a:srgbClr val="FFC000"/>
          </a:solidFill>
          <a:ln w="15875">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09559" y="1664208"/>
            <a:ext cx="822959" cy="201168"/>
          </a:xfrm>
          <a:prstGeom prst="rect">
            <a:avLst/>
          </a:prstGeom>
          <a:noFill/>
        </p:spPr>
        <p:txBody>
          <a:bodyPr wrap="square" lIns="27432" tIns="27432" rIns="27432" bIns="27432" anchor="t">
            <a:spAutoFit/>
          </a:bodyPr>
          <a:lstStyle/>
          <a:p>
            <a:pPr algn="ctr"/>
            <a:r>
              <a:rPr sz="800">
                <a:solidFill>
                  <a:srgbClr val="595959"/>
                </a:solidFill>
              </a:rPr>
              <a:t>in progress</a:t>
            </a:r>
          </a:p>
        </p:txBody>
      </p:sp>
      <p:sp>
        <p:nvSpPr>
          <p:cNvPr id="11" name="Rounded Rectangle 10"/>
          <p:cNvSpPr/>
          <p:nvPr/>
        </p:nvSpPr>
        <p:spPr>
          <a:xfrm>
            <a:off x="3566160" y="251460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1.2 Enable host auditing</a:t>
            </a:r>
          </a:p>
          <a:p>
            <a:pPr algn="l"/>
            <a:r>
              <a:rPr sz="1000" b="0">
                <a:solidFill>
                  <a:srgbClr val="000000"/>
                </a:solidFill>
              </a:rPr>
              <a:t>Sysmon or Security 4688 with command lines, PowerShell 4104, AD object audit and DNS logging on the foothold and the five domain targets.</a:t>
            </a:r>
          </a:p>
        </p:txBody>
      </p:sp>
      <p:cxnSp>
        <p:nvCxnSpPr>
          <p:cNvPr id="12" name="Connector 11"/>
          <p:cNvCxnSpPr/>
          <p:nvPr/>
        </p:nvCxnSpPr>
        <p:spPr>
          <a:xfrm>
            <a:off x="3154680" y="297180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183879" y="2697480"/>
            <a:ext cx="274320" cy="274320"/>
          </a:xfrm>
          <a:prstGeom prst="ellipse">
            <a:avLst/>
          </a:prstGeom>
          <a:solidFill>
            <a:srgbClr val="FFC000"/>
          </a:solidFill>
          <a:ln w="15875">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09559" y="2990088"/>
            <a:ext cx="822959" cy="201168"/>
          </a:xfrm>
          <a:prstGeom prst="rect">
            <a:avLst/>
          </a:prstGeom>
          <a:noFill/>
        </p:spPr>
        <p:txBody>
          <a:bodyPr wrap="square" lIns="27432" tIns="27432" rIns="27432" bIns="27432" anchor="t">
            <a:spAutoFit/>
          </a:bodyPr>
          <a:lstStyle/>
          <a:p>
            <a:pPr algn="ctr"/>
            <a:r>
              <a:rPr sz="800">
                <a:solidFill>
                  <a:srgbClr val="595959"/>
                </a:solidFill>
              </a:rPr>
              <a:t>in progress</a:t>
            </a:r>
          </a:p>
        </p:txBody>
      </p:sp>
      <p:sp>
        <p:nvSpPr>
          <p:cNvPr id="15" name="Rounded Rectangle 14"/>
          <p:cNvSpPr/>
          <p:nvPr/>
        </p:nvSpPr>
        <p:spPr>
          <a:xfrm>
            <a:off x="3566160" y="384048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1.3 Add the network sensor</a:t>
            </a:r>
          </a:p>
          <a:p>
            <a:pPr algn="l"/>
            <a:r>
              <a:rPr sz="1000" b="0">
                <a:solidFill>
                  <a:srgbClr val="000000"/>
                </a:solidFill>
              </a:rPr>
              <a:t>VPC traffic mirror of the DC and member-server interfaces into Zeek/Suricata with capped PCAP; confirm instance-type support and add the cost to the estimate.</a:t>
            </a:r>
          </a:p>
        </p:txBody>
      </p:sp>
      <p:cxnSp>
        <p:nvCxnSpPr>
          <p:cNvPr id="16" name="Connector 15"/>
          <p:cNvCxnSpPr/>
          <p:nvPr/>
        </p:nvCxnSpPr>
        <p:spPr>
          <a:xfrm>
            <a:off x="3154680" y="429768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8183879" y="4023360"/>
            <a:ext cx="274320" cy="274320"/>
          </a:xfrm>
          <a:prstGeom prst="ellipse">
            <a:avLst/>
          </a:prstGeom>
          <a:solidFill>
            <a:srgbClr val="FFC000"/>
          </a:solidFill>
          <a:ln w="15875">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909559" y="4315968"/>
            <a:ext cx="822959" cy="201168"/>
          </a:xfrm>
          <a:prstGeom prst="rect">
            <a:avLst/>
          </a:prstGeom>
          <a:noFill/>
        </p:spPr>
        <p:txBody>
          <a:bodyPr wrap="square" lIns="27432" tIns="27432" rIns="27432" bIns="27432" anchor="t">
            <a:spAutoFit/>
          </a:bodyPr>
          <a:lstStyle/>
          <a:p>
            <a:pPr algn="ctr"/>
            <a:r>
              <a:rPr sz="800">
                <a:solidFill>
                  <a:srgbClr val="595959"/>
                </a:solidFill>
              </a:rPr>
              <a:t>in progress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40080" y="411480"/>
            <a:ext cx="7772400" cy="640080"/>
          </a:xfrm>
        </p:spPr>
        <p:txBody>
          <a:bodyPr wrap="square"/>
          <a:lstStyle/>
          <a:p>
            <a:r>
              <a:rPr sz="2800" b="1"/>
              <a:t>Methodology Steps – Second Level</a:t>
            </a:r>
          </a:p>
        </p:txBody>
      </p:sp>
      <p:sp>
        <p:nvSpPr>
          <p:cNvPr id="4" name="Rectangle 3"/>
          <p:cNvSpPr/>
          <p:nvPr/>
        </p:nvSpPr>
        <p:spPr>
          <a:xfrm>
            <a:off x="182880" y="1325880"/>
            <a:ext cx="2468880" cy="1554480"/>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200" b="1">
                <a:solidFill>
                  <a:srgbClr val="000000"/>
                </a:solidFill>
              </a:rPr>
              <a:t>2. Define the APT campaign and preregister</a:t>
            </a:r>
          </a:p>
          <a:p>
            <a:pPr algn="l"/>
            <a:r>
              <a:rPr sz="1100" b="0">
                <a:solidFill>
                  <a:srgbClr val="000000"/>
                </a:solidFill>
              </a:rPr>
              <a:t>Fix the APT objective, rules of engagement, access window, hypotheses, classifier set and split plan.</a:t>
            </a:r>
          </a:p>
        </p:txBody>
      </p:sp>
      <p:cxnSp>
        <p:nvCxnSpPr>
          <p:cNvPr id="5" name="Connector 4"/>
          <p:cNvCxnSpPr/>
          <p:nvPr/>
        </p:nvCxnSpPr>
        <p:spPr>
          <a:xfrm>
            <a:off x="2651760" y="2103120"/>
            <a:ext cx="50292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54680" y="1645920"/>
            <a:ext cx="0" cy="265176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566160" y="118872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2.1 Fix the APT objective and ROE</a:t>
            </a:r>
          </a:p>
          <a:p>
            <a:pPr algn="l"/>
            <a:r>
              <a:rPr sz="1000" b="0">
                <a:solidFill>
                  <a:srgbClr val="000000"/>
                </a:solidFill>
              </a:rPr>
              <a:t>From a low-privilege domain foothold, run an APT-style chain (discovery, credential access, lateral movement) to read one synthetic marker file through one predefined weakness; one ROE for both arms.</a:t>
            </a:r>
          </a:p>
        </p:txBody>
      </p:sp>
      <p:cxnSp>
        <p:nvCxnSpPr>
          <p:cNvPr id="8" name="Connector 7"/>
          <p:cNvCxnSpPr/>
          <p:nvPr/>
        </p:nvCxnSpPr>
        <p:spPr>
          <a:xfrm>
            <a:off x="3154680" y="164592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8183879" y="1371600"/>
            <a:ext cx="274320" cy="274320"/>
          </a:xfrm>
          <a:prstGeom prst="ellipse">
            <a:avLst/>
          </a:prstGeom>
          <a:solidFill>
            <a:srgbClr val="FFC000"/>
          </a:solidFill>
          <a:ln w="15875">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09559" y="1664208"/>
            <a:ext cx="822959" cy="201168"/>
          </a:xfrm>
          <a:prstGeom prst="rect">
            <a:avLst/>
          </a:prstGeom>
          <a:noFill/>
        </p:spPr>
        <p:txBody>
          <a:bodyPr wrap="square" lIns="27432" tIns="27432" rIns="27432" bIns="27432" anchor="t">
            <a:spAutoFit/>
          </a:bodyPr>
          <a:lstStyle/>
          <a:p>
            <a:pPr algn="ctr"/>
            <a:r>
              <a:rPr sz="800">
                <a:solidFill>
                  <a:srgbClr val="595959"/>
                </a:solidFill>
              </a:rPr>
              <a:t>in progress</a:t>
            </a:r>
          </a:p>
        </p:txBody>
      </p:sp>
      <p:sp>
        <p:nvSpPr>
          <p:cNvPr id="11" name="Rounded Rectangle 10"/>
          <p:cNvSpPr/>
          <p:nvPr/>
        </p:nvSpPr>
        <p:spPr>
          <a:xfrm>
            <a:off x="3566160" y="251460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2.2 Size the access window</a:t>
            </a:r>
          </a:p>
          <a:p>
            <a:pPr algn="l"/>
            <a:r>
              <a:rPr sz="1000" b="0">
                <a:solidFill>
                  <a:srgbClr val="000000"/>
                </a:solidFill>
              </a:rPr>
              <a:t>Dry run sets the window at several times the human median; define the stop rule; runs continue past the objective until the window closes.</a:t>
            </a:r>
          </a:p>
        </p:txBody>
      </p:sp>
      <p:cxnSp>
        <p:nvCxnSpPr>
          <p:cNvPr id="12" name="Connector 11"/>
          <p:cNvCxnSpPr/>
          <p:nvPr/>
        </p:nvCxnSpPr>
        <p:spPr>
          <a:xfrm>
            <a:off x="3154680" y="297180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183879" y="2697480"/>
            <a:ext cx="274320" cy="274320"/>
          </a:xfrm>
          <a:prstGeom prst="ellipse">
            <a:avLst/>
          </a:prstGeom>
          <a:solidFill>
            <a:srgbClr val="FFC000"/>
          </a:solidFill>
          <a:ln w="15875">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09559" y="2990088"/>
            <a:ext cx="822959" cy="201168"/>
          </a:xfrm>
          <a:prstGeom prst="rect">
            <a:avLst/>
          </a:prstGeom>
          <a:noFill/>
        </p:spPr>
        <p:txBody>
          <a:bodyPr wrap="square" lIns="27432" tIns="27432" rIns="27432" bIns="27432" anchor="t">
            <a:spAutoFit/>
          </a:bodyPr>
          <a:lstStyle/>
          <a:p>
            <a:pPr algn="ctr"/>
            <a:r>
              <a:rPr sz="800">
                <a:solidFill>
                  <a:srgbClr val="595959"/>
                </a:solidFill>
              </a:rPr>
              <a:t>in progress</a:t>
            </a:r>
          </a:p>
        </p:txBody>
      </p:sp>
      <p:sp>
        <p:nvSpPr>
          <p:cNvPr id="15" name="Rounded Rectangle 14"/>
          <p:cNvSpPr/>
          <p:nvPr/>
        </p:nvSpPr>
        <p:spPr>
          <a:xfrm>
            <a:off x="3566160" y="384048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2.3 Preregister</a:t>
            </a:r>
          </a:p>
          <a:p>
            <a:pPr algn="l"/>
            <a:r>
              <a:rPr sz="1000" b="0">
                <a:solidFill>
                  <a:srgbClr val="000000"/>
                </a:solidFill>
              </a:rPr>
              <a:t>Freeze H1–H4, the eight classifiers and their tuning budget, the metadata-only and timing-threshold baselines, the trial roll-up rule and the grouped split manifest before scored runs.</a:t>
            </a:r>
          </a:p>
        </p:txBody>
      </p:sp>
      <p:cxnSp>
        <p:nvCxnSpPr>
          <p:cNvPr id="16" name="Connector 15"/>
          <p:cNvCxnSpPr/>
          <p:nvPr/>
        </p:nvCxnSpPr>
        <p:spPr>
          <a:xfrm>
            <a:off x="3154680" y="429768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8183879" y="4023360"/>
            <a:ext cx="274320" cy="274320"/>
          </a:xfrm>
          <a:prstGeom prst="ellipse">
            <a:avLst/>
          </a:prstGeom>
          <a:solidFill>
            <a:srgbClr val="FFC000"/>
          </a:solidFill>
          <a:ln w="15875">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909559" y="4315968"/>
            <a:ext cx="822959" cy="201168"/>
          </a:xfrm>
          <a:prstGeom prst="rect">
            <a:avLst/>
          </a:prstGeom>
          <a:noFill/>
        </p:spPr>
        <p:txBody>
          <a:bodyPr wrap="square" lIns="27432" tIns="27432" rIns="27432" bIns="27432" anchor="t">
            <a:spAutoFit/>
          </a:bodyPr>
          <a:lstStyle/>
          <a:p>
            <a:pPr algn="ctr"/>
            <a:r>
              <a:rPr sz="800">
                <a:solidFill>
                  <a:srgbClr val="595959"/>
                </a:solidFill>
              </a:rPr>
              <a:t>in progress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40080" y="411480"/>
            <a:ext cx="7772400" cy="640080"/>
          </a:xfrm>
        </p:spPr>
        <p:txBody>
          <a:bodyPr wrap="square"/>
          <a:lstStyle/>
          <a:p>
            <a:r>
              <a:rPr sz="2800" b="1"/>
              <a:t>Methodology Steps – Second Level</a:t>
            </a:r>
          </a:p>
        </p:txBody>
      </p:sp>
      <p:sp>
        <p:nvSpPr>
          <p:cNvPr id="4" name="Rectangle 3"/>
          <p:cNvSpPr/>
          <p:nvPr/>
        </p:nvSpPr>
        <p:spPr>
          <a:xfrm>
            <a:off x="182880" y="1325880"/>
            <a:ext cx="2468880" cy="1554480"/>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200" b="1">
                <a:solidFill>
                  <a:srgbClr val="000000"/>
                </a:solidFill>
              </a:rPr>
              <a:t>3. Prepare both operator arms</a:t>
            </a:r>
          </a:p>
          <a:p>
            <a:pPr algn="l"/>
            <a:r>
              <a:rPr sz="1100" b="0">
                <a:solidFill>
                  <a:srgbClr val="000000"/>
                </a:solidFill>
              </a:rPr>
              <a:t>Brief the human testers, configure the autonomous AI agent and give both arms an identical foothold.</a:t>
            </a:r>
          </a:p>
        </p:txBody>
      </p:sp>
      <p:cxnSp>
        <p:nvCxnSpPr>
          <p:cNvPr id="5" name="Connector 4"/>
          <p:cNvCxnSpPr/>
          <p:nvPr/>
        </p:nvCxnSpPr>
        <p:spPr>
          <a:xfrm>
            <a:off x="2651760" y="2103120"/>
            <a:ext cx="50292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54680" y="1645920"/>
            <a:ext cx="0" cy="265176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566160" y="118872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3.1 Recruit and brief testers</a:t>
            </a:r>
          </a:p>
          <a:p>
            <a:pPr algn="l"/>
            <a:r>
              <a:rPr sz="1000" b="0">
                <a:solidFill>
                  <a:srgbClr val="000000"/>
                </a:solidFill>
              </a:rPr>
              <a:t>Two certified penetration testers for Phase 1; exposure declarations for GOAD; consent covering retention and publication use.</a:t>
            </a:r>
          </a:p>
        </p:txBody>
      </p:sp>
      <p:cxnSp>
        <p:nvCxnSpPr>
          <p:cNvPr id="8" name="Connector 7"/>
          <p:cNvCxnSpPr/>
          <p:nvPr/>
        </p:nvCxnSpPr>
        <p:spPr>
          <a:xfrm>
            <a:off x="3154680" y="164592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8183879" y="137160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09559" y="166420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1" name="Rounded Rectangle 10"/>
          <p:cNvSpPr/>
          <p:nvPr/>
        </p:nvSpPr>
        <p:spPr>
          <a:xfrm>
            <a:off x="3566160" y="251460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3.2 Configure the AI arm</a:t>
            </a:r>
          </a:p>
          <a:p>
            <a:pPr algn="l"/>
            <a:r>
              <a:rPr sz="1000" b="0">
                <a:solidFill>
                  <a:srgbClr val="000000"/>
                </a:solidFill>
              </a:rPr>
              <a:t>ARTEMIS driving the DGX Spark-hosted model with autonomy, per-step latency and provenance logged; the in-house agent loop or a hosted model is the backup within the spending cap.</a:t>
            </a:r>
          </a:p>
        </p:txBody>
      </p:sp>
      <p:cxnSp>
        <p:nvCxnSpPr>
          <p:cNvPr id="12" name="Connector 11"/>
          <p:cNvCxnSpPr/>
          <p:nvPr/>
        </p:nvCxnSpPr>
        <p:spPr>
          <a:xfrm>
            <a:off x="3154680" y="297180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183879" y="269748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09559" y="299008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5" name="Rounded Rectangle 14"/>
          <p:cNvSpPr/>
          <p:nvPr/>
        </p:nvSpPr>
        <p:spPr>
          <a:xfrm>
            <a:off x="3566160" y="384048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3.3 Equalize the foothold</a:t>
            </a:r>
          </a:p>
          <a:p>
            <a:pPr algn="l"/>
            <a:r>
              <a:rPr sz="1000" b="0">
                <a:solidFill>
                  <a:srgbClr val="000000"/>
                </a:solidFill>
              </a:rPr>
              <a:t>Same OS, tool manifest, offline reference corpus and interactive terminal session for both arms so logons and parent processes do not reveal the arm.</a:t>
            </a:r>
          </a:p>
        </p:txBody>
      </p:sp>
      <p:cxnSp>
        <p:nvCxnSpPr>
          <p:cNvPr id="16" name="Connector 15"/>
          <p:cNvCxnSpPr/>
          <p:nvPr/>
        </p:nvCxnSpPr>
        <p:spPr>
          <a:xfrm>
            <a:off x="3154680" y="429768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8183879" y="402336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909559" y="431596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40080" y="411480"/>
            <a:ext cx="7772400" cy="640080"/>
          </a:xfrm>
        </p:spPr>
        <p:txBody>
          <a:bodyPr wrap="square"/>
          <a:lstStyle/>
          <a:p>
            <a:r>
              <a:rPr sz="2800" b="1"/>
              <a:t>Methodology Steps – Second Level</a:t>
            </a:r>
          </a:p>
        </p:txBody>
      </p:sp>
      <p:sp>
        <p:nvSpPr>
          <p:cNvPr id="4" name="Rectangle 3"/>
          <p:cNvSpPr/>
          <p:nvPr/>
        </p:nvSpPr>
        <p:spPr>
          <a:xfrm>
            <a:off x="182880" y="1325880"/>
            <a:ext cx="2468880" cy="1554480"/>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200" b="1">
                <a:solidFill>
                  <a:srgbClr val="000000"/>
                </a:solidFill>
              </a:rPr>
              <a:t>4. Generate the dataset: run matched APT trials</a:t>
            </a:r>
          </a:p>
          <a:p>
            <a:pPr algn="l"/>
            <a:r>
              <a:rPr sz="1100" b="0">
                <a:solidFill>
                  <a:srgbClr val="000000"/>
                </a:solidFill>
              </a:rPr>
              <a:t>Black-box and white-box trials per arm from verified resets, with per-trial data quality checks.</a:t>
            </a:r>
          </a:p>
        </p:txBody>
      </p:sp>
      <p:cxnSp>
        <p:nvCxnSpPr>
          <p:cNvPr id="5" name="Connector 4"/>
          <p:cNvCxnSpPr/>
          <p:nvPr/>
        </p:nvCxnSpPr>
        <p:spPr>
          <a:xfrm>
            <a:off x="2651760" y="2103120"/>
            <a:ext cx="50292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54680" y="1645920"/>
            <a:ext cx="0" cy="265176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566160" y="118872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4.1 Reset and verify telemetry</a:t>
            </a:r>
          </a:p>
          <a:p>
            <a:pPr algn="l"/>
            <a:r>
              <a:rPr sz="1000" b="0">
                <a:solidFill>
                  <a:srgbClr val="000000"/>
                </a:solidFill>
              </a:rPr>
              <a:t>Rebuild from images and attest the clean state; canaries on every source, UTC offset ≤ 1 s and SHA-256 manifests; a failed check means remediate and rerun that trial.</a:t>
            </a:r>
          </a:p>
        </p:txBody>
      </p:sp>
      <p:cxnSp>
        <p:nvCxnSpPr>
          <p:cNvPr id="8" name="Connector 7"/>
          <p:cNvCxnSpPr/>
          <p:nvPr/>
        </p:nvCxnSpPr>
        <p:spPr>
          <a:xfrm>
            <a:off x="3154680" y="164592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8183879" y="137160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09559" y="166420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1" name="Rounded Rectangle 10"/>
          <p:cNvSpPr/>
          <p:nvPr/>
        </p:nvSpPr>
        <p:spPr>
          <a:xfrm>
            <a:off x="3566160" y="251460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4.2 Run scored APT trials</a:t>
            </a:r>
          </a:p>
          <a:p>
            <a:pPr algn="l"/>
            <a:r>
              <a:rPr sz="1000" b="0">
                <a:solidFill>
                  <a:srgbClr val="000000"/>
                </a:solidFill>
              </a:rPr>
              <a:t>Black-box (primary) and white-box trials per arm, counterbalancing replica, day and address; walkthrough runs, scripted replay (never labeled AI) and benign baselines as controls.</a:t>
            </a:r>
          </a:p>
        </p:txBody>
      </p:sp>
      <p:cxnSp>
        <p:nvCxnSpPr>
          <p:cNvPr id="12" name="Connector 11"/>
          <p:cNvCxnSpPr/>
          <p:nvPr/>
        </p:nvCxnSpPr>
        <p:spPr>
          <a:xfrm>
            <a:off x="3154680" y="297180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183879" y="269748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09559" y="299008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5" name="Rounded Rectangle 14"/>
          <p:cNvSpPr/>
          <p:nvPr/>
        </p:nvSpPr>
        <p:spPr>
          <a:xfrm>
            <a:off x="3566160" y="384048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4.3 Record outcomes</a:t>
            </a:r>
          </a:p>
          <a:p>
            <a:pPr algn="l"/>
            <a:r>
              <a:rPr sz="1000" b="0">
                <a:solidFill>
                  <a:srgbClr val="000000"/>
                </a:solidFill>
              </a:rPr>
              <a:t>Time-to-objective (censored at window close), interventions and deviations; aborted and failed runs stay in the registry with the reason.</a:t>
            </a:r>
          </a:p>
        </p:txBody>
      </p:sp>
      <p:cxnSp>
        <p:nvCxnSpPr>
          <p:cNvPr id="16" name="Connector 15"/>
          <p:cNvCxnSpPr/>
          <p:nvPr/>
        </p:nvCxnSpPr>
        <p:spPr>
          <a:xfrm>
            <a:off x="3154680" y="429768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8183879" y="402336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909559" y="431596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40080" y="411480"/>
            <a:ext cx="7772400" cy="640080"/>
          </a:xfrm>
        </p:spPr>
        <p:txBody>
          <a:bodyPr wrap="square"/>
          <a:lstStyle/>
          <a:p>
            <a:r>
              <a:rPr sz="2800" b="1"/>
              <a:t>Methodology Steps – Second Level</a:t>
            </a:r>
          </a:p>
        </p:txBody>
      </p:sp>
      <p:sp>
        <p:nvSpPr>
          <p:cNvPr id="4" name="Rectangle 3"/>
          <p:cNvSpPr/>
          <p:nvPr/>
        </p:nvSpPr>
        <p:spPr>
          <a:xfrm>
            <a:off x="182880" y="1325880"/>
            <a:ext cx="2468880" cy="1554480"/>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200" b="1">
                <a:solidFill>
                  <a:srgbClr val="000000"/>
                </a:solidFill>
              </a:rPr>
              <a:t>5. Archive and assemble the labeled dataset</a:t>
            </a:r>
          </a:p>
          <a:p>
            <a:pPr algn="l"/>
            <a:r>
              <a:rPr sz="1100" b="0">
                <a:solidFill>
                  <a:srgbClr val="000000"/>
                </a:solidFill>
              </a:rPr>
              <a:t>Native logs with hash manifests plus ground-truth labels, released as a versioned per-trial dataset.</a:t>
            </a:r>
          </a:p>
        </p:txBody>
      </p:sp>
      <p:cxnSp>
        <p:nvCxnSpPr>
          <p:cNvPr id="5" name="Connector 4"/>
          <p:cNvCxnSpPr/>
          <p:nvPr/>
        </p:nvCxnSpPr>
        <p:spPr>
          <a:xfrm>
            <a:off x="2651760" y="2103120"/>
            <a:ext cx="50292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54680" y="1645920"/>
            <a:ext cx="0" cy="265176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566160" y="118872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5.1 Export native logs per trial</a:t>
            </a:r>
          </a:p>
          <a:p>
            <a:pPr algn="l"/>
            <a:r>
              <a:rPr sz="1000" b="0">
                <a:solidFill>
                  <a:srgbClr val="000000"/>
                </a:solidFill>
              </a:rPr>
              <a:t>EVTX, Sysmon, PowerShell, Zeek/Suricata, capped PCAP and Flow Logs with SHA-256 manifests; an evidence steward separate from the builder spot-checks hashes.</a:t>
            </a:r>
          </a:p>
        </p:txBody>
      </p:sp>
      <p:cxnSp>
        <p:nvCxnSpPr>
          <p:cNvPr id="8" name="Connector 7"/>
          <p:cNvCxnSpPr/>
          <p:nvPr/>
        </p:nvCxnSpPr>
        <p:spPr>
          <a:xfrm>
            <a:off x="3154680" y="164592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8183879" y="137160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09559" y="166420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1" name="Rounded Rectangle 10"/>
          <p:cNvSpPr/>
          <p:nvPr/>
        </p:nvSpPr>
        <p:spPr>
          <a:xfrm>
            <a:off x="3566160" y="251460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5.2 Maintain the trial registry</a:t>
            </a:r>
          </a:p>
          <a:p>
            <a:pPr algn="l"/>
            <a:r>
              <a:rPr sz="1000" b="0">
                <a:solidFill>
                  <a:srgbClr val="000000"/>
                </a:solidFill>
              </a:rPr>
              <a:t>Ground-truth labels (arm, operator or AI configuration, condition), intervention log and partition assignments kept apart from feature directories with restricted access.</a:t>
            </a:r>
          </a:p>
        </p:txBody>
      </p:sp>
      <p:cxnSp>
        <p:nvCxnSpPr>
          <p:cNvPr id="12" name="Connector 11"/>
          <p:cNvCxnSpPr/>
          <p:nvPr/>
        </p:nvCxnSpPr>
        <p:spPr>
          <a:xfrm>
            <a:off x="3154680" y="297180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183879" y="269748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09559" y="299008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5" name="Rounded Rectangle 14"/>
          <p:cNvSpPr/>
          <p:nvPr/>
        </p:nvSpPr>
        <p:spPr>
          <a:xfrm>
            <a:off x="3566160" y="384048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5.3 Release the analysis dataset</a:t>
            </a:r>
          </a:p>
          <a:p>
            <a:pPr algn="l"/>
            <a:r>
              <a:rPr sz="1000" b="0">
                <a:solidFill>
                  <a:srgbClr val="000000"/>
                </a:solidFill>
              </a:rPr>
              <a:t>Segment each trial by registry UTC bounds, join host and network evidence, publish a data dictionary and freeze dataset v1.0 for feature engineering.</a:t>
            </a:r>
          </a:p>
        </p:txBody>
      </p:sp>
      <p:cxnSp>
        <p:nvCxnSpPr>
          <p:cNvPr id="16" name="Connector 15"/>
          <p:cNvCxnSpPr/>
          <p:nvPr/>
        </p:nvCxnSpPr>
        <p:spPr>
          <a:xfrm>
            <a:off x="3154680" y="429768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8183879" y="402336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909559" y="431596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40080" y="411480"/>
            <a:ext cx="7772400" cy="640080"/>
          </a:xfrm>
        </p:spPr>
        <p:txBody>
          <a:bodyPr wrap="square"/>
          <a:lstStyle/>
          <a:p>
            <a:r>
              <a:rPr sz="2800" b="1"/>
              <a:t>Methodology Steps – Second Level</a:t>
            </a:r>
          </a:p>
        </p:txBody>
      </p:sp>
      <p:sp>
        <p:nvSpPr>
          <p:cNvPr id="4" name="Rectangle 3"/>
          <p:cNvSpPr/>
          <p:nvPr/>
        </p:nvSpPr>
        <p:spPr>
          <a:xfrm>
            <a:off x="182880" y="1325880"/>
            <a:ext cx="2468880" cy="1554480"/>
          </a:xfrm>
          <a:prstGeom prst="rect">
            <a:avLst/>
          </a:prstGeom>
          <a:solidFill>
            <a:srgbClr val="E5E0EC"/>
          </a:solidFill>
          <a:ln w="12700">
            <a:solidFill>
              <a:srgbClr val="8064A2"/>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200" b="1">
                <a:solidFill>
                  <a:srgbClr val="000000"/>
                </a:solidFill>
              </a:rPr>
              <a:t>6. Engineer target-side features</a:t>
            </a:r>
          </a:p>
          <a:p>
            <a:pPr algn="l"/>
            <a:r>
              <a:rPr sz="1100" b="0">
                <a:solidFill>
                  <a:srgbClr val="000000"/>
                </a:solidFill>
              </a:rPr>
              <a:t>Turn host and network evidence into pre-declared behavioral feature families behind a leakage deny-list.</a:t>
            </a:r>
          </a:p>
        </p:txBody>
      </p:sp>
      <p:cxnSp>
        <p:nvCxnSpPr>
          <p:cNvPr id="5" name="Connector 4"/>
          <p:cNvCxnSpPr/>
          <p:nvPr/>
        </p:nvCxnSpPr>
        <p:spPr>
          <a:xfrm>
            <a:off x="2651760" y="2103120"/>
            <a:ext cx="50292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54680" y="1645920"/>
            <a:ext cx="0" cy="265176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566160" y="118872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6.1 Host features</a:t>
            </a:r>
          </a:p>
          <a:p>
            <a:pPr algn="l"/>
            <a:r>
              <a:rPr sz="1000" b="0">
                <a:solidFill>
                  <a:srgbClr val="000000"/>
                </a:solidFill>
              </a:rPr>
              <a:t>ATT&amp;CK-mapped categories: command diversity, transition entropy, enumeration breadth, Kerberos and LDAP cadence, hosts touched per hour, phase ordering, retries and errors.</a:t>
            </a:r>
          </a:p>
        </p:txBody>
      </p:sp>
      <p:cxnSp>
        <p:nvCxnSpPr>
          <p:cNvPr id="8" name="Connector 7"/>
          <p:cNvCxnSpPr/>
          <p:nvPr/>
        </p:nvCxnSpPr>
        <p:spPr>
          <a:xfrm>
            <a:off x="3154680" y="164592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8183879" y="137160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09559" y="166420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1" name="Rounded Rectangle 10"/>
          <p:cNvSpPr/>
          <p:nvPr/>
        </p:nvSpPr>
        <p:spPr>
          <a:xfrm>
            <a:off x="3566160" y="251460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6.2 Network features</a:t>
            </a:r>
          </a:p>
          <a:p>
            <a:pPr algn="l"/>
            <a:r>
              <a:rPr sz="1000" b="0">
                <a:solidFill>
                  <a:srgbClr val="000000"/>
                </a:solidFill>
              </a:rPr>
              <a:t>Connection concurrency (parallelism), inter-arrival timing, protocol mix and burst structure from Zeek/Suricata; Flow Logs for coverage only.</a:t>
            </a:r>
          </a:p>
        </p:txBody>
      </p:sp>
      <p:cxnSp>
        <p:nvCxnSpPr>
          <p:cNvPr id="12" name="Connector 11"/>
          <p:cNvCxnSpPr/>
          <p:nvPr/>
        </p:nvCxnSpPr>
        <p:spPr>
          <a:xfrm>
            <a:off x="3154680" y="297180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183879" y="269748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09559" y="299008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5" name="Rounded Rectangle 14"/>
          <p:cNvSpPr/>
          <p:nvPr/>
        </p:nvSpPr>
        <p:spPr>
          <a:xfrm>
            <a:off x="3566160" y="384048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6.3 Deny-list and feature matrix</a:t>
            </a:r>
          </a:p>
          <a:p>
            <a:pPr algn="l"/>
            <a:r>
              <a:rPr sz="1000" b="0">
                <a:solidFill>
                  <a:srgbClr val="000000"/>
                </a:solidFill>
              </a:rPr>
              <a:t>Strip IPs, hostnames, accounts, banners, parent process, runner artifacts and experimenter-set hours; convert counts to rates; output one versioned feature matrix.</a:t>
            </a:r>
          </a:p>
        </p:txBody>
      </p:sp>
      <p:cxnSp>
        <p:nvCxnSpPr>
          <p:cNvPr id="16" name="Connector 15"/>
          <p:cNvCxnSpPr/>
          <p:nvPr/>
        </p:nvCxnSpPr>
        <p:spPr>
          <a:xfrm>
            <a:off x="3154680" y="429768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8183879" y="402336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909559" y="431596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40080" y="411480"/>
            <a:ext cx="7772400" cy="640080"/>
          </a:xfrm>
        </p:spPr>
        <p:txBody>
          <a:bodyPr wrap="square"/>
          <a:lstStyle/>
          <a:p>
            <a:r>
              <a:rPr sz="2800" b="1"/>
              <a:t>Methodology Steps – Second Level</a:t>
            </a:r>
          </a:p>
        </p:txBody>
      </p:sp>
      <p:sp>
        <p:nvSpPr>
          <p:cNvPr id="4" name="Rectangle 3"/>
          <p:cNvSpPr/>
          <p:nvPr/>
        </p:nvSpPr>
        <p:spPr>
          <a:xfrm>
            <a:off x="182880" y="1325880"/>
            <a:ext cx="2468880" cy="1554480"/>
          </a:xfrm>
          <a:prstGeom prst="rect">
            <a:avLst/>
          </a:prstGeom>
          <a:solidFill>
            <a:srgbClr val="E5E0EC"/>
          </a:solidFill>
          <a:ln w="12700">
            <a:solidFill>
              <a:srgbClr val="8064A2"/>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200" b="1">
                <a:solidFill>
                  <a:srgbClr val="000000"/>
                </a:solidFill>
              </a:rPr>
              <a:t>7. Exploratory data analysis (EDA)</a:t>
            </a:r>
          </a:p>
          <a:p>
            <a:pPr algn="l"/>
            <a:r>
              <a:rPr sz="1100" b="0">
                <a:solidFill>
                  <a:srgbClr val="000000"/>
                </a:solidFill>
              </a:rPr>
              <a:t>Profile the training trials: class balance, distributions by arm, correlations and top-ranked features.</a:t>
            </a:r>
          </a:p>
        </p:txBody>
      </p:sp>
      <p:cxnSp>
        <p:nvCxnSpPr>
          <p:cNvPr id="5" name="Connector 4"/>
          <p:cNvCxnSpPr/>
          <p:nvPr/>
        </p:nvCxnSpPr>
        <p:spPr>
          <a:xfrm>
            <a:off x="2651760" y="2103120"/>
            <a:ext cx="50292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54680" y="1645920"/>
            <a:ext cx="0" cy="265176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566160" y="118872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7.1 Profile the dataset</a:t>
            </a:r>
          </a:p>
          <a:p>
            <a:pPr algn="l"/>
            <a:r>
              <a:rPr sz="1000" b="0">
                <a:solidFill>
                  <a:srgbClr val="000000"/>
                </a:solidFill>
              </a:rPr>
              <a:t>Trial counts per arm and condition, missing values and sensor loss, summary statistics and box plots of every feature by arm; training trials only, test trials stay locked.</a:t>
            </a:r>
          </a:p>
        </p:txBody>
      </p:sp>
      <p:cxnSp>
        <p:nvCxnSpPr>
          <p:cNvPr id="8" name="Connector 7"/>
          <p:cNvCxnSpPr/>
          <p:nvPr/>
        </p:nvCxnSpPr>
        <p:spPr>
          <a:xfrm>
            <a:off x="3154680" y="164592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8183879" y="137160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09559" y="166420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1" name="Rounded Rectangle 10"/>
          <p:cNvSpPr/>
          <p:nvPr/>
        </p:nvSpPr>
        <p:spPr>
          <a:xfrm>
            <a:off x="3566160" y="251460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7.2 Rank the top features</a:t>
            </a:r>
          </a:p>
          <a:p>
            <a:pPr algn="l"/>
            <a:r>
              <a:rPr sz="1000" b="0">
                <a:solidFill>
                  <a:srgbClr val="000000"/>
                </a:solidFill>
              </a:rPr>
              <a:t>Mutual information, effect sizes (Mann-Whitney U, Cliff’s delta) and a preliminary Random Forest importance, combined into a ranked top-feature list by family.</a:t>
            </a:r>
          </a:p>
        </p:txBody>
      </p:sp>
      <p:cxnSp>
        <p:nvCxnSpPr>
          <p:cNvPr id="12" name="Connector 11"/>
          <p:cNvCxnSpPr/>
          <p:nvPr/>
        </p:nvCxnSpPr>
        <p:spPr>
          <a:xfrm>
            <a:off x="3154680" y="297180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183879" y="269748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09559" y="299008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5" name="Rounded Rectangle 14"/>
          <p:cNvSpPr/>
          <p:nvPr/>
        </p:nvSpPr>
        <p:spPr>
          <a:xfrm>
            <a:off x="3566160" y="384048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7.3 Map structure and redundancy</a:t>
            </a:r>
          </a:p>
          <a:p>
            <a:pPr algn="l"/>
            <a:r>
              <a:rPr sz="1000" b="0">
                <a:solidFill>
                  <a:srgbClr val="000000"/>
                </a:solidFill>
              </a:rPr>
              <a:t>Correlation heatmap and pruning of near-duplicate features (|r| &gt; 0.9); PCA and t-SNE projections showing how human and AI trials separate.</a:t>
            </a:r>
          </a:p>
        </p:txBody>
      </p:sp>
      <p:cxnSp>
        <p:nvCxnSpPr>
          <p:cNvPr id="16" name="Connector 15"/>
          <p:cNvCxnSpPr/>
          <p:nvPr/>
        </p:nvCxnSpPr>
        <p:spPr>
          <a:xfrm>
            <a:off x="3154680" y="429768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8183879" y="402336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909559" y="431596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40080" y="411480"/>
            <a:ext cx="7772400" cy="640080"/>
          </a:xfrm>
        </p:spPr>
        <p:txBody>
          <a:bodyPr wrap="square"/>
          <a:lstStyle/>
          <a:p>
            <a:r>
              <a:rPr sz="2800" b="1"/>
              <a:t>Methodology Steps – Second Level</a:t>
            </a:r>
          </a:p>
        </p:txBody>
      </p:sp>
      <p:sp>
        <p:nvSpPr>
          <p:cNvPr id="4" name="Rectangle 3"/>
          <p:cNvSpPr/>
          <p:nvPr/>
        </p:nvSpPr>
        <p:spPr>
          <a:xfrm>
            <a:off x="182880" y="1325880"/>
            <a:ext cx="2468880" cy="1554480"/>
          </a:xfrm>
          <a:prstGeom prst="rect">
            <a:avLst/>
          </a:prstGeom>
          <a:solidFill>
            <a:srgbClr val="E5E0EC"/>
          </a:solidFill>
          <a:ln w="12700">
            <a:solidFill>
              <a:srgbClr val="8064A2"/>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200" b="1">
                <a:solidFill>
                  <a:srgbClr val="000000"/>
                </a:solidFill>
              </a:rPr>
              <a:t>8. Train and tune eight classifiers</a:t>
            </a:r>
          </a:p>
          <a:p>
            <a:pPr algn="l"/>
            <a:r>
              <a:rPr sz="1100" b="0">
                <a:solidFill>
                  <a:srgbClr val="000000"/>
                </a:solidFill>
              </a:rPr>
              <a:t>GB, RF, XGBoost, DT, LR, linear SVM, NB and KNN on identical grouped folds with equal tuning budgets.</a:t>
            </a:r>
          </a:p>
        </p:txBody>
      </p:sp>
      <p:cxnSp>
        <p:nvCxnSpPr>
          <p:cNvPr id="5" name="Connector 4"/>
          <p:cNvCxnSpPr/>
          <p:nvPr/>
        </p:nvCxnSpPr>
        <p:spPr>
          <a:xfrm>
            <a:off x="2651760" y="2103120"/>
            <a:ext cx="50292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54680" y="1645920"/>
            <a:ext cx="0" cy="265176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566160" y="118872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8.1 Fit the eight classifiers</a:t>
            </a:r>
          </a:p>
          <a:p>
            <a:pPr algn="l"/>
            <a:r>
              <a:rPr sz="1000" b="0">
                <a:solidFill>
                  <a:srgbClr val="000000"/>
                </a:solidFill>
              </a:rPr>
              <a:t>Gradient Boosting (hypothesized best), Random Forest, XGBoost, Decision Tree, Logistic Regression, SVM (linear kernel after tuning), Naïve Bayes and K-Nearest Neighbors.</a:t>
            </a:r>
          </a:p>
        </p:txBody>
      </p:sp>
      <p:cxnSp>
        <p:nvCxnSpPr>
          <p:cNvPr id="8" name="Connector 7"/>
          <p:cNvCxnSpPr/>
          <p:nvPr/>
        </p:nvCxnSpPr>
        <p:spPr>
          <a:xfrm>
            <a:off x="3154680" y="164592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8183879" y="137160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09559" y="166420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1" name="Rounded Rectangle 10"/>
          <p:cNvSpPr/>
          <p:nvPr/>
        </p:nvSpPr>
        <p:spPr>
          <a:xfrm>
            <a:off x="3566160" y="251460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8.2 Tune on grouped folds</a:t>
            </a:r>
          </a:p>
          <a:p>
            <a:pPr algn="l"/>
            <a:r>
              <a:rPr sz="1000" b="0">
                <a:solidFill>
                  <a:srgbClr val="000000"/>
                </a:solidFill>
              </a:rPr>
              <a:t>Randomized search with the same budget per model; scaling and class balancing fitted inside training folds only; all windows from one trial stay on one side of every split.</a:t>
            </a:r>
          </a:p>
        </p:txBody>
      </p:sp>
      <p:cxnSp>
        <p:nvCxnSpPr>
          <p:cNvPr id="12" name="Connector 11"/>
          <p:cNvCxnSpPr/>
          <p:nvPr/>
        </p:nvCxnSpPr>
        <p:spPr>
          <a:xfrm>
            <a:off x="3154680" y="297180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183879" y="269748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09559" y="299008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5" name="Rounded Rectangle 14"/>
          <p:cNvSpPr/>
          <p:nvPr/>
        </p:nvSpPr>
        <p:spPr>
          <a:xfrm>
            <a:off x="3566160" y="384048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8.3 Fit the baselines</a:t>
            </a:r>
          </a:p>
          <a:p>
            <a:pPr algn="l"/>
            <a:r>
              <a:rPr sz="1000" b="0">
                <a:solidFill>
                  <a:srgbClr val="000000"/>
                </a:solidFill>
              </a:rPr>
              <a:t>Metadata-only model and Palisade-style timing-threshold rule on the same folds, as the leakage check and the current best-known AI signal every classifier must beat.</a:t>
            </a:r>
          </a:p>
        </p:txBody>
      </p:sp>
      <p:cxnSp>
        <p:nvCxnSpPr>
          <p:cNvPr id="16" name="Connector 15"/>
          <p:cNvCxnSpPr/>
          <p:nvPr/>
        </p:nvCxnSpPr>
        <p:spPr>
          <a:xfrm>
            <a:off x="3154680" y="429768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8183879" y="402336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909559" y="431596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40080" y="411480"/>
            <a:ext cx="7772400" cy="640080"/>
          </a:xfrm>
        </p:spPr>
        <p:txBody>
          <a:bodyPr wrap="square"/>
          <a:lstStyle/>
          <a:p>
            <a:r>
              <a:rPr sz="2800" b="1"/>
              <a:t>Methodology Steps – Second Level</a:t>
            </a:r>
          </a:p>
        </p:txBody>
      </p:sp>
      <p:sp>
        <p:nvSpPr>
          <p:cNvPr id="4" name="Rectangle 3"/>
          <p:cNvSpPr/>
          <p:nvPr/>
        </p:nvSpPr>
        <p:spPr>
          <a:xfrm>
            <a:off x="182880" y="1325880"/>
            <a:ext cx="2468880" cy="1554480"/>
          </a:xfrm>
          <a:prstGeom prst="rect">
            <a:avLst/>
          </a:prstGeom>
          <a:solidFill>
            <a:srgbClr val="E5E0EC"/>
          </a:solidFill>
          <a:ln w="12700">
            <a:solidFill>
              <a:srgbClr val="8064A2"/>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200" b="1">
                <a:solidFill>
                  <a:srgbClr val="000000"/>
                </a:solidFill>
              </a:rPr>
              <a:t>9. Evaluate, compare and interpret</a:t>
            </a:r>
          </a:p>
          <a:p>
            <a:pPr algn="l"/>
            <a:r>
              <a:rPr sz="1100" b="0">
                <a:solidFill>
                  <a:srgbClr val="000000"/>
                </a:solidFill>
              </a:rPr>
              <a:t>Rank classifiers on locked test trials (is GB best?), compare with baselines and ablate feature families.</a:t>
            </a:r>
          </a:p>
        </p:txBody>
      </p:sp>
      <p:cxnSp>
        <p:nvCxnSpPr>
          <p:cNvPr id="5" name="Connector 4"/>
          <p:cNvCxnSpPr/>
          <p:nvPr/>
        </p:nvCxnSpPr>
        <p:spPr>
          <a:xfrm>
            <a:off x="2651760" y="2103120"/>
            <a:ext cx="50292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54680" y="1645920"/>
            <a:ext cx="0" cy="265176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566160" y="118872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9.1 Locked test and metrics</a:t>
            </a:r>
          </a:p>
          <a:p>
            <a:pPr algn="l"/>
            <a:r>
              <a:rPr sz="1000" b="0">
                <a:solidFill>
                  <a:srgbClr val="000000"/>
                </a:solidFill>
              </a:rPr>
              <a:t>Window scores roll up to trial predictions by the frozen rule; trial-level macro-F1, per-class precision and recall, ROC-AUC and confusion matrix for every classifier.</a:t>
            </a:r>
          </a:p>
        </p:txBody>
      </p:sp>
      <p:cxnSp>
        <p:nvCxnSpPr>
          <p:cNvPr id="8" name="Connector 7"/>
          <p:cNvCxnSpPr/>
          <p:nvPr/>
        </p:nvCxnSpPr>
        <p:spPr>
          <a:xfrm>
            <a:off x="3154680" y="164592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8183879" y="137160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09559" y="166420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1" name="Rounded Rectangle 10"/>
          <p:cNvSpPr/>
          <p:nvPr/>
        </p:nvSpPr>
        <p:spPr>
          <a:xfrm>
            <a:off x="3566160" y="251460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9.2 Compare classifiers (RQ3, H3)</a:t>
            </a:r>
          </a:p>
          <a:p>
            <a:pPr algn="l"/>
            <a:r>
              <a:rPr sz="1000" b="0">
                <a:solidFill>
                  <a:srgbClr val="000000"/>
                </a:solidFill>
              </a:rPr>
              <a:t>Rank all eight by macro-F1; a Friedman test with Nemenyi post-hoc across folds and paired bootstrap intervals on test trials decide whether Gradient Boosting is best.</a:t>
            </a:r>
          </a:p>
        </p:txBody>
      </p:sp>
      <p:cxnSp>
        <p:nvCxnSpPr>
          <p:cNvPr id="12" name="Connector 11"/>
          <p:cNvCxnSpPr/>
          <p:nvPr/>
        </p:nvCxnSpPr>
        <p:spPr>
          <a:xfrm>
            <a:off x="3154680" y="297180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183879" y="269748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09559" y="299008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5" name="Rounded Rectangle 14"/>
          <p:cNvSpPr/>
          <p:nvPr/>
        </p:nvSpPr>
        <p:spPr>
          <a:xfrm>
            <a:off x="3566160" y="384048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9.3 Interpret and ablate (RQ2, H2)</a:t>
            </a:r>
          </a:p>
          <a:p>
            <a:pPr algn="l"/>
            <a:r>
              <a:rPr sz="1000" b="0">
                <a:solidFill>
                  <a:srgbClr val="000000"/>
                </a:solidFill>
              </a:rPr>
              <a:t>Permutation importance and SHAP by feature family; remove timing, then timing plus tool identifiers, and report the macro-F1 drop on the same folds.</a:t>
            </a:r>
          </a:p>
        </p:txBody>
      </p:sp>
      <p:cxnSp>
        <p:nvCxnSpPr>
          <p:cNvPr id="16" name="Connector 15"/>
          <p:cNvCxnSpPr/>
          <p:nvPr/>
        </p:nvCxnSpPr>
        <p:spPr>
          <a:xfrm>
            <a:off x="3154680" y="429768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8183879" y="402336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909559" y="431596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40080" y="411480"/>
            <a:ext cx="7772400" cy="640080"/>
          </a:xfrm>
        </p:spPr>
        <p:txBody>
          <a:bodyPr wrap="square"/>
          <a:lstStyle/>
          <a:p>
            <a:r>
              <a:rPr sz="2800" b="1"/>
              <a:t>Methodology Steps – Second Level</a:t>
            </a:r>
          </a:p>
        </p:txBody>
      </p:sp>
      <p:sp>
        <p:nvSpPr>
          <p:cNvPr id="4" name="Rectangle 3"/>
          <p:cNvSpPr/>
          <p:nvPr/>
        </p:nvSpPr>
        <p:spPr>
          <a:xfrm>
            <a:off x="182880" y="1325880"/>
            <a:ext cx="2468880" cy="1554480"/>
          </a:xfrm>
          <a:prstGeom prst="rect">
            <a:avLst/>
          </a:prstGeom>
          <a:solidFill>
            <a:srgbClr val="F2F2F2"/>
          </a:solidFill>
          <a:ln w="12700">
            <a:solidFill>
              <a:srgbClr val="7F7F7F"/>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200" b="1">
                <a:solidFill>
                  <a:srgbClr val="000000"/>
                </a:solidFill>
              </a:rPr>
              <a:t>10. Phase 2 extension and defense</a:t>
            </a:r>
          </a:p>
          <a:p>
            <a:pPr algn="l"/>
            <a:r>
              <a:rPr sz="1100" b="0">
                <a:solidFill>
                  <a:srgbClr val="000000"/>
                </a:solidFill>
              </a:rPr>
              <a:t>Held-out operators, evasion arm, reproducibility package, write-up and praxis defense.</a:t>
            </a:r>
          </a:p>
        </p:txBody>
      </p:sp>
      <p:cxnSp>
        <p:nvCxnSpPr>
          <p:cNvPr id="5" name="Connector 4"/>
          <p:cNvCxnSpPr/>
          <p:nvPr/>
        </p:nvCxnSpPr>
        <p:spPr>
          <a:xfrm>
            <a:off x="2651760" y="2103120"/>
            <a:ext cx="50292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54680" y="1645920"/>
            <a:ext cx="0" cy="265176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566160" y="118872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10.1 Generalize and stress-test (RQ4, RQ5, H4)</a:t>
            </a:r>
          </a:p>
          <a:p>
            <a:pPr algn="l"/>
            <a:r>
              <a:rPr sz="1000" b="0">
                <a:solidFill>
                  <a:srgbClr val="000000"/>
                </a:solidFill>
              </a:rPr>
              <a:t>With recruiting and funding settled: at least 3 testers and 2 AI configurations in multi-day APT campaigns; hold out one of each; add the human-pacing evasion arm.</a:t>
            </a:r>
          </a:p>
        </p:txBody>
      </p:sp>
      <p:cxnSp>
        <p:nvCxnSpPr>
          <p:cNvPr id="8" name="Connector 7"/>
          <p:cNvCxnSpPr/>
          <p:nvPr/>
        </p:nvCxnSpPr>
        <p:spPr>
          <a:xfrm>
            <a:off x="3154680" y="164592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8183879" y="137160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09559" y="166420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1" name="Rounded Rectangle 10"/>
          <p:cNvSpPr/>
          <p:nvPr/>
        </p:nvSpPr>
        <p:spPr>
          <a:xfrm>
            <a:off x="3566160" y="251460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10.2 Reproducibility package</a:t>
            </a:r>
          </a:p>
          <a:p>
            <a:pPr algn="l"/>
            <a:r>
              <a:rPr sz="1000" b="0">
                <a:solidFill>
                  <a:srgbClr val="000000"/>
                </a:solidFill>
              </a:rPr>
              <a:t>Stored logs, frozen splits, versioned feature, EDA and model code, seeds, container image, trained models, raw predictions, protocol and deviation log.</a:t>
            </a:r>
          </a:p>
        </p:txBody>
      </p:sp>
      <p:cxnSp>
        <p:nvCxnSpPr>
          <p:cNvPr id="12" name="Connector 11"/>
          <p:cNvCxnSpPr/>
          <p:nvPr/>
        </p:nvCxnSpPr>
        <p:spPr>
          <a:xfrm>
            <a:off x="3154680" y="297180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183879" y="269748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09559" y="299008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5" name="Rounded Rectangle 14"/>
          <p:cNvSpPr/>
          <p:nvPr/>
        </p:nvSpPr>
        <p:spPr>
          <a:xfrm>
            <a:off x="3566160" y="384048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10.3 Write up and defend</a:t>
            </a:r>
          </a:p>
          <a:p>
            <a:pPr algn="l"/>
            <a:r>
              <a:rPr sz="1000" b="0">
                <a:solidFill>
                  <a:srgbClr val="000000"/>
                </a:solidFill>
              </a:rPr>
              <a:t>Report every trial, exclusion and all eight classifier results; prepare the praxis defense deck and abstract.</a:t>
            </a:r>
          </a:p>
        </p:txBody>
      </p:sp>
      <p:cxnSp>
        <p:nvCxnSpPr>
          <p:cNvPr id="16" name="Connector 15"/>
          <p:cNvCxnSpPr/>
          <p:nvPr/>
        </p:nvCxnSpPr>
        <p:spPr>
          <a:xfrm>
            <a:off x="3154680" y="429768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8183879" y="402336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909559" y="431596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434840" y="228600"/>
            <a:ext cx="4480560" cy="411480"/>
          </a:xfrm>
          <a:prstGeom prst="rect">
            <a:avLst/>
          </a:prstGeom>
          <a:noFill/>
        </p:spPr>
        <p:txBody>
          <a:bodyPr wrap="square" lIns="27432" tIns="27432" rIns="27432" bIns="27432" anchor="t">
            <a:spAutoFit/>
          </a:bodyPr>
          <a:lstStyle/>
          <a:p>
            <a:r>
              <a:rPr sz="1600" b="1">
                <a:solidFill>
                  <a:srgbClr val="000000"/>
                </a:solidFill>
              </a:rPr>
              <a:t>Dataset Generation Pipeline (Branch 1)</a:t>
            </a:r>
          </a:p>
        </p:txBody>
      </p:sp>
      <p:sp>
        <p:nvSpPr>
          <p:cNvPr id="5" name="TextBox 4"/>
          <p:cNvSpPr txBox="1"/>
          <p:nvPr/>
        </p:nvSpPr>
        <p:spPr>
          <a:xfrm>
            <a:off x="4434840" y="731520"/>
            <a:ext cx="4480560" cy="4572000"/>
          </a:xfrm>
          <a:prstGeom prst="rect">
            <a:avLst/>
          </a:prstGeom>
          <a:noFill/>
        </p:spPr>
        <p:txBody>
          <a:bodyPr wrap="square" lIns="27432" tIns="27432" rIns="27432" bIns="27432" anchor="t">
            <a:spAutoFit/>
          </a:bodyPr>
          <a:lstStyle/>
          <a:p>
            <a:pPr>
              <a:spcAft>
                <a:spcPts val="500"/>
              </a:spcAft>
            </a:pPr>
            <a:r>
              <a:rPr sz="1050" b="1">
                <a:solidFill>
                  <a:srgbClr val="000000"/>
                </a:solidFill>
              </a:rPr>
              <a:t>1. Lab image: </a:t>
            </a:r>
            <a:r>
              <a:rPr sz="1050">
                <a:solidFill>
                  <a:srgbClr val="000000"/>
                </a:solidFill>
              </a:rPr>
              <a:t>GOAD at a pinned revision as an enterprise APT target, with audit policies, sensors and the evidence account baked in</a:t>
            </a:r>
          </a:p>
          <a:p>
            <a:pPr>
              <a:spcAft>
                <a:spcPts val="500"/>
              </a:spcAft>
            </a:pPr>
            <a:r>
              <a:rPr sz="1050" b="1">
                <a:solidFill>
                  <a:srgbClr val="000000"/>
                </a:solidFill>
              </a:rPr>
              <a:t>2. Verified reset: </a:t>
            </a:r>
            <a:r>
              <a:rPr sz="1050">
                <a:solidFill>
                  <a:srgbClr val="000000"/>
                </a:solidFill>
              </a:rPr>
              <a:t>rebuild targets from images; attest clean state; issue run ID</a:t>
            </a:r>
          </a:p>
          <a:p>
            <a:pPr>
              <a:spcAft>
                <a:spcPts val="500"/>
              </a:spcAft>
            </a:pPr>
            <a:r>
              <a:rPr sz="1050" b="1">
                <a:solidFill>
                  <a:srgbClr val="000000"/>
                </a:solidFill>
              </a:rPr>
              <a:t>3. Matched APT trial: </a:t>
            </a:r>
            <a:r>
              <a:rPr sz="1050">
                <a:solidFill>
                  <a:srgbClr val="000000"/>
                </a:solidFill>
              </a:rPr>
              <a:t>human or autonomous-AI arm starts on the same foothold with the same window, tools and ROE</a:t>
            </a:r>
          </a:p>
          <a:p>
            <a:pPr>
              <a:spcAft>
                <a:spcPts val="500"/>
              </a:spcAft>
            </a:pPr>
            <a:r>
              <a:rPr sz="1050" b="1">
                <a:solidFill>
                  <a:srgbClr val="000000"/>
                </a:solidFill>
              </a:rPr>
              <a:t>4. Target-side capture: </a:t>
            </a:r>
            <a:r>
              <a:rPr sz="1050">
                <a:solidFill>
                  <a:srgbClr val="000000"/>
                </a:solidFill>
              </a:rPr>
              <a:t>host events (Sysmon, Security, PowerShell, AD, DNS) and network sensor (Zeek/Suricata, PCAP, Flow Logs)</a:t>
            </a:r>
          </a:p>
          <a:p>
            <a:pPr>
              <a:spcAft>
                <a:spcPts val="500"/>
              </a:spcAft>
            </a:pPr>
            <a:r>
              <a:rPr sz="1050" b="1">
                <a:solidFill>
                  <a:srgbClr val="000000"/>
                </a:solidFill>
              </a:rPr>
              <a:t>5. Evidence archive: </a:t>
            </a:r>
            <a:r>
              <a:rPr sz="1050">
                <a:solidFill>
                  <a:srgbClr val="000000"/>
                </a:solidFill>
              </a:rPr>
              <a:t>native exports to private S3 with SHA-256 manifests; CloudWatch copies for search</a:t>
            </a:r>
          </a:p>
          <a:p>
            <a:pPr>
              <a:spcAft>
                <a:spcPts val="500"/>
              </a:spcAft>
            </a:pPr>
            <a:r>
              <a:rPr sz="1050" b="1">
                <a:solidFill>
                  <a:srgbClr val="000000"/>
                </a:solidFill>
              </a:rPr>
              <a:t>6. Quality checks: </a:t>
            </a:r>
            <a:r>
              <a:rPr sz="1050">
                <a:solidFill>
                  <a:srgbClr val="000000"/>
                </a:solidFill>
              </a:rPr>
              <a:t>canaries present, clocks within 1 s, hashes verified, reset attested; fail = remediate and rerun the trial</a:t>
            </a:r>
          </a:p>
          <a:p>
            <a:pPr>
              <a:spcAft>
                <a:spcPts val="500"/>
              </a:spcAft>
            </a:pPr>
            <a:r>
              <a:rPr sz="1050" b="1">
                <a:solidFill>
                  <a:srgbClr val="000000"/>
                </a:solidFill>
              </a:rPr>
              <a:t>7. Labeled dataset: </a:t>
            </a:r>
            <a:r>
              <a:rPr sz="1050">
                <a:solidFill>
                  <a:srgbClr val="000000"/>
                </a:solidFill>
              </a:rPr>
              <a:t>registry labels (arm, operator/config, condition, partition, outcome, interventions) kept apart from features; trials released as dataset v1.0</a:t>
            </a:r>
          </a:p>
        </p:txBody>
      </p:sp>
      <p:sp>
        <p:nvSpPr>
          <p:cNvPr id="6" name="Magnetic Disk 5"/>
          <p:cNvSpPr/>
          <p:nvPr/>
        </p:nvSpPr>
        <p:spPr>
          <a:xfrm>
            <a:off x="777239" y="320040"/>
            <a:ext cx="2834640" cy="475488"/>
          </a:xfrm>
          <a:prstGeom prst="flowChartMagneticDisk">
            <a:avLst/>
          </a:prstGeom>
          <a:solidFill>
            <a:srgbClr val="7F7F7F"/>
          </a:solidFill>
          <a:ln w="12700">
            <a:solidFill>
              <a:srgbClr val="59595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GOAD lab image (pinned revision)</a:t>
            </a:r>
          </a:p>
        </p:txBody>
      </p:sp>
      <p:sp>
        <p:nvSpPr>
          <p:cNvPr id="7" name="Process 6"/>
          <p:cNvSpPr/>
          <p:nvPr/>
        </p:nvSpPr>
        <p:spPr>
          <a:xfrm>
            <a:off x="777239" y="1078992"/>
            <a:ext cx="2834640" cy="475488"/>
          </a:xfrm>
          <a:prstGeom prst="flowChartProcess">
            <a:avLst/>
          </a:prstGeom>
          <a:solidFill>
            <a:srgbClr val="4F81BD"/>
          </a:solidFill>
          <a:ln w="12700">
            <a:solidFill>
              <a:srgbClr val="365F91"/>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Verified reset → run ID</a:t>
            </a:r>
          </a:p>
        </p:txBody>
      </p:sp>
      <p:sp>
        <p:nvSpPr>
          <p:cNvPr id="8" name="Data 7"/>
          <p:cNvSpPr/>
          <p:nvPr/>
        </p:nvSpPr>
        <p:spPr>
          <a:xfrm>
            <a:off x="640080" y="1837944"/>
            <a:ext cx="3108960" cy="475488"/>
          </a:xfrm>
          <a:prstGeom prst="flowChartInputOutput">
            <a:avLst/>
          </a:prstGeom>
          <a:solidFill>
            <a:srgbClr val="92D050"/>
          </a:solidFill>
          <a:ln w="12700">
            <a:solidFill>
              <a:srgbClr val="5F7D3A"/>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000000"/>
                </a:solidFill>
              </a:rPr>
              <a:t>Matched APT trial: human | AI</a:t>
            </a:r>
          </a:p>
          <a:p>
            <a:pPr algn="ctr"/>
            <a:r>
              <a:rPr sz="1000" b="0">
                <a:solidFill>
                  <a:srgbClr val="000000"/>
                </a:solidFill>
              </a:rPr>
              <a:t>(same foothold, window, ROE)</a:t>
            </a:r>
          </a:p>
        </p:txBody>
      </p:sp>
      <p:sp>
        <p:nvSpPr>
          <p:cNvPr id="9" name="Process 8"/>
          <p:cNvSpPr/>
          <p:nvPr/>
        </p:nvSpPr>
        <p:spPr>
          <a:xfrm>
            <a:off x="777239" y="2596896"/>
            <a:ext cx="2834640" cy="475488"/>
          </a:xfrm>
          <a:prstGeom prst="flowChartProcess">
            <a:avLst/>
          </a:prstGeom>
          <a:solidFill>
            <a:srgbClr val="4F81BD"/>
          </a:solidFill>
          <a:ln w="12700">
            <a:solidFill>
              <a:srgbClr val="365F91"/>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Target-side capture</a:t>
            </a:r>
          </a:p>
          <a:p>
            <a:pPr algn="ctr"/>
            <a:r>
              <a:rPr sz="1000" b="0">
                <a:solidFill>
                  <a:srgbClr val="FFFFFF"/>
                </a:solidFill>
              </a:rPr>
              <a:t>host events + network sensor</a:t>
            </a:r>
          </a:p>
        </p:txBody>
      </p:sp>
      <p:sp>
        <p:nvSpPr>
          <p:cNvPr id="10" name="Magnetic Disk 9"/>
          <p:cNvSpPr/>
          <p:nvPr/>
        </p:nvSpPr>
        <p:spPr>
          <a:xfrm>
            <a:off x="777239" y="3355848"/>
            <a:ext cx="2834640" cy="475488"/>
          </a:xfrm>
          <a:prstGeom prst="flowChartMagneticDisk">
            <a:avLst/>
          </a:prstGeom>
          <a:solidFill>
            <a:srgbClr val="4F81BD"/>
          </a:solidFill>
          <a:ln w="12700">
            <a:solidFill>
              <a:srgbClr val="365F91"/>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Evidence archive</a:t>
            </a:r>
          </a:p>
          <a:p>
            <a:pPr algn="ctr"/>
            <a:r>
              <a:rPr sz="1000" b="0">
                <a:solidFill>
                  <a:srgbClr val="FFFFFF"/>
                </a:solidFill>
              </a:rPr>
              <a:t>S3 + SHA-256 manifests</a:t>
            </a:r>
          </a:p>
        </p:txBody>
      </p:sp>
      <p:sp>
        <p:nvSpPr>
          <p:cNvPr id="11" name="Decision 10"/>
          <p:cNvSpPr/>
          <p:nvPr/>
        </p:nvSpPr>
        <p:spPr>
          <a:xfrm>
            <a:off x="640080" y="4014215"/>
            <a:ext cx="3108960" cy="676656"/>
          </a:xfrm>
          <a:prstGeom prst="flowChartDecision">
            <a:avLst/>
          </a:prstGeom>
          <a:solidFill>
            <a:srgbClr val="4F81BD"/>
          </a:solidFill>
          <a:ln w="12700">
            <a:solidFill>
              <a:srgbClr val="365F91"/>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Quality checks pass?</a:t>
            </a:r>
          </a:p>
        </p:txBody>
      </p:sp>
      <p:sp>
        <p:nvSpPr>
          <p:cNvPr id="12" name="Terminator 11"/>
          <p:cNvSpPr/>
          <p:nvPr/>
        </p:nvSpPr>
        <p:spPr>
          <a:xfrm>
            <a:off x="777239" y="4873752"/>
            <a:ext cx="2834640" cy="475488"/>
          </a:xfrm>
          <a:prstGeom prst="flowChartTerminator">
            <a:avLst/>
          </a:prstGeom>
          <a:solidFill>
            <a:srgbClr val="92D050"/>
          </a:solidFill>
          <a:ln w="12700">
            <a:solidFill>
              <a:srgbClr val="5F7D3A"/>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000000"/>
                </a:solidFill>
              </a:rPr>
              <a:t>Labeled APT dataset v1.0</a:t>
            </a:r>
          </a:p>
          <a:p>
            <a:pPr algn="ctr"/>
            <a:r>
              <a:rPr sz="1000" b="0">
                <a:solidFill>
                  <a:srgbClr val="000000"/>
                </a:solidFill>
              </a:rPr>
              <a:t>(registry labels restricted)</a:t>
            </a:r>
          </a:p>
        </p:txBody>
      </p:sp>
      <p:cxnSp>
        <p:nvCxnSpPr>
          <p:cNvPr id="13" name="Connector 12"/>
          <p:cNvCxnSpPr/>
          <p:nvPr/>
        </p:nvCxnSpPr>
        <p:spPr>
          <a:xfrm>
            <a:off x="2194560" y="795528"/>
            <a:ext cx="0" cy="283464"/>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194560" y="1554480"/>
            <a:ext cx="0" cy="283464"/>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194560" y="2313432"/>
            <a:ext cx="0" cy="283464"/>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194560" y="3072384"/>
            <a:ext cx="0" cy="283464"/>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194560" y="3831336"/>
            <a:ext cx="0" cy="182879"/>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2194560" y="4690872"/>
            <a:ext cx="0" cy="18288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411480" y="4352544"/>
            <a:ext cx="22860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411480" y="1316736"/>
            <a:ext cx="0" cy="3035808"/>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11480" y="1316736"/>
            <a:ext cx="365759"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38912" y="4151376"/>
            <a:ext cx="457200" cy="182880"/>
          </a:xfrm>
          <a:prstGeom prst="rect">
            <a:avLst/>
          </a:prstGeom>
          <a:noFill/>
        </p:spPr>
        <p:txBody>
          <a:bodyPr wrap="square" lIns="27432" tIns="27432" rIns="27432" bIns="27432" anchor="t">
            <a:spAutoFit/>
          </a:bodyPr>
          <a:lstStyle/>
          <a:p>
            <a:r>
              <a:rPr sz="800">
                <a:solidFill>
                  <a:srgbClr val="000000"/>
                </a:solidFill>
              </a:rPr>
              <a:t>No</a:t>
            </a:r>
          </a:p>
        </p:txBody>
      </p:sp>
      <p:sp>
        <p:nvSpPr>
          <p:cNvPr id="23" name="TextBox 22"/>
          <p:cNvSpPr txBox="1"/>
          <p:nvPr/>
        </p:nvSpPr>
        <p:spPr>
          <a:xfrm>
            <a:off x="2231136" y="4690872"/>
            <a:ext cx="457200" cy="182880"/>
          </a:xfrm>
          <a:prstGeom prst="rect">
            <a:avLst/>
          </a:prstGeom>
          <a:noFill/>
        </p:spPr>
        <p:txBody>
          <a:bodyPr wrap="square" lIns="27432" tIns="27432" rIns="27432" bIns="27432" anchor="t">
            <a:spAutoFit/>
          </a:bodyPr>
          <a:lstStyle/>
          <a:p>
            <a:r>
              <a:rPr sz="800">
                <a:solidFill>
                  <a:srgbClr val="000000"/>
                </a:solidFill>
              </a:rPr>
              <a:t>Yes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434840" y="228600"/>
            <a:ext cx="4480560" cy="411480"/>
          </a:xfrm>
          <a:prstGeom prst="rect">
            <a:avLst/>
          </a:prstGeom>
          <a:noFill/>
        </p:spPr>
        <p:txBody>
          <a:bodyPr wrap="square" lIns="27432" tIns="27432" rIns="27432" bIns="27432" anchor="t">
            <a:spAutoFit/>
          </a:bodyPr>
          <a:lstStyle/>
          <a:p>
            <a:r>
              <a:rPr sz="1600" b="1">
                <a:solidFill>
                  <a:srgbClr val="000000"/>
                </a:solidFill>
              </a:rPr>
              <a:t>Classification Pipeline (Branch 2)</a:t>
            </a:r>
          </a:p>
        </p:txBody>
      </p:sp>
      <p:sp>
        <p:nvSpPr>
          <p:cNvPr id="5" name="TextBox 4"/>
          <p:cNvSpPr txBox="1"/>
          <p:nvPr/>
        </p:nvSpPr>
        <p:spPr>
          <a:xfrm>
            <a:off x="4434840" y="731520"/>
            <a:ext cx="4480560" cy="3089564"/>
          </a:xfrm>
          <a:prstGeom prst="rect">
            <a:avLst/>
          </a:prstGeom>
          <a:noFill/>
        </p:spPr>
        <p:txBody>
          <a:bodyPr wrap="square" lIns="27432" tIns="27432" rIns="27432" bIns="27432" anchor="t">
            <a:spAutoFit/>
          </a:bodyPr>
          <a:lstStyle/>
          <a:p>
            <a:pPr>
              <a:spcAft>
                <a:spcPts val="500"/>
              </a:spcAft>
            </a:pPr>
            <a:r>
              <a:rPr sz="1050" b="1" dirty="0">
                <a:solidFill>
                  <a:srgbClr val="000000"/>
                </a:solidFill>
              </a:rPr>
              <a:t>1. Labeled dataset: </a:t>
            </a:r>
            <a:r>
              <a:rPr sz="1050" dirty="0">
                <a:solidFill>
                  <a:srgbClr val="000000"/>
                </a:solidFill>
              </a:rPr>
              <a:t>per-trial host and network evidence with ground-truth labels from Branch 1</a:t>
            </a:r>
          </a:p>
          <a:p>
            <a:pPr>
              <a:spcAft>
                <a:spcPts val="500"/>
              </a:spcAft>
            </a:pPr>
            <a:r>
              <a:rPr sz="1050" b="1" dirty="0">
                <a:solidFill>
                  <a:srgbClr val="000000"/>
                </a:solidFill>
              </a:rPr>
              <a:t>2. Feature engineering: </a:t>
            </a:r>
            <a:r>
              <a:rPr sz="1050" dirty="0">
                <a:solidFill>
                  <a:srgbClr val="000000"/>
                </a:solidFill>
              </a:rPr>
              <a:t>ATT&amp;CK mapping, rate normalization, deny-list; versioned code</a:t>
            </a:r>
          </a:p>
          <a:p>
            <a:pPr>
              <a:spcAft>
                <a:spcPts val="500"/>
              </a:spcAft>
            </a:pPr>
            <a:r>
              <a:rPr sz="1050" b="1" dirty="0">
                <a:solidFill>
                  <a:srgbClr val="000000"/>
                </a:solidFill>
              </a:rPr>
              <a:t>3. Frozen grouped split: </a:t>
            </a:r>
            <a:r>
              <a:rPr sz="1050" dirty="0">
                <a:solidFill>
                  <a:srgbClr val="000000"/>
                </a:solidFill>
              </a:rPr>
              <a:t>train / validation / test by trial; manifest fixed before scored runs</a:t>
            </a:r>
          </a:p>
          <a:p>
            <a:pPr>
              <a:spcAft>
                <a:spcPts val="500"/>
              </a:spcAft>
            </a:pPr>
            <a:r>
              <a:rPr sz="1050" b="1" dirty="0">
                <a:solidFill>
                  <a:srgbClr val="000000"/>
                </a:solidFill>
              </a:rPr>
              <a:t>4. EDA (training trials only): </a:t>
            </a:r>
            <a:r>
              <a:rPr sz="1050" dirty="0">
                <a:solidFill>
                  <a:srgbClr val="000000"/>
                </a:solidFill>
              </a:rPr>
              <a:t>class balance, distributions by arm, correlations, ranked top features</a:t>
            </a:r>
          </a:p>
          <a:p>
            <a:pPr>
              <a:spcAft>
                <a:spcPts val="500"/>
              </a:spcAft>
            </a:pPr>
            <a:r>
              <a:rPr sz="1050" b="1" dirty="0">
                <a:solidFill>
                  <a:srgbClr val="000000"/>
                </a:solidFill>
              </a:rPr>
              <a:t>5. Train and tune 8 classifiers: </a:t>
            </a:r>
            <a:r>
              <a:rPr sz="1050" dirty="0">
                <a:solidFill>
                  <a:srgbClr val="000000"/>
                </a:solidFill>
              </a:rPr>
              <a:t>GB, RF, </a:t>
            </a:r>
            <a:r>
              <a:rPr sz="1050" dirty="0" err="1">
                <a:solidFill>
                  <a:srgbClr val="000000"/>
                </a:solidFill>
              </a:rPr>
              <a:t>XGBoost</a:t>
            </a:r>
            <a:r>
              <a:rPr sz="1050" dirty="0">
                <a:solidFill>
                  <a:srgbClr val="000000"/>
                </a:solidFill>
              </a:rPr>
              <a:t>, DT, LR, linear SVM, NB, KNN with equal tuning budgets; window scores roll up to trials</a:t>
            </a:r>
          </a:p>
          <a:p>
            <a:pPr>
              <a:spcAft>
                <a:spcPts val="500"/>
              </a:spcAft>
            </a:pPr>
            <a:r>
              <a:rPr sz="1050" b="1" dirty="0">
                <a:solidFill>
                  <a:srgbClr val="000000"/>
                </a:solidFill>
              </a:rPr>
              <a:t>6. Validation: </a:t>
            </a:r>
            <a:r>
              <a:rPr sz="1050" dirty="0">
                <a:solidFill>
                  <a:srgbClr val="000000"/>
                </a:solidFill>
              </a:rPr>
              <a:t>grouped cross-validation until performance converges; nothing tuned on the test set</a:t>
            </a:r>
          </a:p>
          <a:p>
            <a:pPr>
              <a:spcAft>
                <a:spcPts val="500"/>
              </a:spcAft>
            </a:pPr>
            <a:r>
              <a:rPr sz="1050" b="1" dirty="0">
                <a:solidFill>
                  <a:srgbClr val="000000"/>
                </a:solidFill>
              </a:rPr>
              <a:t>7. Locked test: </a:t>
            </a:r>
            <a:r>
              <a:rPr sz="1050" dirty="0">
                <a:solidFill>
                  <a:srgbClr val="000000"/>
                </a:solidFill>
              </a:rPr>
              <a:t>one evaluation of trial-level predictions on the held-out trials</a:t>
            </a:r>
          </a:p>
          <a:p>
            <a:pPr>
              <a:spcAft>
                <a:spcPts val="500"/>
              </a:spcAft>
            </a:pPr>
            <a:r>
              <a:rPr sz="1050" b="1" dirty="0">
                <a:solidFill>
                  <a:srgbClr val="000000"/>
                </a:solidFill>
              </a:rPr>
              <a:t>8. Compare and report: </a:t>
            </a:r>
            <a:r>
              <a:rPr sz="1050" dirty="0">
                <a:solidFill>
                  <a:srgbClr val="000000"/>
                </a:solidFill>
              </a:rPr>
              <a:t>rank all 8 by macro-F1 with per-class precision/recall, ROC-AUC and confusion matrices vs. metadata-only and timing-threshold baselines</a:t>
            </a:r>
          </a:p>
        </p:txBody>
      </p:sp>
      <p:sp>
        <p:nvSpPr>
          <p:cNvPr id="6" name="Magnetic Disk 5"/>
          <p:cNvSpPr/>
          <p:nvPr/>
        </p:nvSpPr>
        <p:spPr>
          <a:xfrm>
            <a:off x="777239" y="320040"/>
            <a:ext cx="2834640" cy="420624"/>
          </a:xfrm>
          <a:prstGeom prst="flowChartMagneticDisk">
            <a:avLst/>
          </a:prstGeom>
          <a:solidFill>
            <a:srgbClr val="7F7F7F"/>
          </a:solidFill>
          <a:ln w="12700">
            <a:solidFill>
              <a:srgbClr val="59595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Labeled APT dataset (per trial)</a:t>
            </a:r>
          </a:p>
        </p:txBody>
      </p:sp>
      <p:sp>
        <p:nvSpPr>
          <p:cNvPr id="7" name="Process 6"/>
          <p:cNvSpPr/>
          <p:nvPr/>
        </p:nvSpPr>
        <p:spPr>
          <a:xfrm>
            <a:off x="777239" y="954895"/>
            <a:ext cx="2834640" cy="420624"/>
          </a:xfrm>
          <a:prstGeom prst="flowChartProcess">
            <a:avLst/>
          </a:prstGeom>
          <a:solidFill>
            <a:srgbClr val="4F81BD"/>
          </a:solidFill>
          <a:ln w="12700">
            <a:solidFill>
              <a:srgbClr val="365F91"/>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Feature engineering</a:t>
            </a:r>
          </a:p>
          <a:p>
            <a:pPr algn="ctr"/>
            <a:r>
              <a:rPr sz="1000" b="0">
                <a:solidFill>
                  <a:srgbClr val="FFFFFF"/>
                </a:solidFill>
              </a:rPr>
              <a:t>(deny-list, ATT&amp;CK, rates)</a:t>
            </a:r>
          </a:p>
        </p:txBody>
      </p:sp>
      <p:sp>
        <p:nvSpPr>
          <p:cNvPr id="8" name="Data 7"/>
          <p:cNvSpPr/>
          <p:nvPr/>
        </p:nvSpPr>
        <p:spPr>
          <a:xfrm>
            <a:off x="640080" y="1589750"/>
            <a:ext cx="3108960" cy="420624"/>
          </a:xfrm>
          <a:prstGeom prst="flowChartInputOutput">
            <a:avLst/>
          </a:prstGeom>
          <a:solidFill>
            <a:srgbClr val="92D050"/>
          </a:solidFill>
          <a:ln w="12700">
            <a:solidFill>
              <a:srgbClr val="5F7D3A"/>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000000"/>
                </a:solidFill>
              </a:rPr>
              <a:t>Frozen grouped split</a:t>
            </a:r>
          </a:p>
          <a:p>
            <a:pPr algn="ctr"/>
            <a:r>
              <a:rPr sz="1000" b="0">
                <a:solidFill>
                  <a:srgbClr val="000000"/>
                </a:solidFill>
              </a:rPr>
              <a:t>train / validation / test</a:t>
            </a:r>
          </a:p>
        </p:txBody>
      </p:sp>
      <p:sp>
        <p:nvSpPr>
          <p:cNvPr id="26" name="Process EDA"/>
          <p:cNvSpPr/>
          <p:nvPr/>
        </p:nvSpPr>
        <p:spPr>
          <a:xfrm>
            <a:off x="777239" y="2224605"/>
            <a:ext cx="2834640" cy="420624"/>
          </a:xfrm>
          <a:prstGeom prst="flowChartProcess">
            <a:avLst/>
          </a:prstGeom>
          <a:solidFill>
            <a:srgbClr val="4F81BD"/>
          </a:solidFill>
          <a:ln w="12700">
            <a:solidFill>
              <a:srgbClr val="365F91"/>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EDA on training trials</a:t>
            </a:r>
          </a:p>
          <a:p>
            <a:pPr algn="ctr"/>
            <a:r>
              <a:rPr sz="1000" b="0">
                <a:solidFill>
                  <a:srgbClr val="FFFFFF"/>
                </a:solidFill>
              </a:rPr>
              <a:t>distributions · correlations · top features</a:t>
            </a:r>
          </a:p>
        </p:txBody>
      </p:sp>
      <p:sp>
        <p:nvSpPr>
          <p:cNvPr id="9" name="Process 8"/>
          <p:cNvSpPr/>
          <p:nvPr/>
        </p:nvSpPr>
        <p:spPr>
          <a:xfrm>
            <a:off x="777239" y="2859460"/>
            <a:ext cx="2834640" cy="420624"/>
          </a:xfrm>
          <a:prstGeom prst="flowChartProcess">
            <a:avLst/>
          </a:prstGeom>
          <a:solidFill>
            <a:srgbClr val="4F81BD"/>
          </a:solidFill>
          <a:ln w="12700">
            <a:solidFill>
              <a:srgbClr val="365F91"/>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Train + tune 8 classifiers</a:t>
            </a:r>
          </a:p>
          <a:p>
            <a:pPr algn="ctr"/>
            <a:r>
              <a:rPr sz="900" b="0">
                <a:solidFill>
                  <a:srgbClr val="FFFFFF"/>
                </a:solidFill>
              </a:rPr>
              <a:t>GB · RF · XGB · DT · LR · SVM · NB · KNN</a:t>
            </a:r>
          </a:p>
        </p:txBody>
      </p:sp>
      <p:sp>
        <p:nvSpPr>
          <p:cNvPr id="10" name="Decision 9"/>
          <p:cNvSpPr/>
          <p:nvPr/>
        </p:nvSpPr>
        <p:spPr>
          <a:xfrm>
            <a:off x="640080" y="3494315"/>
            <a:ext cx="3108960" cy="585216"/>
          </a:xfrm>
          <a:prstGeom prst="flowChartDecision">
            <a:avLst/>
          </a:prstGeom>
          <a:solidFill>
            <a:srgbClr val="4F81BD"/>
          </a:solidFill>
          <a:ln w="12700">
            <a:solidFill>
              <a:srgbClr val="365F91"/>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Grouped CV converged?</a:t>
            </a:r>
          </a:p>
        </p:txBody>
      </p:sp>
      <p:sp>
        <p:nvSpPr>
          <p:cNvPr id="11" name="Process 10"/>
          <p:cNvSpPr/>
          <p:nvPr/>
        </p:nvSpPr>
        <p:spPr>
          <a:xfrm>
            <a:off x="777239" y="4293762"/>
            <a:ext cx="2834640" cy="420624"/>
          </a:xfrm>
          <a:prstGeom prst="flowChartProcess">
            <a:avLst/>
          </a:prstGeom>
          <a:solidFill>
            <a:srgbClr val="4F81BD"/>
          </a:solidFill>
          <a:ln w="12700">
            <a:solidFill>
              <a:srgbClr val="365F91"/>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Locked test: trial-level predictions</a:t>
            </a:r>
          </a:p>
        </p:txBody>
      </p:sp>
      <p:sp>
        <p:nvSpPr>
          <p:cNvPr id="12" name="Terminator 11"/>
          <p:cNvSpPr/>
          <p:nvPr/>
        </p:nvSpPr>
        <p:spPr>
          <a:xfrm>
            <a:off x="777239" y="4928617"/>
            <a:ext cx="2834640" cy="420624"/>
          </a:xfrm>
          <a:prstGeom prst="flowChartTerminator">
            <a:avLst/>
          </a:prstGeom>
          <a:solidFill>
            <a:srgbClr val="92D050"/>
          </a:solidFill>
          <a:ln w="12700">
            <a:solidFill>
              <a:srgbClr val="5F7D3A"/>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000000"/>
                </a:solidFill>
              </a:rPr>
              <a:t>Rank all 8 classifiers: is GB best?</a:t>
            </a:r>
          </a:p>
        </p:txBody>
      </p:sp>
      <p:cxnSp>
        <p:nvCxnSpPr>
          <p:cNvPr id="13" name="Connector 12"/>
          <p:cNvCxnSpPr/>
          <p:nvPr/>
        </p:nvCxnSpPr>
        <p:spPr>
          <a:xfrm>
            <a:off x="2194560" y="740664"/>
            <a:ext cx="0" cy="214231"/>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194560" y="1375519"/>
            <a:ext cx="0" cy="214231"/>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194560" y="2010374"/>
            <a:ext cx="0" cy="214231"/>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194560" y="3280084"/>
            <a:ext cx="0" cy="214231"/>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194560" y="4079531"/>
            <a:ext cx="0" cy="214231"/>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2194560" y="4714386"/>
            <a:ext cx="0" cy="214231"/>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EDA"/>
          <p:cNvCxnSpPr/>
          <p:nvPr/>
        </p:nvCxnSpPr>
        <p:spPr>
          <a:xfrm>
            <a:off x="2194560" y="2645229"/>
            <a:ext cx="0" cy="214231"/>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411480" y="3786923"/>
            <a:ext cx="22860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411480" y="3069772"/>
            <a:ext cx="0" cy="717151"/>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11480" y="3069772"/>
            <a:ext cx="365759"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38912" y="3585755"/>
            <a:ext cx="457200" cy="182880"/>
          </a:xfrm>
          <a:prstGeom prst="rect">
            <a:avLst/>
          </a:prstGeom>
          <a:noFill/>
        </p:spPr>
        <p:txBody>
          <a:bodyPr wrap="square" lIns="27432" tIns="27432" rIns="27432" bIns="27432" anchor="t">
            <a:spAutoFit/>
          </a:bodyPr>
          <a:lstStyle/>
          <a:p>
            <a:r>
              <a:rPr sz="800">
                <a:solidFill>
                  <a:srgbClr val="000000"/>
                </a:solidFill>
              </a:rPr>
              <a:t>No</a:t>
            </a:r>
          </a:p>
        </p:txBody>
      </p:sp>
      <p:sp>
        <p:nvSpPr>
          <p:cNvPr id="23" name="TextBox 22"/>
          <p:cNvSpPr txBox="1"/>
          <p:nvPr/>
        </p:nvSpPr>
        <p:spPr>
          <a:xfrm>
            <a:off x="2231136" y="4079531"/>
            <a:ext cx="457200" cy="182880"/>
          </a:xfrm>
          <a:prstGeom prst="rect">
            <a:avLst/>
          </a:prstGeom>
          <a:noFill/>
        </p:spPr>
        <p:txBody>
          <a:bodyPr wrap="square" lIns="27432" tIns="27432" rIns="27432" bIns="27432" anchor="t">
            <a:spAutoFit/>
          </a:bodyPr>
          <a:lstStyle/>
          <a:p>
            <a:r>
              <a:rPr sz="800">
                <a:solidFill>
                  <a:srgbClr val="000000"/>
                </a:solidFill>
              </a:rPr>
              <a:t>Yes</a:t>
            </a:r>
          </a:p>
        </p:txBody>
      </p:sp>
      <p:sp>
        <p:nvSpPr>
          <p:cNvPr id="24" name="Rectangle 23"/>
          <p:cNvSpPr/>
          <p:nvPr/>
        </p:nvSpPr>
        <p:spPr>
          <a:xfrm>
            <a:off x="3840480" y="4882897"/>
            <a:ext cx="914400" cy="512064"/>
          </a:xfrm>
          <a:prstGeom prst="rect">
            <a:avLst/>
          </a:prstGeom>
          <a:solidFill>
            <a:srgbClr val="F2F2F2"/>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27432" tIns="36576" rIns="27432" bIns="36576" rtlCol="0" anchor="ctr"/>
          <a:lstStyle/>
          <a:p>
            <a:pPr algn="ctr"/>
            <a:r>
              <a:rPr sz="800" b="0">
                <a:solidFill>
                  <a:srgbClr val="000000"/>
                </a:solidFill>
              </a:rPr>
              <a:t>Baselines: metadata-only; timing threshold</a:t>
            </a:r>
          </a:p>
        </p:txBody>
      </p:sp>
      <p:cxnSp>
        <p:nvCxnSpPr>
          <p:cNvPr id="25" name="Connector 24"/>
          <p:cNvCxnSpPr/>
          <p:nvPr/>
        </p:nvCxnSpPr>
        <p:spPr>
          <a:xfrm flipH="1">
            <a:off x="3611880" y="5138929"/>
            <a:ext cx="228600" cy="0"/>
          </a:xfrm>
          <a:prstGeom prst="line">
            <a:avLst/>
          </a:prstGeom>
          <a:ln w="1270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64592" y="0"/>
            <a:ext cx="7772400" cy="548640"/>
          </a:xfrm>
        </p:spPr>
        <p:txBody>
          <a:bodyPr wrap="square"/>
          <a:lstStyle/>
          <a:p>
            <a:r>
              <a:rPr sz="1600" b="1" u="sng">
                <a:solidFill>
                  <a:srgbClr val="000000"/>
                </a:solidFill>
              </a:rPr>
              <a:t>Classifier Set (RQ3 / H3)</a:t>
            </a:r>
          </a:p>
        </p:txBody>
      </p:sp>
      <p:graphicFrame>
        <p:nvGraphicFramePr>
          <p:cNvPr id="4" name="Table 3"/>
          <p:cNvGraphicFramePr>
            <a:graphicFrameLocks noGrp="1"/>
          </p:cNvGraphicFramePr>
          <p:nvPr>
            <p:extLst>
              <p:ext uri="{D42A27DB-BD31-4B8C-83A1-F6EECF244321}">
                <p14:modId xmlns:p14="http://schemas.microsoft.com/office/powerpoint/2010/main" val="3394328296"/>
              </p:ext>
            </p:extLst>
          </p:nvPr>
        </p:nvGraphicFramePr>
        <p:xfrm>
          <a:off x="164592" y="566928"/>
          <a:ext cx="8814815" cy="4041647"/>
        </p:xfrm>
        <a:graphic>
          <a:graphicData uri="http://schemas.openxmlformats.org/drawingml/2006/table">
            <a:tbl>
              <a:tblPr firstRow="1" bandRow="1">
                <a:tableStyleId>{5C22544A-7EE6-4342-B048-85BDC9FD1C3A}</a:tableStyleId>
              </a:tblPr>
              <a:tblGrid>
                <a:gridCol w="173736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3236975">
                  <a:extLst>
                    <a:ext uri="{9D8B030D-6E8A-4147-A177-3AD203B41FA5}">
                      <a16:colId xmlns:a16="http://schemas.microsoft.com/office/drawing/2014/main" val="20002"/>
                    </a:ext>
                  </a:extLst>
                </a:gridCol>
              </a:tblGrid>
              <a:tr h="256031">
                <a:tc>
                  <a:txBody>
                    <a:bodyPr/>
                    <a:lstStyle/>
                    <a:p>
                      <a:r>
                        <a:rPr sz="1100" b="1"/>
                        <a:t>Classifier</a:t>
                      </a:r>
                    </a:p>
                  </a:txBody>
                  <a:tcPr marL="54864" marR="54864" marT="27432" marB="27432" anchor="ctr"/>
                </a:tc>
                <a:tc>
                  <a:txBody>
                    <a:bodyPr/>
                    <a:lstStyle/>
                    <a:p>
                      <a:pPr algn="ctr"/>
                      <a:r>
                        <a:rPr sz="1100" b="1"/>
                        <a:t>Family and role in the comparison</a:t>
                      </a:r>
                    </a:p>
                  </a:txBody>
                  <a:tcPr marL="54864" marR="54864" marT="27432" marB="27432" anchor="ctr"/>
                </a:tc>
                <a:tc>
                  <a:txBody>
                    <a:bodyPr/>
                    <a:lstStyle/>
                    <a:p>
                      <a:pPr algn="ctr"/>
                      <a:r>
                        <a:rPr sz="1100" b="1"/>
                        <a:t>Preprocessing and tuned hyperparameters</a:t>
                      </a:r>
                    </a:p>
                  </a:txBody>
                  <a:tcPr marL="54864" marR="54864" marT="27432" marB="27432" anchor="ctr"/>
                </a:tc>
                <a:extLst>
                  <a:ext uri="{0D108BD9-81ED-4DB2-BD59-A6C34878D82A}">
                    <a16:rowId xmlns:a16="http://schemas.microsoft.com/office/drawing/2014/main" val="10000"/>
                  </a:ext>
                </a:extLst>
              </a:tr>
              <a:tr h="420624">
                <a:tc>
                  <a:txBody>
                    <a:bodyPr/>
                    <a:lstStyle/>
                    <a:p>
                      <a:r>
                        <a:rPr sz="1100" b="1"/>
                        <a:t>Gradient Boosting</a:t>
                      </a:r>
                    </a:p>
                  </a:txBody>
                  <a:tcPr marL="54864" marR="54864" marT="27432" marB="27432"/>
                </a:tc>
                <a:tc>
                  <a:txBody>
                    <a:bodyPr/>
                    <a:lstStyle/>
                    <a:p>
                      <a:r>
                        <a:rPr sz="1100"/>
                        <a:t>Boosted tree ensemble; hypothesized best (H3); nominal top macro-F1 (0.809) in Alt (2026)</a:t>
                      </a:r>
                    </a:p>
                  </a:txBody>
                  <a:tcPr marL="54864" marR="54864" marT="27432" marB="27432"/>
                </a:tc>
                <a:tc>
                  <a:txBody>
                    <a:bodyPr/>
                    <a:lstStyle/>
                    <a:p>
                      <a:r>
                        <a:rPr sz="1100"/>
                        <a:t>n_estimators, learning_rate, max_depth, subsample</a:t>
                      </a:r>
                    </a:p>
                  </a:txBody>
                  <a:tcPr marL="54864" marR="54864" marT="27432" marB="27432"/>
                </a:tc>
                <a:extLst>
                  <a:ext uri="{0D108BD9-81ED-4DB2-BD59-A6C34878D82A}">
                    <a16:rowId xmlns:a16="http://schemas.microsoft.com/office/drawing/2014/main" val="10001"/>
                  </a:ext>
                </a:extLst>
              </a:tr>
              <a:tr h="420624">
                <a:tc>
                  <a:txBody>
                    <a:bodyPr/>
                    <a:lstStyle/>
                    <a:p>
                      <a:r>
                        <a:rPr sz="1100" b="1"/>
                        <a:t>Random Forest</a:t>
                      </a:r>
                    </a:p>
                  </a:txBody>
                  <a:tcPr marL="54864" marR="54864" marT="27432" marB="27432"/>
                </a:tc>
                <a:tc>
                  <a:txBody>
                    <a:bodyPr/>
                    <a:lstStyle/>
                    <a:p>
                      <a:r>
                        <a:rPr sz="1100"/>
                        <a:t>Bagged tree ensemble; effectively tied with GB in Alt (2026); robust on small samples</a:t>
                      </a:r>
                    </a:p>
                  </a:txBody>
                  <a:tcPr marL="54864" marR="54864" marT="27432" marB="27432"/>
                </a:tc>
                <a:tc>
                  <a:txBody>
                    <a:bodyPr/>
                    <a:lstStyle/>
                    <a:p>
                      <a:r>
                        <a:rPr sz="1100"/>
                        <a:t>n_estimators, max_depth, max_features, min_samples_leaf</a:t>
                      </a:r>
                    </a:p>
                  </a:txBody>
                  <a:tcPr marL="54864" marR="54864" marT="27432" marB="27432"/>
                </a:tc>
                <a:extLst>
                  <a:ext uri="{0D108BD9-81ED-4DB2-BD59-A6C34878D82A}">
                    <a16:rowId xmlns:a16="http://schemas.microsoft.com/office/drawing/2014/main" val="20016"/>
                  </a:ext>
                </a:extLst>
              </a:tr>
              <a:tr h="420624">
                <a:tc>
                  <a:txBody>
                    <a:bodyPr/>
                    <a:lstStyle/>
                    <a:p>
                      <a:r>
                        <a:rPr sz="1100" b="1"/>
                        <a:t>XGBoost</a:t>
                      </a:r>
                    </a:p>
                  </a:txBody>
                  <a:tcPr marL="54864" marR="54864" marT="27432" marB="27432"/>
                </a:tc>
                <a:tc>
                  <a:txBody>
                    <a:bodyPr/>
                    <a:lstStyle/>
                    <a:p>
                      <a:r>
                        <a:rPr sz="1100"/>
                        <a:t>Regularized gradient boosting; tests whether regularization beats standard GB</a:t>
                      </a:r>
                    </a:p>
                  </a:txBody>
                  <a:tcPr marL="54864" marR="54864" marT="27432" marB="27432"/>
                </a:tc>
                <a:tc>
                  <a:txBody>
                    <a:bodyPr/>
                    <a:lstStyle/>
                    <a:p>
                      <a:r>
                        <a:rPr sz="1100"/>
                        <a:t>n_estimators, learning_rate, max_depth, subsample, colsample_bytree, reg_lambda</a:t>
                      </a:r>
                    </a:p>
                  </a:txBody>
                  <a:tcPr marL="54864" marR="54864" marT="27432" marB="27432"/>
                </a:tc>
                <a:extLst>
                  <a:ext uri="{0D108BD9-81ED-4DB2-BD59-A6C34878D82A}">
                    <a16:rowId xmlns:a16="http://schemas.microsoft.com/office/drawing/2014/main" val="20015"/>
                  </a:ext>
                </a:extLst>
              </a:tr>
              <a:tr h="420624">
                <a:tc>
                  <a:txBody>
                    <a:bodyPr/>
                    <a:lstStyle/>
                    <a:p>
                      <a:r>
                        <a:rPr sz="1100" b="1"/>
                        <a:t>Decision Tree</a:t>
                      </a:r>
                    </a:p>
                  </a:txBody>
                  <a:tcPr marL="54864" marR="54864" marT="27432" marB="27432"/>
                </a:tc>
                <a:tc>
                  <a:txBody>
                    <a:bodyPr/>
                    <a:lstStyle/>
                    <a:p>
                      <a:r>
                        <a:rPr sz="1100"/>
                        <a:t>Single tree; readable rules a defender could turn into detection logic</a:t>
                      </a:r>
                    </a:p>
                  </a:txBody>
                  <a:tcPr marL="54864" marR="54864" marT="27432" marB="27432"/>
                </a:tc>
                <a:tc>
                  <a:txBody>
                    <a:bodyPr/>
                    <a:lstStyle/>
                    <a:p>
                      <a:r>
                        <a:rPr sz="1100"/>
                        <a:t>max_depth, min_samples_leaf, criterion</a:t>
                      </a:r>
                    </a:p>
                  </a:txBody>
                  <a:tcPr marL="54864" marR="54864" marT="27432" marB="27432"/>
                </a:tc>
                <a:extLst>
                  <a:ext uri="{0D108BD9-81ED-4DB2-BD59-A6C34878D82A}">
                    <a16:rowId xmlns:a16="http://schemas.microsoft.com/office/drawing/2014/main" val="20014"/>
                  </a:ext>
                </a:extLst>
              </a:tr>
              <a:tr h="420624">
                <a:tc>
                  <a:txBody>
                    <a:bodyPr/>
                    <a:lstStyle/>
                    <a:p>
                      <a:r>
                        <a:rPr sz="1100" b="1"/>
                        <a:t>Logistic Regression</a:t>
                      </a:r>
                    </a:p>
                  </a:txBody>
                  <a:tcPr marL="54864" marR="54864" marT="27432" marB="27432"/>
                </a:tc>
                <a:tc>
                  <a:txBody>
                    <a:bodyPr/>
                    <a:lstStyle/>
                    <a:p>
                      <a:r>
                        <a:rPr sz="1100"/>
                        <a:t>Linear model; tests whether the arms separate linearly; readable coefficients</a:t>
                      </a:r>
                    </a:p>
                  </a:txBody>
                  <a:tcPr marL="54864" marR="54864" marT="27432" marB="27432"/>
                </a:tc>
                <a:tc>
                  <a:txBody>
                    <a:bodyPr/>
                    <a:lstStyle/>
                    <a:p>
                      <a:r>
                        <a:rPr sz="1100"/>
                        <a:t>C, penalty (L1/L2); standardized features</a:t>
                      </a:r>
                    </a:p>
                  </a:txBody>
                  <a:tcPr marL="54864" marR="54864" marT="27432" marB="27432"/>
                </a:tc>
                <a:extLst>
                  <a:ext uri="{0D108BD9-81ED-4DB2-BD59-A6C34878D82A}">
                    <a16:rowId xmlns:a16="http://schemas.microsoft.com/office/drawing/2014/main" val="20013"/>
                  </a:ext>
                </a:extLst>
              </a:tr>
              <a:tr h="420624">
                <a:tc>
                  <a:txBody>
                    <a:bodyPr/>
                    <a:lstStyle/>
                    <a:p>
                      <a:r>
                        <a:rPr sz="1100" b="1"/>
                        <a:t>SVM (linear kernel after tuning)</a:t>
                      </a:r>
                    </a:p>
                  </a:txBody>
                  <a:tcPr marL="54864" marR="54864" marT="27432" marB="27432"/>
                </a:tc>
                <a:tc>
                  <a:txBody>
                    <a:bodyPr/>
                    <a:lstStyle/>
                    <a:p>
                      <a:r>
                        <a:rPr sz="1100"/>
                        <a:t>Maximum-margin boundary; suited to many features and few trials</a:t>
                      </a:r>
                    </a:p>
                  </a:txBody>
                  <a:tcPr marL="54864" marR="54864" marT="27432" marB="27432"/>
                </a:tc>
                <a:tc>
                  <a:txBody>
                    <a:bodyPr/>
                    <a:lstStyle/>
                    <a:p>
                      <a:r>
                        <a:rPr sz="1100"/>
                        <a:t>C; kernel searched, linear retained; standardized features</a:t>
                      </a:r>
                    </a:p>
                  </a:txBody>
                  <a:tcPr marL="54864" marR="54864" marT="27432" marB="27432"/>
                </a:tc>
                <a:extLst>
                  <a:ext uri="{0D108BD9-81ED-4DB2-BD59-A6C34878D82A}">
                    <a16:rowId xmlns:a16="http://schemas.microsoft.com/office/drawing/2014/main" val="20012"/>
                  </a:ext>
                </a:extLst>
              </a:tr>
              <a:tr h="420624">
                <a:tc>
                  <a:txBody>
                    <a:bodyPr/>
                    <a:lstStyle/>
                    <a:p>
                      <a:r>
                        <a:rPr sz="1100" b="1"/>
                        <a:t>Naïve Bayes</a:t>
                      </a:r>
                    </a:p>
                  </a:txBody>
                  <a:tcPr marL="54864" marR="54864" marT="27432" marB="27432"/>
                </a:tc>
                <a:tc>
                  <a:txBody>
                    <a:bodyPr/>
                    <a:lstStyle/>
                    <a:p>
                      <a:r>
                        <a:rPr sz="1100"/>
                        <a:t>Probabilistic baseline that assumes independent features</a:t>
                      </a:r>
                    </a:p>
                  </a:txBody>
                  <a:tcPr marL="54864" marR="54864" marT="27432" marB="27432"/>
                </a:tc>
                <a:tc>
                  <a:txBody>
                    <a:bodyPr/>
                    <a:lstStyle/>
                    <a:p>
                      <a:r>
                        <a:rPr sz="1100"/>
                        <a:t>var_smoothing (Gaussian)</a:t>
                      </a:r>
                    </a:p>
                  </a:txBody>
                  <a:tcPr marL="54864" marR="54864" marT="27432" marB="27432"/>
                </a:tc>
                <a:extLst>
                  <a:ext uri="{0D108BD9-81ED-4DB2-BD59-A6C34878D82A}">
                    <a16:rowId xmlns:a16="http://schemas.microsoft.com/office/drawing/2014/main" val="20011"/>
                  </a:ext>
                </a:extLst>
              </a:tr>
              <a:tr h="420624">
                <a:tc>
                  <a:txBody>
                    <a:bodyPr/>
                    <a:lstStyle/>
                    <a:p>
                      <a:r>
                        <a:rPr sz="1100" b="1"/>
                        <a:t>K-Nearest Neighbors</a:t>
                      </a:r>
                    </a:p>
                  </a:txBody>
                  <a:tcPr marL="54864" marR="54864" marT="27432" marB="27432"/>
                </a:tc>
                <a:tc>
                  <a:txBody>
                    <a:bodyPr/>
                    <a:lstStyle/>
                    <a:p>
                      <a:r>
                        <a:rPr sz="1100"/>
                        <a:t>Distance-based; tests whether same-arm trials cluster in feature space</a:t>
                      </a:r>
                    </a:p>
                  </a:txBody>
                  <a:tcPr marL="54864" marR="54864" marT="27432" marB="27432"/>
                </a:tc>
                <a:tc>
                  <a:txBody>
                    <a:bodyPr/>
                    <a:lstStyle/>
                    <a:p>
                      <a:r>
                        <a:rPr sz="1100"/>
                        <a:t>k, weights, distance metric; standardized features</a:t>
                      </a:r>
                    </a:p>
                  </a:txBody>
                  <a:tcPr marL="54864" marR="54864" marT="27432" marB="27432"/>
                </a:tc>
                <a:extLst>
                  <a:ext uri="{0D108BD9-81ED-4DB2-BD59-A6C34878D82A}">
                    <a16:rowId xmlns:a16="http://schemas.microsoft.com/office/drawing/2014/main" val="20010"/>
                  </a:ext>
                </a:extLst>
              </a:tr>
              <a:tr h="420624">
                <a:tc>
                  <a:txBody>
                    <a:bodyPr/>
                    <a:lstStyle/>
                    <a:p>
                      <a:r>
                        <a:rPr sz="1100" b="1"/>
                        <a:t>All eight</a:t>
                      </a:r>
                    </a:p>
                  </a:txBody>
                  <a:tcPr marL="54864" marR="54864" marT="27432" marB="27432"/>
                </a:tc>
                <a:tc>
                  <a:txBody>
                    <a:bodyPr/>
                    <a:lstStyle/>
                    <a:p>
                      <a:r>
                        <a:rPr sz="1100"/>
                        <a:t>Same feature matrix, grouped folds and randomized-search budget; ranked by trial-level macro-F1</a:t>
                      </a:r>
                    </a:p>
                  </a:txBody>
                  <a:tcPr marL="54864" marR="54864" marT="27432" marB="27432"/>
                </a:tc>
                <a:tc>
                  <a:txBody>
                    <a:bodyPr/>
                    <a:lstStyle/>
                    <a:p>
                      <a:r>
                        <a:rPr sz="1100"/>
                        <a:t>Scaling and class balancing fitted inside training folds only</a:t>
                      </a:r>
                    </a:p>
                  </a:txBody>
                  <a:tcPr marL="54864" marR="54864" marT="27432" marB="27432"/>
                </a:tc>
                <a:extLst>
                  <a:ext uri="{0D108BD9-81ED-4DB2-BD59-A6C34878D82A}">
                    <a16:rowId xmlns:a16="http://schemas.microsoft.com/office/drawing/2014/main" val="20009"/>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434840" y="228600"/>
            <a:ext cx="4480560" cy="411480"/>
          </a:xfrm>
          <a:prstGeom prst="rect">
            <a:avLst/>
          </a:prstGeom>
          <a:noFill/>
        </p:spPr>
        <p:txBody>
          <a:bodyPr wrap="square" lIns="27432" tIns="27432" rIns="27432" bIns="27432" anchor="t">
            <a:spAutoFit/>
          </a:bodyPr>
          <a:lstStyle/>
          <a:p>
            <a:r>
              <a:rPr sz="1600" b="1">
                <a:solidFill>
                  <a:srgbClr val="000000"/>
                </a:solidFill>
              </a:rPr>
              <a:t>Generalization &amp; Evasion Pipeline (Branch 3)</a:t>
            </a:r>
          </a:p>
        </p:txBody>
      </p:sp>
      <p:sp>
        <p:nvSpPr>
          <p:cNvPr id="5" name="TextBox 4"/>
          <p:cNvSpPr txBox="1"/>
          <p:nvPr/>
        </p:nvSpPr>
        <p:spPr>
          <a:xfrm>
            <a:off x="4434840" y="731520"/>
            <a:ext cx="4480560" cy="4572000"/>
          </a:xfrm>
          <a:prstGeom prst="rect">
            <a:avLst/>
          </a:prstGeom>
          <a:noFill/>
        </p:spPr>
        <p:txBody>
          <a:bodyPr wrap="square" lIns="27432" tIns="27432" rIns="27432" bIns="27432" anchor="t">
            <a:spAutoFit/>
          </a:bodyPr>
          <a:lstStyle/>
          <a:p>
            <a:pPr>
              <a:spcAft>
                <a:spcPts val="500"/>
              </a:spcAft>
            </a:pPr>
            <a:r>
              <a:rPr sz="1050" b="1">
                <a:solidFill>
                  <a:srgbClr val="000000"/>
                </a:solidFill>
              </a:rPr>
              <a:t>1. Start from Branch 2: </a:t>
            </a:r>
            <a:r>
              <a:rPr sz="1050">
                <a:solidFill>
                  <a:srgbClr val="000000"/>
                </a:solidFill>
              </a:rPr>
              <a:t>frozen feature code and the eight tuned classifier configurations from Phase 1</a:t>
            </a:r>
          </a:p>
          <a:p>
            <a:pPr>
              <a:spcAft>
                <a:spcPts val="500"/>
              </a:spcAft>
            </a:pPr>
            <a:r>
              <a:rPr sz="1050" b="1">
                <a:solidFill>
                  <a:srgbClr val="000000"/>
                </a:solidFill>
              </a:rPr>
              <a:t>2. Ablations (H2): </a:t>
            </a:r>
            <a:r>
              <a:rPr sz="1050">
                <a:solidFill>
                  <a:srgbClr val="000000"/>
                </a:solidFill>
              </a:rPr>
              <a:t>drop timing features, then timing plus tool identifiers; measure the macro-F1 change</a:t>
            </a:r>
          </a:p>
          <a:p>
            <a:pPr>
              <a:spcAft>
                <a:spcPts val="500"/>
              </a:spcAft>
            </a:pPr>
            <a:r>
              <a:rPr sz="1050" b="1">
                <a:solidFill>
                  <a:srgbClr val="000000"/>
                </a:solidFill>
              </a:rPr>
              <a:t>3. Held-out groups (H4): </a:t>
            </a:r>
            <a:r>
              <a:rPr sz="1050">
                <a:solidFill>
                  <a:srgbClr val="000000"/>
                </a:solidFill>
              </a:rPr>
              <a:t>exclude one human tester and one AI configuration from training</a:t>
            </a:r>
          </a:p>
          <a:p>
            <a:pPr>
              <a:spcAft>
                <a:spcPts val="500"/>
              </a:spcAft>
            </a:pPr>
            <a:r>
              <a:rPr sz="1050" b="1">
                <a:solidFill>
                  <a:srgbClr val="000000"/>
                </a:solidFill>
              </a:rPr>
              <a:t>4. Evasion arm (RQ5): </a:t>
            </a:r>
            <a:r>
              <a:rPr sz="1050">
                <a:solidFill>
                  <a:srgbClr val="000000"/>
                </a:solidFill>
              </a:rPr>
              <a:t>AI instructed to mimic human pacing; same lab, window and ROE</a:t>
            </a:r>
          </a:p>
          <a:p>
            <a:pPr>
              <a:spcAft>
                <a:spcPts val="500"/>
              </a:spcAft>
            </a:pPr>
            <a:r>
              <a:rPr sz="1050" b="1">
                <a:solidFill>
                  <a:srgbClr val="000000"/>
                </a:solidFill>
              </a:rPr>
              <a:t>5. Single locked evaluation: </a:t>
            </a:r>
            <a:r>
              <a:rPr sz="1050">
                <a:solidFill>
                  <a:srgbClr val="000000"/>
                </a:solidFill>
              </a:rPr>
              <a:t>trial-level metrics on held-out and evasion trials, with grouped uncertainty</a:t>
            </a:r>
          </a:p>
          <a:p>
            <a:pPr>
              <a:spcAft>
                <a:spcPts val="500"/>
              </a:spcAft>
            </a:pPr>
            <a:r>
              <a:rPr sz="1050" b="1">
                <a:solidFill>
                  <a:srgbClr val="000000"/>
                </a:solidFill>
              </a:rPr>
              <a:t>6. Preregistered criteria: </a:t>
            </a:r>
            <a:r>
              <a:rPr sz="1050">
                <a:solidFill>
                  <a:srgbClr val="000000"/>
                </a:solidFill>
              </a:rPr>
              <a:t>beats metadata-only (H1); survives timing removal (H2); GB ranks first (H3); holds on held-out operators (H4)</a:t>
            </a:r>
          </a:p>
          <a:p>
            <a:pPr>
              <a:spcAft>
                <a:spcPts val="500"/>
              </a:spcAft>
            </a:pPr>
            <a:r>
              <a:rPr sz="1050" b="1">
                <a:solidFill>
                  <a:srgbClr val="000000"/>
                </a:solidFill>
              </a:rPr>
              <a:t>7. Report: </a:t>
            </a:r>
            <a:r>
              <a:rPr sz="1050">
                <a:solidFill>
                  <a:srgbClr val="000000"/>
                </a:solidFill>
              </a:rPr>
              <a:t>held-out and evasion results with every trial and exclusion</a:t>
            </a:r>
          </a:p>
        </p:txBody>
      </p:sp>
      <p:sp>
        <p:nvSpPr>
          <p:cNvPr id="6" name="Magnetic Disk 5"/>
          <p:cNvSpPr/>
          <p:nvPr/>
        </p:nvSpPr>
        <p:spPr>
          <a:xfrm>
            <a:off x="777239" y="320040"/>
            <a:ext cx="2834640" cy="475488"/>
          </a:xfrm>
          <a:prstGeom prst="flowChartMagneticDisk">
            <a:avLst/>
          </a:prstGeom>
          <a:solidFill>
            <a:srgbClr val="4F81BD"/>
          </a:solidFill>
          <a:ln w="12700">
            <a:solidFill>
              <a:srgbClr val="365F91"/>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Phase 1 pipeline</a:t>
            </a:r>
          </a:p>
          <a:p>
            <a:pPr algn="ctr"/>
            <a:r>
              <a:rPr sz="1000" b="0">
                <a:solidFill>
                  <a:srgbClr val="FFFFFF"/>
                </a:solidFill>
              </a:rPr>
              <a:t>(frozen code + configs)</a:t>
            </a:r>
          </a:p>
        </p:txBody>
      </p:sp>
      <p:sp>
        <p:nvSpPr>
          <p:cNvPr id="7" name="Process 6"/>
          <p:cNvSpPr/>
          <p:nvPr/>
        </p:nvSpPr>
        <p:spPr>
          <a:xfrm>
            <a:off x="777239" y="1078992"/>
            <a:ext cx="2834640" cy="475488"/>
          </a:xfrm>
          <a:prstGeom prst="flowChartProcess">
            <a:avLst/>
          </a:prstGeom>
          <a:solidFill>
            <a:srgbClr val="4F81BD"/>
          </a:solidFill>
          <a:ln w="12700">
            <a:solidFill>
              <a:srgbClr val="365F91"/>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Ablations: − timing, − tool IDs (H2)</a:t>
            </a:r>
          </a:p>
        </p:txBody>
      </p:sp>
      <p:sp>
        <p:nvSpPr>
          <p:cNvPr id="8" name="Process 7"/>
          <p:cNvSpPr/>
          <p:nvPr/>
        </p:nvSpPr>
        <p:spPr>
          <a:xfrm>
            <a:off x="777239" y="1837944"/>
            <a:ext cx="2834640" cy="475488"/>
          </a:xfrm>
          <a:prstGeom prst="flowChartProcess">
            <a:avLst/>
          </a:prstGeom>
          <a:solidFill>
            <a:srgbClr val="4F81BD"/>
          </a:solidFill>
          <a:ln w="12700">
            <a:solidFill>
              <a:srgbClr val="365F91"/>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Hold out 1 human + 1 AI configuration (H4)</a:t>
            </a:r>
          </a:p>
        </p:txBody>
      </p:sp>
      <p:sp>
        <p:nvSpPr>
          <p:cNvPr id="9" name="Data 8"/>
          <p:cNvSpPr/>
          <p:nvPr/>
        </p:nvSpPr>
        <p:spPr>
          <a:xfrm>
            <a:off x="640080" y="2596896"/>
            <a:ext cx="3108960" cy="475488"/>
          </a:xfrm>
          <a:prstGeom prst="flowChartInputOutput">
            <a:avLst/>
          </a:prstGeom>
          <a:solidFill>
            <a:srgbClr val="92D050"/>
          </a:solidFill>
          <a:ln w="12700">
            <a:solidFill>
              <a:srgbClr val="5F7D3A"/>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000000"/>
                </a:solidFill>
              </a:rPr>
              <a:t>Evasion arm: AI mimics human pacing (RQ5)</a:t>
            </a:r>
          </a:p>
        </p:txBody>
      </p:sp>
      <p:sp>
        <p:nvSpPr>
          <p:cNvPr id="10" name="Process 9"/>
          <p:cNvSpPr/>
          <p:nvPr/>
        </p:nvSpPr>
        <p:spPr>
          <a:xfrm>
            <a:off x="777239" y="3355848"/>
            <a:ext cx="2834640" cy="475488"/>
          </a:xfrm>
          <a:prstGeom prst="flowChartProcess">
            <a:avLst/>
          </a:prstGeom>
          <a:solidFill>
            <a:srgbClr val="4F81BD"/>
          </a:solidFill>
          <a:ln w="12700">
            <a:solidFill>
              <a:srgbClr val="365F91"/>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Single locked evaluation</a:t>
            </a:r>
          </a:p>
          <a:p>
            <a:pPr algn="ctr"/>
            <a:r>
              <a:rPr sz="1000" b="0">
                <a:solidFill>
                  <a:srgbClr val="FFFFFF"/>
                </a:solidFill>
              </a:rPr>
              <a:t>(grouped uncertainty)</a:t>
            </a:r>
          </a:p>
        </p:txBody>
      </p:sp>
      <p:sp>
        <p:nvSpPr>
          <p:cNvPr id="11" name="Process 10"/>
          <p:cNvSpPr/>
          <p:nvPr/>
        </p:nvSpPr>
        <p:spPr>
          <a:xfrm>
            <a:off x="777239" y="4114800"/>
            <a:ext cx="2834640" cy="475488"/>
          </a:xfrm>
          <a:prstGeom prst="flowChartProcess">
            <a:avLst/>
          </a:prstGeom>
          <a:solidFill>
            <a:srgbClr val="4F81BD"/>
          </a:solidFill>
          <a:ln w="12700">
            <a:solidFill>
              <a:srgbClr val="365F91"/>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Compare with preregistered criteria (H1–H4)</a:t>
            </a:r>
          </a:p>
        </p:txBody>
      </p:sp>
      <p:sp>
        <p:nvSpPr>
          <p:cNvPr id="12" name="Terminator 11"/>
          <p:cNvSpPr/>
          <p:nvPr/>
        </p:nvSpPr>
        <p:spPr>
          <a:xfrm>
            <a:off x="777239" y="4873752"/>
            <a:ext cx="2834640" cy="475488"/>
          </a:xfrm>
          <a:prstGeom prst="flowChartTerminator">
            <a:avLst/>
          </a:prstGeom>
          <a:solidFill>
            <a:srgbClr val="92D050"/>
          </a:solidFill>
          <a:ln w="12700">
            <a:solidFill>
              <a:srgbClr val="5F7D3A"/>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000000"/>
                </a:solidFill>
              </a:rPr>
              <a:t>Report held-out and evasion performance</a:t>
            </a:r>
          </a:p>
        </p:txBody>
      </p:sp>
      <p:cxnSp>
        <p:nvCxnSpPr>
          <p:cNvPr id="13" name="Connector 12"/>
          <p:cNvCxnSpPr/>
          <p:nvPr/>
        </p:nvCxnSpPr>
        <p:spPr>
          <a:xfrm>
            <a:off x="2194560" y="795528"/>
            <a:ext cx="0" cy="283464"/>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194560" y="1554480"/>
            <a:ext cx="0" cy="283464"/>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194560" y="2313432"/>
            <a:ext cx="0" cy="283464"/>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194560" y="3072384"/>
            <a:ext cx="0" cy="283464"/>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194560" y="3831336"/>
            <a:ext cx="0" cy="283464"/>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2194560" y="4590288"/>
            <a:ext cx="0" cy="283464"/>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ppendix background"/>
          <p:cNvSpPr/>
          <p:nvPr/>
        </p:nvSpPr>
        <p:spPr>
          <a:xfrm>
            <a:off x="0" y="0"/>
            <a:ext cx="9144000" cy="5559552"/>
          </a:xfrm>
          <a:prstGeom prst="rect">
            <a:avLst/>
          </a:prstGeom>
          <a:solidFill>
            <a:srgbClr val="00A55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ctr"/>
            <a:endParaRPr/>
          </a:p>
        </p:txBody>
      </p:sp>
      <p:sp>
        <p:nvSpPr>
          <p:cNvPr id="3" name="Title 2"/>
          <p:cNvSpPr>
            <a:spLocks noGrp="1"/>
          </p:cNvSpPr>
          <p:nvPr>
            <p:ph type="title"/>
          </p:nvPr>
        </p:nvSpPr>
        <p:spPr>
          <a:xfrm>
            <a:off x="640080" y="2011680"/>
            <a:ext cx="7315200" cy="914400"/>
          </a:xfrm>
        </p:spPr>
        <p:txBody>
          <a:bodyPr wrap="square"/>
          <a:lstStyle/>
          <a:p>
            <a:r>
              <a:rPr sz="4000" b="1">
                <a:solidFill>
                  <a:srgbClr val="FFFFFF"/>
                </a:solidFill>
              </a:rPr>
              <a:t>Appendix</a:t>
            </a:r>
          </a:p>
        </p:txBody>
      </p:sp>
    </p:spTree>
  </p:cSld>
  <p:clrMapOvr>
    <a:masterClrMapping/>
  </p:clrMapOvr>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5C62B7B4-C8E0-4062-A5C4-30E5E9557E37}"/>
              </a:ext>
            </a:extLst>
          </p:cNvPr>
          <p:cNvCxnSpPr>
            <a:stCxn xmlns:a="http://schemas.openxmlformats.org/drawingml/2006/main" id="8" idx="3"/>
            <a:endCxn xmlns:a="http://schemas.openxmlformats.org/drawingml/2006/main" id="9" idx="1"/>
          </p:cNvCxnSpPr>
          <p:nvPr/>
        </p:nvCxnSpPr>
        <p:spPr>
          <a:xfrm xmlns:a="http://schemas.openxmlformats.org/drawingml/2006/main">
            <a:off x="5524500" y="4691063"/>
            <a:ext cx="809625" cy="0"/>
          </a:xfrm>
          <a:prstGeom xmlns:a="http://schemas.openxmlformats.org/drawingml/2006/main" prst="straightConnector1">
            <a:avLst/>
          </a:prstGeom>
          <a:ln xmlns:a="http://schemas.openxmlformats.org/drawingml/2006/main" w="14288">
            <a:solidFill>
              <a:srgbClr val="4F81BD"/>
            </a:solidFill>
            <a:tailEnd type="triangle" w="sm" len="sm"/>
          </a:ln>
        </p:spPr>
      </p:cxnSp>
      <p:cxnSp>
        <p:nvCxnSpPr>
          <p:cNvPr id="16" name="">
            <a:extLst xmlns:a="http://schemas.openxmlformats.org/drawingml/2006/main">
              <a:ext uri="{FF2B5EF4-FFF2-40B4-BE49-F238E27FC236}">
                <a16:creationId xmlns:a16="http://schemas.microsoft.com/office/drawing/2014/main" id="{EF66F0C1-5BCB-4815-9979-CDF813636CA0}"/>
              </a:ext>
            </a:extLst>
          </p:cNvPr>
          <p:cNvCxnSpPr>
            <a:stCxn xmlns:a="http://schemas.openxmlformats.org/drawingml/2006/main" id="6" idx="2"/>
            <a:endCxn xmlns:a="http://schemas.openxmlformats.org/drawingml/2006/main" id="8" idx="0"/>
          </p:cNvCxnSpPr>
          <p:nvPr/>
        </p:nvCxnSpPr>
        <p:spPr>
          <a:xfrm xmlns:a="http://schemas.openxmlformats.org/drawingml/2006/main">
            <a:off x="4429125" y="3905250"/>
            <a:ext cx="0" cy="523875"/>
          </a:xfrm>
          <a:prstGeom xmlns:a="http://schemas.openxmlformats.org/drawingml/2006/main" prst="straightConnector1">
            <a:avLst/>
          </a:prstGeom>
          <a:ln xmlns:a="http://schemas.openxmlformats.org/drawingml/2006/main" w="14288">
            <a:solidFill>
              <a:srgbClr val="4F81BD"/>
            </a:solidFill>
            <a:tailEnd type="triangle" w="sm" len="sm"/>
          </a:ln>
        </p:spPr>
      </p:cxnSp>
      <p:cxnSp>
        <p:nvCxnSpPr>
          <p:cNvPr id="15" name="">
            <a:extLst xmlns:a="http://schemas.openxmlformats.org/drawingml/2006/main">
              <a:ext uri="{FF2B5EF4-FFF2-40B4-BE49-F238E27FC236}">
                <a16:creationId xmlns:a16="http://schemas.microsoft.com/office/drawing/2014/main" id="{AD5BAFD7-D37F-40B4-953C-4DA88710CB1F}"/>
              </a:ext>
            </a:extLst>
          </p:cNvPr>
          <p:cNvCxnSpPr>
            <a:stCxn xmlns:a="http://schemas.openxmlformats.org/drawingml/2006/main" id="7" idx="1"/>
            <a:endCxn xmlns:a="http://schemas.openxmlformats.org/drawingml/2006/main" id="6" idx="3"/>
          </p:cNvCxnSpPr>
          <p:nvPr/>
        </p:nvCxnSpPr>
        <p:spPr>
          <a:xfrm xmlns:a="http://schemas.openxmlformats.org/drawingml/2006/main" flipH="1">
            <a:off x="5524500" y="3595688"/>
            <a:ext cx="809625" cy="0"/>
          </a:xfrm>
          <a:prstGeom xmlns:a="http://schemas.openxmlformats.org/drawingml/2006/main" prst="straightConnector1">
            <a:avLst/>
          </a:prstGeom>
          <a:ln xmlns:a="http://schemas.openxmlformats.org/drawingml/2006/main" w="14288">
            <a:solidFill>
              <a:srgbClr val="4F81BD"/>
            </a:solidFill>
            <a:tailEnd type="triangle" w="sm" len="sm"/>
          </a:ln>
        </p:spPr>
      </p:cxnSp>
      <p:cxnSp>
        <p:nvCxnSpPr>
          <p:cNvPr id="14" name="">
            <a:extLst xmlns:a="http://schemas.openxmlformats.org/drawingml/2006/main">
              <a:ext uri="{FF2B5EF4-FFF2-40B4-BE49-F238E27FC236}">
                <a16:creationId xmlns:a16="http://schemas.microsoft.com/office/drawing/2014/main" id="{DCAE3748-85F2-4302-9D71-E79040F589F0}"/>
              </a:ext>
            </a:extLst>
          </p:cNvPr>
          <p:cNvCxnSpPr>
            <a:stCxn xmlns:a="http://schemas.openxmlformats.org/drawingml/2006/main" id="4" idx="2"/>
            <a:endCxn xmlns:a="http://schemas.openxmlformats.org/drawingml/2006/main" id="6" idx="3"/>
          </p:cNvCxnSpPr>
          <p:nvPr/>
        </p:nvCxnSpPr>
        <p:spPr>
          <a:xfrm xmlns:a="http://schemas.openxmlformats.org/drawingml/2006/main" flipH="1">
            <a:off x="5524500" y="1666875"/>
            <a:ext cx="2000250" cy="1928813"/>
          </a:xfrm>
          <a:prstGeom xmlns:a="http://schemas.openxmlformats.org/drawingml/2006/main" prst="bentConnector5">
            <a:avLst>
              <a:gd name="adj1" fmla="val 0"/>
              <a:gd name="adj2" fmla="val 11852"/>
              <a:gd name="adj3" fmla="val 88571"/>
            </a:avLst>
          </a:prstGeom>
          <a:ln xmlns:a="http://schemas.openxmlformats.org/drawingml/2006/main" w="14288">
            <a:solidFill>
              <a:srgbClr val="4F81BD"/>
            </a:solidFill>
            <a:tailEnd type="triangle" w="sm" len="sm"/>
          </a:ln>
        </p:spPr>
      </p:cxnSp>
      <p:cxnSp>
        <p:nvCxnSpPr>
          <p:cNvPr id="13" name="">
            <a:extLst xmlns:a="http://schemas.openxmlformats.org/drawingml/2006/main">
              <a:ext uri="{FF2B5EF4-FFF2-40B4-BE49-F238E27FC236}">
                <a16:creationId xmlns:a16="http://schemas.microsoft.com/office/drawing/2014/main" id="{DCB1232F-730B-4099-AD2D-2C732F8CA5B8}"/>
              </a:ext>
            </a:extLst>
          </p:cNvPr>
          <p:cNvCxnSpPr>
            <a:stCxn xmlns:a="http://schemas.openxmlformats.org/drawingml/2006/main" id="5" idx="2"/>
            <a:endCxn xmlns:a="http://schemas.openxmlformats.org/drawingml/2006/main" id="6" idx="0"/>
          </p:cNvCxnSpPr>
          <p:nvPr/>
        </p:nvCxnSpPr>
        <p:spPr>
          <a:xfrm xmlns:a="http://schemas.openxmlformats.org/drawingml/2006/main">
            <a:off x="4429125" y="2714625"/>
            <a:ext cx="0" cy="571500"/>
          </a:xfrm>
          <a:prstGeom xmlns:a="http://schemas.openxmlformats.org/drawingml/2006/main" prst="straightConnector1">
            <a:avLst/>
          </a:prstGeom>
          <a:ln xmlns:a="http://schemas.openxmlformats.org/drawingml/2006/main" w="14288">
            <a:solidFill>
              <a:srgbClr val="4F81BD"/>
            </a:solidFill>
            <a:tailEnd type="triangle" w="sm" len="sm"/>
          </a:ln>
        </p:spPr>
      </p:cxnSp>
      <p:cxnSp>
        <p:nvCxnSpPr>
          <p:cNvPr id="12" name="">
            <a:extLst xmlns:a="http://schemas.openxmlformats.org/drawingml/2006/main">
              <a:ext uri="{FF2B5EF4-FFF2-40B4-BE49-F238E27FC236}">
                <a16:creationId xmlns:a16="http://schemas.microsoft.com/office/drawing/2014/main" id="{6EF65F19-DDCB-46BE-A412-044F361386C3}"/>
              </a:ext>
            </a:extLst>
          </p:cNvPr>
          <p:cNvCxnSpPr>
            <a:stCxn xmlns:a="http://schemas.openxmlformats.org/drawingml/2006/main" id="4" idx="2"/>
            <a:endCxn xmlns:a="http://schemas.openxmlformats.org/drawingml/2006/main" id="5" idx="0"/>
          </p:cNvCxnSpPr>
          <p:nvPr/>
        </p:nvCxnSpPr>
        <p:spPr>
          <a:xfrm xmlns:a="http://schemas.openxmlformats.org/drawingml/2006/main" flipH="1">
            <a:off x="4429125" y="1666875"/>
            <a:ext cx="3095625" cy="523875"/>
          </a:xfrm>
          <a:prstGeom xmlns:a="http://schemas.openxmlformats.org/drawingml/2006/main" prst="bentConnector4">
            <a:avLst>
              <a:gd name="adj1" fmla="val 0"/>
              <a:gd name="adj2" fmla="val 50000"/>
            </a:avLst>
          </a:prstGeom>
          <a:ln xmlns:a="http://schemas.openxmlformats.org/drawingml/2006/main" w="14288">
            <a:solidFill>
              <a:srgbClr val="4F81BD"/>
            </a:solidFill>
            <a:tailEnd type="triangle" w="sm" len="sm"/>
          </a:ln>
        </p:spPr>
      </p:cxnSp>
      <p:cxnSp>
        <p:nvCxnSpPr>
          <p:cNvPr id="11" name="">
            <a:extLst xmlns:a="http://schemas.openxmlformats.org/drawingml/2006/main">
              <a:ext uri="{FF2B5EF4-FFF2-40B4-BE49-F238E27FC236}">
                <a16:creationId xmlns:a16="http://schemas.microsoft.com/office/drawing/2014/main" id="{A860A127-FD7A-469E-A5E1-FDDD9CDCB3FD}"/>
              </a:ext>
            </a:extLst>
          </p:cNvPr>
          <p:cNvCxnSpPr>
            <a:stCxn xmlns:a="http://schemas.openxmlformats.org/drawingml/2006/main" id="3" idx="2"/>
            <a:endCxn xmlns:a="http://schemas.openxmlformats.org/drawingml/2006/main" id="5" idx="0"/>
          </p:cNvCxnSpPr>
          <p:nvPr/>
        </p:nvCxnSpPr>
        <p:spPr>
          <a:xfrm xmlns:a="http://schemas.openxmlformats.org/drawingml/2006/main">
            <a:off x="4429125" y="1666875"/>
            <a:ext cx="0" cy="523875"/>
          </a:xfrm>
          <a:prstGeom xmlns:a="http://schemas.openxmlformats.org/drawingml/2006/main" prst="straightConnector1">
            <a:avLst/>
          </a:prstGeom>
          <a:ln xmlns:a="http://schemas.openxmlformats.org/drawingml/2006/main" w="14288">
            <a:solidFill>
              <a:srgbClr val="4F81BD"/>
            </a:solidFill>
            <a:tailEnd type="triangle" w="sm" len="sm"/>
          </a:ln>
        </p:spPr>
      </p:cxnSp>
      <p:cxnSp>
        <p:nvCxnSpPr>
          <p:cNvPr id="10" name="">
            <a:extLst xmlns:a="http://schemas.openxmlformats.org/drawingml/2006/main">
              <a:ext uri="{FF2B5EF4-FFF2-40B4-BE49-F238E27FC236}">
                <a16:creationId xmlns:a16="http://schemas.microsoft.com/office/drawing/2014/main" id="{F5A287A3-29C3-4255-A8DD-5D23C7DFF1EE}"/>
              </a:ext>
            </a:extLst>
          </p:cNvPr>
          <p:cNvCxnSpPr>
            <a:stCxn xmlns:a="http://schemas.openxmlformats.org/drawingml/2006/main" id="2" idx="2"/>
            <a:endCxn xmlns:a="http://schemas.openxmlformats.org/drawingml/2006/main" id="5" idx="0"/>
          </p:cNvCxnSpPr>
          <p:nvPr/>
        </p:nvCxnSpPr>
        <p:spPr>
          <a:xfrm xmlns:a="http://schemas.openxmlformats.org/drawingml/2006/main">
            <a:off x="1428750" y="1666875"/>
            <a:ext cx="3000375" cy="523875"/>
          </a:xfrm>
          <a:prstGeom xmlns:a="http://schemas.openxmlformats.org/drawingml/2006/main" prst="bentConnector4">
            <a:avLst>
              <a:gd name="adj1" fmla="val 0"/>
              <a:gd name="adj2" fmla="val 50000"/>
            </a:avLst>
          </a:prstGeom>
          <a:ln xmlns:a="http://schemas.openxmlformats.org/drawingml/2006/main" w="14288">
            <a:solidFill>
              <a:srgbClr val="4F81BD"/>
            </a:solidFill>
            <a:tailEnd type="triangle" w="sm" len="sm"/>
          </a:ln>
        </p:spPr>
      </p:cxnSp>
      <p:sp>
        <p:nvSpPr>
          <p:cNvPr id="19" name="">
            <a:extLst xmlns:a="http://schemas.openxmlformats.org/drawingml/2006/main">
              <a:ext uri="{FF2B5EF4-FFF2-40B4-BE49-F238E27FC236}">
                <a16:creationId xmlns:a16="http://schemas.microsoft.com/office/drawing/2014/main" id="{8CD6530F-1C1F-4024-9BC9-5AA7BC1019EF}"/>
              </a:ext>
            </a:extLst>
          </p:cNvPr>
          <p:cNvSpPr>
            <a:spLocks xmlns:a="http://schemas.openxmlformats.org/drawingml/2006/main" noGrp="1"/>
          </p:cNvSpPr>
          <p:nvPr/>
        </p:nvSpPr>
        <p:spPr>
          <a:xfrm xmlns:a="http://schemas.openxmlformats.org/drawingml/2006/main">
            <a:off x="381000" y="238125"/>
            <a:ext cx="838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22222"/>
                </a:solidFill>
              </a:defRPr>
            </a:defPPr>
          </a:lstStyle>
          <a:p xmlns:a="http://schemas.openxmlformats.org/drawingml/2006/main">
            <a:pPr>
              <a:defRPr sz="2250" b="1">
                <a:solidFill>
                  <a:srgbClr val="222222"/>
                </a:solidFill>
              </a:defRPr>
            </a:pPr>
            <a:r>
              <a:rPr sz="2250" b="1">
                <a:solidFill>
                  <a:srgbClr val="222222"/>
                </a:solidFill>
              </a:rPr>
              <a:t>Graphical Model Representation</a:t>
            </a:r>
          </a:p>
        </p:txBody>
      </p:sp>
      <p:sp>
        <p:nvSpPr>
          <p:cNvPr id="2" name="">
            <a:extLst xmlns:a="http://schemas.openxmlformats.org/drawingml/2006/main">
              <a:ext uri="{FF2B5EF4-FFF2-40B4-BE49-F238E27FC236}">
                <a16:creationId xmlns:a16="http://schemas.microsoft.com/office/drawing/2014/main" id="{BAAC71C0-654E-49A5-B97F-33F793F79A76}"/>
              </a:ext>
            </a:extLst>
          </p:cNvPr>
          <p:cNvSpPr>
            <a:spLocks xmlns:a="http://schemas.openxmlformats.org/drawingml/2006/main" noGrp="1"/>
          </p:cNvSpPr>
          <p:nvPr/>
        </p:nvSpPr>
        <p:spPr>
          <a:xfrm xmlns:a="http://schemas.openxmlformats.org/drawingml/2006/main">
            <a:off x="333375" y="1047750"/>
            <a:ext cx="2190750" cy="619125"/>
          </a:xfrm>
          <a:prstGeom xmlns:a="http://schemas.openxmlformats.org/drawingml/2006/main" prst="rect">
            <a:avLst/>
          </a:prstGeom>
          <a:solidFill xmlns:a="http://schemas.openxmlformats.org/drawingml/2006/main">
            <a:srgbClr val="DCE6F1"/>
          </a:solidFill>
          <a:ln xmlns:a="http://schemas.openxmlformats.org/drawingml/2006/main" w="9525">
            <a:solidFill>
              <a:srgbClr val="4F81BD"/>
            </a:solidFill>
          </a:ln>
        </p:spPr>
        <p:txBody>
          <a:bodyPr xmlns:a="http://schemas.openxmlformats.org/drawingml/2006/main"/>
          <a:lstStyle xmlns:a="http://schemas.openxmlformats.org/drawingml/2006/main">
            <a:defPPr>
              <a:defRPr sz="1425">
                <a:solidFill>
                  <a:srgbClr val="222222"/>
                </a:solidFill>
              </a:defRPr>
            </a:defPPr>
          </a:lstStyle>
          <a:p xmlns:a="http://schemas.openxmlformats.org/drawingml/2006/main">
            <a:pPr>
              <a:defRPr sz="1425">
                <a:solidFill>
                  <a:srgbClr val="222222"/>
                </a:solidFill>
              </a:defRPr>
            </a:pPr>
            <a:r>
              <a:rPr sz="1425">
                <a:solidFill>
                  <a:srgbClr val="222222"/>
                </a:solidFill>
              </a:rPr>
              <a:t>Operator type</a:t>
            </a:r>
          </a:p>
          <a:p xmlns:a="http://schemas.openxmlformats.org/drawingml/2006/main">
            <a:pPr>
              <a:defRPr sz="1425">
                <a:solidFill>
                  <a:srgbClr val="222222"/>
                </a:solidFill>
              </a:defRPr>
            </a:pPr>
            <a:r>
              <a:rPr sz="1425">
                <a:solidFill>
                  <a:srgbClr val="222222"/>
                </a:solidFill>
              </a:rPr>
              <a:t>human or autonomous AI</a:t>
            </a:r>
          </a:p>
        </p:txBody>
      </p:sp>
      <p:sp>
        <p:nvSpPr>
          <p:cNvPr id="3" name="">
            <a:extLst xmlns:a="http://schemas.openxmlformats.org/drawingml/2006/main">
              <a:ext uri="{FF2B5EF4-FFF2-40B4-BE49-F238E27FC236}">
                <a16:creationId xmlns:a16="http://schemas.microsoft.com/office/drawing/2014/main" id="{36D2DED7-AB8F-4A0F-A42C-E28E3CB87743}"/>
              </a:ext>
            </a:extLst>
          </p:cNvPr>
          <p:cNvSpPr>
            <a:spLocks xmlns:a="http://schemas.openxmlformats.org/drawingml/2006/main" noGrp="1"/>
          </p:cNvSpPr>
          <p:nvPr/>
        </p:nvSpPr>
        <p:spPr>
          <a:xfrm xmlns:a="http://schemas.openxmlformats.org/drawingml/2006/main">
            <a:off x="3333750" y="1047750"/>
            <a:ext cx="2190750" cy="619125"/>
          </a:xfrm>
          <a:prstGeom xmlns:a="http://schemas.openxmlformats.org/drawingml/2006/main" prst="rect">
            <a:avLst/>
          </a:prstGeom>
          <a:solidFill xmlns:a="http://schemas.openxmlformats.org/drawingml/2006/main">
            <a:srgbClr val="DCE6F1"/>
          </a:solidFill>
          <a:ln xmlns:a="http://schemas.openxmlformats.org/drawingml/2006/main" w="9525">
            <a:solidFill>
              <a:srgbClr val="4F81BD"/>
            </a:solidFill>
          </a:ln>
        </p:spPr>
        <p:txBody>
          <a:bodyPr xmlns:a="http://schemas.openxmlformats.org/drawingml/2006/main"/>
          <a:lstStyle xmlns:a="http://schemas.openxmlformats.org/drawingml/2006/main">
            <a:defPPr>
              <a:defRPr sz="1425">
                <a:solidFill>
                  <a:srgbClr val="222222"/>
                </a:solidFill>
              </a:defRPr>
            </a:defPPr>
          </a:lstStyle>
          <a:p xmlns:a="http://schemas.openxmlformats.org/drawingml/2006/main">
            <a:pPr>
              <a:defRPr sz="1425">
                <a:solidFill>
                  <a:srgbClr val="222222"/>
                </a:solidFill>
              </a:defRPr>
            </a:pPr>
            <a:r>
              <a:rPr sz="1425">
                <a:solidFill>
                  <a:srgbClr val="222222"/>
                </a:solidFill>
              </a:rPr>
              <a:t>Task and objective</a:t>
            </a:r>
          </a:p>
        </p:txBody>
      </p:sp>
      <p:sp>
        <p:nvSpPr>
          <p:cNvPr id="4" name="">
            <a:extLst xmlns:a="http://schemas.openxmlformats.org/drawingml/2006/main">
              <a:ext uri="{FF2B5EF4-FFF2-40B4-BE49-F238E27FC236}">
                <a16:creationId xmlns:a16="http://schemas.microsoft.com/office/drawing/2014/main" id="{F3894F52-6CAC-42F3-B37D-887912F0CF64}"/>
              </a:ext>
            </a:extLst>
          </p:cNvPr>
          <p:cNvSpPr>
            <a:spLocks xmlns:a="http://schemas.openxmlformats.org/drawingml/2006/main" noGrp="1"/>
          </p:cNvSpPr>
          <p:nvPr/>
        </p:nvSpPr>
        <p:spPr>
          <a:xfrm xmlns:a="http://schemas.openxmlformats.org/drawingml/2006/main">
            <a:off x="6334125" y="1047750"/>
            <a:ext cx="2381250" cy="619125"/>
          </a:xfrm>
          <a:prstGeom xmlns:a="http://schemas.openxmlformats.org/drawingml/2006/main" prst="rect">
            <a:avLst/>
          </a:prstGeom>
          <a:solidFill xmlns:a="http://schemas.openxmlformats.org/drawingml/2006/main">
            <a:srgbClr val="DCE6F1"/>
          </a:solidFill>
          <a:ln xmlns:a="http://schemas.openxmlformats.org/drawingml/2006/main" w="9525">
            <a:solidFill>
              <a:srgbClr val="4F81BD"/>
            </a:solidFill>
          </a:ln>
        </p:spPr>
        <p:txBody>
          <a:bodyPr xmlns:a="http://schemas.openxmlformats.org/drawingml/2006/main"/>
          <a:lstStyle xmlns:a="http://schemas.openxmlformats.org/drawingml/2006/main">
            <a:defPPr>
              <a:defRPr sz="1425">
                <a:solidFill>
                  <a:srgbClr val="222222"/>
                </a:solidFill>
              </a:defRPr>
            </a:defPPr>
          </a:lstStyle>
          <a:p xmlns:a="http://schemas.openxmlformats.org/drawingml/2006/main">
            <a:pPr>
              <a:defRPr sz="1425">
                <a:solidFill>
                  <a:srgbClr val="222222"/>
                </a:solidFill>
              </a:defRPr>
            </a:pPr>
            <a:r>
              <a:rPr sz="1425">
                <a:solidFill>
                  <a:srgbClr val="222222"/>
                </a:solidFill>
              </a:rPr>
              <a:t>Range, tools and route</a:t>
            </a:r>
          </a:p>
        </p:txBody>
      </p:sp>
      <p:sp>
        <p:nvSpPr>
          <p:cNvPr id="5" name="">
            <a:extLst xmlns:a="http://schemas.openxmlformats.org/drawingml/2006/main">
              <a:ext uri="{FF2B5EF4-FFF2-40B4-BE49-F238E27FC236}">
                <a16:creationId xmlns:a16="http://schemas.microsoft.com/office/drawing/2014/main" id="{863E999B-959E-4EC8-9203-7089B1BC221E}"/>
              </a:ext>
            </a:extLst>
          </p:cNvPr>
          <p:cNvSpPr>
            <a:spLocks xmlns:a="http://schemas.openxmlformats.org/drawingml/2006/main" noGrp="1"/>
          </p:cNvSpPr>
          <p:nvPr/>
        </p:nvSpPr>
        <p:spPr>
          <a:xfrm xmlns:a="http://schemas.openxmlformats.org/drawingml/2006/main">
            <a:off x="3333750" y="2190750"/>
            <a:ext cx="2190750" cy="523875"/>
          </a:xfrm>
          <a:prstGeom xmlns:a="http://schemas.openxmlformats.org/drawingml/2006/main" prst="rect">
            <a:avLst/>
          </a:prstGeom>
          <a:solidFill xmlns:a="http://schemas.openxmlformats.org/drawingml/2006/main">
            <a:srgbClr val="DCE6F1"/>
          </a:solidFill>
          <a:ln xmlns:a="http://schemas.openxmlformats.org/drawingml/2006/main" w="9525">
            <a:solidFill>
              <a:srgbClr val="4F81BD"/>
            </a:solidFill>
          </a:ln>
        </p:spPr>
        <p:txBody>
          <a:bodyPr xmlns:a="http://schemas.openxmlformats.org/drawingml/2006/main"/>
          <a:lstStyle xmlns:a="http://schemas.openxmlformats.org/drawingml/2006/main">
            <a:defPPr>
              <a:defRPr sz="1500">
                <a:solidFill>
                  <a:srgbClr val="222222"/>
                </a:solidFill>
              </a:defRPr>
            </a:defPPr>
          </a:lstStyle>
          <a:p xmlns:a="http://schemas.openxmlformats.org/drawingml/2006/main">
            <a:pPr>
              <a:defRPr sz="1500">
                <a:solidFill>
                  <a:srgbClr val="222222"/>
                </a:solidFill>
              </a:defRPr>
            </a:pPr>
            <a:r>
              <a:rPr sz="1500">
                <a:solidFill>
                  <a:srgbClr val="222222"/>
                </a:solidFill>
              </a:rPr>
              <a:t>Behavior</a:t>
            </a:r>
          </a:p>
        </p:txBody>
      </p:sp>
      <p:sp>
        <p:nvSpPr>
          <p:cNvPr id="6" name="">
            <a:extLst xmlns:a="http://schemas.openxmlformats.org/drawingml/2006/main">
              <a:ext uri="{FF2B5EF4-FFF2-40B4-BE49-F238E27FC236}">
                <a16:creationId xmlns:a16="http://schemas.microsoft.com/office/drawing/2014/main" id="{996767AA-3888-466A-9162-B6BEC2FA1291}"/>
              </a:ext>
            </a:extLst>
          </p:cNvPr>
          <p:cNvSpPr>
            <a:spLocks xmlns:a="http://schemas.openxmlformats.org/drawingml/2006/main" noGrp="1"/>
          </p:cNvSpPr>
          <p:nvPr/>
        </p:nvSpPr>
        <p:spPr>
          <a:xfrm xmlns:a="http://schemas.openxmlformats.org/drawingml/2006/main">
            <a:off x="3333750" y="3286125"/>
            <a:ext cx="2190750" cy="619125"/>
          </a:xfrm>
          <a:prstGeom xmlns:a="http://schemas.openxmlformats.org/drawingml/2006/main" prst="rect">
            <a:avLst/>
          </a:prstGeom>
          <a:solidFill xmlns:a="http://schemas.openxmlformats.org/drawingml/2006/main">
            <a:srgbClr val="DCE6F1"/>
          </a:solidFill>
          <a:ln xmlns:a="http://schemas.openxmlformats.org/drawingml/2006/main" w="9525">
            <a:solidFill>
              <a:srgbClr val="4F81BD"/>
            </a:solidFill>
          </a:ln>
        </p:spPr>
        <p:txBody>
          <a:bodyPr xmlns:a="http://schemas.openxmlformats.org/drawingml/2006/main"/>
          <a:lstStyle xmlns:a="http://schemas.openxmlformats.org/drawingml/2006/main">
            <a:defPPr>
              <a:defRPr sz="1425">
                <a:solidFill>
                  <a:srgbClr val="222222"/>
                </a:solidFill>
              </a:defRPr>
            </a:defPPr>
          </a:lstStyle>
          <a:p xmlns:a="http://schemas.openxmlformats.org/drawingml/2006/main">
            <a:pPr>
              <a:defRPr sz="1425">
                <a:solidFill>
                  <a:srgbClr val="222222"/>
                </a:solidFill>
              </a:defRPr>
            </a:pPr>
            <a:r>
              <a:rPr sz="1425">
                <a:solidFill>
                  <a:srgbClr val="222222"/>
                </a:solidFill>
              </a:rPr>
              <a:t>Observed target telemetry</a:t>
            </a:r>
          </a:p>
        </p:txBody>
      </p:sp>
      <p:sp>
        <p:nvSpPr>
          <p:cNvPr id="7" name="">
            <a:extLst xmlns:a="http://schemas.openxmlformats.org/drawingml/2006/main">
              <a:ext uri="{FF2B5EF4-FFF2-40B4-BE49-F238E27FC236}">
                <a16:creationId xmlns:a16="http://schemas.microsoft.com/office/drawing/2014/main" id="{6FF71976-136F-4245-9834-E583B1D39883}"/>
              </a:ext>
            </a:extLst>
          </p:cNvPr>
          <p:cNvSpPr>
            <a:spLocks xmlns:a="http://schemas.openxmlformats.org/drawingml/2006/main" noGrp="1"/>
          </p:cNvSpPr>
          <p:nvPr/>
        </p:nvSpPr>
        <p:spPr>
          <a:xfrm xmlns:a="http://schemas.openxmlformats.org/drawingml/2006/main">
            <a:off x="6334125" y="3286125"/>
            <a:ext cx="2381250" cy="619125"/>
          </a:xfrm>
          <a:prstGeom xmlns:a="http://schemas.openxmlformats.org/drawingml/2006/main" prst="rect">
            <a:avLst/>
          </a:prstGeom>
          <a:solidFill xmlns:a="http://schemas.openxmlformats.org/drawingml/2006/main">
            <a:srgbClr val="DCE6F1"/>
          </a:solidFill>
          <a:ln xmlns:a="http://schemas.openxmlformats.org/drawingml/2006/main" w="9525">
            <a:solidFill>
              <a:srgbClr val="4F81BD"/>
            </a:solidFill>
          </a:ln>
        </p:spPr>
        <p:txBody>
          <a:bodyPr xmlns:a="http://schemas.openxmlformats.org/drawingml/2006/main"/>
          <a:lstStyle xmlns:a="http://schemas.openxmlformats.org/drawingml/2006/main">
            <a:defPPr>
              <a:defRPr sz="1425">
                <a:solidFill>
                  <a:srgbClr val="222222"/>
                </a:solidFill>
              </a:defRPr>
            </a:defPPr>
          </a:lstStyle>
          <a:p xmlns:a="http://schemas.openxmlformats.org/drawingml/2006/main">
            <a:pPr>
              <a:defRPr sz="1425">
                <a:solidFill>
                  <a:srgbClr val="222222"/>
                </a:solidFill>
              </a:defRPr>
            </a:pPr>
            <a:r>
              <a:rPr sz="1425">
                <a:solidFill>
                  <a:srgbClr val="222222"/>
                </a:solidFill>
              </a:rPr>
              <a:t>Sensor quality</a:t>
            </a:r>
          </a:p>
        </p:txBody>
      </p:sp>
      <p:sp>
        <p:nvSpPr>
          <p:cNvPr id="8" name="">
            <a:extLst xmlns:a="http://schemas.openxmlformats.org/drawingml/2006/main">
              <a:ext uri="{FF2B5EF4-FFF2-40B4-BE49-F238E27FC236}">
                <a16:creationId xmlns:a16="http://schemas.microsoft.com/office/drawing/2014/main" id="{87A42446-CF72-4251-8C02-7200EF7E4F5A}"/>
              </a:ext>
            </a:extLst>
          </p:cNvPr>
          <p:cNvSpPr>
            <a:spLocks xmlns:a="http://schemas.openxmlformats.org/drawingml/2006/main" noGrp="1"/>
          </p:cNvSpPr>
          <p:nvPr/>
        </p:nvSpPr>
        <p:spPr>
          <a:xfrm xmlns:a="http://schemas.openxmlformats.org/drawingml/2006/main">
            <a:off x="3333750" y="4429125"/>
            <a:ext cx="2190750" cy="523875"/>
          </a:xfrm>
          <a:prstGeom xmlns:a="http://schemas.openxmlformats.org/drawingml/2006/main" prst="rect">
            <a:avLst/>
          </a:prstGeom>
          <a:solidFill xmlns:a="http://schemas.openxmlformats.org/drawingml/2006/main">
            <a:srgbClr val="DCE6F1"/>
          </a:solidFill>
          <a:ln xmlns:a="http://schemas.openxmlformats.org/drawingml/2006/main" w="9525">
            <a:solidFill>
              <a:srgbClr val="4F81BD"/>
            </a:solidFill>
          </a:ln>
        </p:spPr>
        <p:txBody>
          <a:bodyPr xmlns:a="http://schemas.openxmlformats.org/drawingml/2006/main"/>
          <a:lstStyle xmlns:a="http://schemas.openxmlformats.org/drawingml/2006/main">
            <a:defPPr>
              <a:defRPr sz="1500">
                <a:solidFill>
                  <a:srgbClr val="222222"/>
                </a:solidFill>
              </a:defRPr>
            </a:defPPr>
          </a:lstStyle>
          <a:p xmlns:a="http://schemas.openxmlformats.org/drawingml/2006/main">
            <a:pPr>
              <a:defRPr sz="1500">
                <a:solidFill>
                  <a:srgbClr val="222222"/>
                </a:solidFill>
              </a:defRPr>
            </a:pPr>
            <a:r>
              <a:rPr sz="1500">
                <a:solidFill>
                  <a:srgbClr val="222222"/>
                </a:solidFill>
              </a:rPr>
              <a:t>Trial features</a:t>
            </a:r>
          </a:p>
        </p:txBody>
      </p:sp>
      <p:sp>
        <p:nvSpPr>
          <p:cNvPr id="9" name="">
            <a:extLst xmlns:a="http://schemas.openxmlformats.org/drawingml/2006/main">
              <a:ext uri="{FF2B5EF4-FFF2-40B4-BE49-F238E27FC236}">
                <a16:creationId xmlns:a16="http://schemas.microsoft.com/office/drawing/2014/main" id="{40640176-53D5-499B-BA52-E814C95EDF73}"/>
              </a:ext>
            </a:extLst>
          </p:cNvPr>
          <p:cNvSpPr>
            <a:spLocks xmlns:a="http://schemas.openxmlformats.org/drawingml/2006/main" noGrp="1"/>
          </p:cNvSpPr>
          <p:nvPr/>
        </p:nvSpPr>
        <p:spPr>
          <a:xfrm xmlns:a="http://schemas.openxmlformats.org/drawingml/2006/main">
            <a:off x="6334125" y="4429125"/>
            <a:ext cx="2381250" cy="523875"/>
          </a:xfrm>
          <a:prstGeom xmlns:a="http://schemas.openxmlformats.org/drawingml/2006/main" prst="rect">
            <a:avLst/>
          </a:prstGeom>
          <a:solidFill xmlns:a="http://schemas.openxmlformats.org/drawingml/2006/main">
            <a:srgbClr val="DCE6F1"/>
          </a:solidFill>
          <a:ln xmlns:a="http://schemas.openxmlformats.org/drawingml/2006/main" w="9525">
            <a:solidFill>
              <a:srgbClr val="4F81BD"/>
            </a:solidFill>
          </a:ln>
        </p:spPr>
        <p:txBody>
          <a:bodyPr xmlns:a="http://schemas.openxmlformats.org/drawingml/2006/main"/>
          <a:lstStyle xmlns:a="http://schemas.openxmlformats.org/drawingml/2006/main">
            <a:defPPr>
              <a:defRPr sz="1500">
                <a:solidFill>
                  <a:srgbClr val="222222"/>
                </a:solidFill>
              </a:defRPr>
            </a:defPPr>
          </a:lstStyle>
          <a:p xmlns:a="http://schemas.openxmlformats.org/drawingml/2006/main">
            <a:pPr>
              <a:defRPr sz="1500">
                <a:solidFill>
                  <a:srgbClr val="222222"/>
                </a:solidFill>
              </a:defRPr>
            </a:pPr>
            <a:r>
              <a:rPr sz="1500">
                <a:solidFill>
                  <a:srgbClr val="222222"/>
                </a:solidFill>
              </a:rPr>
              <a:t>Predicted class</a:t>
            </a:r>
          </a:p>
        </p:txBody>
      </p:sp>
      <p:sp>
        <p:nvSpPr>
          <p:cNvPr id="18" name="">
            <a:extLst xmlns:a="http://schemas.openxmlformats.org/drawingml/2006/main">
              <a:ext uri="{FF2B5EF4-FFF2-40B4-BE49-F238E27FC236}">
                <a16:creationId xmlns:a16="http://schemas.microsoft.com/office/drawing/2014/main" id="{710EB665-13A2-43CB-A449-53D30DA19163}"/>
              </a:ext>
            </a:extLst>
          </p:cNvPr>
          <p:cNvSpPr>
            <a:spLocks xmlns:a="http://schemas.openxmlformats.org/drawingml/2006/main" noGrp="1"/>
          </p:cNvSpPr>
          <p:nvPr/>
        </p:nvSpPr>
        <p:spPr>
          <a:xfrm xmlns:a="http://schemas.openxmlformats.org/drawingml/2006/main">
            <a:off x="333375" y="5095875"/>
            <a:ext cx="838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a:solidFill>
                  <a:srgbClr val="222222"/>
                </a:solidFill>
              </a:defRPr>
            </a:defPPr>
          </a:lstStyle>
          <a:p xmlns:a="http://schemas.openxmlformats.org/drawingml/2006/main">
            <a:pPr>
              <a:defRPr sz="1200">
                <a:solidFill>
                  <a:srgbClr val="222222"/>
                </a:solidFill>
              </a:defRPr>
            </a:pPr>
            <a:r>
              <a:rPr sz="1200">
                <a:solidFill>
                  <a:srgbClr val="222222"/>
                </a:solidFill>
              </a:rPr>
              <a:t>Conceptual dependencies. The graph does not estimate causal effects.</a:t>
            </a:r>
          </a:p>
          <a:p xmlns:a="http://schemas.openxmlformats.org/drawingml/2006/main">
            <a:pPr>
              <a:defRPr sz="1200">
                <a:solidFill>
                  <a:srgbClr val="222222"/>
                </a:solidFill>
              </a:defRPr>
            </a:pPr>
            <a:r>
              <a:rPr sz="1200">
                <a:solidFill>
                  <a:srgbClr val="222222"/>
                </a:solidFill>
              </a:rPr>
              <a:t>Range and sensor controls address alternate paths to classification.</a:t>
            </a:r>
          </a:p>
        </p:txBody>
      </p:sp>
    </p:spTree>
    <p:extLst>
      <p:ext uri="{BB962C8B-B14F-4D97-AF65-F5344CB8AC3E}">
        <p14:creationId xmlns:p14="http://schemas.microsoft.com/office/powerpoint/2010/main" val="1041223685"/>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E3B1032D-6840-4006-B10F-149A4E671B6C}"/>
              </a:ext>
            </a:extLst>
          </p:cNvPr>
          <p:cNvSpPr>
            <a:spLocks xmlns:a="http://schemas.openxmlformats.org/drawingml/2006/main" noGrp="1"/>
          </p:cNvSpPr>
          <p:nvPr/>
        </p:nvSpPr>
        <p:spPr>
          <a:xfrm xmlns:a="http://schemas.openxmlformats.org/drawingml/2006/main">
            <a:off x="381000" y="238125"/>
            <a:ext cx="838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22222"/>
                </a:solidFill>
              </a:defRPr>
            </a:defPPr>
          </a:lstStyle>
          <a:p xmlns:a="http://schemas.openxmlformats.org/drawingml/2006/main">
            <a:pPr>
              <a:defRPr sz="2250" b="1">
                <a:solidFill>
                  <a:srgbClr val="222222"/>
                </a:solidFill>
              </a:defRPr>
            </a:pPr>
            <a:r>
              <a:rPr sz="2250" b="1">
                <a:solidFill>
                  <a:srgbClr val="222222"/>
                </a:solidFill>
              </a:rPr>
              <a:t>Dataset Creation: Matched Five-Day Collection</a:t>
            </a:r>
          </a:p>
        </p:txBody>
      </p:sp>
      <p:graphicFrame>
        <p:nvGraphicFramePr>
          <p:cNvPr id="2" name="">
            <a:extLst xmlns:a="http://schemas.openxmlformats.org/drawingml/2006/main">
              <a:ext uri="{FF2B5EF4-FFF2-40B4-BE49-F238E27FC236}">
                <a16:creationId xmlns:a16="http://schemas.microsoft.com/office/drawing/2014/main" id="{10407C9E-DD5F-4999-86E7-75BA013504BA}"/>
              </a:ext>
            </a:extLst>
          </p:cNvPr>
          <p:cNvGraphicFramePr/>
          <p:nvPr/>
        </p:nvGraphicFramePr>
        <p:xfrm>
          <a:off xmlns:a="http://schemas.openxmlformats.org/drawingml/2006/main" x="333375" y="1000125"/>
          <a:ext xmlns:a="http://schemas.openxmlformats.org/drawingml/2006/main" cx="8477250" cy="3857625"/>
        </p:xfrm>
        <a:graphic xmlns:a="http://schemas.openxmlformats.org/drawingml/2006/main">
          <a:graphicData uri="http://schemas.openxmlformats.org/drawingml/2006/table">
            <a:tbl>
              <a:tblPr/>
              <a:tblGrid>
                <a:gridCol w="2000250"/>
                <a:gridCol w="6477000"/>
              </a:tblGrid>
              <a:tr h="551089">
                <a:tc>
                  <a:txBody>
                    <a:bodyPr/>
                    <a:lstStyle/>
                    <a:p>
                      <a:r>
                        <a:rPr sz="1350" b="1">
                          <a:solidFill>
                            <a:srgbClr val="FFFFFF"/>
                          </a:solidFill>
                        </a:rPr>
                        <a:t>Element</a:t>
                      </a:r>
                    </a:p>
                  </a:txBody>
                  <a:tcPr marL="91440" marR="91440" marT="45720" marB="45720">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4F81BD"/>
                    </a:solidFill>
                  </a:tcPr>
                </a:tc>
                <a:tc>
                  <a:txBody>
                    <a:bodyPr/>
                    <a:lstStyle/>
                    <a:p>
                      <a:r>
                        <a:rPr sz="1350" b="1">
                          <a:solidFill>
                            <a:srgbClr val="FFFFFF"/>
                          </a:solidFill>
                        </a:rPr>
                        <a:t>Current dataset design</a:t>
                      </a:r>
                    </a:p>
                  </a:txBody>
                  <a:tcPr marL="91440" marR="91440" marT="45720" marB="45720">
                    <a:lnR w="9525">
                      <a:solidFill>
                        <a:srgbClr val="FFFFFF"/>
                      </a:solidFill>
                      <a:prstDash val="solid"/>
                    </a:lnR>
                    <a:lnT w="9525">
                      <a:solidFill>
                        <a:srgbClr val="FFFFFF"/>
                      </a:solidFill>
                      <a:prstDash val="solid"/>
                    </a:lnT>
                    <a:lnB w="9525">
                      <a:solidFill>
                        <a:srgbClr val="FFFFFF"/>
                      </a:solidFill>
                      <a:prstDash val="solid"/>
                    </a:lnB>
                    <a:solidFill>
                      <a:srgbClr val="4F81BD"/>
                    </a:solidFill>
                  </a:tcPr>
                </a:tc>
              </a:tr>
              <a:tr h="551089">
                <a:tc>
                  <a:txBody>
                    <a:bodyPr/>
                    <a:lstStyle/>
                    <a:p>
                      <a:r>
                        <a:rPr sz="1350" b="0">
                          <a:solidFill>
                            <a:srgbClr val="222222"/>
                          </a:solidFill>
                        </a:rPr>
                        <a:t>Scenario and data type</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D0D8E8"/>
                    </a:solidFill>
                  </a:tcPr>
                </a:tc>
                <a:tc>
                  <a:txBody>
                    <a:bodyPr/>
                    <a:lstStyle/>
                    <a:p>
                      <a:r>
                        <a:rPr sz="1350" b="0">
                          <a:solidFill>
                            <a:srgbClr val="222222"/>
                          </a:solidFill>
                        </a:rPr>
                        <a:t>Synthetic GOAD AWS scenario. Human and AI actions produce measured host/network telemetry. Generated numeric fixtures remain separate.</a:t>
                      </a:r>
                    </a:p>
                  </a:txBody>
                  <a:tcPr marL="91440" marR="91440" marT="45720" marB="45720">
                    <a:lnR w="9525">
                      <a:solidFill>
                        <a:srgbClr val="FFFFFF"/>
                      </a:solidFill>
                      <a:prstDash val="solid"/>
                    </a:lnR>
                    <a:lnB w="9525">
                      <a:solidFill>
                        <a:srgbClr val="FFFFFF"/>
                      </a:solidFill>
                      <a:prstDash val="solid"/>
                    </a:lnB>
                    <a:solidFill>
                      <a:srgbClr val="D0D8E8"/>
                    </a:solidFill>
                  </a:tcPr>
                </a:tc>
              </a:tr>
              <a:tr h="551089">
                <a:tc>
                  <a:txBody>
                    <a:bodyPr/>
                    <a:lstStyle/>
                    <a:p>
                      <a:r>
                        <a:rPr sz="1350" b="0">
                          <a:solidFill>
                            <a:srgbClr val="222222"/>
                          </a:solidFill>
                        </a:rPr>
                        <a:t>Matched operator arms</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E9EDF4"/>
                    </a:solidFill>
                  </a:tcPr>
                </a:tc>
                <a:tc>
                  <a:txBody>
                    <a:bodyPr/>
                    <a:lstStyle/>
                    <a:p>
                      <a:r>
                        <a:rPr sz="1350" b="0">
                          <a:solidFill>
                            <a:srgbClr val="222222"/>
                          </a:solidFill>
                        </a:rPr>
                        <a:t>Human red team and ARTEMIS autonomous agent pursue the same authorized objective. External DGX Spark hosts the local AI model.</a:t>
                      </a:r>
                    </a:p>
                  </a:txBody>
                  <a:tcPr marL="91440" marR="91440" marT="45720" marB="45720">
                    <a:lnR w="9525">
                      <a:solidFill>
                        <a:srgbClr val="FFFFFF"/>
                      </a:solidFill>
                      <a:prstDash val="solid"/>
                    </a:lnR>
                    <a:lnB w="9525">
                      <a:solidFill>
                        <a:srgbClr val="FFFFFF"/>
                      </a:solidFill>
                      <a:prstDash val="solid"/>
                    </a:lnB>
                    <a:solidFill>
                      <a:srgbClr val="E9EDF4"/>
                    </a:solidFill>
                  </a:tcPr>
                </a:tc>
              </a:tr>
              <a:tr h="551089">
                <a:tc>
                  <a:txBody>
                    <a:bodyPr/>
                    <a:lstStyle/>
                    <a:p>
                      <a:r>
                        <a:rPr sz="1350" b="0">
                          <a:solidFill>
                            <a:srgbClr val="222222"/>
                          </a:solidFill>
                        </a:rPr>
                        <a:t>AI configuration</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D0D8E8"/>
                    </a:solidFill>
                  </a:tcPr>
                </a:tc>
                <a:tc>
                  <a:txBody>
                    <a:bodyPr/>
                    <a:lstStyle/>
                    <a:p>
                      <a:r>
                        <a:rPr sz="1350" b="0">
                          <a:solidFill>
                            <a:srgbClr val="222222"/>
                          </a:solidFill>
                        </a:rPr>
                        <a:t>gemma4-ablit:latest and huihui_ai/qwen2.5-coder-abliterate:32b. Record full digests, scaffold commit, skills, prompts and runtime.</a:t>
                      </a:r>
                    </a:p>
                  </a:txBody>
                  <a:tcPr marL="91440" marR="91440" marT="45720" marB="45720">
                    <a:lnR w="9525">
                      <a:solidFill>
                        <a:srgbClr val="FFFFFF"/>
                      </a:solidFill>
                      <a:prstDash val="solid"/>
                    </a:lnR>
                    <a:lnB w="9525">
                      <a:solidFill>
                        <a:srgbClr val="FFFFFF"/>
                      </a:solidFill>
                      <a:prstDash val="solid"/>
                    </a:lnB>
                    <a:solidFill>
                      <a:srgbClr val="D0D8E8"/>
                    </a:solidFill>
                  </a:tcPr>
                </a:tc>
              </a:tr>
              <a:tr h="551089">
                <a:tc>
                  <a:txBody>
                    <a:bodyPr/>
                    <a:lstStyle/>
                    <a:p>
                      <a:r>
                        <a:rPr sz="1350" b="0">
                          <a:solidFill>
                            <a:srgbClr val="222222"/>
                          </a:solidFill>
                        </a:rPr>
                        <a:t>Collection and labels</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E9EDF4"/>
                    </a:solidFill>
                  </a:tcPr>
                </a:tc>
                <a:tc>
                  <a:txBody>
                    <a:bodyPr/>
                    <a:lstStyle/>
                    <a:p>
                      <a:r>
                        <a:rPr sz="1350" b="0">
                          <a:solidFill>
                            <a:srgbClr val="222222"/>
                          </a:solidFill>
                        </a:rPr>
                        <a:t>Five collection days, balanced arms/tasks, verified resets, native logs and hashes. Independent trial registry records actor/configuration and interventions.</a:t>
                      </a:r>
                    </a:p>
                  </a:txBody>
                  <a:tcPr marL="91440" marR="91440" marT="45720" marB="45720">
                    <a:lnR w="9525">
                      <a:solidFill>
                        <a:srgbClr val="FFFFFF"/>
                      </a:solidFill>
                      <a:prstDash val="solid"/>
                    </a:lnR>
                    <a:lnB w="9525">
                      <a:solidFill>
                        <a:srgbClr val="FFFFFF"/>
                      </a:solidFill>
                      <a:prstDash val="solid"/>
                    </a:lnB>
                    <a:solidFill>
                      <a:srgbClr val="E9EDF4"/>
                    </a:solidFill>
                  </a:tcPr>
                </a:tc>
              </a:tr>
              <a:tr h="551089">
                <a:tc>
                  <a:txBody>
                    <a:bodyPr/>
                    <a:lstStyle/>
                    <a:p>
                      <a:r>
                        <a:rPr sz="1350" b="0">
                          <a:solidFill>
                            <a:srgbClr val="222222"/>
                          </a:solidFill>
                        </a:rPr>
                        <a:t>Dataset qualification</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D0D8E8"/>
                    </a:solidFill>
                  </a:tcPr>
                </a:tc>
                <a:tc>
                  <a:txBody>
                    <a:bodyPr/>
                    <a:lstStyle/>
                    <a:p>
                      <a:r>
                        <a:rPr sz="1350" b="0">
                          <a:solidFill>
                            <a:srgbClr val="222222"/>
                          </a:solidFill>
                        </a:rPr>
                        <a:t>GOAD/ARTEMIS preliminary tests qualify sensors, matched conditions, labels and feasible group counts before full collection.</a:t>
                      </a:r>
                    </a:p>
                  </a:txBody>
                  <a:tcPr marL="91440" marR="91440" marT="45720" marB="45720">
                    <a:lnR w="9525">
                      <a:solidFill>
                        <a:srgbClr val="FFFFFF"/>
                      </a:solidFill>
                      <a:prstDash val="solid"/>
                    </a:lnR>
                    <a:lnB w="9525">
                      <a:solidFill>
                        <a:srgbClr val="FFFFFF"/>
                      </a:solidFill>
                      <a:prstDash val="solid"/>
                    </a:lnB>
                    <a:solidFill>
                      <a:srgbClr val="D0D8E8"/>
                    </a:solidFill>
                  </a:tcPr>
                </a:tc>
              </a:tr>
              <a:tr h="551089">
                <a:tc>
                  <a:txBody>
                    <a:bodyPr/>
                    <a:lstStyle/>
                    <a:p>
                      <a:r>
                        <a:rPr sz="1350" b="0">
                          <a:solidFill>
                            <a:srgbClr val="222222"/>
                          </a:solidFill>
                        </a:rPr>
                        <a:t>Analysis boundary</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E9EDF4"/>
                    </a:solidFill>
                  </a:tcPr>
                </a:tc>
                <a:tc>
                  <a:txBody>
                    <a:bodyPr/>
                    <a:lstStyle/>
                    <a:p>
                      <a:r>
                        <a:rPr sz="1350" b="0">
                          <a:solidFill>
                            <a:srgbClr val="222222"/>
                          </a:solidFill>
                        </a:rPr>
                        <a:t>Reserve human/configuration groups. Separate scripted/benign controls. Trial counts and all formal results remain pending.</a:t>
                      </a:r>
                    </a:p>
                  </a:txBody>
                  <a:tcPr marL="91440" marR="91440" marT="45720" marB="45720">
                    <a:lnR w="9525">
                      <a:solidFill>
                        <a:srgbClr val="FFFFFF"/>
                      </a:solidFill>
                      <a:prstDash val="solid"/>
                    </a:lnR>
                    <a:lnB w="9525">
                      <a:solidFill>
                        <a:srgbClr val="FFFFFF"/>
                      </a:solidFill>
                      <a:prstDash val="solid"/>
                    </a:lnB>
                    <a:solidFill>
                      <a:srgbClr val="E9EDF4"/>
                    </a:solidFill>
                  </a:tcPr>
                </a:tc>
              </a:tr>
            </a:tbl>
          </a:graphicData>
        </a:graphic>
      </p:graphicFrame>
      <p:sp>
        <p:nvSpPr>
          <p:cNvPr id="3" name="">
            <a:extLst xmlns:a="http://schemas.openxmlformats.org/drawingml/2006/main">
              <a:ext uri="{FF2B5EF4-FFF2-40B4-BE49-F238E27FC236}">
                <a16:creationId xmlns:a16="http://schemas.microsoft.com/office/drawing/2014/main" id="{94DA9ECB-A456-4461-9D39-31236176A5E5}"/>
              </a:ext>
            </a:extLst>
          </p:cNvPr>
          <p:cNvSpPr>
            <a:spLocks xmlns:a="http://schemas.openxmlformats.org/drawingml/2006/main" noGrp="1"/>
          </p:cNvSpPr>
          <p:nvPr/>
        </p:nvSpPr>
        <p:spPr>
          <a:xfrm xmlns:a="http://schemas.openxmlformats.org/drawingml/2006/main">
            <a:off x="333375" y="5000625"/>
            <a:ext cx="8477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a:solidFill>
                  <a:srgbClr val="222222"/>
                </a:solidFill>
              </a:defRPr>
            </a:defPPr>
          </a:lstStyle>
          <a:p xmlns:a="http://schemas.openxmlformats.org/drawingml/2006/main">
            <a:pPr>
              <a:defRPr sz="1350">
                <a:solidFill>
                  <a:srgbClr val="222222"/>
                </a:solidFill>
              </a:defRPr>
            </a:pPr>
            <a:r>
              <a:rPr sz="1350">
                <a:solidFill>
                  <a:srgbClr val="222222"/>
                </a:solidFill>
              </a:rPr>
              <a:t>Local model integration and pilot execution remain to be validated.</a:t>
            </a:r>
          </a:p>
          <a:p xmlns:a="http://schemas.openxmlformats.org/drawingml/2006/main">
            <a:pPr>
              <a:defRPr sz="1350">
                <a:solidFill>
                  <a:srgbClr val="222222"/>
                </a:solidFill>
              </a:defRPr>
            </a:pPr>
            <a:r>
              <a:rPr sz="1350">
                <a:solidFill>
                  <a:srgbClr val="222222"/>
                </a:solidFill>
              </a:rPr>
              <a:t>The dataset supports the updated RQ1 feature, RQ2 transfer and RQ3 classifier tests.</a:t>
            </a:r>
          </a:p>
        </p:txBody>
      </p:sp>
    </p:spTree>
    <p:extLst>
      <p:ext uri="{BB962C8B-B14F-4D97-AF65-F5344CB8AC3E}">
        <p14:creationId xmlns:p14="http://schemas.microsoft.com/office/powerpoint/2010/main" val="1207473106"/>
      </p:ext>
    </p:extLst>
  </p:cSld>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18909</TotalTime>
  <Words>7720</Words>
  <Application>Microsoft Macintosh PowerPoint</Application>
  <PresentationFormat>On-screen Show (4:3)</PresentationFormat>
  <Paragraphs>715</Paragraphs>
  <Slides>34</Slides>
  <Notes>14</Notes>
  <HiddenSlides>1</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34</vt:i4>
      </vt:variant>
    </vt:vector>
  </HeadingPairs>
  <TitlesOfParts>
    <vt:vector size="38" baseType="lpstr">
      <vt:lpstr>Arial</vt:lpstr>
      <vt:lpstr>Calibri</vt:lpstr>
      <vt:lpstr>Custom Design</vt:lpstr>
      <vt:lpstr>1_Custom Design</vt:lpstr>
      <vt:lpstr>Human vs. Autonomous AI Operator Classification in Advanced Persistent Threat (APT) Intrusions from Target-Side Telemetry </vt:lpstr>
      <vt:lpstr>Problem Statement:</vt:lpstr>
      <vt:lpstr>Thesis Statement</vt:lpstr>
      <vt:lpstr>Research Questions</vt:lpstr>
      <vt:lpstr>Research Hypotheses (1 of 2)</vt:lpstr>
      <vt:lpstr>Research Hypotheses (2 of 2)</vt:lpstr>
      <vt:lpstr>Data Source – Primary (Dataset 1: Host Telemetry)</vt:lpstr>
      <vt:lpstr>Data Source – Primary (Dataset 2: Network Telemetry)</vt:lpstr>
      <vt:lpstr>Trial Registry Labels (Ground Truth)</vt:lpstr>
      <vt:lpstr>Annotated Bibliography (1 of 5)</vt:lpstr>
      <vt:lpstr>Annotated Bibliography (2 of 5)</vt:lpstr>
      <vt:lpstr>Annotated Bibliography (3 of 5)</vt:lpstr>
      <vt:lpstr>Annotated Bibliography (4 of 5)</vt:lpstr>
      <vt:lpstr>Annotated Bibliography (5 of 5)</vt:lpstr>
      <vt:lpstr>Research Matrix 1/2</vt:lpstr>
      <vt:lpstr>Research Matrix 2/2</vt:lpstr>
      <vt:lpstr>Glossary of Terms</vt:lpstr>
      <vt:lpstr>Acronyms</vt:lpstr>
      <vt:lpstr>Block Diagram (start on this page and continues in subsequent pages) Level 1</vt:lpstr>
      <vt:lpstr>Methodology Steps – Second Level</vt:lpstr>
      <vt:lpstr>Methodology Steps – Second Level</vt:lpstr>
      <vt:lpstr>Methodology Steps – Second Level</vt:lpstr>
      <vt:lpstr>Methodology Steps – Second Level</vt:lpstr>
      <vt:lpstr>Methodology Steps – Second Level</vt:lpstr>
      <vt:lpstr>Methodology Steps – Second Level</vt:lpstr>
      <vt:lpstr>Methodology Steps – Second Level</vt:lpstr>
      <vt:lpstr>Methodology Steps – Second Level</vt:lpstr>
      <vt:lpstr>Methodology Steps – Second Level</vt:lpstr>
      <vt:lpstr>Methodology Steps – Second Level</vt:lpstr>
      <vt:lpstr>PowerPoint Presentation</vt:lpstr>
      <vt:lpstr>PowerPoint Presentation</vt:lpstr>
      <vt:lpstr>Classifier Set (RQ3 / H3)</vt:lpstr>
      <vt:lpstr>PowerPoint Presentation</vt:lpstr>
      <vt:lpstr>Appendix</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Sarkani, Shahryar</dc:creator>
  <cp:lastModifiedBy>Marcos Malvido</cp:lastModifiedBy>
  <cp:revision>26</cp:revision>
  <dcterms:created xsi:type="dcterms:W3CDTF">2020-01-15T21:27:56Z</dcterms:created>
  <dcterms:modified xsi:type="dcterms:W3CDTF">2026-10-21T21:39:56Z</dcterms:modified>
</cp:coreProperties>
</file>