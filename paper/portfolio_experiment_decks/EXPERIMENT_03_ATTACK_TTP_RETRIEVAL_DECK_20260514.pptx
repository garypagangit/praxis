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scope discipline: this is profile retrieval, not actor authorship.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closeout claim is now stronger: retrieval beats random and frequency-prior floors while preserving the original overlap/SVD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01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11827"/>
                </a:solidFill>
              </a:defRPr>
            </a:pPr>
            <a:r>
              <a:t>Experiment 3: ATT&amp;CK TTP-Set Profile Retrieval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09960" cy="3200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4B5563"/>
                </a:solidFill>
              </a:defRPr>
            </a:pPr>
            <a:r>
              <a:t>Second narrow positive candidate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111827"/>
                </a:solidFill>
              </a:defRPr>
            </a:pPr>
            <a:r>
              <a:t>Goal: rank likely ATT&amp;CK group profiles from a small observed set of techniques.</a:t>
            </a:r>
          </a:p>
          <a:p>
            <a:pPr>
              <a:defRPr sz="2400">
                <a:solidFill>
                  <a:srgbClr val="111827"/>
                </a:solidFill>
              </a:defRPr>
            </a:pPr>
            <a:r>
              <a:t>Current status: selected as result #2, with scope narrowed away from prose attribution.</a:t>
            </a:r>
          </a:p>
          <a:p>
            <a:pPr>
              <a:defRPr sz="2400">
                <a:solidFill>
                  <a:srgbClr val="111827"/>
                </a:solidFill>
              </a:defRPr>
            </a:pPr>
            <a:r>
              <a:t>Headline: 5-shot top-5 accuracy is 0.960 for overlap and 0.879 for SVD.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01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11827"/>
                </a:solidFill>
              </a:defRPr>
            </a:pPr>
            <a:r>
              <a:t>Paper Anchor And Gap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09960" cy="3200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1600200"/>
            <a:ext cx="5303520" cy="1920240"/>
          </a:xfrm>
          <a:prstGeom prst="roundRect">
            <a:avLst/>
          </a:prstGeom>
          <a:solidFill>
            <a:srgbClr val="DBEAFE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" y="1737360"/>
            <a:ext cx="4974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11827"/>
                </a:solidFill>
              </a:defRPr>
            </a:pPr>
            <a:r>
              <a:t>Primary anchor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2103120"/>
            <a:ext cx="4974336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111827"/>
                </a:solidFill>
              </a:defRPr>
            </a:pPr>
            <a:r>
              <a:t>Strom et al. (2020), MITRE ATT&amp;CK: Design and philosophy. ATT&amp;CK provides empirically grounded adversary technique profiles.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600200"/>
            <a:ext cx="5303520" cy="1920240"/>
          </a:xfrm>
          <a:prstGeom prst="roundRect">
            <a:avLst/>
          </a:prstGeom>
          <a:solidFill>
            <a:srgbClr val="DCFCE7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28231" y="1737360"/>
            <a:ext cx="4974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11827"/>
                </a:solidFill>
              </a:defRPr>
            </a:pPr>
            <a:r>
              <a:t>Gap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28231" y="2103120"/>
            <a:ext cx="4974336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111827"/>
                </a:solidFill>
              </a:defRPr>
            </a:pPr>
            <a:r>
              <a:t>There is no formal few-shot retrieval protocol that asks how many observed TTPs are enough to recover likely group profiles.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840480"/>
            <a:ext cx="10881360" cy="1234440"/>
          </a:xfrm>
          <a:prstGeom prst="roundRect">
            <a:avLst/>
          </a:prstGeom>
          <a:solidFill>
            <a:srgbClr val="F9FAFB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3977640"/>
            <a:ext cx="105521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11827"/>
                </a:solidFill>
              </a:defRPr>
            </a:pPr>
            <a:r>
              <a:t>Boundary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4343400"/>
            <a:ext cx="1055217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111827"/>
                </a:solidFill>
              </a:defRPr>
            </a:pPr>
            <a:r>
              <a:t>Hamilton et al. (2017) motivates graph embeddings, but the local GraphSAGE pilot failed. The selected result is the simple retrieval protocol.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01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11827"/>
                </a:solidFill>
              </a:defRPr>
            </a:pPr>
            <a:r>
              <a:t>Protocol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09960" cy="3200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417320"/>
          <a:ext cx="1088136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71628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11827"/>
                          </a:solidFill>
                        </a:defRPr>
                      </a:pPr>
                      <a:r>
                        <a:t>Step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11827"/>
                          </a:solidFill>
                        </a:defRPr>
                      </a:pPr>
                      <a:r>
                        <a:t>Decision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ATT&amp;CK group-technique matrix: 174 groups, 697 techniques, 4546 edges</a:t>
                      </a:r>
                    </a:p>
                  </a:txBody>
                  <a:tcPr/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Eligible groups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121 groups with degree &gt;= 10</a:t>
                      </a:r>
                    </a:p>
                  </a:txBody>
                  <a:tcPr/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Queries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Sample k techniques from a known group, k in {1, 3, 5, 10}</a:t>
                      </a:r>
                    </a:p>
                  </a:txBody>
                  <a:tcPr/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Metrics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Top-1, Top-5, Top-10, MRR, median rank</a:t>
                      </a:r>
                    </a:p>
                  </a:txBody>
                  <a:tcPr/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Scope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Profile retrieval from TTP sets, not CTI prose attribution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01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11827"/>
                </a:solidFill>
              </a:defRPr>
            </a:pPr>
            <a:r>
              <a:t>Main Result With Floor Baselines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09960" cy="3200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417320"/>
          <a:ext cx="1088136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554480"/>
                <a:gridCol w="1554480"/>
                <a:gridCol w="1554480"/>
                <a:gridCol w="1554480"/>
                <a:gridCol w="1554480"/>
                <a:gridCol w="1554480"/>
              </a:tblGrid>
              <a:tr h="82296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11827"/>
                          </a:solidFill>
                        </a:defRPr>
                      </a:pPr>
                      <a:r>
                        <a:t>Method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11827"/>
                          </a:solidFill>
                        </a:defRPr>
                      </a:pPr>
                      <a:r>
                        <a:t>Shots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11827"/>
                          </a:solidFill>
                        </a:defRPr>
                      </a:pPr>
                      <a:r>
                        <a:t>Top-1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11827"/>
                          </a:solidFill>
                        </a:defRPr>
                      </a:pPr>
                      <a:r>
                        <a:t>Top-5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11827"/>
                          </a:solidFill>
                        </a:defRPr>
                      </a:pPr>
                      <a:r>
                        <a:t>MRR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11827"/>
                          </a:solidFill>
                        </a:defRPr>
                      </a:pPr>
                      <a:r>
                        <a:t>Median rank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11827"/>
                          </a:solidFill>
                        </a:defRPr>
                      </a:pPr>
                      <a:r>
                        <a:t>Lift vs random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random_uniform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0.005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0.028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0.033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84.0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1.0x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frequency_prior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0.008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0.041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0.044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61.0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1.5x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overlap_cosine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0.721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0.960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0.824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34.2x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svd32_graph_embedding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0.623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0.879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0.732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31.3x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01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11827"/>
                </a:solidFill>
              </a:defRPr>
            </a:pPr>
            <a:r>
              <a:t>Degree-Bucket Check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09960" cy="3200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417320"/>
          <a:ext cx="1088136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6272"/>
                <a:gridCol w="2176272"/>
                <a:gridCol w="2176272"/>
                <a:gridCol w="2176272"/>
                <a:gridCol w="2176272"/>
              </a:tblGrid>
              <a:tr h="587828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11827"/>
                          </a:solidFill>
                        </a:defRPr>
                      </a:pPr>
                      <a:r>
                        <a:t>Method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11827"/>
                          </a:solidFill>
                        </a:defRPr>
                      </a:pPr>
                      <a:r>
                        <a:t>Bucket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11827"/>
                          </a:solidFill>
                        </a:defRPr>
                      </a:pPr>
                      <a:r>
                        <a:t>Top-5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11827"/>
                          </a:solidFill>
                        </a:defRPr>
                      </a:pPr>
                      <a:r>
                        <a:t>MRR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11827"/>
                          </a:solidFill>
                        </a:defRPr>
                      </a:pPr>
                      <a:r>
                        <a:t>Median rank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overlap_cosine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0.995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0.953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1.0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overlap_cosine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mid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0.995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0.866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1.0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overlap_cosine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0.887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0.644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2.0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svd32_graph_embedding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0.951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0.866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1.0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svd32_graph_embedding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mid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0.854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0.667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1.0</a:t>
                      </a:r>
                    </a:p>
                  </a:txBody>
                  <a:tcPr/>
                </a:tc>
              </a:tr>
              <a:tr h="587832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svd32_graph_embedding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0.831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0.659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1.0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01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11827"/>
                </a:solidFill>
              </a:defRPr>
            </a:pPr>
            <a:r>
              <a:t>Negative GNN Gate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09960" cy="3200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417320"/>
          <a:ext cx="1088136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6272"/>
                <a:gridCol w="2176272"/>
                <a:gridCol w="2176272"/>
                <a:gridCol w="2176272"/>
                <a:gridCol w="2176272"/>
              </a:tblGrid>
              <a:tr h="82296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11827"/>
                          </a:solidFill>
                        </a:defRPr>
                      </a:pPr>
                      <a:r>
                        <a:t>Mode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11827"/>
                          </a:solidFill>
                        </a:defRPr>
                      </a:pPr>
                      <a:r>
                        <a:t>Method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11827"/>
                          </a:solidFill>
                        </a:defRPr>
                      </a:pPr>
                      <a:r>
                        <a:t>Shots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11827"/>
                          </a:solidFill>
                        </a:defRPr>
                      </a:pPr>
                      <a:r>
                        <a:t>Top-5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11827"/>
                          </a:solidFill>
                        </a:defRPr>
                      </a:pPr>
                      <a:r>
                        <a:t>Median rank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known_profile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overlap_cosine_train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0.985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1.0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known_profile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svd32_train_graph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0.926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1.0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known_profile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graphsage_linkpred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0.060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60.0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held_edge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graphsage_linkpred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0.073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34.0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01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11827"/>
                </a:solidFill>
              </a:defRPr>
            </a:pPr>
            <a:r>
              <a:t>Allowed Claims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09960" cy="3200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>
                <a:solidFill>
                  <a:srgbClr val="111827"/>
                </a:solidFill>
              </a:defRPr>
            </a:pPr>
            <a:r>
              <a:t>Allowed: five observed ATT&amp;CK techniques can retrieve correct group profiles with high top-5 accuracy.</a:t>
            </a:r>
          </a:p>
          <a:p>
            <a:pPr>
              <a:defRPr sz="2300">
                <a:solidFill>
                  <a:srgbClr val="111827"/>
                </a:solidFill>
              </a:defRPr>
            </a:pPr>
            <a:r>
              <a:t>Allowed: SVD group-technique embeddings preserve useful retrieval signal.</a:t>
            </a:r>
          </a:p>
          <a:p>
            <a:pPr>
              <a:defRPr sz="2300">
                <a:solidFill>
                  <a:srgbClr val="111827"/>
                </a:solidFill>
              </a:defRPr>
            </a:pPr>
            <a:r>
              <a:t>Not allowed: GraphSAGE is better than simple baselines.</a:t>
            </a:r>
          </a:p>
          <a:p>
            <a:pPr>
              <a:defRPr sz="2300">
                <a:solidFill>
                  <a:srgbClr val="111827"/>
                </a:solidFill>
              </a:defRPr>
            </a:pPr>
            <a:r>
              <a:t>Not allowed: CTI prose attribution or actor authorship is solved.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01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11827"/>
                </a:solidFill>
              </a:defRPr>
            </a:pPr>
            <a:r>
              <a:t>Next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09960" cy="3200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>
                <a:solidFill>
                  <a:srgbClr val="111827"/>
                </a:solidFill>
              </a:defRPr>
            </a:pPr>
            <a:r>
              <a:t>Add random and frequency-prior baselines.</a:t>
            </a:r>
          </a:p>
          <a:p>
            <a:pPr>
              <a:defRPr sz="2300">
                <a:solidFill>
                  <a:srgbClr val="111827"/>
                </a:solidFill>
              </a:defRPr>
            </a:pPr>
            <a:r>
              <a:t>Add degree-bucket analysis to test whether high-degree groups dominate performance.</a:t>
            </a:r>
          </a:p>
          <a:p>
            <a:pPr>
              <a:defRPr sz="2300">
                <a:solidFill>
                  <a:srgbClr val="111827"/>
                </a:solidFill>
              </a:defRPr>
            </a:pPr>
            <a:r>
              <a:t>Add example retrievals: query TTPs, top candidates, and why the correct group ranked where it did.</a:t>
            </a:r>
          </a:p>
          <a:p>
            <a:pPr>
              <a:defRPr sz="2300">
                <a:solidFill>
                  <a:srgbClr val="111827"/>
                </a:solidFill>
              </a:defRPr>
            </a:pPr>
            <a:r>
              <a:t>Convert the result report into a compact thesis section.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