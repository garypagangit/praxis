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Experiment 4: Provenance Labels / OpTC Path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09960" cy="320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B5563"/>
                </a:solidFill>
              </a:defRPr>
            </a:pPr>
            <a:r>
              <a:t>Architecture is ready; labels are the blocker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11827"/>
                </a:solidFill>
              </a:defRPr>
            </a:pPr>
            <a:r>
              <a:t>Goal: reopen provenance drift, TGN, SSL, graph routing, MIA, and watermarking with honest interval labels.</a:t>
            </a:r>
          </a:p>
          <a:p>
            <a:pPr>
              <a:defRPr sz="2400">
                <a:solidFill>
                  <a:srgbClr val="111827"/>
                </a:solidFill>
              </a:defRPr>
            </a:pPr>
            <a:r>
              <a:t>Current status: architecture ready but supervised claims are blocked.</a:t>
            </a:r>
          </a:p>
          <a:p>
            <a:pPr>
              <a:defRPr sz="2400">
                <a:solidFill>
                  <a:srgbClr val="111827"/>
                </a:solidFill>
              </a:defRPr>
            </a:pPr>
            <a:r>
              <a:t>Decision: targeted OpTC subset first; Cadets interval labels as fallback.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Paper Anchor And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09960" cy="320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5303520" cy="1828800"/>
          </a:xfrm>
          <a:prstGeom prst="round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645919"/>
            <a:ext cx="4974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11827"/>
                </a:solidFill>
              </a:defRPr>
            </a:pPr>
            <a:r>
              <a:t>Primary anchor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011680"/>
            <a:ext cx="4974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11827"/>
                </a:solidFill>
              </a:defRPr>
            </a:pPr>
            <a:r>
              <a:t>Han et al. (2020), UNICORN. Provenance can support runtime APT detection.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08760"/>
            <a:ext cx="5303520" cy="1828800"/>
          </a:xfrm>
          <a:prstGeom prst="round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1645919"/>
            <a:ext cx="4974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11827"/>
                </a:solidFill>
              </a:defRPr>
            </a:pPr>
            <a:r>
              <a:t>Drift anchor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1" y="2011680"/>
            <a:ext cx="4974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11827"/>
                </a:solidFill>
              </a:defRPr>
            </a:pPr>
            <a:r>
              <a:t>Gama et al. (2014), concept drift adaptation. Chronological detector stability needs labels.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57600"/>
            <a:ext cx="10881360" cy="1508760"/>
          </a:xfrm>
          <a:prstGeom prst="roundRect">
            <a:avLst/>
          </a:prstGeom>
          <a:solidFill>
            <a:srgbClr val="DCFCE7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3794760"/>
            <a:ext cx="10552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11827"/>
                </a:solidFill>
              </a:defRPr>
            </a:pPr>
            <a:r>
              <a:t>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160520"/>
            <a:ext cx="105521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11827"/>
                </a:solidFill>
              </a:defRPr>
            </a:pPr>
            <a:r>
              <a:t>Most of the current portfolio is blocked not by graph modeling, but by missing benign/attack interval truth for provenance windows.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Why Cadets Is Blocked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09960" cy="320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508760"/>
          <a:ext cx="1088136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5943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Windows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Attack-touch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Benign / unlabeled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Full E5 Cadets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9611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9609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No supervised detector claim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0632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827"/>
                </a:solidFill>
              </a:defRPr>
            </a:pPr>
            <a:r>
              <a:t>Node-touch labels are too broad: nearly every window touches attack-labeled nodes.</a:t>
            </a:r>
          </a:p>
          <a:p>
            <a:pPr>
              <a:defRPr sz="2200">
                <a:solidFill>
                  <a:srgbClr val="111827"/>
                </a:solidFill>
              </a:defRPr>
            </a:pPr>
            <a:r>
              <a:t>Density proxy is learnable but not ground truth.</a:t>
            </a:r>
          </a:p>
          <a:p>
            <a:pPr>
              <a:defRPr sz="2200">
                <a:solidFill>
                  <a:srgbClr val="111827"/>
                </a:solidFill>
              </a:defRPr>
            </a:pPr>
            <a:r>
              <a:t>Training a supervised detector here would create a bogus claim.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Minimum Label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09960" cy="320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600891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Check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Minimum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Real 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At least 2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Benign 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&gt;= 20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Attack/anomaly 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&gt;= 20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Stage-specific claim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&gt;= 20 windows for that stage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Split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Train/validation/test contain claimed positive class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Label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Interval truth, confirmed benign spans, or trusted release annotation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Candidate Paths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09960" cy="320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1088136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97155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11827"/>
                          </a:solidFill>
                        </a:defRPr>
                      </a:pPr>
                      <a:r>
                        <a:t>Path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11827"/>
                          </a:solidFill>
                        </a:defRPr>
                      </a:pPr>
                      <a:r>
                        <a:t>Strength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11827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11827"/>
                          </a:solidFill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11827"/>
                          </a:solidFill>
                        </a:defRPr>
                      </a:pPr>
                      <a:r>
                        <a:t>Cadets intervals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11827"/>
                          </a:solidFill>
                        </a:defRPr>
                      </a:pPr>
                      <a:r>
                        <a:t>Reuses 480M-event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11827"/>
                          </a:solidFill>
                        </a:defRPr>
                      </a:pPr>
                      <a:r>
                        <a:t>Manual labels may be 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11827"/>
                          </a:solidFill>
                        </a:defRPr>
                      </a:pPr>
                      <a:r>
                        <a:t>Fallback</a:t>
                      </a:r>
                    </a:p>
                  </a:txBody>
                  <a:tcPr/>
                </a:tc>
              </a:tr>
              <a:tr h="97155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11827"/>
                          </a:solidFill>
                        </a:defRPr>
                      </a:pPr>
                      <a:r>
                        <a:t>Another 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11827"/>
                          </a:solidFill>
                        </a:defRPr>
                      </a:pPr>
                      <a:r>
                        <a:t>Could avoid label collapse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11827"/>
                          </a:solidFill>
                        </a:defRPr>
                      </a:pPr>
                      <a:r>
                        <a:t>Discovery/setup 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11827"/>
                          </a:solidFill>
                        </a:defRPr>
                      </a:pPr>
                      <a:r>
                        <a:t>Investigate later</a:t>
                      </a:r>
                    </a:p>
                  </a:txBody>
                  <a:tcPr/>
                </a:tc>
              </a:tr>
              <a:tr h="97155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11827"/>
                          </a:solidFill>
                        </a:defRPr>
                      </a:pPr>
                      <a:r>
                        <a:t>Targeted OpTC subset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11827"/>
                          </a:solidFill>
                        </a:defRPr>
                      </a:pPr>
                      <a:r>
                        <a:t>Red-team ground truth plus benign 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11827"/>
                          </a:solidFill>
                        </a:defRPr>
                      </a:pPr>
                      <a:r>
                        <a:t>Schema/setup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11827"/>
                          </a:solidFill>
                        </a:defRPr>
                      </a:pPr>
                      <a:r>
                        <a:t>Recommended first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OpTC Feasibility 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09960" cy="320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108813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78638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Artifact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Ground-truth parser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Extracts timestamped seed events from OpTC red-team PDF</a:t>
                      </a:r>
                    </a:p>
                  </a:txBody>
                  <a:tcPr/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Timestamped red-team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101</a:t>
                      </a:r>
                    </a:p>
                  </a:txBody>
                  <a:tcPr/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Covered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Plain PowerShell Empire; Custom Powershell Empire; Malicious Upgrade</a:t>
                      </a:r>
                    </a:p>
                  </a:txBody>
                  <a:tcPr/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Next blocker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Attach eCAR host telemetry around seed timestamps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What Opens After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09960" cy="320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11827"/>
                </a:solidFill>
              </a:defRPr>
            </a:pPr>
            <a:r>
              <a:t>Concept drift: chronological detector stability with real labels.</a:t>
            </a:r>
          </a:p>
          <a:p>
            <a:pPr>
              <a:defRPr sz="2300">
                <a:solidFill>
                  <a:srgbClr val="111827"/>
                </a:solidFill>
              </a:defRPr>
            </a:pPr>
            <a:r>
              <a:t>TGN/SSL: representation experiments with meaningful positive and negative windows.</a:t>
            </a:r>
          </a:p>
          <a:p>
            <a:pPr>
              <a:defRPr sz="2300">
                <a:solidFill>
                  <a:srgbClr val="111827"/>
                </a:solidFill>
              </a:defRPr>
            </a:pPr>
            <a:r>
              <a:t>Watermarking/MIA/adversarial robustness: only after stable detector families exist.</a:t>
            </a:r>
          </a:p>
          <a:p>
            <a:pPr>
              <a:defRPr sz="2300">
                <a:solidFill>
                  <a:srgbClr val="111827"/>
                </a:solidFill>
              </a:defRPr>
            </a:pPr>
            <a:r>
              <a:t>Stage routing: only if stage intervals or reliable stage labels exist.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Next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09960" cy="320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11827"/>
                </a:solidFill>
              </a:defRPr>
            </a:pPr>
            <a:r>
              <a:t>Download or mirror one targeted OpTC eCAR shard, not the whole release.</a:t>
            </a:r>
          </a:p>
          <a:p>
            <a:pPr>
              <a:defRPr sz="2300">
                <a:solidFill>
                  <a:srgbClr val="111827"/>
                </a:solidFill>
              </a:defRPr>
            </a:pPr>
            <a:r>
              <a:t>Run scripts/build_optc_window_gate.ps1.</a:t>
            </a:r>
          </a:p>
          <a:p>
            <a:pPr>
              <a:defRPr sz="2300">
                <a:solidFill>
                  <a:srgbClr val="111827"/>
                </a:solidFill>
              </a:defRPr>
            </a:pPr>
            <a:r>
              <a:t>Stop unless the gate finds &gt;= 20 benign and &gt;= 20 attack/anomaly windows.</a:t>
            </a:r>
          </a:p>
          <a:p>
            <a:pPr>
              <a:defRPr sz="2300">
                <a:solidFill>
                  <a:srgbClr val="111827"/>
                </a:solidFill>
              </a:defRPr>
            </a:pPr>
            <a:r>
              <a:t>If the gate passes, train detector-zoo baselines; if it fails, archive the blocker.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