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saying this is the lead positive result after portfolio triage. The claim is deliberately narrow and evidence-bounded.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this as deployment realism, not benchmark polishing.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sets up why we moved from more routing or weighting to deployment-time adaptation.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that gates prevent a broad post-hoc tuning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method is not unconstrained TTA. The safety gate is the contribution.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Name the validation/test Recon gap before the committee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clearly: this is not a broad ranking-quality 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strongest defense against the simplest critique.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Hardening supports the locked story but does not replace the locked primary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these figures to reinforce the decision-policy framing and DE safety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helps the committee trust the result because the boundary is 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with discipline: narrow result, strong evidence, honest boundary.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F2937"/>
                </a:solidFill>
              </a:defRPr>
            </a:pPr>
            <a:r>
              <a:t>Selective Test-Time Adaptation for Streaming APT Stage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1488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Under Source-File Shift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97180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0">
                <a:solidFill>
                  <a:srgbClr val="1F2937"/>
                </a:solidFill>
              </a:defRPr>
            </a:pPr>
            <a:r>
              <a:t>Praxis 06 defense result: narrow, locked, cloud-audited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21208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1F2937"/>
                </a:solidFill>
              </a:defRPr>
            </a:pPr>
            <a:r>
              <a:t>Core claim: safety-gated no-label TTA recovers shifted Reconnaissance without a broad TTA generality claim.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09960" cy="274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1F2937"/>
                </a:solidFill>
              </a:defRPr>
            </a:pPr>
            <a:r>
              <a:t>APT stage detection under deployment-style shift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8046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1F2937"/>
                </a:solidFill>
              </a:defRPr>
            </a:pPr>
            <a:r>
              <a:t>Source-file, day, host, and traffic shift are deployment realities.</a:t>
            </a:r>
          </a:p>
          <a:p>
            <a:pPr>
              <a:defRPr sz="2100">
                <a:solidFill>
                  <a:srgbClr val="1F2937"/>
                </a:solidFill>
              </a:defRPr>
            </a:pPr>
            <a:r>
              <a:t>Rare stages can collapse even when the overall detector appears usable.</a:t>
            </a:r>
          </a:p>
          <a:p>
            <a:pPr>
              <a:defRPr sz="2100">
                <a:solidFill>
                  <a:srgbClr val="1F2937"/>
                </a:solidFill>
              </a:defRPr>
            </a:pPr>
            <a:r>
              <a:t>Reconnaissance is operationally important but fragile under shift.</a:t>
            </a:r>
          </a:p>
          <a:p>
            <a:pPr>
              <a:defRPr sz="2100">
                <a:solidFill>
                  <a:srgbClr val="1F2937"/>
                </a:solidFill>
              </a:defRPr>
            </a:pPr>
            <a:r>
              <a:t>Security ML needs improvement without damaging high-consequence stages.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t>Why Previous Paths Were Not Enough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09960" cy="274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8046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1F2937"/>
                </a:solidFill>
              </a:defRPr>
            </a:pPr>
            <a:r>
              <a:t>Praxis 04 stage routing failed under shift.</a:t>
            </a:r>
          </a:p>
          <a:p>
            <a:pPr>
              <a:defRPr sz="2100">
                <a:solidFill>
                  <a:srgbClr val="1F2937"/>
                </a:solidFill>
              </a:defRPr>
            </a:pPr>
            <a:r>
              <a:t>Treatment-Stage Macro-F1 0.5981 vs Baseline-TSE 0.6313.</a:t>
            </a:r>
          </a:p>
          <a:p>
            <a:pPr>
              <a:defRPr sz="2100">
                <a:solidFill>
                  <a:srgbClr val="1F2937"/>
                </a:solidFill>
              </a:defRPr>
            </a:pPr>
            <a:r>
              <a:t>Stage-conditioned imbalance did not rescue rare classes cleanly.</a:t>
            </a:r>
          </a:p>
          <a:p>
            <a:pPr>
              <a:defRPr sz="2100">
                <a:solidFill>
                  <a:srgbClr val="1F2937"/>
                </a:solidFill>
              </a:defRPr>
            </a:pPr>
            <a:r>
              <a:t>Provenance graph detector claims remain label-blocked.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t>Research Questions And Decision Gates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09960" cy="274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417320"/>
          <a:ext cx="1078992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4960"/>
                <a:gridCol w="5394960"/>
              </a:tblGrid>
              <a:tr h="56388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11827"/>
                          </a:solidFill>
                        </a:defRPr>
                      </a:pPr>
                      <a:r>
                        <a:t>Question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11827"/>
                          </a:solidFill>
                        </a:defRPr>
                      </a:pPr>
                      <a:r>
                        <a:t>Gate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Improve Macro-F1?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delta &gt;= +0.05</a:t>
                      </a:r>
                    </a:p>
                  </a:txBody>
                  <a:tcPr/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Recover Recon?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delta &gt;= +0.25</a:t>
                      </a:r>
                    </a:p>
                  </a:txBody>
                  <a:tcPr/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Preserve DE?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mean delta &gt;= 0; per-seed &gt;= -0.05</a:t>
                      </a:r>
                    </a:p>
                  </a:txBody>
                  <a:tcPr/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Stay selective?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override &lt;= 0.05 in locked replay</a:t>
                      </a:r>
                    </a:p>
                  </a:txBody>
                  <a:tcPr/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More than filtering?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confidence-reject Recon remains collapsed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t>Method: Selective TTA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09960" cy="274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ure1_method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6492240" cy="30660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06640" y="1417320"/>
            <a:ext cx="420624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F2937"/>
                </a:solidFill>
              </a:defRPr>
            </a:pPr>
            <a:r>
              <a:t>Frozen support-floor MLP produces baseline probabilities.</a:t>
            </a:r>
          </a:p>
          <a:p>
            <a:pPr>
              <a:defRPr sz="1700">
                <a:solidFill>
                  <a:srgbClr val="1F2937"/>
                </a:solidFill>
              </a:defRPr>
            </a:pPr>
            <a:r>
              <a:t>BatchNorm adaptation updates unlabeled stream statistics.</a:t>
            </a:r>
          </a:p>
          <a:p>
            <a:pPr>
              <a:defRPr sz="1700">
                <a:solidFill>
                  <a:srgbClr val="1F2937"/>
                </a:solidFill>
              </a:defRPr>
            </a:pPr>
            <a:r>
              <a:t>recon_guarded gate accepts only selected adapted decisions.</a:t>
            </a:r>
          </a:p>
          <a:p>
            <a:pPr>
              <a:defRPr sz="1700">
                <a:solidFill>
                  <a:srgbClr val="1F2937"/>
                </a:solidFill>
              </a:defRPr>
            </a:pPr>
            <a:r>
              <a:t>Confident Data Exfiltration predictions are protected.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t>Data And Leakage Controls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09960" cy="274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417320"/>
          <a:ext cx="7955279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1055"/>
                <a:gridCol w="1591055"/>
                <a:gridCol w="1591055"/>
                <a:gridCol w="1591055"/>
                <a:gridCol w="1591059"/>
              </a:tblGrid>
              <a:tr h="48006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11827"/>
                          </a:solidFill>
                        </a:defRPr>
                      </a:pPr>
                      <a:r>
                        <a:t>Split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11827"/>
                          </a:solidFill>
                        </a:defRPr>
                      </a:pPr>
                      <a:r>
                        <a:t>Rows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11827"/>
                          </a:solidFill>
                        </a:defRPr>
                      </a:pPr>
                      <a:r>
                        <a:t>Sources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11827"/>
                          </a:solidFill>
                        </a:defRPr>
                      </a:pPr>
                      <a:r>
                        <a:t>Recon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11827"/>
                          </a:solidFill>
                        </a:defRPr>
                      </a:pPr>
                      <a:r>
                        <a:t>DE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Train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307,733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5,151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3,077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61,886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23,791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2,253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65,869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5,852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2,192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3657600"/>
            <a:ext cx="98755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F2937"/>
                </a:solidFill>
              </a:defRPr>
            </a:pPr>
            <a:r>
              <a:t>Held-out source-file split.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Zero source/group overlap across splits.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Temporal deltas use reset_each_split.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Validation is Recon-heavy; sensitivity check is reported.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t>Main Locked Result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09960" cy="274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417320"/>
          <a:ext cx="10789920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8320"/>
                <a:gridCol w="1798320"/>
                <a:gridCol w="1798320"/>
                <a:gridCol w="1798320"/>
                <a:gridCol w="1798320"/>
                <a:gridCol w="1798320"/>
              </a:tblGrid>
              <a:tr h="44196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11827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11827"/>
                          </a:solidFill>
                        </a:defRPr>
                      </a:pPr>
                      <a:r>
                        <a:t>Macro-F1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11827"/>
                          </a:solidFill>
                        </a:defRPr>
                      </a:pPr>
                      <a:r>
                        <a:t>Recon F1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11827"/>
                          </a:solidFill>
                        </a:defRPr>
                      </a:pPr>
                      <a:r>
                        <a:t>DE F1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11827"/>
                          </a:solidFill>
                        </a:defRPr>
                      </a:pPr>
                      <a:r>
                        <a:t>PR-AUC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11827"/>
                          </a:solidFill>
                        </a:defRPr>
                      </a:pPr>
                      <a:r>
                        <a:t>Rate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Frozen MLP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0.7685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0.0250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0.9157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0.8732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0.0000</a:t>
                      </a:r>
                    </a:p>
                  </a:txBody>
                  <a:tcPr/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Locked selective TTA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0.8658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0.5050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0.9202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0.8738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0.0470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3154680"/>
            <a:ext cx="8046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1F2937"/>
                </a:solidFill>
              </a:defRPr>
            </a:pPr>
            <a:r>
              <a:t>Macro-F1 delta: +0.0974.</a:t>
            </a:r>
          </a:p>
          <a:p>
            <a:pPr>
              <a:defRPr sz="2100">
                <a:solidFill>
                  <a:srgbClr val="1F2937"/>
                </a:solidFill>
              </a:defRPr>
            </a:pPr>
            <a:r>
              <a:t>Recon F1 delta: +0.4800.</a:t>
            </a:r>
          </a:p>
          <a:p>
            <a:pPr>
              <a:defRPr sz="2100">
                <a:solidFill>
                  <a:srgbClr val="1F2937"/>
                </a:solidFill>
              </a:defRPr>
            </a:pPr>
            <a:r>
              <a:t>PR-AUC delta: only +0.0006.</a:t>
            </a:r>
          </a:p>
          <a:p>
            <a:pPr>
              <a:defRPr sz="2100">
                <a:solidFill>
                  <a:srgbClr val="1F2937"/>
                </a:solidFill>
              </a:defRPr>
            </a:pPr>
            <a:r>
              <a:t>Interpretation: operating-point decision-policy improvement.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t>Alternative Explanation Check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09960" cy="274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8046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1F2937"/>
                </a:solidFill>
              </a:defRPr>
            </a:pPr>
            <a:r>
              <a:t>Critique: maybe TTA only filters uncertain rows.</a:t>
            </a:r>
          </a:p>
          <a:p>
            <a:pPr>
              <a:defRPr sz="2100">
                <a:solidFill>
                  <a:srgbClr val="1F2937"/>
                </a:solidFill>
              </a:defRPr>
            </a:pPr>
            <a:r>
              <a:t>Control: reject the same fraction of frozen predictions.</a:t>
            </a:r>
          </a:p>
          <a:p>
            <a:pPr>
              <a:defRPr sz="2100">
                <a:solidFill>
                  <a:srgbClr val="1F2937"/>
                </a:solidFill>
              </a:defRPr>
            </a:pPr>
            <a:r>
              <a:t>Matched reject rate: 4.7%.</a:t>
            </a:r>
          </a:p>
          <a:p>
            <a:pPr>
              <a:defRPr sz="2100">
                <a:solidFill>
                  <a:srgbClr val="1F2937"/>
                </a:solidFill>
              </a:defRPr>
            </a:pPr>
            <a:r>
              <a:t>Result: frozen confidence rejection leaves Recon F1 at 0.0000.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4846320"/>
          <a:ext cx="1014984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9968"/>
                <a:gridCol w="2029968"/>
                <a:gridCol w="2029968"/>
                <a:gridCol w="2029968"/>
                <a:gridCol w="2029968"/>
              </a:tblGrid>
              <a:tr h="41148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11827"/>
                          </a:solidFill>
                        </a:defRPr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11827"/>
                          </a:solidFill>
                        </a:defRPr>
                      </a:pPr>
                      <a:r>
                        <a:t>Reject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11827"/>
                          </a:solidFill>
                        </a:defRPr>
                      </a:pPr>
                      <a:r>
                        <a:t>Macro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11827"/>
                          </a:solidFill>
                        </a:defRPr>
                      </a:pPr>
                      <a:r>
                        <a:t>Recon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11827"/>
                          </a:solidFill>
                        </a:defRPr>
                      </a:pPr>
                      <a:r>
                        <a:t>DE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Frozen confidence reject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0.0470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0.7730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0.0000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0.9374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t>Defense Hardening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09960" cy="274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8046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F2937"/>
                </a:solidFill>
              </a:defRPr>
            </a:pPr>
            <a:r>
              <a:t>Seven-seed robustness: Recon F1 0.5147 +/- 0.0589.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Validation-distribution sensitivity mostly preserves the effect.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Stronger frozen baselines still collapse on Recon.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BN stream-order ablation checked.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Override-to-Recon fraction: 0.8075; override-from-DE count: 0.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t>Operating-Point 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09960" cy="274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ure4_recon_pr_operating_poi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25880"/>
            <a:ext cx="5394960" cy="4064696"/>
          </a:xfrm>
          <a:prstGeom prst="rect">
            <a:avLst/>
          </a:prstGeom>
        </p:spPr>
      </p:pic>
      <p:pic>
        <p:nvPicPr>
          <p:cNvPr id="5" name="Picture 4" descr="figure5_de_pr_operating_poi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325880"/>
            <a:ext cx="5394960" cy="406469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t>Boundary Conditions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09960" cy="274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325880"/>
          <a:ext cx="72237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1880"/>
                <a:gridCol w="3611880"/>
              </a:tblGrid>
              <a:tr h="475488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11827"/>
                          </a:solidFill>
                        </a:defRPr>
                      </a:pPr>
                      <a:r>
                        <a:t>DAPT item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11827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MLP Macro 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0.6353 +/- 0.0043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MLP Recon 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0.8932 +/- 0.0089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TTA Macro delta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-0.2874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TTA Recon delta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-0.6589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0" y="1417320"/>
            <a:ext cx="3383280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F2937"/>
                </a:solidFill>
              </a:defRPr>
            </a:pPr>
            <a:r>
              <a:t>DAPT supports detector-recipe transfer only.</a:t>
            </a:r>
          </a:p>
          <a:p>
            <a:pPr>
              <a:defRPr sz="1700">
                <a:solidFill>
                  <a:srgbClr val="1F2937"/>
                </a:solidFill>
              </a:defRPr>
            </a:pPr>
            <a:r>
              <a:t>DAPT does not support TTA generality.</a:t>
            </a:r>
          </a:p>
          <a:p>
            <a:pPr>
              <a:defRPr sz="1700">
                <a:solidFill>
                  <a:srgbClr val="1F2937"/>
                </a:solidFill>
              </a:defRPr>
            </a:pPr>
            <a:r>
              <a:t>DAPT DE support is too small for a DE safety claim.</a:t>
            </a:r>
          </a:p>
          <a:p>
            <a:pPr>
              <a:defRPr sz="1700">
                <a:solidFill>
                  <a:srgbClr val="1F2937"/>
                </a:solidFill>
              </a:defRPr>
            </a:pPr>
            <a:r>
              <a:t>The boundary is visible by design.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t>Final Defense Claim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09960" cy="274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937"/>
                </a:solidFill>
              </a:defRPr>
            </a:pPr>
            <a:r>
              <a:t>Selective no-label TTA can recover rare-stage Reconnaissance under held-out source-file shift when constrained by a validation-selected safety gate.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108960"/>
            <a:ext cx="8046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1F2937"/>
                </a:solidFill>
              </a:defRPr>
            </a:pPr>
            <a:r>
              <a:t>Proves: locked rare-stage recovery and a safety-gated adaptation pattern.</a:t>
            </a:r>
          </a:p>
          <a:p>
            <a:pPr>
              <a:defRPr sz="2100">
                <a:solidFill>
                  <a:srgbClr val="1F2937"/>
                </a:solidFill>
              </a:defRPr>
            </a:pPr>
            <a:r>
              <a:t>Does not prove: universal TTA, cross-dataset TTA, or adversarial-stream robustness.</a:t>
            </a:r>
          </a:p>
          <a:p>
            <a:pPr>
              <a:defRPr sz="2100">
                <a:solidFill>
                  <a:srgbClr val="1F2937"/>
                </a:solidFill>
              </a:defRPr>
            </a:pPr>
            <a:r>
              <a:t>Next portfolio result: ATT&amp;CK TTP-set profile retrieval.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