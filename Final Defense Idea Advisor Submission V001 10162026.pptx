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FC000"/>
    <a:srgbClr val="505046"/>
    <a:srgbClr val="B22600"/>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AD4D06-7586-4E06-977C-09EB070B11A8}" v="14" dt="2026-10-16T22:40:55.646"/>
  </p1510:revLst>
</p1510:revInfo>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643"/>
    <p:restoredTop sz="94685"/>
  </p:normalViewPr>
  <p:slideViewPr>
    <p:cSldViewPr snapToGrid="0">
      <p:cViewPr varScale="1">
        <p:scale>
          <a:sx n="89" d="100"/>
          <a:sy n="89" d="100"/>
        </p:scale>
        <p:origin x="696"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y pagan" userId="328ba120a9517979" providerId="LiveId" clId="{F22B4769-DFD1-45B8-94E8-A952CD6CE729}"/>
    <pc:docChg chg="modSld">
      <pc:chgData name="gary pagan" userId="328ba120a9517979" providerId="LiveId" clId="{F22B4769-DFD1-45B8-94E8-A952CD6CE729}" dt="2026-10-16T22:40:55.646" v="13"/>
      <pc:docMkLst>
        <pc:docMk/>
      </pc:docMkLst>
      <pc:sldChg chg="modSp">
        <pc:chgData name="gary pagan" userId="328ba120a9517979" providerId="LiveId" clId="{F22B4769-DFD1-45B8-94E8-A952CD6CE729}" dt="2026-10-16T22:29:06.620" v="3"/>
        <pc:sldMkLst>
          <pc:docMk/>
          <pc:sldMk cId="0" sldId="259"/>
        </pc:sldMkLst>
        <pc:graphicFrameChg chg="mod">
          <ac:chgData name="gary pagan" userId="328ba120a9517979" providerId="LiveId" clId="{F22B4769-DFD1-45B8-94E8-A952CD6CE729}" dt="2026-10-16T22:29:06.620" v="3"/>
          <ac:graphicFrameMkLst>
            <pc:docMk/>
            <pc:sldMk cId="0" sldId="259"/>
            <ac:graphicFrameMk id="4" creationId="{00000000-0000-0000-0000-000000000000}"/>
          </ac:graphicFrameMkLst>
        </pc:graphicFrameChg>
      </pc:sldChg>
      <pc:sldChg chg="modSp">
        <pc:chgData name="gary pagan" userId="328ba120a9517979" providerId="LiveId" clId="{F22B4769-DFD1-45B8-94E8-A952CD6CE729}" dt="2026-10-16T22:35:09.194" v="7"/>
        <pc:sldMkLst>
          <pc:docMk/>
          <pc:sldMk cId="0" sldId="260"/>
        </pc:sldMkLst>
        <pc:graphicFrameChg chg="mod">
          <ac:chgData name="gary pagan" userId="328ba120a9517979" providerId="LiveId" clId="{F22B4769-DFD1-45B8-94E8-A952CD6CE729}" dt="2026-10-16T22:35:09.194" v="7"/>
          <ac:graphicFrameMkLst>
            <pc:docMk/>
            <pc:sldMk cId="0" sldId="260"/>
            <ac:graphicFrameMk id="4" creationId="{00000000-0000-0000-0000-000000000000}"/>
          </ac:graphicFrameMkLst>
        </pc:graphicFrameChg>
      </pc:sldChg>
      <pc:sldChg chg="addSp modSp">
        <pc:chgData name="gary pagan" userId="328ba120a9517979" providerId="LiveId" clId="{F22B4769-DFD1-45B8-94E8-A952CD6CE729}" dt="2026-10-16T22:38:50.417" v="9"/>
        <pc:sldMkLst>
          <pc:docMk/>
          <pc:sldMk cId="0" sldId="264"/>
        </pc:sldMkLst>
        <pc:spChg chg="add mod">
          <ac:chgData name="gary pagan" userId="328ba120a9517979" providerId="LiveId" clId="{F22B4769-DFD1-45B8-94E8-A952CD6CE729}" dt="2026-10-16T22:38:50.417" v="9"/>
          <ac:spMkLst>
            <pc:docMk/>
            <pc:sldMk cId="0" sldId="264"/>
            <ac:spMk id="2" creationId="{5C041372-A58B-A9AB-E6C6-D393F040D4C0}"/>
          </ac:spMkLst>
        </pc:spChg>
      </pc:sldChg>
      <pc:sldChg chg="modSp">
        <pc:chgData name="gary pagan" userId="328ba120a9517979" providerId="LiveId" clId="{F22B4769-DFD1-45B8-94E8-A952CD6CE729}" dt="2026-10-16T22:40:04.905" v="10"/>
        <pc:sldMkLst>
          <pc:docMk/>
          <pc:sldMk cId="0" sldId="265"/>
        </pc:sldMkLst>
        <pc:spChg chg="mod">
          <ac:chgData name="gary pagan" userId="328ba120a9517979" providerId="LiveId" clId="{F22B4769-DFD1-45B8-94E8-A952CD6CE729}" dt="2026-10-16T22:40:04.905" v="10"/>
          <ac:spMkLst>
            <pc:docMk/>
            <pc:sldMk cId="0" sldId="265"/>
            <ac:spMk id="5" creationId="{E204F92F-E81A-58BE-73E2-7055E7791912}"/>
          </ac:spMkLst>
        </pc:spChg>
      </pc:sldChg>
      <pc:sldChg chg="modSp">
        <pc:chgData name="gary pagan" userId="328ba120a9517979" providerId="LiveId" clId="{F22B4769-DFD1-45B8-94E8-A952CD6CE729}" dt="2026-10-16T22:40:17.758" v="11"/>
        <pc:sldMkLst>
          <pc:docMk/>
          <pc:sldMk cId="0" sldId="266"/>
        </pc:sldMkLst>
        <pc:spChg chg="mod">
          <ac:chgData name="gary pagan" userId="328ba120a9517979" providerId="LiveId" clId="{F22B4769-DFD1-45B8-94E8-A952CD6CE729}" dt="2026-10-16T22:40:17.758" v="11"/>
          <ac:spMkLst>
            <pc:docMk/>
            <pc:sldMk cId="0" sldId="266"/>
            <ac:spMk id="5" creationId="{2B573CF5-B14F-D16A-E745-8D217C4F41E3}"/>
          </ac:spMkLst>
        </pc:spChg>
      </pc:sldChg>
      <pc:sldChg chg="modSp">
        <pc:chgData name="gary pagan" userId="328ba120a9517979" providerId="LiveId" clId="{F22B4769-DFD1-45B8-94E8-A952CD6CE729}" dt="2026-10-16T22:40:34.554" v="12"/>
        <pc:sldMkLst>
          <pc:docMk/>
          <pc:sldMk cId="0" sldId="267"/>
        </pc:sldMkLst>
        <pc:spChg chg="mod">
          <ac:chgData name="gary pagan" userId="328ba120a9517979" providerId="LiveId" clId="{F22B4769-DFD1-45B8-94E8-A952CD6CE729}" dt="2026-10-16T22:40:34.554" v="12"/>
          <ac:spMkLst>
            <pc:docMk/>
            <pc:sldMk cId="0" sldId="267"/>
            <ac:spMk id="5" creationId="{5E7B3360-F199-96D3-E3E1-591DA11F7766}"/>
          </ac:spMkLst>
        </pc:spChg>
      </pc:sldChg>
      <pc:sldChg chg="modSp">
        <pc:chgData name="gary pagan" userId="328ba120a9517979" providerId="LiveId" clId="{F22B4769-DFD1-45B8-94E8-A952CD6CE729}" dt="2026-10-16T22:40:55.646" v="13"/>
        <pc:sldMkLst>
          <pc:docMk/>
          <pc:sldMk cId="0" sldId="268"/>
        </pc:sldMkLst>
        <pc:spChg chg="mod">
          <ac:chgData name="gary pagan" userId="328ba120a9517979" providerId="LiveId" clId="{F22B4769-DFD1-45B8-94E8-A952CD6CE729}" dt="2026-10-16T22:40:55.646" v="13"/>
          <ac:spMkLst>
            <pc:docMk/>
            <pc:sldMk cId="0" sldId="268"/>
            <ac:spMk id="5" creationId="{29BAED8B-0CA1-36D4-DDAE-A1BAFFB096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created in an effort to initiate full lab and </a:t>
            </a:r>
            <a:r>
              <a:rPr lang="en-US" dirty="0" err="1"/>
              <a:t>pentest</a:t>
            </a:r>
            <a:r>
              <a:rPr lang="en-US" dirty="0"/>
              <a:t> event -  approval will initiate significant spend.</a:t>
            </a:r>
          </a:p>
          <a:p>
            <a:r>
              <a:rPr lang="en-US" dirty="0"/>
              <a:t>Please let me know if there is a formal submission process.</a:t>
            </a:r>
            <a:br>
              <a:rPr lang="en-US" dirty="0"/>
            </a:br>
            <a:r>
              <a:rPr lang="en-US" dirty="0"/>
              <a:t>This is ai enabled ------for ease of development, all original thought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2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3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5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6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7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8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9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10 status: planned.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2512.09882" TargetMode="External"/><Relationship Id="rId2" Type="http://schemas.openxmlformats.org/officeDocument/2006/relationships/hyperlink" Target="https://arxiv.org/abs/2410.13919" TargetMode="External"/><Relationship Id="rId1" Type="http://schemas.openxmlformats.org/officeDocument/2006/relationships/slideLayout" Target="../slideLayouts/slideLayout2.xml"/><Relationship Id="rId4" Type="http://schemas.openxmlformats.org/officeDocument/2006/relationships/hyperlink" Target="https://assets.anthropic.com/m/ec212e6566a0d47/original/Disrupting-the-first-reported-AI-orchestrated-cyber-espionage-campaign.pdf"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Orange-Cyberdefense/GOAD" TargetMode="External"/><Relationship Id="rId2" Type="http://schemas.openxmlformats.org/officeDocument/2006/relationships/hyperlink" Target="https://arxiv.org/abs/2308.06782" TargetMode="External"/><Relationship Id="rId1" Type="http://schemas.openxmlformats.org/officeDocument/2006/relationships/slideLayout" Target="../slideLayouts/slideLayout2.xml"/><Relationship Id="rId4" Type="http://schemas.openxmlformats.org/officeDocument/2006/relationships/hyperlink" Target="https://www.ibm.com/reports/data-breach"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500" y="2209817"/>
            <a:ext cx="4301269" cy="2305339"/>
          </a:xfrm>
        </p:spPr>
        <p:txBody>
          <a:bodyPr wrap="square"/>
          <a:lstStyle/>
          <a:p>
            <a:r>
              <a:rPr sz="2600" b="0" dirty="0"/>
              <a:t>Human vs. Autonomous AI </a:t>
            </a:r>
            <a:r>
              <a:rPr lang="en-US" sz="2600" b="0" dirty="0"/>
              <a:t>APT</a:t>
            </a:r>
            <a:r>
              <a:rPr sz="2600" b="0" dirty="0"/>
              <a:t> Classification from Target-Side Telemetry</a:t>
            </a:r>
            <a:br>
              <a:rPr lang="en-US" sz="2600" b="0" dirty="0"/>
            </a:br>
            <a:br>
              <a:rPr lang="en-US" sz="2600" b="0" dirty="0"/>
            </a:br>
            <a:r>
              <a:rPr lang="en-US" sz="2600" b="0" dirty="0"/>
              <a:t>Gary Pagan</a:t>
            </a:r>
            <a:br>
              <a:rPr lang="en-US" sz="2600" b="0" dirty="0"/>
            </a:br>
            <a:r>
              <a:rPr lang="en-US" sz="2600" b="0" dirty="0"/>
              <a:t>16 October 2026</a:t>
            </a:r>
            <a:br>
              <a:rPr lang="en-US" sz="2600" b="0" dirty="0"/>
            </a:br>
            <a:endParaRPr sz="2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Problem Statement:</a:t>
            </a:r>
          </a:p>
        </p:txBody>
      </p:sp>
      <p:graphicFrame>
        <p:nvGraphicFramePr>
          <p:cNvPr id="4" name="Table 3"/>
          <p:cNvGraphicFramePr>
            <a:graphicFrameLocks noGrp="1"/>
          </p:cNvGraphicFramePr>
          <p:nvPr>
            <p:extLst>
              <p:ext uri="{D42A27DB-BD31-4B8C-83A1-F6EECF244321}">
                <p14:modId xmlns:p14="http://schemas.microsoft.com/office/powerpoint/2010/main" val="1823381766"/>
              </p:ext>
            </p:extLst>
          </p:nvPr>
        </p:nvGraphicFramePr>
        <p:xfrm>
          <a:off x="164592" y="566928"/>
          <a:ext cx="8814815" cy="4864605"/>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621792">
                <a:tc>
                  <a:txBody>
                    <a:bodyPr/>
                    <a:lstStyle/>
                    <a:p>
                      <a:r>
                        <a:rPr sz="1200" b="1"/>
                        <a:t>Issue</a:t>
                      </a:r>
                    </a:p>
                  </a:txBody>
                  <a:tcPr marL="54864" marR="54864" marT="27432" marB="27432"/>
                </a:tc>
                <a:tc>
                  <a:txBody>
                    <a:bodyPr/>
                    <a:lstStyle/>
                    <a:p>
                      <a:r>
                        <a:rPr lang="en-US" sz="1200" dirty="0"/>
                        <a:t>Defenders reviewing Target-side telemetry cannot distinguish human from autonomous AI operators, leaving responders blind to an adversary class growing 89% </a:t>
                      </a:r>
                      <a:r>
                        <a:rPr sz="1200" dirty="0"/>
                        <a:t>(Anthropic, 2025</a:t>
                      </a:r>
                      <a:r>
                        <a:rPr lang="en-US" sz="1200" dirty="0"/>
                        <a:t>, CrowdStrike 2026</a:t>
                      </a:r>
                      <a:r>
                        <a:rPr sz="1200" dirty="0"/>
                        <a:t>).</a:t>
                      </a:r>
                    </a:p>
                  </a:txBody>
                  <a:tcPr marL="54864" marR="54864" marT="27432" marB="27432"/>
                </a:tc>
                <a:tc>
                  <a:txBody>
                    <a:bodyPr/>
                    <a:lstStyle/>
                    <a:p>
                      <a:pPr algn="ctr"/>
                      <a:r>
                        <a:rPr lang="en-US" sz="1200" dirty="0"/>
                        <a:t>18</a:t>
                      </a:r>
                      <a:endParaRPr sz="1200" dirty="0"/>
                    </a:p>
                  </a:txBody>
                  <a:tcPr marL="54864" marR="54864" marT="27432" marB="27432"/>
                </a:tc>
                <a:extLst>
                  <a:ext uri="{0D108BD9-81ED-4DB2-BD59-A6C34878D82A}">
                    <a16:rowId xmlns:a16="http://schemas.microsoft.com/office/drawing/2014/main" val="10001"/>
                  </a:ext>
                </a:extLst>
              </a:tr>
              <a:tr h="621792">
                <a:tc>
                  <a:txBody>
                    <a:bodyPr/>
                    <a:lstStyle/>
                    <a:p>
                      <a:r>
                        <a:rPr sz="1200" b="1"/>
                        <a:t>Reference</a:t>
                      </a:r>
                    </a:p>
                  </a:txBody>
                  <a:tcPr marL="54864" marR="54864" marT="27432" marB="27432"/>
                </a:tc>
                <a:tc>
                  <a:txBody>
                    <a:bodyPr/>
                    <a:lstStyle/>
                    <a:p>
                      <a:r>
                        <a:rPr sz="1200" dirty="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2"/>
                  </a:ext>
                </a:extLst>
              </a:tr>
              <a:tr h="438912">
                <a:tc>
                  <a:txBody>
                    <a:bodyPr/>
                    <a:lstStyle/>
                    <a:p>
                      <a:r>
                        <a:rPr sz="1200" b="1"/>
                        <a:t>“so what”</a:t>
                      </a:r>
                    </a:p>
                  </a:txBody>
                  <a:tcPr marL="54864" marR="54864" marT="27432" marB="27432"/>
                </a:tc>
                <a:tc>
                  <a:txBody>
                    <a:bodyPr/>
                    <a:lstStyle/>
                    <a:p>
                      <a:r>
                        <a:rPr sz="1200" dirty="0"/>
                        <a:t>average </a:t>
                      </a:r>
                      <a:r>
                        <a:rPr lang="en-US" sz="1200" dirty="0"/>
                        <a:t>per </a:t>
                      </a:r>
                      <a:r>
                        <a:rPr sz="1200" dirty="0"/>
                        <a:t>breach costs $4.44 million globally and $10.22 million </a:t>
                      </a:r>
                      <a:r>
                        <a:rPr lang="en-US" sz="1200" dirty="0"/>
                        <a:t>per breach </a:t>
                      </a:r>
                      <a:r>
                        <a:rPr sz="1200" dirty="0"/>
                        <a:t>in the United States (IBM, 2025).</a:t>
                      </a:r>
                    </a:p>
                  </a:txBody>
                  <a:tcPr marL="54864" marR="54864" marT="27432" marB="27432"/>
                </a:tc>
                <a:tc>
                  <a:txBody>
                    <a:bodyPr/>
                    <a:lstStyle/>
                    <a:p>
                      <a:pPr algn="ctr"/>
                      <a:r>
                        <a:rPr lang="en-US" sz="1200" dirty="0"/>
                        <a:t>13</a:t>
                      </a:r>
                      <a:endParaRPr sz="1200" dirty="0"/>
                    </a:p>
                  </a:txBody>
                  <a:tcPr marL="54864" marR="54864" marT="27432" marB="27432"/>
                </a:tc>
                <a:extLst>
                  <a:ext uri="{0D108BD9-81ED-4DB2-BD59-A6C34878D82A}">
                    <a16:rowId xmlns:a16="http://schemas.microsoft.com/office/drawing/2014/main" val="10003"/>
                  </a:ext>
                </a:extLst>
              </a:tr>
              <a:tr h="621792">
                <a:tc>
                  <a:txBody>
                    <a:bodyPr/>
                    <a:lstStyle/>
                    <a:p>
                      <a:r>
                        <a:rPr sz="1200" b="1"/>
                        <a:t>Reference</a:t>
                      </a:r>
                    </a:p>
                  </a:txBody>
                  <a:tcPr marL="54864" marR="54864" marT="27432" marB="27432"/>
                </a:tc>
                <a:tc>
                  <a:txBody>
                    <a:bodyPr/>
                    <a:lstStyle/>
                    <a:p>
                      <a:r>
                        <a:rPr sz="1200" dirty="0"/>
                        <a:t>CrowdStrike. (2026, February 24). 2026 CrowdStrike Global Threat Report. https://www.crowdstrike.com/en-us/press-releases/2026-crowdstrike-global-threat-report  |  IBM. (2025). Cost of a Data Breach Report 2025. https://www.ibm.com/reports/data-breach</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4"/>
                  </a:ext>
                </a:extLst>
              </a:tr>
              <a:tr h="804671">
                <a:tc>
                  <a:txBody>
                    <a:bodyPr/>
                    <a:lstStyle/>
                    <a:p>
                      <a:r>
                        <a:rPr sz="1200" b="1"/>
                        <a:t>Problem statement</a:t>
                      </a:r>
                    </a:p>
                  </a:txBody>
                  <a:tcPr marL="54864" marR="54864" marT="27432" marB="27432"/>
                </a:tc>
                <a:tc>
                  <a:txBody>
                    <a:bodyPr/>
                    <a:lstStyle/>
                    <a:p>
                      <a:r>
                        <a:rPr lang="en-US" sz="1200" dirty="0"/>
                        <a:t>Defenders reviewing Target-side telemetry cannot distinguish human from autonomous AI operators, leaving responders blind to an adversary class growing 89% and costing $4.44 million per breach.</a:t>
                      </a:r>
                      <a:r>
                        <a:rPr sz="1200" dirty="0"/>
                        <a:t>(Anthropic, 2025; CrowdStrike, 2026; IBM, 2025).</a:t>
                      </a:r>
                    </a:p>
                  </a:txBody>
                  <a:tcPr marL="54864" marR="54864" marT="27432" marB="27432"/>
                </a:tc>
                <a:tc>
                  <a:txBody>
                    <a:bodyPr/>
                    <a:lstStyle/>
                    <a:p>
                      <a:pPr algn="ctr"/>
                      <a:r>
                        <a:rPr lang="en-US" sz="1200" dirty="0"/>
                        <a:t>24</a:t>
                      </a:r>
                      <a:endParaRPr sz="1200" dirty="0"/>
                    </a:p>
                  </a:txBody>
                  <a:tcPr marL="54864" marR="54864" marT="27432" marB="27432"/>
                </a:tc>
                <a:extLst>
                  <a:ext uri="{0D108BD9-81ED-4DB2-BD59-A6C34878D82A}">
                    <a16:rowId xmlns:a16="http://schemas.microsoft.com/office/drawing/2014/main" val="10005"/>
                  </a:ext>
                </a:extLst>
              </a:tr>
              <a:tr h="256031">
                <a:tc>
                  <a:txBody>
                    <a:bodyPr/>
                    <a:lstStyle/>
                    <a:p>
                      <a:r>
                        <a:rPr sz="1200" b="1"/>
                        <a:t>Industry</a:t>
                      </a:r>
                    </a:p>
                  </a:txBody>
                  <a:tcPr marL="54864" marR="54864" marT="27432" marB="27432"/>
                </a:tc>
                <a:tc>
                  <a:txBody>
                    <a:bodyPr/>
                    <a:lstStyle/>
                    <a:p>
                      <a:r>
                        <a:rPr sz="1200" dirty="0"/>
                        <a:t>Government, Commercial Industry (enterprise security operations, incident response, cyber ranges)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6"/>
                  </a:ext>
                </a:extLst>
              </a:tr>
              <a:tr h="621792">
                <a:tc>
                  <a:txBody>
                    <a:bodyPr/>
                    <a:lstStyle/>
                    <a:p>
                      <a:r>
                        <a:rPr sz="1200" b="1"/>
                        <a:t>PS elaboration 1</a:t>
                      </a:r>
                    </a:p>
                  </a:txBody>
                  <a:tcPr marL="54864" marR="54864" marT="27432" marB="27432"/>
                </a:tc>
                <a:tc>
                  <a:txBody>
                    <a:bodyPr/>
                    <a:lstStyle/>
                    <a:p>
                      <a:r>
                        <a:rPr sz="1200"/>
                        <a:t>Existing evidence comes from single-host SSH honeypots that observed humans using AI tools, not fully autonomous agents working a multi-host network under matched conditions (Alt, 2026; Reworr &amp; Volkov, 2025).</a:t>
                      </a:r>
                    </a:p>
                  </a:txBody>
                  <a:tcPr marL="54864" marR="54864" marT="27432" marB="27432"/>
                </a:tc>
                <a:tc>
                  <a:txBody>
                    <a:bodyPr/>
                    <a:lstStyle/>
                    <a:p>
                      <a:pPr algn="ctr"/>
                      <a:r>
                        <a:rPr sz="1200"/>
                        <a:t>30</a:t>
                      </a:r>
                    </a:p>
                  </a:txBody>
                  <a:tcPr marL="54864" marR="54864" marT="27432" marB="27432"/>
                </a:tc>
                <a:extLst>
                  <a:ext uri="{0D108BD9-81ED-4DB2-BD59-A6C34878D82A}">
                    <a16:rowId xmlns:a16="http://schemas.microsoft.com/office/drawing/2014/main" val="10007"/>
                  </a:ext>
                </a:extLst>
              </a:tr>
              <a:tr h="621792">
                <a:tc>
                  <a:txBody>
                    <a:bodyPr/>
                    <a:lstStyle/>
                    <a:p>
                      <a:r>
                        <a:rPr sz="1200" b="1"/>
                        <a:t>PS elaboration 2</a:t>
                      </a:r>
                    </a:p>
                  </a:txBody>
                  <a:tcPr marL="54864" marR="54864" marT="27432" marB="27432"/>
                </a:tc>
                <a:tc>
                  <a:txBody>
                    <a:bodyPr/>
                    <a:lstStyle/>
                    <a:p>
                      <a:r>
                        <a:rPr sz="1200"/>
                        <a:t>Knowing whether a human or an autonomous agent is on the network changes the response: agents enumerate in parallel, move on quickly and run around the clock, so containment speed, deception and attribution decisions differ (Lin et al., 2026).</a:t>
                      </a:r>
                    </a:p>
                  </a:txBody>
                  <a:tcPr marL="54864" marR="54864" marT="27432" marB="27432"/>
                </a:tc>
                <a:tc>
                  <a:txBody>
                    <a:bodyPr/>
                    <a:lstStyle/>
                    <a:p>
                      <a:pPr algn="ctr"/>
                      <a:r>
                        <a:rPr sz="1200" dirty="0"/>
                        <a:t>39</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Thesis Statement</a:t>
            </a:r>
          </a:p>
        </p:txBody>
      </p:sp>
      <p:graphicFrame>
        <p:nvGraphicFramePr>
          <p:cNvPr id="4" name="Table 3"/>
          <p:cNvGraphicFramePr>
            <a:graphicFrameLocks noGrp="1"/>
          </p:cNvGraphicFramePr>
          <p:nvPr>
            <p:extLst>
              <p:ext uri="{D42A27DB-BD31-4B8C-83A1-F6EECF244321}">
                <p14:modId xmlns:p14="http://schemas.microsoft.com/office/powerpoint/2010/main" val="113847965"/>
              </p:ext>
            </p:extLst>
          </p:nvPr>
        </p:nvGraphicFramePr>
        <p:xfrm>
          <a:off x="164592" y="566928"/>
          <a:ext cx="8814815" cy="4748784"/>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endParaRP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Thesis Statement</a:t>
                      </a:r>
                    </a:p>
                  </a:txBody>
                  <a:tcPr marL="54864" marR="54864" marT="27432" marB="27432"/>
                </a:tc>
                <a:tc>
                  <a:txBody>
                    <a:bodyPr/>
                    <a:lstStyle/>
                    <a:p>
                      <a:r>
                        <a:rPr lang="en-US" sz="1100" dirty="0"/>
                        <a:t>Under matched conditions, target-side host and network telemetry can tell a human operator from an autonomous AI agent, even when timing features are removed.</a:t>
                      </a:r>
                      <a:endParaRPr sz="1100" dirty="0"/>
                    </a:p>
                  </a:txBody>
                  <a:tcPr marL="54864" marR="54864" marT="27432" marB="27432"/>
                </a:tc>
                <a:tc>
                  <a:txBody>
                    <a:bodyPr/>
                    <a:lstStyle/>
                    <a:p>
                      <a:pPr algn="ctr"/>
                      <a:r>
                        <a:rPr lang="en-US" sz="1100" dirty="0"/>
                        <a:t>24</a:t>
                      </a:r>
                      <a:endParaRPr sz="1100" dirty="0"/>
                    </a:p>
                  </a:txBody>
                  <a:tcPr marL="54864" marR="54864" marT="27432" marB="27432"/>
                </a:tc>
                <a:extLst>
                  <a:ext uri="{0D108BD9-81ED-4DB2-BD59-A6C34878D82A}">
                    <a16:rowId xmlns:a16="http://schemas.microsoft.com/office/drawing/2014/main" val="10001"/>
                  </a:ext>
                </a:extLst>
              </a:tr>
              <a:tr h="408432">
                <a:tc>
                  <a:txBody>
                    <a:bodyPr/>
                    <a:lstStyle/>
                    <a:p>
                      <a:r>
                        <a:rPr sz="1100" b="1"/>
                        <a:t>Research Product</a:t>
                      </a:r>
                    </a:p>
                  </a:txBody>
                  <a:tcPr marL="54864" marR="54864" marT="27432" marB="27432"/>
                </a:tc>
                <a:tc>
                  <a:txBody>
                    <a:bodyPr/>
                    <a:lstStyle/>
                    <a:p>
                      <a:r>
                        <a:rPr sz="1100"/>
                        <a:t>A research finding: whether, how well, and by which signals target-side telemetry separates human from autonomous-AI operators, backed by a private, fully reproducible dataset, feature pipeline and trained models.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2"/>
                  </a:ext>
                </a:extLst>
              </a:tr>
              <a:tr h="408432">
                <a:tc>
                  <a:txBody>
                    <a:bodyPr/>
                    <a:lstStyle/>
                    <a:p>
                      <a:r>
                        <a:rPr sz="1100" b="1"/>
                        <a:t>Format</a:t>
                      </a:r>
                    </a:p>
                  </a:txBody>
                  <a:tcPr marL="54864" marR="54864" marT="27432" marB="27432"/>
                </a:tc>
                <a:tc>
                  <a:txBody>
                    <a:bodyPr/>
                    <a:lstStyle/>
                    <a:p>
                      <a:r>
                        <a:rPr sz="1100"/>
                        <a:t>Preregistered experiment; Python feature-extraction and model code; archived native logs (EVTX, Sysmon, PowerShell, Zeek/Suricata, capped PCAP) with SHA-256 manifests; trial-level evaluation report.</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408432">
                <a:tc>
                  <a:txBody>
                    <a:bodyPr/>
                    <a:lstStyle/>
                    <a:p>
                      <a:r>
                        <a:rPr sz="1100" b="1"/>
                        <a:t>Deliverable Usage</a:t>
                      </a:r>
                    </a:p>
                  </a:txBody>
                  <a:tcPr marL="54864" marR="54864" marT="27432" marB="27432"/>
                </a:tc>
                <a:tc>
                  <a:txBody>
                    <a:bodyPr/>
                    <a:lstStyle/>
                    <a:p>
                      <a:r>
                        <a:rPr sz="1100"/>
                        <a:t>Only the research team runs the classifier against the archived logs; the archive regenerates every number in the paper.</a:t>
                      </a:r>
                    </a:p>
                  </a:txBody>
                  <a:tcPr marL="54864" marR="54864" marT="27432" marB="27432"/>
                </a:tc>
                <a:tc>
                  <a:txBody>
                    <a:bodyPr/>
                    <a:lstStyle/>
                    <a:p>
                      <a:pPr algn="ctr"/>
                      <a:r>
                        <a:rPr sz="1100"/>
                        <a:t>19</a:t>
                      </a:r>
                    </a:p>
                  </a:txBody>
                  <a:tcPr marL="54864" marR="54864" marT="27432" marB="27432"/>
                </a:tc>
                <a:extLst>
                  <a:ext uri="{0D108BD9-81ED-4DB2-BD59-A6C34878D82A}">
                    <a16:rowId xmlns:a16="http://schemas.microsoft.com/office/drawing/2014/main" val="10004"/>
                  </a:ext>
                </a:extLst>
              </a:tr>
              <a:tr h="408432">
                <a:tc>
                  <a:txBody>
                    <a:bodyPr/>
                    <a:lstStyle/>
                    <a:p>
                      <a:r>
                        <a:rPr sz="1100" b="1"/>
                        <a:t>Tie back to PS</a:t>
                      </a:r>
                    </a:p>
                  </a:txBody>
                  <a:tcPr marL="54864" marR="54864" marT="27432" marB="27432"/>
                </a:tc>
                <a:tc>
                  <a:txBody>
                    <a:bodyPr/>
                    <a:lstStyle/>
                    <a:p>
                      <a:r>
                        <a:rPr sz="1100"/>
                        <a:t>Gives defenders the first controlled evidence of which target-side signals reveal an autonomous AI operator, so detection and response can be tuned to the adversary class.</a:t>
                      </a:r>
                    </a:p>
                  </a:txBody>
                  <a:tcPr marL="54864" marR="54864" marT="27432" marB="27432"/>
                </a:tc>
                <a:tc>
                  <a:txBody>
                    <a:bodyPr/>
                    <a:lstStyle/>
                    <a:p>
                      <a:pPr algn="ctr"/>
                      <a:r>
                        <a:rPr sz="1100"/>
                        <a:t>26</a:t>
                      </a:r>
                    </a:p>
                  </a:txBody>
                  <a:tcPr marL="54864" marR="54864" marT="27432" marB="27432"/>
                </a:tc>
                <a:extLst>
                  <a:ext uri="{0D108BD9-81ED-4DB2-BD59-A6C34878D82A}">
                    <a16:rowId xmlns:a16="http://schemas.microsoft.com/office/drawing/2014/main" val="10005"/>
                  </a:ext>
                </a:extLst>
              </a:tr>
              <a:tr h="408432">
                <a:tc>
                  <a:txBody>
                    <a:bodyPr/>
                    <a:lstStyle/>
                    <a:p>
                      <a:r>
                        <a:rPr sz="1100" b="1"/>
                        <a:t>New Contributions</a:t>
                      </a:r>
                    </a:p>
                  </a:txBody>
                  <a:tcPr marL="54864" marR="54864" marT="27432" marB="27432"/>
                </a:tc>
                <a:tc>
                  <a:txBody>
                    <a:bodyPr/>
                    <a:lstStyle/>
                    <a:p>
                      <a:r>
                        <a:rPr sz="1100"/>
                        <a:t>First matched human vs. fully autonomous AI comparison on multi-host, multi-day host and network telemetry captured on the targets, with grouped trial-level evaluation and held-out operator tests.</a:t>
                      </a:r>
                    </a:p>
                  </a:txBody>
                  <a:tcPr marL="54864" marR="54864" marT="27432" marB="27432"/>
                </a:tc>
                <a:tc>
                  <a:txBody>
                    <a:bodyPr/>
                    <a:lstStyle/>
                    <a:p>
                      <a:pPr algn="ctr"/>
                      <a:r>
                        <a:rPr sz="1100"/>
                        <a:t>27</a:t>
                      </a:r>
                    </a:p>
                  </a:txBody>
                  <a:tcPr marL="54864" marR="54864" marT="27432" marB="27432"/>
                </a:tc>
                <a:extLst>
                  <a:ext uri="{0D108BD9-81ED-4DB2-BD59-A6C34878D82A}">
                    <a16:rowId xmlns:a16="http://schemas.microsoft.com/office/drawing/2014/main" val="10006"/>
                  </a:ext>
                </a:extLst>
              </a:tr>
              <a:tr h="408432">
                <a:tc>
                  <a:txBody>
                    <a:bodyPr/>
                    <a:lstStyle/>
                    <a:p>
                      <a:r>
                        <a:rPr sz="1100" b="1"/>
                        <a:t>Scope</a:t>
                      </a:r>
                    </a:p>
                  </a:txBody>
                  <a:tcPr marL="54864" marR="54864" marT="27432" marB="27432"/>
                </a:tc>
                <a:tc>
                  <a:txBody>
                    <a:bodyPr/>
                    <a:lstStyle/>
                    <a:p>
                      <a:r>
                        <a:rPr sz="1100"/>
                        <a:t>GOAD Active Directory lab on AWS; certified penetration testers vs. ARTEMIS-scaffolded autonomous agents; black-box and white-box conditions. AI-assisted humans and the cloud (IAM/S3) track are deferred to Phase 2.</a:t>
                      </a:r>
                    </a:p>
                  </a:txBody>
                  <a:tcPr marL="54864" marR="54864" marT="27432" marB="27432"/>
                </a:tc>
                <a:tc>
                  <a:txBody>
                    <a:bodyPr/>
                    <a:lstStyle/>
                    <a:p>
                      <a:pPr algn="ctr"/>
                      <a:r>
                        <a:rPr sz="1100"/>
                        <a:t>29</a:t>
                      </a:r>
                    </a:p>
                  </a:txBody>
                  <a:tcPr marL="54864" marR="54864" marT="27432" marB="27432"/>
                </a:tc>
                <a:extLst>
                  <a:ext uri="{0D108BD9-81ED-4DB2-BD59-A6C34878D82A}">
                    <a16:rowId xmlns:a16="http://schemas.microsoft.com/office/drawing/2014/main" val="10007"/>
                  </a:ext>
                </a:extLst>
              </a:tr>
              <a:tr h="408432">
                <a:tc>
                  <a:txBody>
                    <a:bodyPr/>
                    <a:lstStyle/>
                    <a:p>
                      <a:r>
                        <a:rPr sz="1100" b="1"/>
                        <a:t>Main methodology</a:t>
                      </a:r>
                    </a:p>
                  </a:txBody>
                  <a:tcPr marL="54864" marR="54864" marT="27432" marB="27432"/>
                </a:tc>
                <a:tc>
                  <a:txBody>
                    <a:bodyPr/>
                    <a:lstStyle/>
                    <a:p>
                      <a:r>
                        <a:rPr sz="1100"/>
                        <a:t>Controlled matched-trial experiment; per-trial behavioral feature engineering; multi-model classification (tree ensembles, linear, distance-based); ablations; grouped held-out generalization tests.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8"/>
                  </a:ext>
                </a:extLst>
              </a:tr>
              <a:tr h="408432">
                <a:tc>
                  <a:txBody>
                    <a:bodyPr/>
                    <a:lstStyle/>
                    <a:p>
                      <a:r>
                        <a:rPr sz="1100" b="1"/>
                        <a:t>Inputs</a:t>
                      </a:r>
                    </a:p>
                  </a:txBody>
                  <a:tcPr marL="54864" marR="54864" marT="27432" marB="27432"/>
                </a:tc>
                <a:tc>
                  <a:txBody>
                    <a:bodyPr/>
                    <a:lstStyle/>
                    <a:p>
                      <a:r>
                        <a:rPr sz="1100"/>
                        <a:t>Target-side host logs (Security 4688/4624/4769/5145, Sysmon, PowerShell 4104, AD audit, DNS) and network capture (Zeek/Suricata logs, capped PCAP, VPC Flow Logs) from reset GOAD trials.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9"/>
                  </a:ext>
                </a:extLst>
              </a:tr>
              <a:tr h="576072">
                <a:tc>
                  <a:txBody>
                    <a:bodyPr/>
                    <a:lstStyle/>
                    <a:p>
                      <a:r>
                        <a:rPr sz="1100" b="1"/>
                        <a:t>Outputs</a:t>
                      </a:r>
                    </a:p>
                  </a:txBody>
                  <a:tcPr marL="54864" marR="54864" marT="27432" marB="27432"/>
                </a:tc>
                <a:tc>
                  <a:txBody>
                    <a:bodyPr/>
                    <a:lstStyle/>
                    <a:p>
                      <a:r>
                        <a:rPr sz="1100"/>
                        <a:t>Trial-level predictions (human vs. autonomous AI) with confidence; macro-F1, per-class precision/recall and confusion matrix; ablation results (no timing, no tool IDs); held-out operator performance; feature-family importance. Benign false-positive rate, scenario success and time-to-objective reported separately.</a:t>
                      </a:r>
                    </a:p>
                  </a:txBody>
                  <a:tcPr marL="54864" marR="54864" marT="27432" marB="27432"/>
                </a:tc>
                <a:tc>
                  <a:txBody>
                    <a:bodyPr/>
                    <a:lstStyle/>
                    <a:p>
                      <a:pPr algn="ctr"/>
                      <a:r>
                        <a:rPr sz="1100" dirty="0"/>
                        <a:t>NA</a:t>
                      </a:r>
                    </a:p>
                  </a:txBody>
                  <a:tcPr marL="54864" marR="54864" marT="27432" marB="27432"/>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Questions</a:t>
            </a:r>
          </a:p>
        </p:txBody>
      </p:sp>
      <p:graphicFrame>
        <p:nvGraphicFramePr>
          <p:cNvPr id="4" name="Table 3"/>
          <p:cNvGraphicFramePr>
            <a:graphicFrameLocks noGrp="1"/>
          </p:cNvGraphicFramePr>
          <p:nvPr>
            <p:extLst>
              <p:ext uri="{D42A27DB-BD31-4B8C-83A1-F6EECF244321}">
                <p14:modId xmlns:p14="http://schemas.microsoft.com/office/powerpoint/2010/main" val="1134884819"/>
              </p:ext>
            </p:extLst>
          </p:nvPr>
        </p:nvGraphicFramePr>
        <p:xfrm>
          <a:off x="164592" y="566928"/>
          <a:ext cx="8814815" cy="2011679"/>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6197917">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Research Question 1</a:t>
                      </a:r>
                    </a:p>
                    <a:p>
                      <a:r>
                        <a:rPr sz="1200" b="1"/>
                        <a:t>(Separability)</a:t>
                      </a:r>
                    </a:p>
                  </a:txBody>
                  <a:tcPr marL="54864" marR="54864" marT="27432" marB="27432"/>
                </a:tc>
                <a:tc>
                  <a:txBody>
                    <a:bodyPr/>
                    <a:lstStyle/>
                    <a:p>
                      <a:pPr rtl="0"/>
                      <a:r>
                        <a:rPr lang="en-US" sz="1200" dirty="0"/>
                        <a:t>Can target-side telemetry tell human and autonomous-AI trials apart, better than a model that only sees setup metadata?</a:t>
                      </a:r>
                    </a:p>
                  </a:txBody>
                  <a:tcPr marL="54864" marR="54864" marT="27432" marB="27432"/>
                </a:tc>
                <a:tc>
                  <a:txBody>
                    <a:bodyPr/>
                    <a:lstStyle/>
                    <a:p>
                      <a:pPr algn="ctr"/>
                      <a:r>
                        <a:rPr sz="1200"/>
                        <a:t>28</a:t>
                      </a:r>
                    </a:p>
                  </a:txBody>
                  <a:tcPr marL="54864" marR="54864" marT="27432" marB="27432"/>
                </a:tc>
                <a:extLst>
                  <a:ext uri="{0D108BD9-81ED-4DB2-BD59-A6C34878D82A}">
                    <a16:rowId xmlns:a16="http://schemas.microsoft.com/office/drawing/2014/main" val="10001"/>
                  </a:ext>
                </a:extLst>
              </a:tr>
              <a:tr h="438912">
                <a:tc>
                  <a:txBody>
                    <a:bodyPr/>
                    <a:lstStyle/>
                    <a:p>
                      <a:r>
                        <a:rPr sz="1200" b="1"/>
                        <a:t>Research Question 2</a:t>
                      </a:r>
                    </a:p>
                    <a:p>
                      <a:r>
                        <a:rPr sz="1200" b="1"/>
                        <a:t>(Signals)</a:t>
                      </a:r>
                    </a:p>
                  </a:txBody>
                  <a:tcPr marL="54864" marR="54864" marT="27432" marB="27432"/>
                </a:tc>
                <a:tc>
                  <a:txBody>
                    <a:bodyPr/>
                    <a:lstStyle/>
                    <a:p>
                      <a:pPr rtl="0"/>
                      <a:r>
                        <a:rPr lang="en-US" sz="1200" dirty="0"/>
                        <a:t>Which behavioral features carry the difference, and does the separation hold when timing and tool identifiers are removed?</a:t>
                      </a:r>
                    </a:p>
                  </a:txBody>
                  <a:tcPr marL="54864" marR="54864" marT="27432" marB="27432"/>
                </a:tc>
                <a:tc>
                  <a:txBody>
                    <a:bodyPr/>
                    <a:lstStyle/>
                    <a:p>
                      <a:pPr algn="ctr"/>
                      <a:r>
                        <a:rPr sz="1200"/>
                        <a:t>24</a:t>
                      </a:r>
                    </a:p>
                  </a:txBody>
                  <a:tcPr marL="54864" marR="54864" marT="27432" marB="27432"/>
                </a:tc>
                <a:extLst>
                  <a:ext uri="{0D108BD9-81ED-4DB2-BD59-A6C34878D82A}">
                    <a16:rowId xmlns:a16="http://schemas.microsoft.com/office/drawing/2014/main" val="10002"/>
                  </a:ext>
                </a:extLst>
              </a:tr>
              <a:tr h="438912">
                <a:tc>
                  <a:txBody>
                    <a:bodyPr/>
                    <a:lstStyle/>
                    <a:p>
                      <a:r>
                        <a:rPr sz="1200" b="1"/>
                        <a:t>Research Question 3</a:t>
                      </a:r>
                    </a:p>
                    <a:p>
                      <a:r>
                        <a:rPr sz="1200" b="1"/>
                        <a:t>(Generalization – Phase 2)</a:t>
                      </a:r>
                    </a:p>
                  </a:txBody>
                  <a:tcPr marL="54864" marR="54864" marT="27432" marB="27432"/>
                </a:tc>
                <a:tc>
                  <a:txBody>
                    <a:bodyPr/>
                    <a:lstStyle/>
                    <a:p>
                      <a:pPr rtl="0"/>
                      <a:r>
                        <a:rPr lang="en-US" sz="1200" dirty="0"/>
                        <a:t>Does the classifier still work on a human operator and an AI configuration it has never seen?</a:t>
                      </a:r>
                    </a:p>
                  </a:txBody>
                  <a:tcPr marL="54864" marR="54864" marT="27432" marB="27432"/>
                </a:tc>
                <a:tc>
                  <a:txBody>
                    <a:bodyPr/>
                    <a:lstStyle/>
                    <a:p>
                      <a:pPr algn="ctr"/>
                      <a:r>
                        <a:rPr sz="1200"/>
                        <a:t>18</a:t>
                      </a:r>
                    </a:p>
                  </a:txBody>
                  <a:tcPr marL="54864" marR="54864" marT="27432" marB="27432"/>
                </a:tc>
                <a:extLst>
                  <a:ext uri="{0D108BD9-81ED-4DB2-BD59-A6C34878D82A}">
                    <a16:rowId xmlns:a16="http://schemas.microsoft.com/office/drawing/2014/main" val="10003"/>
                  </a:ext>
                </a:extLst>
              </a:tr>
              <a:tr h="438912">
                <a:tc>
                  <a:txBody>
                    <a:bodyPr/>
                    <a:lstStyle/>
                    <a:p>
                      <a:r>
                        <a:rPr sz="1200" b="1" dirty="0">
                          <a:solidFill>
                            <a:srgbClr val="FF0000"/>
                          </a:solidFill>
                        </a:rPr>
                        <a:t>Research Question 4</a:t>
                      </a:r>
                    </a:p>
                    <a:p>
                      <a:r>
                        <a:rPr sz="1200" b="1" dirty="0">
                          <a:solidFill>
                            <a:srgbClr val="FF0000"/>
                          </a:solidFill>
                        </a:rPr>
                        <a:t>(Robustness – Phase 2)</a:t>
                      </a:r>
                    </a:p>
                  </a:txBody>
                  <a:tcPr marL="54864" marR="54864" marT="27432" marB="27432"/>
                </a:tc>
                <a:tc>
                  <a:txBody>
                    <a:bodyPr/>
                    <a:lstStyle/>
                    <a:p>
                      <a:r>
                        <a:rPr lang="en-US" sz="1200" dirty="0"/>
                        <a:t>Does the classifier still work when the AI is told to act like a human?</a:t>
                      </a:r>
                      <a:endParaRPr sz="1200" dirty="0"/>
                    </a:p>
                  </a:txBody>
                  <a:tcPr marL="54864" marR="54864" marT="27432" marB="27432"/>
                </a:tc>
                <a:tc>
                  <a:txBody>
                    <a:bodyPr/>
                    <a:lstStyle/>
                    <a:p>
                      <a:pPr algn="ctr"/>
                      <a:r>
                        <a:rPr sz="1200" dirty="0"/>
                        <a:t>14</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a:t>
            </a:r>
          </a:p>
        </p:txBody>
      </p:sp>
      <p:graphicFrame>
        <p:nvGraphicFramePr>
          <p:cNvPr id="4" name="Table 3"/>
          <p:cNvGraphicFramePr>
            <a:graphicFrameLocks noGrp="1"/>
          </p:cNvGraphicFramePr>
          <p:nvPr>
            <p:extLst>
              <p:ext uri="{D42A27DB-BD31-4B8C-83A1-F6EECF244321}">
                <p14:modId xmlns:p14="http://schemas.microsoft.com/office/powerpoint/2010/main" val="3158992425"/>
              </p:ext>
            </p:extLst>
          </p:nvPr>
        </p:nvGraphicFramePr>
        <p:xfrm>
          <a:off x="164592" y="566928"/>
          <a:ext cx="8814815" cy="4864601"/>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dirty="0"/>
                        <a:t>Hypothesis 1</a:t>
                      </a:r>
                    </a:p>
                  </a:txBody>
                  <a:tcPr marL="54864" marR="54864" marT="27432" marB="27432"/>
                </a:tc>
                <a:tc>
                  <a:txBody>
                    <a:bodyPr/>
                    <a:lstStyle/>
                    <a:p>
                      <a:r>
                        <a:rPr lang="en-US" sz="1200" dirty="0"/>
                        <a:t>Behavioral features from target-side telemetry classify trials as human or autonomous AI with higher macro-F1 than the metadata-only baseline.</a:t>
                      </a:r>
                      <a:endParaRPr sz="1200" dirty="0"/>
                    </a:p>
                  </a:txBody>
                  <a:tcPr marL="54864" marR="54864" marT="27432" marB="27432"/>
                </a:tc>
                <a:tc>
                  <a:txBody>
                    <a:bodyPr/>
                    <a:lstStyle/>
                    <a:p>
                      <a:pPr algn="ctr"/>
                      <a:r>
                        <a:rPr sz="1200"/>
                        <a:t>24</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dirty="0"/>
                        <a:t>Operator arm (human vs. autonomous AI); feature set (behavioral vs. metadata-only)</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Trial-level macro-F1, per-class precision and recall</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3"/>
                  </a:ext>
                </a:extLst>
              </a:tr>
              <a:tr h="438912">
                <a:tc>
                  <a:txBody>
                    <a:bodyPr/>
                    <a:lstStyle/>
                    <a:p>
                      <a:r>
                        <a:rPr sz="1200" b="1"/>
                        <a:t>Testable</a:t>
                      </a:r>
                    </a:p>
                  </a:txBody>
                  <a:tcPr marL="54864" marR="54864" marT="27432" marB="27432"/>
                </a:tc>
                <a:tc>
                  <a:txBody>
                    <a:bodyPr/>
                    <a:lstStyle/>
                    <a:p>
                      <a:r>
                        <a:rPr sz="1200" dirty="0"/>
                        <a:t>Train both models on the same grouped folds; compare trial-level macro-F1 on the locked test trials. The metadata-only model should sit near chance if leakage is controlled.</a:t>
                      </a:r>
                    </a:p>
                  </a:txBody>
                  <a:tcPr marL="54864" marR="54864" marT="27432" marB="27432"/>
                </a:tc>
                <a:tc>
                  <a:txBody>
                    <a:bodyPr/>
                    <a:lstStyle/>
                    <a:p>
                      <a:pPr algn="ctr"/>
                      <a:r>
                        <a:rPr sz="1200"/>
                        <a:t>27</a:t>
                      </a:r>
                    </a:p>
                  </a:txBody>
                  <a:tcPr marL="54864" marR="54864" marT="27432" marB="27432"/>
                </a:tc>
                <a:extLst>
                  <a:ext uri="{0D108BD9-81ED-4DB2-BD59-A6C34878D82A}">
                    <a16:rowId xmlns:a16="http://schemas.microsoft.com/office/drawing/2014/main" val="10004"/>
                  </a:ext>
                </a:extLst>
              </a:tr>
              <a:tr h="438912">
                <a:tc>
                  <a:txBody>
                    <a:bodyPr/>
                    <a:lstStyle/>
                    <a:p>
                      <a:r>
                        <a:rPr sz="1200" b="1"/>
                        <a:t>Hypothesis 2</a:t>
                      </a:r>
                    </a:p>
                  </a:txBody>
                  <a:tcPr marL="54864" marR="54864" marT="27432" marB="27432"/>
                </a:tc>
                <a:tc>
                  <a:txBody>
                    <a:bodyPr/>
                    <a:lstStyle/>
                    <a:p>
                      <a:r>
                        <a:rPr lang="en-US" sz="1200" dirty="0"/>
                        <a:t>The separation persists after timing and tool identifiers are removed, carried by parallelism, enumeration breadth and step ordering.</a:t>
                      </a:r>
                      <a:endParaRPr sz="1200" dirty="0"/>
                    </a:p>
                  </a:txBody>
                  <a:tcPr marL="54864" marR="54864" marT="27432" marB="27432"/>
                </a:tc>
                <a:tc>
                  <a:txBody>
                    <a:bodyPr/>
                    <a:lstStyle/>
                    <a:p>
                      <a:pPr algn="ctr"/>
                      <a:r>
                        <a:rPr sz="1200"/>
                        <a:t>19</a:t>
                      </a:r>
                    </a:p>
                  </a:txBody>
                  <a:tcPr marL="54864" marR="54864" marT="27432" marB="27432"/>
                </a:tc>
                <a:extLst>
                  <a:ext uri="{0D108BD9-81ED-4DB2-BD59-A6C34878D82A}">
                    <a16:rowId xmlns:a16="http://schemas.microsoft.com/office/drawing/2014/main" val="10005"/>
                  </a:ext>
                </a:extLst>
              </a:tr>
              <a:tr h="256031">
                <a:tc>
                  <a:txBody>
                    <a:bodyPr/>
                    <a:lstStyle/>
                    <a:p>
                      <a:r>
                        <a:rPr sz="1200" b="1"/>
                        <a:t>Independent Variables</a:t>
                      </a:r>
                    </a:p>
                  </a:txBody>
                  <a:tcPr marL="54864" marR="54864" marT="27432" marB="27432"/>
                </a:tc>
                <a:tc>
                  <a:txBody>
                    <a:bodyPr/>
                    <a:lstStyle/>
                    <a:p>
                      <a:r>
                        <a:rPr sz="1200"/>
                        <a:t>Feature families included (full; minus timing; minus timing and tool identifiers)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6"/>
                  </a:ext>
                </a:extLst>
              </a:tr>
              <a:tr h="256031">
                <a:tc>
                  <a:txBody>
                    <a:bodyPr/>
                    <a:lstStyle/>
                    <a:p>
                      <a:r>
                        <a:rPr sz="1200" b="1"/>
                        <a:t>Dependent Variable</a:t>
                      </a:r>
                    </a:p>
                  </a:txBody>
                  <a:tcPr marL="54864" marR="54864" marT="27432" marB="27432"/>
                </a:tc>
                <a:tc>
                  <a:txBody>
                    <a:bodyPr/>
                    <a:lstStyle/>
                    <a:p>
                      <a:r>
                        <a:rPr sz="1200"/>
                        <a:t>Change in trial-level macro-F1; per-family permutation importance</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7"/>
                  </a:ext>
                </a:extLst>
              </a:tr>
              <a:tr h="438912">
                <a:tc>
                  <a:txBody>
                    <a:bodyPr/>
                    <a:lstStyle/>
                    <a:p>
                      <a:r>
                        <a:rPr sz="1200" b="1"/>
                        <a:t>Testable</a:t>
                      </a:r>
                    </a:p>
                  </a:txBody>
                  <a:tcPr marL="54864" marR="54864" marT="27432" marB="27432"/>
                </a:tc>
                <a:tc>
                  <a:txBody>
                    <a:bodyPr/>
                    <a:lstStyle/>
                    <a:p>
                      <a:r>
                        <a:rPr sz="1200" dirty="0"/>
                        <a:t>Ablate feature families on identical folds and report the macro-F1 drop per ablation; a timing-threshold rule is the second baseline.</a:t>
                      </a:r>
                    </a:p>
                  </a:txBody>
                  <a:tcPr marL="54864" marR="54864" marT="27432" marB="27432"/>
                </a:tc>
                <a:tc>
                  <a:txBody>
                    <a:bodyPr/>
                    <a:lstStyle/>
                    <a:p>
                      <a:pPr algn="ctr"/>
                      <a:r>
                        <a:rPr sz="1200"/>
                        <a:t>21</a:t>
                      </a:r>
                    </a:p>
                  </a:txBody>
                  <a:tcPr marL="54864" marR="54864" marT="27432" marB="27432"/>
                </a:tc>
                <a:extLst>
                  <a:ext uri="{0D108BD9-81ED-4DB2-BD59-A6C34878D82A}">
                    <a16:rowId xmlns:a16="http://schemas.microsoft.com/office/drawing/2014/main" val="10008"/>
                  </a:ext>
                </a:extLst>
              </a:tr>
              <a:tr h="438912">
                <a:tc>
                  <a:txBody>
                    <a:bodyPr/>
                    <a:lstStyle/>
                    <a:p>
                      <a:r>
                        <a:rPr sz="1200" b="1" dirty="0"/>
                        <a:t>Hypothesis 3 </a:t>
                      </a:r>
                    </a:p>
                  </a:txBody>
                  <a:tcPr marL="54864" marR="54864" marT="27432" marB="27432"/>
                </a:tc>
                <a:tc>
                  <a:txBody>
                    <a:bodyPr/>
                    <a:lstStyle/>
                    <a:p>
                      <a:r>
                        <a:rPr lang="en-US" sz="1200" dirty="0"/>
                        <a:t>A model trained on some operators still separates human from AI trials for operators it never saw.</a:t>
                      </a:r>
                      <a:endParaRPr sz="1200" dirty="0"/>
                    </a:p>
                  </a:txBody>
                  <a:tcPr marL="54864" marR="54864" marT="27432" marB="27432"/>
                </a:tc>
                <a:tc>
                  <a:txBody>
                    <a:bodyPr/>
                    <a:lstStyle/>
                    <a:p>
                      <a:pPr algn="ctr"/>
                      <a:r>
                        <a:rPr sz="1200"/>
                        <a:t>20</a:t>
                      </a:r>
                    </a:p>
                  </a:txBody>
                  <a:tcPr marL="54864" marR="54864" marT="27432" marB="27432"/>
                </a:tc>
                <a:extLst>
                  <a:ext uri="{0D108BD9-81ED-4DB2-BD59-A6C34878D82A}">
                    <a16:rowId xmlns:a16="http://schemas.microsoft.com/office/drawing/2014/main" val="10009"/>
                  </a:ext>
                </a:extLst>
              </a:tr>
              <a:tr h="256031">
                <a:tc>
                  <a:txBody>
                    <a:bodyPr/>
                    <a:lstStyle/>
                    <a:p>
                      <a:r>
                        <a:rPr sz="1200" b="1"/>
                        <a:t>Independent Variables</a:t>
                      </a:r>
                    </a:p>
                  </a:txBody>
                  <a:tcPr marL="54864" marR="54864" marT="27432" marB="27432"/>
                </a:tc>
                <a:tc>
                  <a:txBody>
                    <a:bodyPr/>
                    <a:lstStyle/>
                    <a:p>
                      <a:r>
                        <a:rPr sz="1200"/>
                        <a:t>Split design (grouped by trial vs. grouped by operator / AI configuration)</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10"/>
                  </a:ext>
                </a:extLst>
              </a:tr>
              <a:tr h="256031">
                <a:tc>
                  <a:txBody>
                    <a:bodyPr/>
                    <a:lstStyle/>
                    <a:p>
                      <a:r>
                        <a:rPr sz="1200" b="1"/>
                        <a:t>Dependent Variable</a:t>
                      </a:r>
                    </a:p>
                  </a:txBody>
                  <a:tcPr marL="54864" marR="54864" marT="27432" marB="27432"/>
                </a:tc>
                <a:tc>
                  <a:txBody>
                    <a:bodyPr/>
                    <a:lstStyle/>
                    <a:p>
                      <a:r>
                        <a:rPr sz="1200"/>
                        <a:t>Trial-level macro-F1 on held-out groups vs. in-sample groups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11"/>
                  </a:ext>
                </a:extLst>
              </a:tr>
              <a:tr h="438912">
                <a:tc>
                  <a:txBody>
                    <a:bodyPr/>
                    <a:lstStyle/>
                    <a:p>
                      <a:r>
                        <a:rPr sz="1200" b="1"/>
                        <a:t>Testable</a:t>
                      </a:r>
                    </a:p>
                  </a:txBody>
                  <a:tcPr marL="54864" marR="54864" marT="27432" marB="27432"/>
                </a:tc>
                <a:tc>
                  <a:txBody>
                    <a:bodyPr/>
                    <a:lstStyle/>
                    <a:p>
                      <a:r>
                        <a:rPr sz="1200" dirty="0"/>
                        <a:t>Freeze the split manifest before scored runs; train on the remaining operators and configurations; evaluate once on the held-out groups; report trial counts and grouped uncertainty.</a:t>
                      </a:r>
                    </a:p>
                  </a:txBody>
                  <a:tcPr marL="54864" marR="54864" marT="27432" marB="27432"/>
                </a:tc>
                <a:tc>
                  <a:txBody>
                    <a:bodyPr/>
                    <a:lstStyle/>
                    <a:p>
                      <a:pPr algn="ctr"/>
                      <a:r>
                        <a:rPr sz="1200" dirty="0"/>
                        <a:t>26</a:t>
                      </a:r>
                    </a:p>
                  </a:txBody>
                  <a:tcPr marL="54864" marR="54864" marT="27432" marB="27432"/>
                </a:tc>
                <a:extLst>
                  <a:ext uri="{0D108BD9-81ED-4DB2-BD59-A6C34878D82A}">
                    <a16:rowId xmlns:a16="http://schemas.microsoft.com/office/drawing/2014/main" val="10012"/>
                  </a:ext>
                </a:extLst>
              </a:tr>
              <a:tr h="438912">
                <a:tc>
                  <a:txBody>
                    <a:bodyPr/>
                    <a:lstStyle/>
                    <a:p>
                      <a:r>
                        <a:rPr lang="en-US" sz="1200" b="1" dirty="0"/>
                        <a:t>Hypothesis 4 (optional)</a:t>
                      </a:r>
                      <a:endParaRPr sz="1200" b="1" dirty="0"/>
                    </a:p>
                  </a:txBody>
                  <a:tcPr marL="54864" marR="54864" marT="27432" marB="27432"/>
                </a:tc>
                <a:tc>
                  <a:txBody>
                    <a:bodyPr/>
                    <a:lstStyle/>
                    <a:p>
                      <a:r>
                        <a:rPr lang="en-US" sz="1200" dirty="0"/>
                        <a:t>Classification performance drops when the AI mimics human pacing, but stays above the metadata-only baseline.</a:t>
                      </a:r>
                      <a:endParaRPr sz="1200" dirty="0"/>
                    </a:p>
                  </a:txBody>
                  <a:tcPr marL="54864" marR="54864" marT="27432" marB="27432"/>
                </a:tc>
                <a:tc>
                  <a:txBody>
                    <a:bodyPr/>
                    <a:lstStyle/>
                    <a:p>
                      <a:pPr algn="ctr"/>
                      <a:endParaRPr sz="1200" dirty="0"/>
                    </a:p>
                  </a:txBody>
                  <a:tcPr marL="54864" marR="54864" marT="27432" marB="27432"/>
                </a:tc>
                <a:extLst>
                  <a:ext uri="{0D108BD9-81ED-4DB2-BD59-A6C34878D82A}">
                    <a16:rowId xmlns:a16="http://schemas.microsoft.com/office/drawing/2014/main" val="11041991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109728"/>
            <a:ext cx="8595360" cy="548640"/>
          </a:xfrm>
        </p:spPr>
        <p:txBody>
          <a:bodyPr wrap="square"/>
          <a:lstStyle/>
          <a:p>
            <a:r>
              <a:rPr sz="2400" b="1">
                <a:solidFill>
                  <a:srgbClr val="B22600"/>
                </a:solidFill>
              </a:rPr>
              <a:t>Data Source – Primary (Dataset 1: Host Telemetry)</a:t>
            </a:r>
          </a:p>
        </p:txBody>
      </p:sp>
      <p:graphicFrame>
        <p:nvGraphicFramePr>
          <p:cNvPr id="4" name="Table 3"/>
          <p:cNvGraphicFramePr>
            <a:graphicFrameLocks noGrp="1"/>
          </p:cNvGraphicFramePr>
          <p:nvPr>
            <p:extLst>
              <p:ext uri="{D42A27DB-BD31-4B8C-83A1-F6EECF244321}">
                <p14:modId xmlns:p14="http://schemas.microsoft.com/office/powerpoint/2010/main" val="2938520460"/>
              </p:ext>
            </p:extLst>
          </p:nvPr>
        </p:nvGraphicFramePr>
        <p:xfrm>
          <a:off x="164592" y="777240"/>
          <a:ext cx="7898421" cy="1636776"/>
        </p:xfrm>
        <a:graphic>
          <a:graphicData uri="http://schemas.openxmlformats.org/drawingml/2006/table">
            <a:tbl>
              <a:tblPr firstRow="1" bandRow="1">
                <a:tableStyleId>{5C22544A-7EE6-4342-B048-85BDC9FD1C3A}</a:tableStyleId>
              </a:tblPr>
              <a:tblGrid>
                <a:gridCol w="349101">
                  <a:extLst>
                    <a:ext uri="{9D8B030D-6E8A-4147-A177-3AD203B41FA5}">
                      <a16:colId xmlns:a16="http://schemas.microsoft.com/office/drawing/2014/main" val="20000"/>
                    </a:ext>
                  </a:extLst>
                </a:gridCol>
                <a:gridCol w="1134580">
                  <a:extLst>
                    <a:ext uri="{9D8B030D-6E8A-4147-A177-3AD203B41FA5}">
                      <a16:colId xmlns:a16="http://schemas.microsoft.com/office/drawing/2014/main" val="20001"/>
                    </a:ext>
                  </a:extLst>
                </a:gridCol>
                <a:gridCol w="1570957">
                  <a:extLst>
                    <a:ext uri="{9D8B030D-6E8A-4147-A177-3AD203B41FA5}">
                      <a16:colId xmlns:a16="http://schemas.microsoft.com/office/drawing/2014/main" val="20002"/>
                    </a:ext>
                  </a:extLst>
                </a:gridCol>
                <a:gridCol w="1920058">
                  <a:extLst>
                    <a:ext uri="{9D8B030D-6E8A-4147-A177-3AD203B41FA5}">
                      <a16:colId xmlns:a16="http://schemas.microsoft.com/office/drawing/2014/main" val="20003"/>
                    </a:ext>
                  </a:extLst>
                </a:gridCol>
                <a:gridCol w="1134580">
                  <a:extLst>
                    <a:ext uri="{9D8B030D-6E8A-4147-A177-3AD203B41FA5}">
                      <a16:colId xmlns:a16="http://schemas.microsoft.com/office/drawing/2014/main" val="20004"/>
                    </a:ext>
                  </a:extLst>
                </a:gridCol>
                <a:gridCol w="1003667">
                  <a:extLst>
                    <a:ext uri="{9D8B030D-6E8A-4147-A177-3AD203B41FA5}">
                      <a16:colId xmlns:a16="http://schemas.microsoft.com/office/drawing/2014/main" val="20006"/>
                    </a:ext>
                  </a:extLst>
                </a:gridCol>
                <a:gridCol w="785478">
                  <a:extLst>
                    <a:ext uri="{9D8B030D-6E8A-4147-A177-3AD203B41FA5}">
                      <a16:colId xmlns:a16="http://schemas.microsoft.com/office/drawing/2014/main" val="20007"/>
                    </a:ext>
                  </a:extLst>
                </a:gridCol>
              </a:tblGrid>
              <a:tr h="408432">
                <a:tc>
                  <a:txBody>
                    <a:bodyPr/>
                    <a:lstStyle/>
                    <a:p>
                      <a:r>
                        <a:rPr sz="1100" b="1"/>
                        <a:t>ID</a:t>
                      </a:r>
                    </a:p>
                  </a:txBody>
                  <a:tcPr marL="54864" marR="54864" marT="27432" marB="27432" anchor="ctr"/>
                </a:tc>
                <a:tc>
                  <a:txBody>
                    <a:bodyPr/>
                    <a:lstStyle/>
                    <a:p>
                      <a:pPr algn="ctr"/>
                      <a:r>
                        <a:rPr sz="1100" b="1"/>
                        <a:t>Name</a:t>
                      </a:r>
                    </a:p>
                  </a:txBody>
                  <a:tcPr marL="54864" marR="54864" marT="27432" marB="27432" anchor="ctr"/>
                </a:tc>
                <a:tc>
                  <a:txBody>
                    <a:bodyPr/>
                    <a:lstStyle/>
                    <a:p>
                      <a:pPr algn="ctr"/>
                      <a:r>
                        <a:rPr sz="1100" b="1"/>
                        <a:t>Source</a:t>
                      </a:r>
                    </a:p>
                  </a:txBody>
                  <a:tcPr marL="54864" marR="54864" marT="27432" marB="27432" anchor="ctr"/>
                </a:tc>
                <a:tc>
                  <a:txBody>
                    <a:bodyPr/>
                    <a:lstStyle/>
                    <a:p>
                      <a:pPr algn="ctr"/>
                      <a:r>
                        <a:rPr sz="1100" b="1"/>
                        <a:t>Brief Description</a:t>
                      </a:r>
                    </a:p>
                  </a:txBody>
                  <a:tcPr marL="54864" marR="54864" marT="27432" marB="27432" anchor="ctr"/>
                </a:tc>
                <a:tc>
                  <a:txBody>
                    <a:bodyPr/>
                    <a:lstStyle/>
                    <a:p>
                      <a:pPr algn="ctr"/>
                      <a:r>
                        <a:rPr sz="1100" b="1"/>
                        <a:t>Format</a:t>
                      </a:r>
                    </a:p>
                  </a:txBody>
                  <a:tcPr marL="54864" marR="54864" marT="27432" marB="27432" anchor="ctr"/>
                </a:tc>
                <a:tc>
                  <a:txBody>
                    <a:bodyPr/>
                    <a:lstStyle/>
                    <a:p>
                      <a:pPr algn="ctr"/>
                      <a:r>
                        <a:rPr sz="1100" b="1"/>
                        <a:t>Num. of records</a:t>
                      </a:r>
                    </a:p>
                  </a:txBody>
                  <a:tcPr marL="54864" marR="54864" marT="27432" marB="27432" anchor="ctr"/>
                </a:tc>
                <a:tc>
                  <a:txBody>
                    <a:bodyPr/>
                    <a:lstStyle/>
                    <a:p>
                      <a:pPr algn="ctr"/>
                      <a:r>
                        <a:rPr sz="1100" b="1"/>
                        <a:t>Access (Y/N)</a:t>
                      </a:r>
                    </a:p>
                  </a:txBody>
                  <a:tcPr marL="54864" marR="54864" marT="27432" marB="27432" anchor="ctr"/>
                </a:tc>
                <a:extLst>
                  <a:ext uri="{0D108BD9-81ED-4DB2-BD59-A6C34878D82A}">
                    <a16:rowId xmlns:a16="http://schemas.microsoft.com/office/drawing/2014/main" val="10000"/>
                  </a:ext>
                </a:extLst>
              </a:tr>
              <a:tr h="1078992">
                <a:tc>
                  <a:txBody>
                    <a:bodyPr/>
                    <a:lstStyle/>
                    <a:p>
                      <a:pPr algn="ctr"/>
                      <a:r>
                        <a:rPr sz="1100" b="1"/>
                        <a:t>1</a:t>
                      </a:r>
                    </a:p>
                  </a:txBody>
                  <a:tcPr marL="54864" marR="54864" marT="27432" marB="27432"/>
                </a:tc>
                <a:tc>
                  <a:txBody>
                    <a:bodyPr/>
                    <a:lstStyle/>
                    <a:p>
                      <a:r>
                        <a:rPr sz="1100"/>
                        <a:t>GOAD Host Telemetry Corpus (foothold + domain targets)</a:t>
                      </a:r>
                    </a:p>
                  </a:txBody>
                  <a:tcPr marL="54864" marR="54864" marT="27432" marB="27432"/>
                </a:tc>
                <a:tc>
                  <a:txBody>
                    <a:bodyPr/>
                    <a:lstStyle/>
                    <a:p>
                      <a:r>
                        <a:rPr sz="1100"/>
                        <a:t>Self-generated in the GOAD AD lab on AWS (Orange Cyberdefense GOAD, pinned revision); native exports archived to a private evidence S3 account</a:t>
                      </a:r>
                    </a:p>
                  </a:txBody>
                  <a:tcPr marL="54864" marR="54864" marT="27432" marB="27432"/>
                </a:tc>
                <a:tc>
                  <a:txBody>
                    <a:bodyPr/>
                    <a:lstStyle/>
                    <a:p>
                      <a:r>
                        <a:rPr sz="1100"/>
                        <a:t>Native Windows event logs from the monitored foothold and five domain targets (two forests, three domains) for every human and autonomous-AI trial, from verified reset to window close.</a:t>
                      </a:r>
                    </a:p>
                  </a:txBody>
                  <a:tcPr marL="54864" marR="54864" marT="27432" marB="27432"/>
                </a:tc>
                <a:tc>
                  <a:txBody>
                    <a:bodyPr/>
                    <a:lstStyle/>
                    <a:p>
                      <a:r>
                        <a:rPr sz="1100"/>
                        <a:t>EVTX (Security, System, PowerShell 4104), Sysmon, AD audit and DNS logs</a:t>
                      </a:r>
                    </a:p>
                  </a:txBody>
                  <a:tcPr marL="54864" marR="54864" marT="27432" marB="27432"/>
                </a:tc>
                <a:tc>
                  <a:txBody>
                    <a:bodyPr/>
                    <a:lstStyle/>
                    <a:p>
                      <a:r>
                        <a:rPr sz="1100" dirty="0"/>
                        <a:t>Phase 1: est. 12–24 trials + benign baselines; final count set at Gates A/B</a:t>
                      </a:r>
                    </a:p>
                  </a:txBody>
                  <a:tcPr marL="54864" marR="54864" marT="27432" marB="27432"/>
                </a:tc>
                <a:tc>
                  <a:txBody>
                    <a:bodyPr/>
                    <a:lstStyle/>
                    <a:p>
                      <a:r>
                        <a:rPr sz="1100" dirty="0"/>
                        <a:t>Y</a:t>
                      </a:r>
                    </a:p>
                  </a:txBody>
                  <a:tcPr marL="54864" marR="54864" marT="27432" marB="27432"/>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164592" y="2596286"/>
          <a:ext cx="8814816" cy="1057655"/>
        </p:xfrm>
        <a:graphic>
          <a:graphicData uri="http://schemas.openxmlformats.org/drawingml/2006/table">
            <a:tbl>
              <a:tblPr firstRow="1" bandRow="1">
                <a:tableStyleId>{5C22544A-7EE6-4342-B048-85BDC9FD1C3A}</a:tableStyleId>
              </a:tblPr>
              <a:tblGrid>
                <a:gridCol w="1285494">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Item</a:t>
                      </a:r>
                    </a:p>
                  </a:txBody>
                  <a:tcPr marL="54864" marR="54864" marT="27432" marB="27432" anchor="ctr"/>
                </a:tc>
                <a:tc>
                  <a:txBody>
                    <a:bodyPr/>
                    <a:lstStyle/>
                    <a:p>
                      <a:pPr algn="ctr"/>
                      <a:r>
                        <a:rPr sz="1100" b="1"/>
                        <a:t>Description</a:t>
                      </a: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Purpose</a:t>
                      </a:r>
                    </a:p>
                  </a:txBody>
                  <a:tcPr marL="54864" marR="54864" marT="27432" marB="27432"/>
                </a:tc>
                <a:tc>
                  <a:txBody>
                    <a:bodyPr/>
                    <a:lstStyle/>
                    <a:p>
                      <a:r>
                        <a:rPr sz="1100"/>
                        <a:t>Capture defender-visible command, logon, Kerberos, LDAP and share-access behavior on the targets for both arms under matched conditions.</a:t>
                      </a:r>
                    </a:p>
                  </a:txBody>
                  <a:tcPr marL="54864" marR="54864" marT="27432" marB="27432"/>
                </a:tc>
                <a:tc>
                  <a:txBody>
                    <a:bodyPr/>
                    <a:lstStyle/>
                    <a:p>
                      <a:pPr algn="ctr"/>
                      <a:r>
                        <a:rPr sz="1100"/>
                        <a:t>18</a:t>
                      </a:r>
                    </a:p>
                  </a:txBody>
                  <a:tcPr marL="54864" marR="54864" marT="27432" marB="27432"/>
                </a:tc>
                <a:extLst>
                  <a:ext uri="{0D108BD9-81ED-4DB2-BD59-A6C34878D82A}">
                    <a16:rowId xmlns:a16="http://schemas.microsoft.com/office/drawing/2014/main" val="10001"/>
                  </a:ext>
                </a:extLst>
              </a:tr>
              <a:tr h="408432">
                <a:tc>
                  <a:txBody>
                    <a:bodyPr/>
                    <a:lstStyle/>
                    <a:p>
                      <a:r>
                        <a:rPr sz="1100" b="1"/>
                        <a:t>Data Treatment</a:t>
                      </a:r>
                    </a:p>
                  </a:txBody>
                  <a:tcPr marL="54864" marR="54864" marT="27432" marB="27432"/>
                </a:tc>
                <a:tc>
                  <a:txBody>
                    <a:bodyPr/>
                    <a:lstStyle/>
                    <a:p>
                      <a:r>
                        <a:rPr sz="1100" dirty="0"/>
                        <a:t>Trial segmentation from registry UTC bounds; deny-list removal (IPs, hostnames, account IDs, parent process, runner artifacts); ATT&amp;CK mapping; rate normalization per hour and per phase; grouped split by trial.</a:t>
                      </a:r>
                    </a:p>
                  </a:txBody>
                  <a:tcPr marL="54864" marR="54864" marT="27432" marB="27432"/>
                </a:tc>
                <a:tc>
                  <a:txBody>
                    <a:bodyPr/>
                    <a:lstStyle/>
                    <a:p>
                      <a:pPr algn="ctr"/>
                      <a:r>
                        <a:rPr sz="1100" dirty="0"/>
                        <a:t>29</a:t>
                      </a:r>
                    </a:p>
                  </a:txBody>
                  <a:tcPr marL="54864" marR="54864" marT="27432" marB="27432"/>
                </a:tc>
                <a:extLst>
                  <a:ext uri="{0D108BD9-81ED-4DB2-BD59-A6C34878D82A}">
                    <a16:rowId xmlns:a16="http://schemas.microsoft.com/office/drawing/2014/main" val="10002"/>
                  </a:ext>
                </a:extLst>
              </a:tr>
            </a:tbl>
          </a:graphicData>
        </a:graphic>
      </p:graphicFrame>
      <p:sp>
        <p:nvSpPr>
          <p:cNvPr id="6" name="Rectangle 5"/>
          <p:cNvSpPr/>
          <p:nvPr/>
        </p:nvSpPr>
        <p:spPr>
          <a:xfrm>
            <a:off x="164592" y="3818534"/>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Foothold host</a:t>
            </a:r>
          </a:p>
          <a:p>
            <a:pPr algn="l"/>
            <a:r>
              <a:rPr sz="1000" b="0">
                <a:solidFill>
                  <a:srgbClr val="000000"/>
                </a:solidFill>
              </a:rPr>
              <a:t>Sysmon 1 / Security 4688 with command lines; PowerShell 4104; logons 4624/4648</a:t>
            </a:r>
          </a:p>
        </p:txBody>
      </p:sp>
      <p:cxnSp>
        <p:nvCxnSpPr>
          <p:cNvPr id="7" name="Connector 6"/>
          <p:cNvCxnSpPr/>
          <p:nvPr/>
        </p:nvCxnSpPr>
        <p:spPr>
          <a:xfrm>
            <a:off x="2889504" y="4230014"/>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09544" y="3818534"/>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Domain targets (5)</a:t>
            </a:r>
          </a:p>
          <a:p>
            <a:pPr algn="l"/>
            <a:r>
              <a:rPr sz="1000" b="0">
                <a:solidFill>
                  <a:srgbClr val="000000"/>
                </a:solidFill>
              </a:rPr>
              <a:t>Security 4624/4769/4768/5145; Sysmon; AD object audit; DNS server logs</a:t>
            </a:r>
          </a:p>
        </p:txBody>
      </p:sp>
      <p:cxnSp>
        <p:nvCxnSpPr>
          <p:cNvPr id="9" name="Connector 8"/>
          <p:cNvCxnSpPr/>
          <p:nvPr/>
        </p:nvCxnSpPr>
        <p:spPr>
          <a:xfrm>
            <a:off x="5934456" y="4230014"/>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54496" y="3818534"/>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Evidence archive</a:t>
            </a:r>
          </a:p>
          <a:p>
            <a:pPr algn="l"/>
            <a:r>
              <a:rPr sz="1000" b="0">
                <a:solidFill>
                  <a:srgbClr val="000000"/>
                </a:solidFill>
              </a:rPr>
              <a:t>Native EVTX exports per trial; SHA-256 manifests; CloudWatch Logs for search only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109728"/>
            <a:ext cx="8595360" cy="548640"/>
          </a:xfrm>
        </p:spPr>
        <p:txBody>
          <a:bodyPr wrap="square"/>
          <a:lstStyle/>
          <a:p>
            <a:r>
              <a:rPr sz="2400" b="1">
                <a:solidFill>
                  <a:srgbClr val="B22600"/>
                </a:solidFill>
              </a:rPr>
              <a:t>Data Source – Primary (Dataset 2: Network Telemetry)</a:t>
            </a:r>
          </a:p>
        </p:txBody>
      </p:sp>
      <p:graphicFrame>
        <p:nvGraphicFramePr>
          <p:cNvPr id="4" name="Table 3"/>
          <p:cNvGraphicFramePr>
            <a:graphicFrameLocks noGrp="1"/>
          </p:cNvGraphicFramePr>
          <p:nvPr/>
        </p:nvGraphicFramePr>
        <p:xfrm>
          <a:off x="164592" y="777240"/>
          <a:ext cx="8814812" cy="1804416"/>
        </p:xfrm>
        <a:graphic>
          <a:graphicData uri="http://schemas.openxmlformats.org/drawingml/2006/table">
            <a:tbl>
              <a:tblPr firstRow="1" bandRow="1">
                <a:tableStyleId>{5C22544A-7EE6-4342-B048-85BDC9FD1C3A}</a:tableStyleId>
              </a:tblPr>
              <a:tblGrid>
                <a:gridCol w="349101">
                  <a:extLst>
                    <a:ext uri="{9D8B030D-6E8A-4147-A177-3AD203B41FA5}">
                      <a16:colId xmlns:a16="http://schemas.microsoft.com/office/drawing/2014/main" val="20000"/>
                    </a:ext>
                  </a:extLst>
                </a:gridCol>
                <a:gridCol w="1134580">
                  <a:extLst>
                    <a:ext uri="{9D8B030D-6E8A-4147-A177-3AD203B41FA5}">
                      <a16:colId xmlns:a16="http://schemas.microsoft.com/office/drawing/2014/main" val="20001"/>
                    </a:ext>
                  </a:extLst>
                </a:gridCol>
                <a:gridCol w="1570957">
                  <a:extLst>
                    <a:ext uri="{9D8B030D-6E8A-4147-A177-3AD203B41FA5}">
                      <a16:colId xmlns:a16="http://schemas.microsoft.com/office/drawing/2014/main" val="20002"/>
                    </a:ext>
                  </a:extLst>
                </a:gridCol>
                <a:gridCol w="1920058">
                  <a:extLst>
                    <a:ext uri="{9D8B030D-6E8A-4147-A177-3AD203B41FA5}">
                      <a16:colId xmlns:a16="http://schemas.microsoft.com/office/drawing/2014/main" val="20003"/>
                    </a:ext>
                  </a:extLst>
                </a:gridCol>
                <a:gridCol w="1134580">
                  <a:extLst>
                    <a:ext uri="{9D8B030D-6E8A-4147-A177-3AD203B41FA5}">
                      <a16:colId xmlns:a16="http://schemas.microsoft.com/office/drawing/2014/main" val="20004"/>
                    </a:ext>
                  </a:extLst>
                </a:gridCol>
                <a:gridCol w="916391">
                  <a:extLst>
                    <a:ext uri="{9D8B030D-6E8A-4147-A177-3AD203B41FA5}">
                      <a16:colId xmlns:a16="http://schemas.microsoft.com/office/drawing/2014/main" val="20005"/>
                    </a:ext>
                  </a:extLst>
                </a:gridCol>
                <a:gridCol w="1003667">
                  <a:extLst>
                    <a:ext uri="{9D8B030D-6E8A-4147-A177-3AD203B41FA5}">
                      <a16:colId xmlns:a16="http://schemas.microsoft.com/office/drawing/2014/main" val="20006"/>
                    </a:ext>
                  </a:extLst>
                </a:gridCol>
                <a:gridCol w="785478">
                  <a:extLst>
                    <a:ext uri="{9D8B030D-6E8A-4147-A177-3AD203B41FA5}">
                      <a16:colId xmlns:a16="http://schemas.microsoft.com/office/drawing/2014/main" val="20007"/>
                    </a:ext>
                  </a:extLst>
                </a:gridCol>
              </a:tblGrid>
              <a:tr h="408432">
                <a:tc>
                  <a:txBody>
                    <a:bodyPr/>
                    <a:lstStyle/>
                    <a:p>
                      <a:r>
                        <a:rPr sz="1100" b="1"/>
                        <a:t>ID</a:t>
                      </a:r>
                    </a:p>
                  </a:txBody>
                  <a:tcPr marL="54864" marR="54864" marT="27432" marB="27432" anchor="ctr"/>
                </a:tc>
                <a:tc>
                  <a:txBody>
                    <a:bodyPr/>
                    <a:lstStyle/>
                    <a:p>
                      <a:pPr algn="ctr"/>
                      <a:r>
                        <a:rPr sz="1100" b="1"/>
                        <a:t>Name</a:t>
                      </a:r>
                    </a:p>
                  </a:txBody>
                  <a:tcPr marL="54864" marR="54864" marT="27432" marB="27432" anchor="ctr"/>
                </a:tc>
                <a:tc>
                  <a:txBody>
                    <a:bodyPr/>
                    <a:lstStyle/>
                    <a:p>
                      <a:pPr algn="ctr"/>
                      <a:r>
                        <a:rPr sz="1100" b="1"/>
                        <a:t>Source</a:t>
                      </a:r>
                    </a:p>
                  </a:txBody>
                  <a:tcPr marL="54864" marR="54864" marT="27432" marB="27432" anchor="ctr"/>
                </a:tc>
                <a:tc>
                  <a:txBody>
                    <a:bodyPr/>
                    <a:lstStyle/>
                    <a:p>
                      <a:pPr algn="ctr"/>
                      <a:r>
                        <a:rPr sz="1100" b="1"/>
                        <a:t>Brief Description</a:t>
                      </a:r>
                    </a:p>
                  </a:txBody>
                  <a:tcPr marL="54864" marR="54864" marT="27432" marB="27432" anchor="ctr"/>
                </a:tc>
                <a:tc>
                  <a:txBody>
                    <a:bodyPr/>
                    <a:lstStyle/>
                    <a:p>
                      <a:pPr algn="ctr"/>
                      <a:r>
                        <a:rPr sz="1100" b="1"/>
                        <a:t>Format</a:t>
                      </a:r>
                    </a:p>
                  </a:txBody>
                  <a:tcPr marL="54864" marR="54864" marT="27432" marB="27432" anchor="ctr"/>
                </a:tc>
                <a:tc>
                  <a:txBody>
                    <a:bodyPr/>
                    <a:lstStyle/>
                    <a:p>
                      <a:pPr algn="ctr"/>
                      <a:r>
                        <a:rPr sz="1100" b="1"/>
                        <a:t>Time Span</a:t>
                      </a:r>
                    </a:p>
                  </a:txBody>
                  <a:tcPr marL="54864" marR="54864" marT="27432" marB="27432" anchor="ctr"/>
                </a:tc>
                <a:tc>
                  <a:txBody>
                    <a:bodyPr/>
                    <a:lstStyle/>
                    <a:p>
                      <a:pPr algn="ctr"/>
                      <a:r>
                        <a:rPr sz="1100" b="1"/>
                        <a:t>Num. of records</a:t>
                      </a:r>
                    </a:p>
                  </a:txBody>
                  <a:tcPr marL="54864" marR="54864" marT="27432" marB="27432" anchor="ctr"/>
                </a:tc>
                <a:tc>
                  <a:txBody>
                    <a:bodyPr/>
                    <a:lstStyle/>
                    <a:p>
                      <a:pPr algn="ctr"/>
                      <a:r>
                        <a:rPr sz="1100" b="1"/>
                        <a:t>Access (Y/N)</a:t>
                      </a:r>
                    </a:p>
                  </a:txBody>
                  <a:tcPr marL="54864" marR="54864" marT="27432" marB="27432" anchor="ctr"/>
                </a:tc>
                <a:extLst>
                  <a:ext uri="{0D108BD9-81ED-4DB2-BD59-A6C34878D82A}">
                    <a16:rowId xmlns:a16="http://schemas.microsoft.com/office/drawing/2014/main" val="10000"/>
                  </a:ext>
                </a:extLst>
              </a:tr>
              <a:tr h="1246632">
                <a:tc>
                  <a:txBody>
                    <a:bodyPr/>
                    <a:lstStyle/>
                    <a:p>
                      <a:pPr algn="ctr"/>
                      <a:r>
                        <a:rPr sz="1100" b="1"/>
                        <a:t>2</a:t>
                      </a:r>
                    </a:p>
                  </a:txBody>
                  <a:tcPr marL="54864" marR="54864" marT="27432" marB="27432"/>
                </a:tc>
                <a:tc>
                  <a:txBody>
                    <a:bodyPr/>
                    <a:lstStyle/>
                    <a:p>
                      <a:r>
                        <a:rPr sz="1100"/>
                        <a:t>GOAD Network Telemetry Corpus (traffic mirror + flow logs)</a:t>
                      </a:r>
                    </a:p>
                  </a:txBody>
                  <a:tcPr marL="54864" marR="54864" marT="27432" marB="27432"/>
                </a:tc>
                <a:tc>
                  <a:txBody>
                    <a:bodyPr/>
                    <a:lstStyle/>
                    <a:p>
                      <a:r>
                        <a:rPr sz="1100"/>
                        <a:t>Self-generated: VPC traffic mirror of the DC and member-server interfaces into a Zeek/Suricata sensor, plus VPC Flow Logs; archived to the evidence account</a:t>
                      </a:r>
                    </a:p>
                  </a:txBody>
                  <a:tcPr marL="54864" marR="54864" marT="27432" marB="27432"/>
                </a:tc>
                <a:tc>
                  <a:txBody>
                    <a:bodyPr/>
                    <a:lstStyle/>
                    <a:p>
                      <a:r>
                        <a:rPr sz="1100"/>
                        <a:t>Connection-level records and capped packet capture for all lab traffic in each trial: Kerberos, LDAP, SMB, DNS and RDP/WinRM between the foothold and the targets.</a:t>
                      </a:r>
                    </a:p>
                  </a:txBody>
                  <a:tcPr marL="54864" marR="54864" marT="27432" marB="27432"/>
                </a:tc>
                <a:tc>
                  <a:txBody>
                    <a:bodyPr/>
                    <a:lstStyle/>
                    <a:p>
                      <a:r>
                        <a:rPr sz="1100"/>
                        <a:t>Zeek logs (conn, kerberos, dce_rpc, smb, dns), Suricata EVE JSON, capped PCAP, VPC Flow Logs</a:t>
                      </a:r>
                    </a:p>
                  </a:txBody>
                  <a:tcPr marL="54864" marR="54864" marT="27432" marB="27432"/>
                </a:tc>
                <a:tc>
                  <a:txBody>
                    <a:bodyPr/>
                    <a:lstStyle/>
                    <a:p>
                      <a:r>
                        <a:rPr sz="1100"/>
                        <a:t>Phase 1: Oct 20 – Nov 2026</a:t>
                      </a:r>
                    </a:p>
                    <a:p>
                      <a:r>
                        <a:rPr sz="1100"/>
                        <a:t>Phase 2: Jan – Feb 2027</a:t>
                      </a:r>
                    </a:p>
                  </a:txBody>
                  <a:tcPr marL="54864" marR="54864" marT="27432" marB="27432"/>
                </a:tc>
                <a:tc>
                  <a:txBody>
                    <a:bodyPr/>
                    <a:lstStyle/>
                    <a:p>
                      <a:r>
                        <a:rPr sz="1100"/>
                        <a:t>Same trials as Dataset 1; flow and packet counts sized after the dry run (PCAP capped per trial)</a:t>
                      </a:r>
                    </a:p>
                  </a:txBody>
                  <a:tcPr marL="54864" marR="54864" marT="27432" marB="27432"/>
                </a:tc>
                <a:tc>
                  <a:txBody>
                    <a:bodyPr/>
                    <a:lstStyle/>
                    <a:p>
                      <a:r>
                        <a:rPr sz="1100"/>
                        <a:t>Y (restricted)</a:t>
                      </a:r>
                    </a:p>
                  </a:txBody>
                  <a:tcPr marL="54864" marR="54864" marT="27432" marB="27432"/>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164592" y="2780690"/>
          <a:ext cx="8814816" cy="1057655"/>
        </p:xfrm>
        <a:graphic>
          <a:graphicData uri="http://schemas.openxmlformats.org/drawingml/2006/table">
            <a:tbl>
              <a:tblPr firstRow="1" bandRow="1">
                <a:tableStyleId>{5C22544A-7EE6-4342-B048-85BDC9FD1C3A}</a:tableStyleId>
              </a:tblPr>
              <a:tblGrid>
                <a:gridCol w="1285494">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Item</a:t>
                      </a:r>
                    </a:p>
                  </a:txBody>
                  <a:tcPr marL="54864" marR="54864" marT="27432" marB="27432" anchor="ctr"/>
                </a:tc>
                <a:tc>
                  <a:txBody>
                    <a:bodyPr/>
                    <a:lstStyle/>
                    <a:p>
                      <a:pPr algn="ctr"/>
                      <a:r>
                        <a:rPr sz="1100" b="1"/>
                        <a:t>Description</a:t>
                      </a: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Purpose</a:t>
                      </a:r>
                    </a:p>
                  </a:txBody>
                  <a:tcPr marL="54864" marR="54864" marT="27432" marB="27432"/>
                </a:tc>
                <a:tc>
                  <a:txBody>
                    <a:bodyPr/>
                    <a:lstStyle/>
                    <a:p>
                      <a:r>
                        <a:rPr sz="1100"/>
                        <a:t>Measure connection concurrency (parallelism), inter-arrival timing, protocol mix and burst structure that host logs alone cannot show.</a:t>
                      </a:r>
                    </a:p>
                  </a:txBody>
                  <a:tcPr marL="54864" marR="54864" marT="27432" marB="27432"/>
                </a:tc>
                <a:tc>
                  <a:txBody>
                    <a:bodyPr/>
                    <a:lstStyle/>
                    <a:p>
                      <a:pPr algn="ctr"/>
                      <a:r>
                        <a:rPr sz="1100"/>
                        <a:t>17</a:t>
                      </a:r>
                    </a:p>
                  </a:txBody>
                  <a:tcPr marL="54864" marR="54864" marT="27432" marB="27432"/>
                </a:tc>
                <a:extLst>
                  <a:ext uri="{0D108BD9-81ED-4DB2-BD59-A6C34878D82A}">
                    <a16:rowId xmlns:a16="http://schemas.microsoft.com/office/drawing/2014/main" val="10001"/>
                  </a:ext>
                </a:extLst>
              </a:tr>
              <a:tr h="408432">
                <a:tc>
                  <a:txBody>
                    <a:bodyPr/>
                    <a:lstStyle/>
                    <a:p>
                      <a:r>
                        <a:rPr sz="1100" b="1"/>
                        <a:t>Data Treatment</a:t>
                      </a:r>
                    </a:p>
                  </a:txBody>
                  <a:tcPr marL="54864" marR="54864" marT="27432" marB="27432"/>
                </a:tc>
                <a:tc>
                  <a:txBody>
                    <a:bodyPr/>
                    <a:lstStyle/>
                    <a:p>
                      <a:r>
                        <a:rPr sz="1100"/>
                        <a:t>Sensor-loss accounting; join to trial by UTC window; deny-list on addresses and banners; per-window aggregation; timing features flagged for ablation; Flow Logs used for coverage checks only (1–10 min aggregation is too coarse for timing).</a:t>
                      </a:r>
                    </a:p>
                  </a:txBody>
                  <a:tcPr marL="54864" marR="54864" marT="27432" marB="27432"/>
                </a:tc>
                <a:tc>
                  <a:txBody>
                    <a:bodyPr/>
                    <a:lstStyle/>
                    <a:p>
                      <a:pPr algn="ctr"/>
                      <a:r>
                        <a:rPr sz="1100"/>
                        <a:t>35</a:t>
                      </a:r>
                    </a:p>
                  </a:txBody>
                  <a:tcPr marL="54864" marR="54864" marT="27432" marB="27432"/>
                </a:tc>
                <a:extLst>
                  <a:ext uri="{0D108BD9-81ED-4DB2-BD59-A6C34878D82A}">
                    <a16:rowId xmlns:a16="http://schemas.microsoft.com/office/drawing/2014/main" val="10002"/>
                  </a:ext>
                </a:extLst>
              </a:tr>
            </a:tbl>
          </a:graphicData>
        </a:graphic>
      </p:graphicFrame>
      <p:sp>
        <p:nvSpPr>
          <p:cNvPr id="6" name="Rectangle 5"/>
          <p:cNvSpPr/>
          <p:nvPr/>
        </p:nvSpPr>
        <p:spPr>
          <a:xfrm>
            <a:off x="164592" y="4002938"/>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Traffic mirror</a:t>
            </a:r>
          </a:p>
          <a:p>
            <a:pPr algn="l"/>
            <a:r>
              <a:rPr sz="1000" b="0">
                <a:solidFill>
                  <a:srgbClr val="000000"/>
                </a:solidFill>
              </a:rPr>
              <a:t>DC + member-server ENIs mirrored to the sensor instance; instance-type support confirmed at build</a:t>
            </a:r>
          </a:p>
        </p:txBody>
      </p:sp>
      <p:cxnSp>
        <p:nvCxnSpPr>
          <p:cNvPr id="7" name="Connector 6"/>
          <p:cNvCxnSpPr/>
          <p:nvPr/>
        </p:nvCxnSpPr>
        <p:spPr>
          <a:xfrm>
            <a:off x="2889504" y="4414418"/>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09544" y="4002938"/>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Zeek / Suricata sensor</a:t>
            </a:r>
          </a:p>
          <a:p>
            <a:pPr algn="l"/>
            <a:r>
              <a:rPr sz="1000" b="0">
                <a:solidFill>
                  <a:srgbClr val="000000"/>
                </a:solidFill>
              </a:rPr>
              <a:t>Connection, Kerberos, SMB, DNS and alert logs; capped PCAP retained per trial</a:t>
            </a:r>
          </a:p>
        </p:txBody>
      </p:sp>
      <p:cxnSp>
        <p:nvCxnSpPr>
          <p:cNvPr id="9" name="Connector 8"/>
          <p:cNvCxnSpPr/>
          <p:nvPr/>
        </p:nvCxnSpPr>
        <p:spPr>
          <a:xfrm>
            <a:off x="5934456" y="4414418"/>
            <a:ext cx="32004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54496" y="4002938"/>
            <a:ext cx="2724912" cy="82296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VPC Flow Logs</a:t>
            </a:r>
          </a:p>
          <a:p>
            <a:pPr algn="l"/>
            <a:r>
              <a:rPr sz="1000" b="0">
                <a:solidFill>
                  <a:srgbClr val="000000"/>
                </a:solidFill>
              </a:rPr>
              <a:t>Accepted/rejected flows for coverage and loss checks, not for timing 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73152"/>
            <a:ext cx="8595360" cy="640080"/>
          </a:xfrm>
        </p:spPr>
        <p:txBody>
          <a:bodyPr wrap="square"/>
          <a:lstStyle/>
          <a:p>
            <a:r>
              <a:rPr sz="2800" b="1">
                <a:solidFill>
                  <a:srgbClr val="B22600"/>
                </a:solidFill>
              </a:rPr>
              <a:t>Trial Registry Labels (Ground Truth)</a:t>
            </a:r>
          </a:p>
        </p:txBody>
      </p:sp>
      <p:graphicFrame>
        <p:nvGraphicFramePr>
          <p:cNvPr id="4" name="Table 3"/>
          <p:cNvGraphicFramePr>
            <a:graphicFrameLocks noGrp="1"/>
          </p:cNvGraphicFramePr>
          <p:nvPr/>
        </p:nvGraphicFramePr>
        <p:xfrm>
          <a:off x="164592" y="822960"/>
          <a:ext cx="8814816" cy="2889492"/>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4223766">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tblGrid>
              <a:tr h="240791">
                <a:tc>
                  <a:txBody>
                    <a:bodyPr/>
                    <a:lstStyle/>
                    <a:p>
                      <a:r>
                        <a:rPr sz="1100" b="1"/>
                        <a:t>Field</a:t>
                      </a:r>
                    </a:p>
                  </a:txBody>
                  <a:tcPr marL="54864" marR="54864" marT="27432" marB="27432" anchor="ctr"/>
                </a:tc>
                <a:tc>
                  <a:txBody>
                    <a:bodyPr/>
                    <a:lstStyle/>
                    <a:p>
                      <a:pPr algn="ctr"/>
                      <a:r>
                        <a:rPr sz="1100" b="1"/>
                        <a:t>Values</a:t>
                      </a:r>
                    </a:p>
                  </a:txBody>
                  <a:tcPr marL="54864" marR="54864" marT="27432" marB="27432" anchor="ctr"/>
                </a:tc>
                <a:tc>
                  <a:txBody>
                    <a:bodyPr/>
                    <a:lstStyle/>
                    <a:p>
                      <a:pPr algn="ctr"/>
                      <a:r>
                        <a:rPr sz="1100" b="1"/>
                        <a:t>Role in analysis</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run_id</a:t>
                      </a:r>
                    </a:p>
                  </a:txBody>
                  <a:tcPr marL="54864" marR="54864" marT="27432" marB="27432"/>
                </a:tc>
                <a:tc>
                  <a:txBody>
                    <a:bodyPr/>
                    <a:lstStyle/>
                    <a:p>
                      <a:r>
                        <a:rPr sz="1100"/>
                        <a:t>Unique trial identifier issued at reset</a:t>
                      </a:r>
                    </a:p>
                  </a:txBody>
                  <a:tcPr marL="54864" marR="54864" marT="27432" marB="27432"/>
                </a:tc>
                <a:tc>
                  <a:txBody>
                    <a:bodyPr/>
                    <a:lstStyle/>
                    <a:p>
                      <a:r>
                        <a:rPr sz="1100"/>
                        <a:t>Join key; opaque to the model</a:t>
                      </a:r>
                    </a:p>
                  </a:txBody>
                  <a:tcPr marL="54864" marR="54864" marT="27432" marB="27432"/>
                </a:tc>
                <a:extLst>
                  <a:ext uri="{0D108BD9-81ED-4DB2-BD59-A6C34878D82A}">
                    <a16:rowId xmlns:a16="http://schemas.microsoft.com/office/drawing/2014/main" val="10001"/>
                  </a:ext>
                </a:extLst>
              </a:tr>
              <a:tr h="240791">
                <a:tc>
                  <a:txBody>
                    <a:bodyPr/>
                    <a:lstStyle/>
                    <a:p>
                      <a:r>
                        <a:rPr sz="1100" b="1"/>
                        <a:t>arm</a:t>
                      </a:r>
                    </a:p>
                  </a:txBody>
                  <a:tcPr marL="54864" marR="54864" marT="27432" marB="27432"/>
                </a:tc>
                <a:tc>
                  <a:txBody>
                    <a:bodyPr/>
                    <a:lstStyle/>
                    <a:p>
                      <a:r>
                        <a:rPr sz="1100"/>
                        <a:t>human | autonomous_ai | scripted_replay (control) | benign_baseline</a:t>
                      </a:r>
                    </a:p>
                  </a:txBody>
                  <a:tcPr marL="54864" marR="54864" marT="27432" marB="27432"/>
                </a:tc>
                <a:tc>
                  <a:txBody>
                    <a:bodyPr/>
                    <a:lstStyle/>
                    <a:p>
                      <a:r>
                        <a:rPr sz="1100"/>
                        <a:t>Class label (ground truth)</a:t>
                      </a:r>
                    </a:p>
                  </a:txBody>
                  <a:tcPr marL="54864" marR="54864" marT="27432" marB="27432"/>
                </a:tc>
                <a:extLst>
                  <a:ext uri="{0D108BD9-81ED-4DB2-BD59-A6C34878D82A}">
                    <a16:rowId xmlns:a16="http://schemas.microsoft.com/office/drawing/2014/main" val="10002"/>
                  </a:ext>
                </a:extLst>
              </a:tr>
              <a:tr h="240791">
                <a:tc>
                  <a:txBody>
                    <a:bodyPr/>
                    <a:lstStyle/>
                    <a:p>
                      <a:r>
                        <a:rPr sz="1100" b="1"/>
                        <a:t>operator_id / ai_config_id</a:t>
                      </a:r>
                    </a:p>
                  </a:txBody>
                  <a:tcPr marL="54864" marR="54864" marT="27432" marB="27432"/>
                </a:tc>
                <a:tc>
                  <a:txBody>
                    <a:bodyPr/>
                    <a:lstStyle/>
                    <a:p>
                      <a:r>
                        <a:rPr sz="1100"/>
                        <a:t>Tester ID, or scaffold + model + prompt set + runtime</a:t>
                      </a:r>
                    </a:p>
                  </a:txBody>
                  <a:tcPr marL="54864" marR="54864" marT="27432" marB="27432"/>
                </a:tc>
                <a:tc>
                  <a:txBody>
                    <a:bodyPr/>
                    <a:lstStyle/>
                    <a:p>
                      <a:r>
                        <a:rPr sz="1100"/>
                        <a:t>Grouping for held-out tests</a:t>
                      </a:r>
                    </a:p>
                  </a:txBody>
                  <a:tcPr marL="54864" marR="54864" marT="27432" marB="27432"/>
                </a:tc>
                <a:extLst>
                  <a:ext uri="{0D108BD9-81ED-4DB2-BD59-A6C34878D82A}">
                    <a16:rowId xmlns:a16="http://schemas.microsoft.com/office/drawing/2014/main" val="10003"/>
                  </a:ext>
                </a:extLst>
              </a:tr>
              <a:tr h="240791">
                <a:tc>
                  <a:txBody>
                    <a:bodyPr/>
                    <a:lstStyle/>
                    <a:p>
                      <a:r>
                        <a:rPr sz="1100" b="1"/>
                        <a:t>knowledge_condition</a:t>
                      </a:r>
                    </a:p>
                  </a:txBody>
                  <a:tcPr marL="54864" marR="54864" marT="27432" marB="27432"/>
                </a:tc>
                <a:tc>
                  <a:txBody>
                    <a:bodyPr/>
                    <a:lstStyle/>
                    <a:p>
                      <a:r>
                        <a:rPr sz="1100"/>
                        <a:t>black_box (primary) | white_box | walkthrough</a:t>
                      </a:r>
                    </a:p>
                  </a:txBody>
                  <a:tcPr marL="54864" marR="54864" marT="27432" marB="27432"/>
                </a:tc>
                <a:tc>
                  <a:txBody>
                    <a:bodyPr/>
                    <a:lstStyle/>
                    <a:p>
                      <a:r>
                        <a:rPr sz="1100"/>
                        <a:t>Stratification; reported separately</a:t>
                      </a:r>
                    </a:p>
                  </a:txBody>
                  <a:tcPr marL="54864" marR="54864" marT="27432" marB="27432"/>
                </a:tc>
                <a:extLst>
                  <a:ext uri="{0D108BD9-81ED-4DB2-BD59-A6C34878D82A}">
                    <a16:rowId xmlns:a16="http://schemas.microsoft.com/office/drawing/2014/main" val="10004"/>
                  </a:ext>
                </a:extLst>
              </a:tr>
              <a:tr h="240791">
                <a:tc>
                  <a:txBody>
                    <a:bodyPr/>
                    <a:lstStyle/>
                    <a:p>
                      <a:r>
                        <a:rPr sz="1100" b="1"/>
                        <a:t>scenario_version</a:t>
                      </a:r>
                    </a:p>
                  </a:txBody>
                  <a:tcPr marL="54864" marR="54864" marT="27432" marB="27432"/>
                </a:tc>
                <a:tc>
                  <a:txBody>
                    <a:bodyPr/>
                    <a:lstStyle/>
                    <a:p>
                      <a:r>
                        <a:rPr sz="1100"/>
                        <a:t>Objective, weakness and GOAD revision used</a:t>
                      </a:r>
                    </a:p>
                  </a:txBody>
                  <a:tcPr marL="54864" marR="54864" marT="27432" marB="27432"/>
                </a:tc>
                <a:tc>
                  <a:txBody>
                    <a:bodyPr/>
                    <a:lstStyle/>
                    <a:p>
                      <a:r>
                        <a:rPr sz="1100"/>
                        <a:t>Provenance</a:t>
                      </a:r>
                    </a:p>
                  </a:txBody>
                  <a:tcPr marL="54864" marR="54864" marT="27432" marB="27432"/>
                </a:tc>
                <a:extLst>
                  <a:ext uri="{0D108BD9-81ED-4DB2-BD59-A6C34878D82A}">
                    <a16:rowId xmlns:a16="http://schemas.microsoft.com/office/drawing/2014/main" val="10005"/>
                  </a:ext>
                </a:extLst>
              </a:tr>
              <a:tr h="240791">
                <a:tc>
                  <a:txBody>
                    <a:bodyPr/>
                    <a:lstStyle/>
                    <a:p>
                      <a:r>
                        <a:rPr sz="1100" b="1"/>
                        <a:t>reset_id + attestation</a:t>
                      </a:r>
                    </a:p>
                  </a:txBody>
                  <a:tcPr marL="54864" marR="54864" marT="27432" marB="27432"/>
                </a:tc>
                <a:tc>
                  <a:txBody>
                    <a:bodyPr/>
                    <a:lstStyle/>
                    <a:p>
                      <a:r>
                        <a:rPr sz="1100"/>
                        <a:t>Image IDs and verified clean-reset check</a:t>
                      </a:r>
                    </a:p>
                  </a:txBody>
                  <a:tcPr marL="54864" marR="54864" marT="27432" marB="27432"/>
                </a:tc>
                <a:tc>
                  <a:txBody>
                    <a:bodyPr/>
                    <a:lstStyle/>
                    <a:p>
                      <a:r>
                        <a:rPr sz="1100"/>
                        <a:t>Gate A evidence</a:t>
                      </a:r>
                    </a:p>
                  </a:txBody>
                  <a:tcPr marL="54864" marR="54864" marT="27432" marB="27432"/>
                </a:tc>
                <a:extLst>
                  <a:ext uri="{0D108BD9-81ED-4DB2-BD59-A6C34878D82A}">
                    <a16:rowId xmlns:a16="http://schemas.microsoft.com/office/drawing/2014/main" val="10006"/>
                  </a:ext>
                </a:extLst>
              </a:tr>
              <a:tr h="240791">
                <a:tc>
                  <a:txBody>
                    <a:bodyPr/>
                    <a:lstStyle/>
                    <a:p>
                      <a:r>
                        <a:rPr sz="1100" b="1"/>
                        <a:t>partition</a:t>
                      </a:r>
                    </a:p>
                  </a:txBody>
                  <a:tcPr marL="54864" marR="54864" marT="27432" marB="27432"/>
                </a:tc>
                <a:tc>
                  <a:txBody>
                    <a:bodyPr/>
                    <a:lstStyle/>
                    <a:p>
                      <a:r>
                        <a:rPr sz="1100"/>
                        <a:t>train | validation | test (frozen before scored runs)</a:t>
                      </a:r>
                    </a:p>
                  </a:txBody>
                  <a:tcPr marL="54864" marR="54864" marT="27432" marB="27432"/>
                </a:tc>
                <a:tc>
                  <a:txBody>
                    <a:bodyPr/>
                    <a:lstStyle/>
                    <a:p>
                      <a:r>
                        <a:rPr sz="1100"/>
                        <a:t>Split manifest</a:t>
                      </a:r>
                    </a:p>
                  </a:txBody>
                  <a:tcPr marL="54864" marR="54864" marT="27432" marB="27432"/>
                </a:tc>
                <a:extLst>
                  <a:ext uri="{0D108BD9-81ED-4DB2-BD59-A6C34878D82A}">
                    <a16:rowId xmlns:a16="http://schemas.microsoft.com/office/drawing/2014/main" val="10007"/>
                  </a:ext>
                </a:extLst>
              </a:tr>
              <a:tr h="240791">
                <a:tc>
                  <a:txBody>
                    <a:bodyPr/>
                    <a:lstStyle/>
                    <a:p>
                      <a:r>
                        <a:rPr sz="1100" b="1"/>
                        <a:t>utc_start / utc_stop</a:t>
                      </a:r>
                    </a:p>
                  </a:txBody>
                  <a:tcPr marL="54864" marR="54864" marT="27432" marB="27432"/>
                </a:tc>
                <a:tc>
                  <a:txBody>
                    <a:bodyPr/>
                    <a:lstStyle/>
                    <a:p>
                      <a:r>
                        <a:rPr sz="1100"/>
                        <a:t>Access window bounds; clock offset recorded</a:t>
                      </a:r>
                    </a:p>
                  </a:txBody>
                  <a:tcPr marL="54864" marR="54864" marT="27432" marB="27432"/>
                </a:tc>
                <a:tc>
                  <a:txBody>
                    <a:bodyPr/>
                    <a:lstStyle/>
                    <a:p>
                      <a:r>
                        <a:rPr sz="1100"/>
                        <a:t>Trial segmentation</a:t>
                      </a:r>
                    </a:p>
                  </a:txBody>
                  <a:tcPr marL="54864" marR="54864" marT="27432" marB="27432"/>
                </a:tc>
                <a:extLst>
                  <a:ext uri="{0D108BD9-81ED-4DB2-BD59-A6C34878D82A}">
                    <a16:rowId xmlns:a16="http://schemas.microsoft.com/office/drawing/2014/main" val="10008"/>
                  </a:ext>
                </a:extLst>
              </a:tr>
              <a:tr h="240791">
                <a:tc>
                  <a:txBody>
                    <a:bodyPr/>
                    <a:lstStyle/>
                    <a:p>
                      <a:r>
                        <a:rPr sz="1100" b="1"/>
                        <a:t>time_to_objective</a:t>
                      </a:r>
                    </a:p>
                  </a:txBody>
                  <a:tcPr marL="54864" marR="54864" marT="27432" marB="27432"/>
                </a:tc>
                <a:tc>
                  <a:txBody>
                    <a:bodyPr/>
                    <a:lstStyle/>
                    <a:p>
                      <a:r>
                        <a:rPr sz="1100"/>
                        <a:t>Seconds to marker file read; censored at window close</a:t>
                      </a:r>
                    </a:p>
                  </a:txBody>
                  <a:tcPr marL="54864" marR="54864" marT="27432" marB="27432"/>
                </a:tc>
                <a:tc>
                  <a:txBody>
                    <a:bodyPr/>
                    <a:lstStyle/>
                    <a:p>
                      <a:r>
                        <a:rPr sz="1100"/>
                        <a:t>Outcome (reported separately)</a:t>
                      </a:r>
                    </a:p>
                  </a:txBody>
                  <a:tcPr marL="54864" marR="54864" marT="27432" marB="27432"/>
                </a:tc>
                <a:extLst>
                  <a:ext uri="{0D108BD9-81ED-4DB2-BD59-A6C34878D82A}">
                    <a16:rowId xmlns:a16="http://schemas.microsoft.com/office/drawing/2014/main" val="10009"/>
                  </a:ext>
                </a:extLst>
              </a:tr>
              <a:tr h="240791">
                <a:tc>
                  <a:txBody>
                    <a:bodyPr/>
                    <a:lstStyle/>
                    <a:p>
                      <a:r>
                        <a:rPr sz="1100" b="1"/>
                        <a:t>interventions</a:t>
                      </a:r>
                    </a:p>
                  </a:txBody>
                  <a:tcPr marL="54864" marR="54864" marT="27432" marB="27432"/>
                </a:tc>
                <a:tc>
                  <a:txBody>
                    <a:bodyPr/>
                    <a:lstStyle/>
                    <a:p>
                      <a:r>
                        <a:rPr sz="1100"/>
                        <a:t>Safety-supervisor halts or tactical interventions, with rule applied</a:t>
                      </a:r>
                    </a:p>
                  </a:txBody>
                  <a:tcPr marL="54864" marR="54864" marT="27432" marB="27432"/>
                </a:tc>
                <a:tc>
                  <a:txBody>
                    <a:bodyPr/>
                    <a:lstStyle/>
                    <a:p>
                      <a:r>
                        <a:rPr sz="1100"/>
                        <a:t>Exclusion / sensitivity</a:t>
                      </a:r>
                    </a:p>
                  </a:txBody>
                  <a:tcPr marL="54864" marR="54864" marT="27432" marB="27432"/>
                </a:tc>
                <a:extLst>
                  <a:ext uri="{0D108BD9-81ED-4DB2-BD59-A6C34878D82A}">
                    <a16:rowId xmlns:a16="http://schemas.microsoft.com/office/drawing/2014/main" val="10010"/>
                  </a:ext>
                </a:extLst>
              </a:tr>
              <a:tr h="240791">
                <a:tc>
                  <a:txBody>
                    <a:bodyPr/>
                    <a:lstStyle/>
                    <a:p>
                      <a:r>
                        <a:rPr sz="1100" b="1"/>
                        <a:t>outcome / deviation</a:t>
                      </a:r>
                    </a:p>
                  </a:txBody>
                  <a:tcPr marL="54864" marR="54864" marT="27432" marB="27432"/>
                </a:tc>
                <a:tc>
                  <a:txBody>
                    <a:bodyPr/>
                    <a:lstStyle/>
                    <a:p>
                      <a:r>
                        <a:rPr sz="1100"/>
                        <a:t>Success, failure, abort, scope escape, collection loss</a:t>
                      </a:r>
                    </a:p>
                  </a:txBody>
                  <a:tcPr marL="54864" marR="54864" marT="27432" marB="27432"/>
                </a:tc>
                <a:tc>
                  <a:txBody>
                    <a:bodyPr/>
                    <a:lstStyle/>
                    <a:p>
                      <a:r>
                        <a:rPr sz="1100"/>
                        <a:t>Reported for every trial</a:t>
                      </a:r>
                    </a:p>
                  </a:txBody>
                  <a:tcPr marL="54864" marR="54864" marT="27432" marB="27432"/>
                </a:tc>
                <a:extLst>
                  <a:ext uri="{0D108BD9-81ED-4DB2-BD59-A6C34878D82A}">
                    <a16:rowId xmlns:a16="http://schemas.microsoft.com/office/drawing/2014/main" val="1001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(1 of 5)</a:t>
            </a:r>
          </a:p>
        </p:txBody>
      </p:sp>
      <p:graphicFrame>
        <p:nvGraphicFramePr>
          <p:cNvPr id="4" name="Table 3"/>
          <p:cNvGraphicFramePr>
            <a:graphicFrameLocks noGrp="1"/>
          </p:cNvGraphicFramePr>
          <p:nvPr/>
        </p:nvGraphicFramePr>
        <p:xfrm>
          <a:off x="164592" y="1005840"/>
          <a:ext cx="8814816" cy="3456428"/>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Alt, A. (2026). Beyond anomaly detection: Classifying attacker automation level from SSH honeypot behavioral signatures [Master’s thesis, Rochester Institute of Technology, Golisano College of Computing and Information Sciences].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743711">
                <a:tc>
                  <a:txBody>
                    <a:bodyPr/>
                    <a:lstStyle/>
                    <a:p>
                      <a:r>
                        <a:rPr sz="1100" b="1"/>
                        <a:t>Summary</a:t>
                      </a:r>
                    </a:p>
                  </a:txBody>
                  <a:tcPr marL="54864" marR="54864" marT="27432" marB="27432"/>
                </a:tc>
                <a:tc>
                  <a:txBody>
                    <a:bodyPr/>
                    <a:lstStyle/>
                    <a:p>
                      <a:r>
                        <a:rPr sz="1100"/>
                        <a:t>Asks whether human-driven, traditionally automated and AI-assisted attackers leave distinguishable behavioral signatures in a Cowrie SSH honeypot and whether machine learning can classify them. Collected 281,621 sessions over two months (Hydra automation, one human operator, PentestGPT and ChatGPT-assisted sessions) and engineered 24 session-level features from command patterns, authentication behavior, timing, phase distribution and interaction depth.</a:t>
                      </a:r>
                    </a:p>
                  </a:txBody>
                  <a:tcPr marL="54864" marR="54864" marT="27432" marB="27432"/>
                </a:tc>
                <a:tc>
                  <a:txBody>
                    <a:bodyPr/>
                    <a:lstStyle/>
                    <a:p>
                      <a:pPr algn="ctr"/>
                      <a:r>
                        <a:rPr sz="1100"/>
                        <a:t>55</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Controlled VMware lab with a Cowrie medium-interaction honeypot and ELK logging; sessions reconstructed and labeled by attacker VM; automated class undersampled and the human class SMOTE-oversampled inside training folds; eight classifiers (LR, NB, DT, RF, GB, KNN, SVM, XGBoost) tuned with randomized search under 5-fold stratified CV; leave-one-out evaluation of the 45 human sessions.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743711">
                <a:tc>
                  <a:txBody>
                    <a:bodyPr/>
                    <a:lstStyle/>
                    <a:p>
                      <a:r>
                        <a:rPr sz="1100" b="1"/>
                        <a:t>Evaluation</a:t>
                      </a:r>
                    </a:p>
                  </a:txBody>
                  <a:tcPr marL="54864" marR="54864" marT="27432" marB="27432"/>
                </a:tc>
                <a:tc>
                  <a:txBody>
                    <a:bodyPr/>
                    <a:lstStyle/>
                    <a:p>
                      <a:r>
                        <a:rPr sz="1100"/>
                        <a:t>Gradient Boosting and Random Forest reached macro-F1 0.809 at about 89.5% accuracy; AI-assisted F1 above 0.888 in the top three models; human precision was 1.000 in every model but recall only 0.44–0.58 (best LOO F1 0.732, KNN). Session duration, command diversity and events per minute were the dominant features; transition entropy separated humans from AI-assisted tools.</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our question framing, feature families and multi-model protocol. Its limits define our gap: a single emulated host, one human operator, AI-assisted rather than autonomous agents, and no network features because Suricata could not see NAT traffic.</a:t>
                      </a:r>
                    </a:p>
                  </a:txBody>
                  <a:tcPr marL="54864" marR="54864" marT="27432" marB="27432"/>
                </a:tc>
                <a:tc>
                  <a:txBody>
                    <a:bodyPr/>
                    <a:lstStyle/>
                    <a:p>
                      <a:pPr algn="ctr"/>
                      <a:r>
                        <a:rPr sz="1100"/>
                        <a:t>37</a:t>
                      </a:r>
                    </a:p>
                  </a:txBody>
                  <a:tcPr marL="54864" marR="54864" marT="27432" marB="27432"/>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5C041372-A58B-A9AB-E6C6-D393F040D4C0}"/>
              </a:ext>
            </a:extLst>
          </p:cNvPr>
          <p:cNvSpPr txBox="1"/>
          <p:nvPr/>
        </p:nvSpPr>
        <p:spPr>
          <a:xfrm>
            <a:off x="1851349" y="4816639"/>
            <a:ext cx="6165187" cy="461665"/>
          </a:xfrm>
          <a:prstGeom prst="rect">
            <a:avLst/>
          </a:prstGeom>
          <a:noFill/>
        </p:spPr>
        <p:txBody>
          <a:bodyPr wrap="square" rtlCol="0">
            <a:spAutoFit/>
          </a:bodyPr>
          <a:lstStyle/>
          <a:p>
            <a:r>
              <a:rPr lang="en-US" sz="1200" dirty="0"/>
              <a:t>Proves the classification approach works on a single honeypot and hands us the feature families, but leaves the multi-host, autonomous-agent, network-visible gap we fill.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(2 of 5)</a:t>
            </a:r>
          </a:p>
        </p:txBody>
      </p:sp>
      <p:graphicFrame>
        <p:nvGraphicFramePr>
          <p:cNvPr id="4" name="Table 3"/>
          <p:cNvGraphicFramePr>
            <a:graphicFrameLocks noGrp="1"/>
          </p:cNvGraphicFramePr>
          <p:nvPr/>
        </p:nvGraphicFramePr>
        <p:xfrm>
          <a:off x="164592" y="1005840"/>
          <a:ext cx="8814816" cy="310286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Reworr, &amp; Volkov, D. (2025). LLM agent honeypot: Monitoring AI hacking agents in the wild (arXiv:2410.13919v2). Palisade Research. https://arxiv.org/abs/2410.13919</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Presents a public SSH honeypot augmented with prompt injections and timing analysis to detect autonomous LLM agents among attackers. Over about three months it recorded 8,130,731 interaction attempts and flagged 8 potential AI agents, offering early evidence that LLM-driven hacking attempts exist in the wild.</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Customized Cowrie honeypot on 10 IP addresses with prompts injected into banners, command outputs and files; two-step detection: a goal-hijacking “Important Message” injection followed by prompt stealing; timing thresholds calibrated on internal GPT-4o agents; actors classed as software bots, LLM agents or humans; the dashboard separates potential from confirmed agents.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Internal LLM agents replied within about 1.7 s (mean 1.20 s, median 1.06 s); “Important Message” hijacks succeeded 100% versus 6–82% for “ignore instructions”; in the wild, bot responses had a median of 0.69 s while a suspected human-driven session exceeded 10 s between commands. Only a handful of 8M+ sessions passed both checks.</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Establishes response timing as the clearest current AI signal and prompt injection as an active probe. We treat timing as one feature family to ablate rather than the answer, log inference latency to normalize it, and avoid lures so both arms face identical targets.</a:t>
                      </a:r>
                    </a:p>
                  </a:txBody>
                  <a:tcPr marL="54864" marR="54864" marT="27432" marB="27432"/>
                </a:tc>
                <a:tc>
                  <a:txBody>
                    <a:bodyPr/>
                    <a:lstStyle/>
                    <a:p>
                      <a:pPr algn="ctr"/>
                      <a:r>
                        <a:rPr sz="1100"/>
                        <a:t>44</a:t>
                      </a:r>
                    </a:p>
                  </a:txBody>
                  <a:tcPr marL="54864" marR="54864" marT="27432" marB="27432"/>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E204F92F-E81A-58BE-73E2-7055E7791912}"/>
              </a:ext>
            </a:extLst>
          </p:cNvPr>
          <p:cNvSpPr txBox="1"/>
          <p:nvPr/>
        </p:nvSpPr>
        <p:spPr>
          <a:xfrm>
            <a:off x="1851349" y="4816639"/>
            <a:ext cx="6165187" cy="461665"/>
          </a:xfrm>
          <a:prstGeom prst="rect">
            <a:avLst/>
          </a:prstGeom>
          <a:noFill/>
        </p:spPr>
        <p:txBody>
          <a:bodyPr wrap="square" rtlCol="0">
            <a:spAutoFit/>
          </a:bodyPr>
          <a:lstStyle/>
          <a:p>
            <a:r>
              <a:rPr lang="en-US" sz="1200" dirty="0"/>
              <a:t>Shows timing is the clearest known AI signal, which is exactly why we treat it as one feature to ablate rather than the answer.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(3 of 5)</a:t>
            </a:r>
          </a:p>
        </p:txBody>
      </p:sp>
      <p:graphicFrame>
        <p:nvGraphicFramePr>
          <p:cNvPr id="4" name="Table 3"/>
          <p:cNvGraphicFramePr>
            <a:graphicFrameLocks noGrp="1"/>
          </p:cNvGraphicFramePr>
          <p:nvPr/>
        </p:nvGraphicFramePr>
        <p:xfrm>
          <a:off x="164592" y="1005840"/>
          <a:ext cx="8814816" cy="3288790"/>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Lin, J. W., Jones, E. K., Jasper, D. J., Ho, E. J., Wu, A., Yang, A. T., Perry, N., Zou, A., Fredrikson, M., Kolter, J. Z., Liang, P., Boneh, D., &amp; Ho, D. E. (2026). Comparing AI agents to cybersecurity professionals in real-world penetration testing (arXiv:2512.09882v2). Stanford University. https://arxiv.org/abs/2512.09882</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First comparison of AI agents and human professionals in a live enterprise network: ten penetration testers, six existing agents and ARTEMIS, a new multi-agent scaffold, attacked a university network of about 8,000 hosts across 12 subnets. ARTEMIS placed second overall with 9 valid vulnerabilities and an 82% valid-submission rate.</a:t>
                      </a:r>
                    </a:p>
                  </a:txBody>
                  <a:tcPr marL="54864" marR="54864" marT="27432" marB="27432"/>
                </a:tc>
                <a:tc>
                  <a:txBody>
                    <a:bodyPr/>
                    <a:lstStyle/>
                    <a:p>
                      <a:pPr algn="ctr"/>
                      <a:r>
                        <a:rPr sz="1100"/>
                        <a:t>49</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Participants and agents used identical Kali VMs with screen, terminal and connection logging; 10 hours of active engagement within 4 days of VPN access; findings scored by technical complexity plus weighted criticality; ARTEMIS combines dynamic prompt generation, parallel sub-agents and an automatic vulnerability triager, in two configurations (A1 GPT-5; A2 model ensemble).</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ARTEMIS outperformed 9 of 10 humans; peaked at 8 concurrent sub-agents (mean 2.82); cost $18–59 per hour versus $60 per hour for professionals; produced more false positives than humans and failed GUI-based tasks (missed a TinyPilot RCE that 80% of humans found) yet exploited an outdated iDRAC with curl -k that no human did.</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the autonomous attacker scaffold and documents behavioral differences we will test as features: parallel enumeration, immediate submission and moving on, CLI-only interaction. It compares performance, not identifiability, and logged only the operator side; we capture the target side.</a:t>
                      </a:r>
                    </a:p>
                  </a:txBody>
                  <a:tcPr marL="54864" marR="54864" marT="27432" marB="27432"/>
                </a:tc>
                <a:tc>
                  <a:txBody>
                    <a:bodyPr/>
                    <a:lstStyle/>
                    <a:p>
                      <a:pPr algn="ctr"/>
                      <a:r>
                        <a:rPr sz="1100"/>
                        <a:t>39</a:t>
                      </a:r>
                    </a:p>
                  </a:txBody>
                  <a:tcPr marL="54864" marR="54864" marT="27432" marB="27432"/>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2B573CF5-B14F-D16A-E745-8D217C4F41E3}"/>
              </a:ext>
            </a:extLst>
          </p:cNvPr>
          <p:cNvSpPr txBox="1"/>
          <p:nvPr/>
        </p:nvSpPr>
        <p:spPr>
          <a:xfrm>
            <a:off x="1851349" y="4816639"/>
            <a:ext cx="6165187" cy="461665"/>
          </a:xfrm>
          <a:prstGeom prst="rect">
            <a:avLst/>
          </a:prstGeom>
          <a:noFill/>
        </p:spPr>
        <p:txBody>
          <a:bodyPr wrap="square" rtlCol="0">
            <a:spAutoFit/>
          </a:bodyPr>
          <a:lstStyle/>
          <a:p>
            <a:r>
              <a:rPr lang="en-US" sz="1200" dirty="0"/>
              <a:t>Gives us the autonomous attacker scaffold and documents the behaviors we will test as features, but measured performance, not identifiability.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(4 of 5)</a:t>
            </a:r>
          </a:p>
        </p:txBody>
      </p:sp>
      <p:graphicFrame>
        <p:nvGraphicFramePr>
          <p:cNvPr id="4" name="Table 3"/>
          <p:cNvGraphicFramePr>
            <a:graphicFrameLocks noGrp="1"/>
          </p:cNvGraphicFramePr>
          <p:nvPr/>
        </p:nvGraphicFramePr>
        <p:xfrm>
          <a:off x="164592" y="1005840"/>
          <a:ext cx="8814816" cy="3121151"/>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Reports a mid-September 2025 campaign (GTG-1002, assessed with high confidence as Chinese state-sponsored) in which a jailbroken agentic coding tool executed roughly 80–90% of tactical operations against about 30 organizations, with humans intervening only at strategic junctures such as approving exploitation, lateral movement and exfiltration scope.</a:t>
                      </a:r>
                    </a:p>
                  </a:txBody>
                  <a:tcPr marL="54864" marR="54864" marT="27432" marB="27432"/>
                </a:tc>
                <a:tc>
                  <a:txBody>
                    <a:bodyPr/>
                    <a:lstStyle/>
                    <a:p>
                      <a:pPr algn="ctr"/>
                      <a:r>
                        <a:rPr sz="1100"/>
                        <a:t>46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Incident investigation of platform usage: operators posed as a legitimate security firm, decomposed the intrusion into innocuous-looking tasks, and drove open-source penetration-testing tools through custom Model Context Protocol automation across reconnaissance, exploitation, credential harvesting, lateral movement and exfiltration.</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Human effort estimated at 10–20% of the campaign; the sustained, high-volume activity eventually triggered detection; the report notes hallucinated results in the AI’s output and that visibility is limited to one vendor’s platform; accounts were banned and affected organizations notified.</a:t>
                      </a:r>
                    </a:p>
                  </a:txBody>
                  <a:tcPr marL="54864" marR="54864" marT="27432" marB="27432"/>
                </a:tc>
                <a:tc>
                  <a:txBody>
                    <a:bodyPr/>
                    <a:lstStyle/>
                    <a:p>
                      <a:pPr algn="ctr"/>
                      <a:r>
                        <a:rPr sz="1100"/>
                        <a:t>40</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Motivates the problem statement: autonomous AI intrusions are operational, use commodity tooling, and were caught by volume and persistence rather than by any target-side classifier. Our experiment asks whether target telemetry alone can make that distinction under controlled conditions.</a:t>
                      </a:r>
                    </a:p>
                  </a:txBody>
                  <a:tcPr marL="54864" marR="54864" marT="27432" marB="27432"/>
                </a:tc>
                <a:tc>
                  <a:txBody>
                    <a:bodyPr/>
                    <a:lstStyle/>
                    <a:p>
                      <a:pPr algn="ctr"/>
                      <a:r>
                        <a:rPr sz="1100"/>
                        <a:t>39</a:t>
                      </a:r>
                    </a:p>
                  </a:txBody>
                  <a:tcPr marL="54864" marR="54864" marT="27432" marB="27432"/>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5E7B3360-F199-96D3-E3E1-591DA11F7766}"/>
              </a:ext>
            </a:extLst>
          </p:cNvPr>
          <p:cNvSpPr txBox="1"/>
          <p:nvPr/>
        </p:nvSpPr>
        <p:spPr>
          <a:xfrm>
            <a:off x="1851349" y="4816639"/>
            <a:ext cx="6165187" cy="461665"/>
          </a:xfrm>
          <a:prstGeom prst="rect">
            <a:avLst/>
          </a:prstGeom>
          <a:noFill/>
        </p:spPr>
        <p:txBody>
          <a:bodyPr wrap="square" rtlCol="0">
            <a:spAutoFit/>
          </a:bodyPr>
          <a:lstStyle/>
          <a:p>
            <a:r>
              <a:rPr lang="en-US" sz="1200" dirty="0"/>
              <a:t>Proves autonomous AI intrusions are real and that they were caught by volume, not by any target-side classifier.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(5 of 5)</a:t>
            </a:r>
          </a:p>
        </p:txBody>
      </p:sp>
      <p:graphicFrame>
        <p:nvGraphicFramePr>
          <p:cNvPr id="4" name="Table 3"/>
          <p:cNvGraphicFramePr>
            <a:graphicFrameLocks noGrp="1"/>
          </p:cNvGraphicFramePr>
          <p:nvPr/>
        </p:nvGraphicFramePr>
        <p:xfrm>
          <a:off x="164592" y="1005840"/>
          <a:ext cx="8814816" cy="276758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Reference</a:t>
                      </a:r>
                    </a:p>
                  </a:txBody>
                  <a:tcPr marL="54864" marR="54864" marT="27432" marB="27432"/>
                </a:tc>
                <a:tc>
                  <a:txBody>
                    <a:bodyPr/>
                    <a:lstStyle/>
                    <a:p>
                      <a:r>
                        <a:rPr sz="1100"/>
                        <a:t>IBM. (2025). Cost of a Data Breach Report 2025. IBM Security and Ponemon Institute. https://www.ibm.com/reports/data-breach</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Annual study of the financial impact of data breaches. The 2025 edition reports a global average cost of $4.44 million (down 9%) and a U.S. average of $10.22 million (an all-time high), a mean of 241 days to identify and contain a breach, and 13% of organizations reporting breaches that involved an AI model or application.</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Ponemon Institute interviews with organizations that experienced a breach in the prior year (roughly 600 organizations across 16 countries and regions and 17 industries), using activity-based costing of detection and escalation, notification, post-breach response and lost business.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Breach cost tracks time to identify and contain; organizations using security AI and automation extensively reported lower costs; 31% of AI-related incidents caused operational disruption with access to sensitive data; nearly two-thirds of organizations lack AI governance policies.</a:t>
                      </a:r>
                    </a:p>
                  </a:txBody>
                  <a:tcPr marL="54864" marR="54864" marT="27432" marB="27432"/>
                </a:tc>
                <a:tc>
                  <a:txBody>
                    <a:bodyPr/>
                    <a:lstStyle/>
                    <a:p>
                      <a:pPr algn="ctr"/>
                      <a:r>
                        <a:rPr sz="1100"/>
                        <a:t>38</a:t>
                      </a:r>
                    </a:p>
                  </a:txBody>
                  <a:tcPr marL="54864" marR="54864" marT="27432" marB="27432"/>
                </a:tc>
                <a:extLst>
                  <a:ext uri="{0D108BD9-81ED-4DB2-BD59-A6C34878D82A}">
                    <a16:rowId xmlns:a16="http://schemas.microsoft.com/office/drawing/2014/main" val="10004"/>
                  </a:ext>
                </a:extLst>
              </a:tr>
              <a:tr h="408432">
                <a:tc>
                  <a:txBody>
                    <a:bodyPr/>
                    <a:lstStyle/>
                    <a:p>
                      <a:r>
                        <a:rPr sz="1100" b="1"/>
                        <a:t>Relevance</a:t>
                      </a:r>
                    </a:p>
                  </a:txBody>
                  <a:tcPr marL="54864" marR="54864" marT="27432" marB="27432"/>
                </a:tc>
                <a:tc>
                  <a:txBody>
                    <a:bodyPr/>
                    <a:lstStyle/>
                    <a:p>
                      <a:r>
                        <a:rPr sz="1100"/>
                        <a:t>Quantifies the “so what” of the problem statement: cost scales with time to identify and respond, so a classifier that tells responders whether an adversary is an autonomous agent can shape containment speed and priority.</a:t>
                      </a:r>
                    </a:p>
                  </a:txBody>
                  <a:tcPr marL="54864" marR="54864" marT="27432" marB="27432"/>
                </a:tc>
                <a:tc>
                  <a:txBody>
                    <a:bodyPr/>
                    <a:lstStyle/>
                    <a:p>
                      <a:pPr algn="ctr"/>
                      <a:r>
                        <a:rPr sz="1100"/>
                        <a:t>35</a:t>
                      </a:r>
                    </a:p>
                  </a:txBody>
                  <a:tcPr marL="54864" marR="54864" marT="27432" marB="27432"/>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29BAED8B-0CA1-36D4-DDAE-A1BAFFB096DC}"/>
              </a:ext>
            </a:extLst>
          </p:cNvPr>
          <p:cNvSpPr txBox="1"/>
          <p:nvPr/>
        </p:nvSpPr>
        <p:spPr>
          <a:xfrm>
            <a:off x="1851349" y="4816639"/>
            <a:ext cx="6165187" cy="461665"/>
          </a:xfrm>
          <a:prstGeom prst="rect">
            <a:avLst/>
          </a:prstGeom>
          <a:noFill/>
        </p:spPr>
        <p:txBody>
          <a:bodyPr wrap="square" rtlCol="0">
            <a:spAutoFit/>
          </a:bodyPr>
          <a:lstStyle/>
          <a:p>
            <a:r>
              <a:rPr lang="en-US" sz="1200" dirty="0"/>
              <a:t>Puts a dollar figure on response time, which is what a human-vs-AI classifier would help responders shorten.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1/2</a:t>
            </a:r>
          </a:p>
        </p:txBody>
      </p:sp>
      <p:graphicFrame>
        <p:nvGraphicFramePr>
          <p:cNvPr id="4" name="Table 3"/>
          <p:cNvGraphicFramePr>
            <a:graphicFrameLocks noGrp="1"/>
          </p:cNvGraphicFramePr>
          <p:nvPr/>
        </p:nvGraphicFramePr>
        <p:xfrm>
          <a:off x="164592" y="566928"/>
          <a:ext cx="8814815" cy="398678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987552">
                <a:tc>
                  <a:txBody>
                    <a:bodyPr/>
                    <a:lstStyle/>
                    <a:p>
                      <a:r>
                        <a:rPr sz="1000"/>
                        <a:t>Beyond Anomaly Detection: Classifying Attacker Automation Level from SSH Honeypot Behavioral Signatures (2026)</a:t>
                      </a:r>
                    </a:p>
                  </a:txBody>
                  <a:tcPr marL="54864" marR="54864" marT="27432" marB="27432"/>
                </a:tc>
                <a:tc>
                  <a:txBody>
                    <a:bodyPr/>
                    <a:lstStyle/>
                    <a:p>
                      <a:r>
                        <a:rPr sz="1000"/>
                        <a:t>RIT M.S. thesis, Alt (April 2026)</a:t>
                      </a:r>
                    </a:p>
                  </a:txBody>
                  <a:tcPr marL="54864" marR="54864" marT="27432" marB="27432"/>
                </a:tc>
                <a:tc>
                  <a:txBody>
                    <a:bodyPr/>
                    <a:lstStyle/>
                    <a:p>
                      <a:r>
                        <a:rPr sz="1000"/>
                        <a:t>Problem: honeypot logs are used to detect attacks, not to tell what kind of attacker is present. Hypothesis: human, automated and AI-assisted attackers leave separable session-level signatures. Research: can ML classify automation level from Cowrie sessions?</a:t>
                      </a:r>
                    </a:p>
                  </a:txBody>
                  <a:tcPr marL="54864" marR="54864" marT="27432" marB="27432"/>
                </a:tc>
                <a:tc>
                  <a:txBody>
                    <a:bodyPr/>
                    <a:lstStyle/>
                    <a:p>
                      <a:r>
                        <a:rPr sz="1000"/>
                        <a:t>GB and RF macro-F1 0.809; AI-assisted F1 &gt; 0.888; human precision 1.000, best human LOO F1 0.732 (KNN)</a:t>
                      </a:r>
                    </a:p>
                  </a:txBody>
                  <a:tcPr marL="54864" marR="54864" marT="27432" marB="27432"/>
                </a:tc>
                <a:tc>
                  <a:txBody>
                    <a:bodyPr/>
                    <a:lstStyle/>
                    <a:p>
                      <a:r>
                        <a:rPr sz="1000"/>
                        <a:t>281,621 Cowrie sessions (Feb–Mar 2026), 24 features; undersampling + in-fold SMOTE; single host, one human operator, no network features</a:t>
                      </a:r>
                    </a:p>
                  </a:txBody>
                  <a:tcPr marL="54864" marR="54864" marT="27432" marB="27432"/>
                </a:tc>
                <a:extLst>
                  <a:ext uri="{0D108BD9-81ED-4DB2-BD59-A6C34878D82A}">
                    <a16:rowId xmlns:a16="http://schemas.microsoft.com/office/drawing/2014/main" val="10001"/>
                  </a:ext>
                </a:extLst>
              </a:tr>
              <a:tr h="835152">
                <a:tc>
                  <a:txBody>
                    <a:bodyPr/>
                    <a:lstStyle/>
                    <a:p>
                      <a:r>
                        <a:rPr sz="1000"/>
                        <a:t>LLM Agent Honeypot: Monitoring AI Hacking Agents in the Wild (2025)</a:t>
                      </a:r>
                    </a:p>
                  </a:txBody>
                  <a:tcPr marL="54864" marR="54864" marT="27432" marB="27432"/>
                </a:tc>
                <a:tc>
                  <a:txBody>
                    <a:bodyPr/>
                    <a:lstStyle/>
                    <a:p>
                      <a:r>
                        <a:rPr sz="1000" u="sng">
                          <a:solidFill>
                            <a:srgbClr val="0563C1"/>
                          </a:solidFill>
                          <a:hlinkClick r:id="rId2"/>
                        </a:rPr>
                        <a:t>arXiv:2410.13919</a:t>
                      </a:r>
                    </a:p>
                  </a:txBody>
                  <a:tcPr marL="54864" marR="54864" marT="27432" marB="27432"/>
                </a:tc>
                <a:tc>
                  <a:txBody>
                    <a:bodyPr/>
                    <a:lstStyle/>
                    <a:p>
                      <a:r>
                        <a:rPr sz="1000"/>
                        <a:t>Problem: no empirical data on LLM agents attacking real systems. Hypothesis: prompt injection plus response timing separates LLM agents from bots and humans. Research: how prevalent are autonomous AI attackers in the wild?</a:t>
                      </a:r>
                    </a:p>
                  </a:txBody>
                  <a:tcPr marL="54864" marR="54864" marT="27432" marB="27432"/>
                </a:tc>
                <a:tc>
                  <a:txBody>
                    <a:bodyPr/>
                    <a:lstStyle/>
                    <a:p>
                      <a:r>
                        <a:rPr sz="1000"/>
                        <a:t>Rule-based detector; agents respond in about 1.7 s or less (median 1.06 s internally); “Important Message” hijack 100% success</a:t>
                      </a:r>
                    </a:p>
                  </a:txBody>
                  <a:tcPr marL="54864" marR="54864" marT="27432" marB="27432"/>
                </a:tc>
                <a:tc>
                  <a:txBody>
                    <a:bodyPr/>
                    <a:lstStyle/>
                    <a:p>
                      <a:r>
                        <a:rPr sz="1000"/>
                        <a:t>8,130,731 SSH interactions over about 3 months on 10 IPs; 8 potential AI agents; public dashboard; not replicable as a labeled corpus</a:t>
                      </a:r>
                    </a:p>
                  </a:txBody>
                  <a:tcPr marL="54864" marR="54864" marT="27432" marB="27432"/>
                </a:tc>
                <a:extLst>
                  <a:ext uri="{0D108BD9-81ED-4DB2-BD59-A6C34878D82A}">
                    <a16:rowId xmlns:a16="http://schemas.microsoft.com/office/drawing/2014/main" val="10002"/>
                  </a:ext>
                </a:extLst>
              </a:tr>
              <a:tr h="835152">
                <a:tc>
                  <a:txBody>
                    <a:bodyPr/>
                    <a:lstStyle/>
                    <a:p>
                      <a:r>
                        <a:rPr sz="1000"/>
                        <a:t>Comparing AI Agents to Cybersecurity Professionals in Real-World Penetration Testing (2026)</a:t>
                      </a:r>
                    </a:p>
                  </a:txBody>
                  <a:tcPr marL="54864" marR="54864" marT="27432" marB="27432"/>
                </a:tc>
                <a:tc>
                  <a:txBody>
                    <a:bodyPr/>
                    <a:lstStyle/>
                    <a:p>
                      <a:r>
                        <a:rPr sz="1000" u="sng">
                          <a:solidFill>
                            <a:srgbClr val="0563C1"/>
                          </a:solidFill>
                          <a:hlinkClick r:id="rId3"/>
                        </a:rPr>
                        <a:t>arXiv:2512.09882</a:t>
                      </a:r>
                    </a:p>
                  </a:txBody>
                  <a:tcPr marL="54864" marR="54864" marT="27432" marB="27432"/>
                </a:tc>
                <a:tc>
                  <a:txBody>
                    <a:bodyPr/>
                    <a:lstStyle/>
                    <a:p>
                      <a:r>
                        <a:rPr sz="1000"/>
                        <a:t>Problem: benchmarks omit the realism of live networks. Hypothesis: a multi-agent scaffold (ARTEMIS) can match professionals. Research: how do agents and humans compare on a live enterprise network?</a:t>
                      </a:r>
                    </a:p>
                  </a:txBody>
                  <a:tcPr marL="54864" marR="54864" marT="27432" marB="27432"/>
                </a:tc>
                <a:tc>
                  <a:txBody>
                    <a:bodyPr/>
                    <a:lstStyle/>
                    <a:p>
                      <a:r>
                        <a:rPr sz="1000"/>
                        <a:t>Scoring by complexity + criticality; ARTEMIS 2nd of 15 entrants (9 valid findings, 82% valid rate); $18–59/hr vs $60/hr</a:t>
                      </a:r>
                    </a:p>
                  </a:txBody>
                  <a:tcPr marL="54864" marR="54864" marT="27432" marB="27432"/>
                </a:tc>
                <a:tc>
                  <a:txBody>
                    <a:bodyPr/>
                    <a:lstStyle/>
                    <a:p>
                      <a:r>
                        <a:rPr sz="1000"/>
                        <a:t>Live university network, about 8,000 hosts / 12 subnets; 10 professionals, 6 scaffolds + ARTEMIS; operator-side screen and terminal logs; not resettable</a:t>
                      </a:r>
                    </a:p>
                  </a:txBody>
                  <a:tcPr marL="54864" marR="54864" marT="27432" marB="27432"/>
                </a:tc>
                <a:extLst>
                  <a:ext uri="{0D108BD9-81ED-4DB2-BD59-A6C34878D82A}">
                    <a16:rowId xmlns:a16="http://schemas.microsoft.com/office/drawing/2014/main" val="10003"/>
                  </a:ext>
                </a:extLst>
              </a:tr>
              <a:tr h="835152">
                <a:tc>
                  <a:txBody>
                    <a:bodyPr/>
                    <a:lstStyle/>
                    <a:p>
                      <a:r>
                        <a:rPr sz="1000"/>
                        <a:t>Disrupting the First Reported AI-Orchestrated Cyber Espionage Campaign (2025)</a:t>
                      </a:r>
                    </a:p>
                  </a:txBody>
                  <a:tcPr marL="54864" marR="54864" marT="27432" marB="27432"/>
                </a:tc>
                <a:tc>
                  <a:txBody>
                    <a:bodyPr/>
                    <a:lstStyle/>
                    <a:p>
                      <a:r>
                        <a:rPr sz="1000" u="sng">
                          <a:solidFill>
                            <a:srgbClr val="0563C1"/>
                          </a:solidFill>
                          <a:hlinkClick r:id="rId4"/>
                        </a:rPr>
                        <a:t>Anthropic threat report, Nov 2025</a:t>
                      </a:r>
                    </a:p>
                  </a:txBody>
                  <a:tcPr marL="54864" marR="54864" marT="27432" marB="27432"/>
                </a:tc>
                <a:tc>
                  <a:txBody>
                    <a:bodyPr/>
                    <a:lstStyle/>
                    <a:p>
                      <a:r>
                        <a:rPr sz="1000"/>
                        <a:t>Problem: agentic AI can run intrusion campaigns with minimal oversight. Finding: GTG-1002 automated 80–90% of tactical work against about 30 targets. Research: how were the operations structured and detected?</a:t>
                      </a:r>
                    </a:p>
                  </a:txBody>
                  <a:tcPr marL="54864" marR="54864" marT="27432" marB="27432"/>
                </a:tc>
                <a:tc>
                  <a:txBody>
                    <a:bodyPr/>
                    <a:lstStyle/>
                    <a:p>
                      <a:r>
                        <a:rPr sz="1000"/>
                        <a:t>No ML model; incident investigation; detection triggered by sustained activity volume</a:t>
                      </a:r>
                    </a:p>
                  </a:txBody>
                  <a:tcPr marL="54864" marR="54864" marT="27432" marB="27432"/>
                </a:tc>
                <a:tc>
                  <a:txBody>
                    <a:bodyPr/>
                    <a:lstStyle/>
                    <a:p>
                      <a:r>
                        <a:rPr sz="1000"/>
                        <a:t>Vendor platform telemetry only; open-source pentest tools driven through MCP automation; humans at a few strategic decision points</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2/2</a:t>
            </a:r>
          </a:p>
        </p:txBody>
      </p:sp>
      <p:graphicFrame>
        <p:nvGraphicFramePr>
          <p:cNvPr id="4" name="Table 3"/>
          <p:cNvGraphicFramePr>
            <a:graphicFrameLocks noGrp="1"/>
          </p:cNvGraphicFramePr>
          <p:nvPr/>
        </p:nvGraphicFramePr>
        <p:xfrm>
          <a:off x="164592" y="566928"/>
          <a:ext cx="8814815" cy="3017519"/>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835152">
                <a:tc>
                  <a:txBody>
                    <a:bodyPr/>
                    <a:lstStyle/>
                    <a:p>
                      <a:r>
                        <a:rPr sz="1000"/>
                        <a:t>PentestGPT: Evaluating and Harnessing Large Language Models for Automated Penetration Testing (2024)</a:t>
                      </a:r>
                    </a:p>
                  </a:txBody>
                  <a:tcPr marL="54864" marR="54864" marT="27432" marB="27432"/>
                </a:tc>
                <a:tc>
                  <a:txBody>
                    <a:bodyPr/>
                    <a:lstStyle/>
                    <a:p>
                      <a:r>
                        <a:rPr sz="1000" u="sng">
                          <a:solidFill>
                            <a:srgbClr val="0563C1"/>
                          </a:solidFill>
                          <a:hlinkClick r:id="rId2"/>
                        </a:rPr>
                        <a:t>USENIX Security 2024; arXiv:2308.06782</a:t>
                      </a:r>
                    </a:p>
                  </a:txBody>
                  <a:tcPr marL="54864" marR="54864" marT="27432" marB="27432"/>
                </a:tc>
                <a:tc>
                  <a:txBody>
                    <a:bodyPr/>
                    <a:lstStyle/>
                    <a:p>
                      <a:r>
                        <a:rPr sz="1000"/>
                        <a:t>Problem: LLMs lose context across long penetration tests. Hypothesis: separating reasoning, generation and parsing modules improves completion. Research: can an LLM tool automate end-to-end testing?</a:t>
                      </a:r>
                    </a:p>
                  </a:txBody>
                  <a:tcPr marL="54864" marR="54864" marT="27432" marB="27432"/>
                </a:tc>
                <a:tc>
                  <a:txBody>
                    <a:bodyPr/>
                    <a:lstStyle/>
                    <a:p>
                      <a:r>
                        <a:rPr sz="1000"/>
                        <a:t>GPT-4-based PentestGPT; 228.6% task-completion increase over GPT-3.5 on the authors’ benchmark</a:t>
                      </a:r>
                    </a:p>
                  </a:txBody>
                  <a:tcPr marL="54864" marR="54864" marT="27432" marB="27432"/>
                </a:tc>
                <a:tc>
                  <a:txBody>
                    <a:bodyPr/>
                    <a:lstStyle/>
                    <a:p>
                      <a:r>
                        <a:rPr sz="1000"/>
                        <a:t>Benchmark of HackTheBox and VulnHub machines (13 targets, 182 sub-tasks); this is the AI-assisted tool behind Alt (2026)</a:t>
                      </a:r>
                    </a:p>
                  </a:txBody>
                  <a:tcPr marL="54864" marR="54864" marT="27432" marB="27432"/>
                </a:tc>
                <a:extLst>
                  <a:ext uri="{0D108BD9-81ED-4DB2-BD59-A6C34878D82A}">
                    <a16:rowId xmlns:a16="http://schemas.microsoft.com/office/drawing/2014/main" val="10001"/>
                  </a:ext>
                </a:extLst>
              </a:tr>
              <a:tr h="1139952">
                <a:tc>
                  <a:txBody>
                    <a:bodyPr/>
                    <a:lstStyle/>
                    <a:p>
                      <a:r>
                        <a:rPr sz="1000"/>
                        <a:t>GOAD – Game of Active Directory (Orange Cyberdefense)</a:t>
                      </a:r>
                    </a:p>
                  </a:txBody>
                  <a:tcPr marL="54864" marR="54864" marT="27432" marB="27432"/>
                </a:tc>
                <a:tc>
                  <a:txBody>
                    <a:bodyPr/>
                    <a:lstStyle/>
                    <a:p>
                      <a:r>
                        <a:rPr sz="1000" u="sng">
                          <a:solidFill>
                            <a:srgbClr val="0563C1"/>
                          </a:solidFill>
                          <a:hlinkClick r:id="rId3"/>
                        </a:rPr>
                        <a:t>github.com/Orange-Cyberdefense/GOAD</a:t>
                      </a:r>
                    </a:p>
                  </a:txBody>
                  <a:tcPr marL="54864" marR="54864" marT="27432" marB="27432"/>
                </a:tc>
                <a:tc>
                  <a:txBody>
                    <a:bodyPr/>
                    <a:lstStyle/>
                    <a:p>
                      <a:r>
                        <a:rPr sz="1000"/>
                        <a:t>Problem: researchers need a realistic, resettable Active Directory lab. Approach: scripted deployment of a vulnerable multi-domain forest. Our use: reproducible target environment for matched trials.</a:t>
                      </a:r>
                    </a:p>
                  </a:txBody>
                  <a:tcPr marL="54864" marR="54864" marT="27432" marB="27432"/>
                </a:tc>
                <a:tc>
                  <a:txBody>
                    <a:bodyPr/>
                    <a:lstStyle/>
                    <a:p>
                      <a:r>
                        <a:rPr sz="1000"/>
                        <a:t>Not a model; lab with scripted weaknesses (Kerberoasting, ACL abuse, relay paths)</a:t>
                      </a:r>
                    </a:p>
                  </a:txBody>
                  <a:tcPr marL="54864" marR="54864" marT="27432" marB="27432"/>
                </a:tc>
                <a:tc>
                  <a:txBody>
                    <a:bodyPr/>
                    <a:lstStyle/>
                    <a:p>
                      <a:r>
                        <a:rPr sz="1000"/>
                        <a:t>5 Windows targets, 2 forests, 3 domains; AWS/Azure/Proxmox providers; GPL-3.0. We pin a revision, start with one narrow objective and avoid LLMNR/NBT-NS paths the AWS provider does not support</a:t>
                      </a:r>
                    </a:p>
                  </a:txBody>
                  <a:tcPr marL="54864" marR="54864" marT="27432" marB="27432"/>
                </a:tc>
                <a:extLst>
                  <a:ext uri="{0D108BD9-81ED-4DB2-BD59-A6C34878D82A}">
                    <a16:rowId xmlns:a16="http://schemas.microsoft.com/office/drawing/2014/main" val="10002"/>
                  </a:ext>
                </a:extLst>
              </a:tr>
              <a:tr h="682751">
                <a:tc>
                  <a:txBody>
                    <a:bodyPr/>
                    <a:lstStyle/>
                    <a:p>
                      <a:r>
                        <a:rPr sz="1000"/>
                        <a:t>Cost of a Data Breach Report 2025 (IBM / Ponemon)</a:t>
                      </a:r>
                    </a:p>
                  </a:txBody>
                  <a:tcPr marL="54864" marR="54864" marT="27432" marB="27432"/>
                </a:tc>
                <a:tc>
                  <a:txBody>
                    <a:bodyPr/>
                    <a:lstStyle/>
                    <a:p>
                      <a:r>
                        <a:rPr sz="1000" u="sng">
                          <a:solidFill>
                            <a:srgbClr val="0563C1"/>
                          </a:solidFill>
                          <a:hlinkClick r:id="rId4"/>
                        </a:rPr>
                        <a:t>ibm.com/reports/data-breach</a:t>
                      </a:r>
                    </a:p>
                  </a:txBody>
                  <a:tcPr marL="54864" marR="54864" marT="27432" marB="27432"/>
                </a:tc>
                <a:tc>
                  <a:txBody>
                    <a:bodyPr/>
                    <a:lstStyle/>
                    <a:p>
                      <a:r>
                        <a:rPr sz="1000"/>
                        <a:t>Problem: quantify the financial impact of breaches and the effect of response speed. Finding: $4.44M global and $10.22M U.S. average; 241 days to identify and contain.</a:t>
                      </a:r>
                    </a:p>
                  </a:txBody>
                  <a:tcPr marL="54864" marR="54864" marT="27432" marB="27432"/>
                </a:tc>
                <a:tc>
                  <a:txBody>
                    <a:bodyPr/>
                    <a:lstStyle/>
                    <a:p>
                      <a:r>
                        <a:rPr sz="1000"/>
                        <a:t>Survey with activity-based costing; no predictive model</a:t>
                      </a:r>
                    </a:p>
                  </a:txBody>
                  <a:tcPr marL="54864" marR="54864" marT="27432" marB="27432"/>
                </a:tc>
                <a:tc>
                  <a:txBody>
                    <a:bodyPr/>
                    <a:lstStyle/>
                    <a:p>
                      <a:r>
                        <a:rPr sz="1000"/>
                        <a:t>About 600 breached organizations, 16 countries/regions, 17 industries; context for the “so what”, not a modeling dataset</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Glossary of Terms</a:t>
            </a:r>
          </a:p>
        </p:txBody>
      </p:sp>
      <p:graphicFrame>
        <p:nvGraphicFramePr>
          <p:cNvPr id="4" name="Table 3"/>
          <p:cNvGraphicFramePr>
            <a:graphicFrameLocks noGrp="1"/>
          </p:cNvGraphicFramePr>
          <p:nvPr/>
        </p:nvGraphicFramePr>
        <p:xfrm>
          <a:off x="164592" y="1097280"/>
          <a:ext cx="8814816" cy="4209288"/>
        </p:xfrm>
        <a:graphic>
          <a:graphicData uri="http://schemas.openxmlformats.org/drawingml/2006/table">
            <a:tbl>
              <a:tblPr firstRow="1" bandRow="1">
                <a:tableStyleId>{5C22544A-7EE6-4342-B048-85BDC9FD1C3A}</a:tableStyleId>
              </a:tblPr>
              <a:tblGrid>
                <a:gridCol w="1836420">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tblGrid>
              <a:tr h="217932">
                <a:tc>
                  <a:txBody>
                    <a:bodyPr/>
                    <a:lstStyle/>
                    <a:p>
                      <a:r>
                        <a:rPr sz="950" b="1"/>
                        <a:t>Term</a:t>
                      </a:r>
                    </a:p>
                  </a:txBody>
                  <a:tcPr marL="54864" marR="54864" marT="27432" marB="27432" anchor="ctr"/>
                </a:tc>
                <a:tc>
                  <a:txBody>
                    <a:bodyPr/>
                    <a:lstStyle/>
                    <a:p>
                      <a:pPr algn="ctr"/>
                      <a:r>
                        <a:rPr sz="950" b="1"/>
                        <a:t>Definition</a:t>
                      </a:r>
                    </a:p>
                  </a:txBody>
                  <a:tcPr marL="54864" marR="54864" marT="27432" marB="27432" anchor="ctr"/>
                </a:tc>
                <a:extLst>
                  <a:ext uri="{0D108BD9-81ED-4DB2-BD59-A6C34878D82A}">
                    <a16:rowId xmlns:a16="http://schemas.microsoft.com/office/drawing/2014/main" val="10000"/>
                  </a:ext>
                </a:extLst>
              </a:tr>
              <a:tr h="217932">
                <a:tc>
                  <a:txBody>
                    <a:bodyPr/>
                    <a:lstStyle/>
                    <a:p>
                      <a:r>
                        <a:rPr sz="950" b="1"/>
                        <a:t>Trial</a:t>
                      </a:r>
                    </a:p>
                  </a:txBody>
                  <a:tcPr marL="54864" marR="54864" marT="27432" marB="27432"/>
                </a:tc>
                <a:tc>
                  <a:txBody>
                    <a:bodyPr/>
                    <a:lstStyle/>
                    <a:p>
                      <a:r>
                        <a:rPr sz="950"/>
                        <a:t>One operator’s attempt at the objective, from a verified clean reset to window close; the independent unit for every metric and split.</a:t>
                      </a:r>
                    </a:p>
                  </a:txBody>
                  <a:tcPr marL="54864" marR="54864" marT="27432" marB="27432"/>
                </a:tc>
                <a:extLst>
                  <a:ext uri="{0D108BD9-81ED-4DB2-BD59-A6C34878D82A}">
                    <a16:rowId xmlns:a16="http://schemas.microsoft.com/office/drawing/2014/main" val="10001"/>
                  </a:ext>
                </a:extLst>
              </a:tr>
              <a:tr h="362712">
                <a:tc>
                  <a:txBody>
                    <a:bodyPr/>
                    <a:lstStyle/>
                    <a:p>
                      <a:r>
                        <a:rPr sz="950" b="1"/>
                        <a:t>Arm</a:t>
                      </a:r>
                    </a:p>
                  </a:txBody>
                  <a:tcPr marL="54864" marR="54864" marT="27432" marB="27432"/>
                </a:tc>
                <a:tc>
                  <a:txBody>
                    <a:bodyPr/>
                    <a:lstStyle/>
                    <a:p>
                      <a:r>
                        <a:rPr sz="950"/>
                        <a:t>The operator class under test: human penetration tester or fully autonomous AI. Scripted replay is a telemetry control and benign baselines are never labeled as an arm.</a:t>
                      </a:r>
                    </a:p>
                  </a:txBody>
                  <a:tcPr marL="54864" marR="54864" marT="27432" marB="27432"/>
                </a:tc>
                <a:extLst>
                  <a:ext uri="{0D108BD9-81ED-4DB2-BD59-A6C34878D82A}">
                    <a16:rowId xmlns:a16="http://schemas.microsoft.com/office/drawing/2014/main" val="10002"/>
                  </a:ext>
                </a:extLst>
              </a:tr>
              <a:tr h="362712">
                <a:tc>
                  <a:txBody>
                    <a:bodyPr/>
                    <a:lstStyle/>
                    <a:p>
                      <a:r>
                        <a:rPr sz="950" b="1"/>
                        <a:t>Autonomous AI operator</a:t>
                      </a:r>
                    </a:p>
                  </a:txBody>
                  <a:tcPr marL="54864" marR="54864" marT="27432" marB="27432"/>
                </a:tc>
                <a:tc>
                  <a:txBody>
                    <a:bodyPr/>
                    <a:lstStyle/>
                    <a:p>
                      <a:r>
                        <a:rPr sz="950"/>
                        <a:t>A scaffold (e.g., ARTEMIS) driving a model that chooses its own actions after the brief; safety supervision allowed, any tactical intervention logged.</a:t>
                      </a:r>
                    </a:p>
                  </a:txBody>
                  <a:tcPr marL="54864" marR="54864" marT="27432" marB="27432"/>
                </a:tc>
                <a:extLst>
                  <a:ext uri="{0D108BD9-81ED-4DB2-BD59-A6C34878D82A}">
                    <a16:rowId xmlns:a16="http://schemas.microsoft.com/office/drawing/2014/main" val="10003"/>
                  </a:ext>
                </a:extLst>
              </a:tr>
              <a:tr h="362712">
                <a:tc>
                  <a:txBody>
                    <a:bodyPr/>
                    <a:lstStyle/>
                    <a:p>
                      <a:r>
                        <a:rPr sz="950" b="1"/>
                        <a:t>Target-side telemetry</a:t>
                      </a:r>
                    </a:p>
                  </a:txBody>
                  <a:tcPr marL="54864" marR="54864" marT="27432" marB="27432"/>
                </a:tc>
                <a:tc>
                  <a:txBody>
                    <a:bodyPr/>
                    <a:lstStyle/>
                    <a:p>
                      <a:r>
                        <a:rPr sz="950"/>
                        <a:t>Evidence recorded on the foothold, domain targets and network sensor; operator-side logs (prompts, terminal I/O) are ground truth only, never features.</a:t>
                      </a:r>
                    </a:p>
                  </a:txBody>
                  <a:tcPr marL="54864" marR="54864" marT="27432" marB="27432"/>
                </a:tc>
                <a:extLst>
                  <a:ext uri="{0D108BD9-81ED-4DB2-BD59-A6C34878D82A}">
                    <a16:rowId xmlns:a16="http://schemas.microsoft.com/office/drawing/2014/main" val="10004"/>
                  </a:ext>
                </a:extLst>
              </a:tr>
              <a:tr h="217932">
                <a:tc>
                  <a:txBody>
                    <a:bodyPr/>
                    <a:lstStyle/>
                    <a:p>
                      <a:r>
                        <a:rPr sz="950" b="1"/>
                        <a:t>Matched conditions</a:t>
                      </a:r>
                    </a:p>
                  </a:txBody>
                  <a:tcPr marL="54864" marR="54864" marT="27432" marB="27432"/>
                </a:tc>
                <a:tc>
                  <a:txBody>
                    <a:bodyPr/>
                    <a:lstStyle/>
                    <a:p>
                      <a:r>
                        <a:rPr sz="950"/>
                        <a:t>Same objective, foothold, OS, tool manifest, offline corpus, access window and rules of engagement for both arms.</a:t>
                      </a:r>
                    </a:p>
                  </a:txBody>
                  <a:tcPr marL="54864" marR="54864" marT="27432" marB="27432"/>
                </a:tc>
                <a:extLst>
                  <a:ext uri="{0D108BD9-81ED-4DB2-BD59-A6C34878D82A}">
                    <a16:rowId xmlns:a16="http://schemas.microsoft.com/office/drawing/2014/main" val="10005"/>
                  </a:ext>
                </a:extLst>
              </a:tr>
              <a:tr h="217932">
                <a:tc>
                  <a:txBody>
                    <a:bodyPr/>
                    <a:lstStyle/>
                    <a:p>
                      <a:r>
                        <a:rPr sz="950" b="1"/>
                        <a:t>Foothold</a:t>
                      </a:r>
                    </a:p>
                  </a:txBody>
                  <a:tcPr marL="54864" marR="54864" marT="27432" marB="27432"/>
                </a:tc>
                <a:tc>
                  <a:txBody>
                    <a:bodyPr/>
                    <a:lstStyle/>
                    <a:p>
                      <a:r>
                        <a:rPr sz="950"/>
                        <a:t>The domain-joined host inside the lab where every trial starts, with command-line and script-block logging enabled.</a:t>
                      </a:r>
                    </a:p>
                  </a:txBody>
                  <a:tcPr marL="54864" marR="54864" marT="27432" marB="27432"/>
                </a:tc>
                <a:extLst>
                  <a:ext uri="{0D108BD9-81ED-4DB2-BD59-A6C34878D82A}">
                    <a16:rowId xmlns:a16="http://schemas.microsoft.com/office/drawing/2014/main" val="10006"/>
                  </a:ext>
                </a:extLst>
              </a:tr>
              <a:tr h="362712">
                <a:tc>
                  <a:txBody>
                    <a:bodyPr/>
                    <a:lstStyle/>
                    <a:p>
                      <a:r>
                        <a:rPr sz="950" b="1"/>
                        <a:t>Access window</a:t>
                      </a:r>
                    </a:p>
                  </a:txBody>
                  <a:tcPr marL="54864" marR="54864" marT="27432" marB="27432"/>
                </a:tc>
                <a:tc>
                  <a:txBody>
                    <a:bodyPr/>
                    <a:lstStyle/>
                    <a:p>
                      <a:r>
                        <a:rPr sz="950"/>
                        <a:t>The fixed time both arms receive, sized from a dry run at several times the human median; runs continue past the objective until the window closes.</a:t>
                      </a:r>
                    </a:p>
                  </a:txBody>
                  <a:tcPr marL="54864" marR="54864" marT="27432" marB="27432"/>
                </a:tc>
                <a:extLst>
                  <a:ext uri="{0D108BD9-81ED-4DB2-BD59-A6C34878D82A}">
                    <a16:rowId xmlns:a16="http://schemas.microsoft.com/office/drawing/2014/main" val="10007"/>
                  </a:ext>
                </a:extLst>
              </a:tr>
              <a:tr h="362712">
                <a:tc>
                  <a:txBody>
                    <a:bodyPr/>
                    <a:lstStyle/>
                    <a:p>
                      <a:r>
                        <a:rPr sz="950" b="1"/>
                        <a:t>Knowledge condition</a:t>
                      </a:r>
                    </a:p>
                  </a:txBody>
                  <a:tcPr marL="54864" marR="54864" marT="27432" marB="27432"/>
                </a:tc>
                <a:tc>
                  <a:txBody>
                    <a:bodyPr/>
                    <a:lstStyle/>
                    <a:p>
                      <a:r>
                        <a:rPr sz="950"/>
                        <a:t>Black-box (objective, scope, foothold identity only), white-box (adds topology and configuration), walkthrough (rule development and stress test).</a:t>
                      </a:r>
                    </a:p>
                  </a:txBody>
                  <a:tcPr marL="54864" marR="54864" marT="27432" marB="27432"/>
                </a:tc>
                <a:extLst>
                  <a:ext uri="{0D108BD9-81ED-4DB2-BD59-A6C34878D82A}">
                    <a16:rowId xmlns:a16="http://schemas.microsoft.com/office/drawing/2014/main" val="10008"/>
                  </a:ext>
                </a:extLst>
              </a:tr>
              <a:tr h="362712">
                <a:tc>
                  <a:txBody>
                    <a:bodyPr/>
                    <a:lstStyle/>
                    <a:p>
                      <a:r>
                        <a:rPr sz="950" b="1"/>
                        <a:t>Gate A / Gate B</a:t>
                      </a:r>
                    </a:p>
                  </a:txBody>
                  <a:tcPr marL="54864" marR="54864" marT="27432" marB="27432"/>
                </a:tc>
                <a:tc>
                  <a:txBody>
                    <a:bodyPr/>
                    <a:lstStyle/>
                    <a:p>
                      <a:r>
                        <a:rPr sz="950"/>
                        <a:t>Gate A blocks scored runs until every source is captured, archived and resets attested; Gate B blocks the full study until the pilot shows usable signal and the protocol, recruiting and funding are settled.</a:t>
                      </a:r>
                    </a:p>
                  </a:txBody>
                  <a:tcPr marL="54864" marR="54864" marT="27432" marB="27432"/>
                </a:tc>
                <a:extLst>
                  <a:ext uri="{0D108BD9-81ED-4DB2-BD59-A6C34878D82A}">
                    <a16:rowId xmlns:a16="http://schemas.microsoft.com/office/drawing/2014/main" val="10009"/>
                  </a:ext>
                </a:extLst>
              </a:tr>
              <a:tr h="362712">
                <a:tc>
                  <a:txBody>
                    <a:bodyPr/>
                    <a:lstStyle/>
                    <a:p>
                      <a:r>
                        <a:rPr sz="950" b="1"/>
                        <a:t>Deny-list</a:t>
                      </a:r>
                    </a:p>
                  </a:txBody>
                  <a:tcPr marL="54864" marR="54864" marT="27432" marB="27432"/>
                </a:tc>
                <a:tc>
                  <a:txBody>
                    <a:bodyPr/>
                    <a:lstStyle/>
                    <a:p>
                      <a:r>
                        <a:rPr sz="950"/>
                        <a:t>Fields removed from model inputs because they reveal setup rather than behavior: IPs, hostnames, account IDs, credential, banners, parent process, runner artifacts, experimenter-set hours.</a:t>
                      </a:r>
                    </a:p>
                  </a:txBody>
                  <a:tcPr marL="54864" marR="54864" marT="27432" marB="27432"/>
                </a:tc>
                <a:extLst>
                  <a:ext uri="{0D108BD9-81ED-4DB2-BD59-A6C34878D82A}">
                    <a16:rowId xmlns:a16="http://schemas.microsoft.com/office/drawing/2014/main" val="10010"/>
                  </a:ext>
                </a:extLst>
              </a:tr>
              <a:tr h="217932">
                <a:tc>
                  <a:txBody>
                    <a:bodyPr/>
                    <a:lstStyle/>
                    <a:p>
                      <a:r>
                        <a:rPr sz="950" b="1"/>
                        <a:t>Metadata-only baseline</a:t>
                      </a:r>
                    </a:p>
                  </a:txBody>
                  <a:tcPr marL="54864" marR="54864" marT="27432" marB="27432"/>
                </a:tc>
                <a:tc>
                  <a:txBody>
                    <a:bodyPr/>
                    <a:lstStyle/>
                    <a:p>
                      <a:r>
                        <a:rPr sz="950"/>
                        <a:t>A model that sees only setup metadata; it should fail if leakage is controlled and is the bar the behavioral model must beat (H1).</a:t>
                      </a:r>
                    </a:p>
                  </a:txBody>
                  <a:tcPr marL="54864" marR="54864" marT="27432" marB="27432"/>
                </a:tc>
                <a:extLst>
                  <a:ext uri="{0D108BD9-81ED-4DB2-BD59-A6C34878D82A}">
                    <a16:rowId xmlns:a16="http://schemas.microsoft.com/office/drawing/2014/main" val="10011"/>
                  </a:ext>
                </a:extLst>
              </a:tr>
              <a:tr h="362712">
                <a:tc>
                  <a:txBody>
                    <a:bodyPr/>
                    <a:lstStyle/>
                    <a:p>
                      <a:r>
                        <a:rPr sz="950" b="1"/>
                        <a:t>Grouped split</a:t>
                      </a:r>
                    </a:p>
                  </a:txBody>
                  <a:tcPr marL="54864" marR="54864" marT="27432" marB="27432"/>
                </a:tc>
                <a:tc>
                  <a:txBody>
                    <a:bodyPr/>
                    <a:lstStyle/>
                    <a:p>
                      <a:r>
                        <a:rPr sz="950"/>
                        <a:t>Train/validation/test partitions assigned by trial (and by operator or AI configuration for generalization tests); all windows from one trial stay on one side.</a:t>
                      </a:r>
                    </a:p>
                  </a:txBody>
                  <a:tcPr marL="54864" marR="54864" marT="27432" marB="27432"/>
                </a:tc>
                <a:extLst>
                  <a:ext uri="{0D108BD9-81ED-4DB2-BD59-A6C34878D82A}">
                    <a16:rowId xmlns:a16="http://schemas.microsoft.com/office/drawing/2014/main" val="10012"/>
                  </a:ext>
                </a:extLst>
              </a:tr>
              <a:tr h="217932">
                <a:tc>
                  <a:txBody>
                    <a:bodyPr/>
                    <a:lstStyle/>
                    <a:p>
                      <a:r>
                        <a:rPr sz="950" b="1"/>
                        <a:t>Censored time-to-objective</a:t>
                      </a:r>
                    </a:p>
                  </a:txBody>
                  <a:tcPr marL="54864" marR="54864" marT="27432" marB="27432"/>
                </a:tc>
                <a:tc>
                  <a:txBody>
                    <a:bodyPr/>
                    <a:lstStyle/>
                    <a:p>
                      <a:r>
                        <a:rPr sz="950"/>
                        <a:t>Time to reach the marker file; trials that end at window close without success are recorded as censored rather than discarded.</a:t>
                      </a:r>
                    </a:p>
                  </a:txBody>
                  <a:tcPr marL="54864" marR="54864" marT="27432" marB="27432"/>
                </a:tc>
                <a:extLst>
                  <a:ext uri="{0D108BD9-81ED-4DB2-BD59-A6C34878D82A}">
                    <a16:rowId xmlns:a16="http://schemas.microsoft.com/office/drawing/2014/main" val="1001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Acronyms</a:t>
            </a:r>
          </a:p>
        </p:txBody>
      </p:sp>
      <p:graphicFrame>
        <p:nvGraphicFramePr>
          <p:cNvPr id="4" name="Table 3"/>
          <p:cNvGraphicFramePr>
            <a:graphicFrameLocks noGrp="1"/>
          </p:cNvGraphicFramePr>
          <p:nvPr/>
        </p:nvGraphicFramePr>
        <p:xfrm>
          <a:off x="164592" y="1097280"/>
          <a:ext cx="8814816" cy="4285469"/>
        </p:xfrm>
        <a:graphic>
          <a:graphicData uri="http://schemas.openxmlformats.org/drawingml/2006/table">
            <a:tbl>
              <a:tblPr firstRow="1" bandRow="1">
                <a:tableStyleId>{5C22544A-7EE6-4342-B048-85BDC9FD1C3A}</a:tableStyleId>
              </a:tblPr>
              <a:tblGrid>
                <a:gridCol w="2387346">
                  <a:extLst>
                    <a:ext uri="{9D8B030D-6E8A-4147-A177-3AD203B41FA5}">
                      <a16:colId xmlns:a16="http://schemas.microsoft.com/office/drawing/2014/main" val="20000"/>
                    </a:ext>
                  </a:extLst>
                </a:gridCol>
                <a:gridCol w="6427470">
                  <a:extLst>
                    <a:ext uri="{9D8B030D-6E8A-4147-A177-3AD203B41FA5}">
                      <a16:colId xmlns:a16="http://schemas.microsoft.com/office/drawing/2014/main" val="20001"/>
                    </a:ext>
                  </a:extLst>
                </a:gridCol>
              </a:tblGrid>
              <a:tr h="225551">
                <a:tc>
                  <a:txBody>
                    <a:bodyPr/>
                    <a:lstStyle/>
                    <a:p>
                      <a:r>
                        <a:rPr sz="1000" b="1"/>
                        <a:t>Acronym</a:t>
                      </a:r>
                    </a:p>
                  </a:txBody>
                  <a:tcPr marL="54864" marR="54864" marT="27432" marB="27432" anchor="ctr"/>
                </a:tc>
                <a:tc>
                  <a:txBody>
                    <a:bodyPr/>
                    <a:lstStyle/>
                    <a:p>
                      <a:pPr algn="ctr"/>
                      <a:r>
                        <a:rPr sz="1000" b="1"/>
                        <a:t>Definition</a:t>
                      </a:r>
                    </a:p>
                  </a:txBody>
                  <a:tcPr marL="54864" marR="54864" marT="27432" marB="27432" anchor="ctr"/>
                </a:tc>
                <a:extLst>
                  <a:ext uri="{0D108BD9-81ED-4DB2-BD59-A6C34878D82A}">
                    <a16:rowId xmlns:a16="http://schemas.microsoft.com/office/drawing/2014/main" val="10000"/>
                  </a:ext>
                </a:extLst>
              </a:tr>
              <a:tr h="225551">
                <a:tc>
                  <a:txBody>
                    <a:bodyPr/>
                    <a:lstStyle/>
                    <a:p>
                      <a:r>
                        <a:rPr sz="1000" b="1"/>
                        <a:t>AD</a:t>
                      </a:r>
                    </a:p>
                  </a:txBody>
                  <a:tcPr marL="54864" marR="54864" marT="27432" marB="27432"/>
                </a:tc>
                <a:tc>
                  <a:txBody>
                    <a:bodyPr/>
                    <a:lstStyle/>
                    <a:p>
                      <a:r>
                        <a:rPr sz="1000"/>
                        <a:t>Active Directory</a:t>
                      </a:r>
                    </a:p>
                  </a:txBody>
                  <a:tcPr marL="54864" marR="54864" marT="27432" marB="27432"/>
                </a:tc>
                <a:extLst>
                  <a:ext uri="{0D108BD9-81ED-4DB2-BD59-A6C34878D82A}">
                    <a16:rowId xmlns:a16="http://schemas.microsoft.com/office/drawing/2014/main" val="10001"/>
                  </a:ext>
                </a:extLst>
              </a:tr>
              <a:tr h="225551">
                <a:tc>
                  <a:txBody>
                    <a:bodyPr/>
                    <a:lstStyle/>
                    <a:p>
                      <a:r>
                        <a:rPr sz="1000" b="1"/>
                        <a:t>ARTEMIS</a:t>
                      </a:r>
                    </a:p>
                  </a:txBody>
                  <a:tcPr marL="54864" marR="54864" marT="27432" marB="27432"/>
                </a:tc>
                <a:tc>
                  <a:txBody>
                    <a:bodyPr/>
                    <a:lstStyle/>
                    <a:p>
                      <a:r>
                        <a:rPr sz="1000"/>
                        <a:t>Stanford multi-agent autonomous penetration-testing scaffold (Lin et al., 2026)</a:t>
                      </a:r>
                    </a:p>
                  </a:txBody>
                  <a:tcPr marL="54864" marR="54864" marT="27432" marB="27432"/>
                </a:tc>
                <a:extLst>
                  <a:ext uri="{0D108BD9-81ED-4DB2-BD59-A6C34878D82A}">
                    <a16:rowId xmlns:a16="http://schemas.microsoft.com/office/drawing/2014/main" val="10002"/>
                  </a:ext>
                </a:extLst>
              </a:tr>
              <a:tr h="225551">
                <a:tc>
                  <a:txBody>
                    <a:bodyPr/>
                    <a:lstStyle/>
                    <a:p>
                      <a:r>
                        <a:rPr sz="1000" b="1"/>
                        <a:t>ATT&amp;CK</a:t>
                      </a:r>
                    </a:p>
                  </a:txBody>
                  <a:tcPr marL="54864" marR="54864" marT="27432" marB="27432"/>
                </a:tc>
                <a:tc>
                  <a:txBody>
                    <a:bodyPr/>
                    <a:lstStyle/>
                    <a:p>
                      <a:r>
                        <a:rPr sz="1000"/>
                        <a:t>MITRE Adversarial Tactics, Techniques and Common Knowledge</a:t>
                      </a:r>
                    </a:p>
                  </a:txBody>
                  <a:tcPr marL="54864" marR="54864" marT="27432" marB="27432"/>
                </a:tc>
                <a:extLst>
                  <a:ext uri="{0D108BD9-81ED-4DB2-BD59-A6C34878D82A}">
                    <a16:rowId xmlns:a16="http://schemas.microsoft.com/office/drawing/2014/main" val="10003"/>
                  </a:ext>
                </a:extLst>
              </a:tr>
              <a:tr h="225551">
                <a:tc>
                  <a:txBody>
                    <a:bodyPr/>
                    <a:lstStyle/>
                    <a:p>
                      <a:r>
                        <a:rPr sz="1000" b="1"/>
                        <a:t>AWS / VPC / S3 / IAM</a:t>
                      </a:r>
                    </a:p>
                  </a:txBody>
                  <a:tcPr marL="54864" marR="54864" marT="27432" marB="27432"/>
                </a:tc>
                <a:tc>
                  <a:txBody>
                    <a:bodyPr/>
                    <a:lstStyle/>
                    <a:p>
                      <a:r>
                        <a:rPr sz="1000"/>
                        <a:t>Amazon Web Services / Virtual Private Cloud / Simple Storage Service / Identity and Access Management</a:t>
                      </a:r>
                    </a:p>
                  </a:txBody>
                  <a:tcPr marL="54864" marR="54864" marT="27432" marB="27432"/>
                </a:tc>
                <a:extLst>
                  <a:ext uri="{0D108BD9-81ED-4DB2-BD59-A6C34878D82A}">
                    <a16:rowId xmlns:a16="http://schemas.microsoft.com/office/drawing/2014/main" val="10004"/>
                  </a:ext>
                </a:extLst>
              </a:tr>
              <a:tr h="225551">
                <a:tc>
                  <a:txBody>
                    <a:bodyPr/>
                    <a:lstStyle/>
                    <a:p>
                      <a:r>
                        <a:rPr sz="1000" b="1"/>
                        <a:t>DC</a:t>
                      </a:r>
                    </a:p>
                  </a:txBody>
                  <a:tcPr marL="54864" marR="54864" marT="27432" marB="27432"/>
                </a:tc>
                <a:tc>
                  <a:txBody>
                    <a:bodyPr/>
                    <a:lstStyle/>
                    <a:p>
                      <a:r>
                        <a:rPr sz="1000"/>
                        <a:t>Domain Controller</a:t>
                      </a:r>
                    </a:p>
                  </a:txBody>
                  <a:tcPr marL="54864" marR="54864" marT="27432" marB="27432"/>
                </a:tc>
                <a:extLst>
                  <a:ext uri="{0D108BD9-81ED-4DB2-BD59-A6C34878D82A}">
                    <a16:rowId xmlns:a16="http://schemas.microsoft.com/office/drawing/2014/main" val="10005"/>
                  </a:ext>
                </a:extLst>
              </a:tr>
              <a:tr h="225551">
                <a:tc>
                  <a:txBody>
                    <a:bodyPr/>
                    <a:lstStyle/>
                    <a:p>
                      <a:r>
                        <a:rPr sz="1000" b="1"/>
                        <a:t>DGX Spark</a:t>
                      </a:r>
                    </a:p>
                  </a:txBody>
                  <a:tcPr marL="54864" marR="54864" marT="27432" marB="27432"/>
                </a:tc>
                <a:tc>
                  <a:txBody>
                    <a:bodyPr/>
                    <a:lstStyle/>
                    <a:p>
                      <a:r>
                        <a:rPr sz="1000"/>
                        <a:t>NVIDIA desktop AI system hosting the local model for the autonomous arm</a:t>
                      </a:r>
                    </a:p>
                  </a:txBody>
                  <a:tcPr marL="54864" marR="54864" marT="27432" marB="27432"/>
                </a:tc>
                <a:extLst>
                  <a:ext uri="{0D108BD9-81ED-4DB2-BD59-A6C34878D82A}">
                    <a16:rowId xmlns:a16="http://schemas.microsoft.com/office/drawing/2014/main" val="10006"/>
                  </a:ext>
                </a:extLst>
              </a:tr>
              <a:tr h="225551">
                <a:tc>
                  <a:txBody>
                    <a:bodyPr/>
                    <a:lstStyle/>
                    <a:p>
                      <a:r>
                        <a:rPr sz="1000" b="1"/>
                        <a:t>EVTX</a:t>
                      </a:r>
                    </a:p>
                  </a:txBody>
                  <a:tcPr marL="54864" marR="54864" marT="27432" marB="27432"/>
                </a:tc>
                <a:tc>
                  <a:txBody>
                    <a:bodyPr/>
                    <a:lstStyle/>
                    <a:p>
                      <a:r>
                        <a:rPr sz="1000"/>
                        <a:t>Windows Event Log native file format</a:t>
                      </a:r>
                    </a:p>
                  </a:txBody>
                  <a:tcPr marL="54864" marR="54864" marT="27432" marB="27432"/>
                </a:tc>
                <a:extLst>
                  <a:ext uri="{0D108BD9-81ED-4DB2-BD59-A6C34878D82A}">
                    <a16:rowId xmlns:a16="http://schemas.microsoft.com/office/drawing/2014/main" val="10007"/>
                  </a:ext>
                </a:extLst>
              </a:tr>
              <a:tr h="225551">
                <a:tc>
                  <a:txBody>
                    <a:bodyPr/>
                    <a:lstStyle/>
                    <a:p>
                      <a:r>
                        <a:rPr sz="1000" b="1"/>
                        <a:t>GOAD</a:t>
                      </a:r>
                    </a:p>
                  </a:txBody>
                  <a:tcPr marL="54864" marR="54864" marT="27432" marB="27432"/>
                </a:tc>
                <a:tc>
                  <a:txBody>
                    <a:bodyPr/>
                    <a:lstStyle/>
                    <a:p>
                      <a:r>
                        <a:rPr sz="1000"/>
                        <a:t>Game of Active Directory (Orange Cyberdefense lab)</a:t>
                      </a:r>
                    </a:p>
                  </a:txBody>
                  <a:tcPr marL="54864" marR="54864" marT="27432" marB="27432"/>
                </a:tc>
                <a:extLst>
                  <a:ext uri="{0D108BD9-81ED-4DB2-BD59-A6C34878D82A}">
                    <a16:rowId xmlns:a16="http://schemas.microsoft.com/office/drawing/2014/main" val="10008"/>
                  </a:ext>
                </a:extLst>
              </a:tr>
              <a:tr h="225551">
                <a:tc>
                  <a:txBody>
                    <a:bodyPr/>
                    <a:lstStyle/>
                    <a:p>
                      <a:r>
                        <a:rPr sz="1000" b="1"/>
                        <a:t>LDAP / SMB / RDP</a:t>
                      </a:r>
                    </a:p>
                  </a:txBody>
                  <a:tcPr marL="54864" marR="54864" marT="27432" marB="27432"/>
                </a:tc>
                <a:tc>
                  <a:txBody>
                    <a:bodyPr/>
                    <a:lstStyle/>
                    <a:p>
                      <a:r>
                        <a:rPr sz="1000"/>
                        <a:t>Lightweight Directory Access Protocol / Server Message Block / Remote Desktop Protocol</a:t>
                      </a:r>
                    </a:p>
                  </a:txBody>
                  <a:tcPr marL="54864" marR="54864" marT="27432" marB="27432"/>
                </a:tc>
                <a:extLst>
                  <a:ext uri="{0D108BD9-81ED-4DB2-BD59-A6C34878D82A}">
                    <a16:rowId xmlns:a16="http://schemas.microsoft.com/office/drawing/2014/main" val="10009"/>
                  </a:ext>
                </a:extLst>
              </a:tr>
              <a:tr h="225551">
                <a:tc>
                  <a:txBody>
                    <a:bodyPr/>
                    <a:lstStyle/>
                    <a:p>
                      <a:r>
                        <a:rPr sz="1000" b="1"/>
                        <a:t>LLM</a:t>
                      </a:r>
                    </a:p>
                  </a:txBody>
                  <a:tcPr marL="54864" marR="54864" marT="27432" marB="27432"/>
                </a:tc>
                <a:tc>
                  <a:txBody>
                    <a:bodyPr/>
                    <a:lstStyle/>
                    <a:p>
                      <a:r>
                        <a:rPr sz="1000"/>
                        <a:t>Large Language Model</a:t>
                      </a:r>
                    </a:p>
                  </a:txBody>
                  <a:tcPr marL="54864" marR="54864" marT="27432" marB="27432"/>
                </a:tc>
                <a:extLst>
                  <a:ext uri="{0D108BD9-81ED-4DB2-BD59-A6C34878D82A}">
                    <a16:rowId xmlns:a16="http://schemas.microsoft.com/office/drawing/2014/main" val="10010"/>
                  </a:ext>
                </a:extLst>
              </a:tr>
              <a:tr h="225551">
                <a:tc>
                  <a:txBody>
                    <a:bodyPr/>
                    <a:lstStyle/>
                    <a:p>
                      <a:r>
                        <a:rPr sz="1000" b="1"/>
                        <a:t>LLMNR / NBT-NS</a:t>
                      </a:r>
                    </a:p>
                  </a:txBody>
                  <a:tcPr marL="54864" marR="54864" marT="27432" marB="27432"/>
                </a:tc>
                <a:tc>
                  <a:txBody>
                    <a:bodyPr/>
                    <a:lstStyle/>
                    <a:p>
                      <a:r>
                        <a:rPr sz="1000"/>
                        <a:t>Link-Local Multicast Name Resolution / NetBIOS Name Service</a:t>
                      </a:r>
                    </a:p>
                  </a:txBody>
                  <a:tcPr marL="54864" marR="54864" marT="27432" marB="27432"/>
                </a:tc>
                <a:extLst>
                  <a:ext uri="{0D108BD9-81ED-4DB2-BD59-A6C34878D82A}">
                    <a16:rowId xmlns:a16="http://schemas.microsoft.com/office/drawing/2014/main" val="10011"/>
                  </a:ext>
                </a:extLst>
              </a:tr>
              <a:tr h="225551">
                <a:tc>
                  <a:txBody>
                    <a:bodyPr/>
                    <a:lstStyle/>
                    <a:p>
                      <a:r>
                        <a:rPr sz="1000" b="1"/>
                        <a:t>LOO</a:t>
                      </a:r>
                    </a:p>
                  </a:txBody>
                  <a:tcPr marL="54864" marR="54864" marT="27432" marB="27432"/>
                </a:tc>
                <a:tc>
                  <a:txBody>
                    <a:bodyPr/>
                    <a:lstStyle/>
                    <a:p>
                      <a:r>
                        <a:rPr sz="1000"/>
                        <a:t>Leave-One-Out cross-validation</a:t>
                      </a:r>
                    </a:p>
                  </a:txBody>
                  <a:tcPr marL="54864" marR="54864" marT="27432" marB="27432"/>
                </a:tc>
                <a:extLst>
                  <a:ext uri="{0D108BD9-81ED-4DB2-BD59-A6C34878D82A}">
                    <a16:rowId xmlns:a16="http://schemas.microsoft.com/office/drawing/2014/main" val="10012"/>
                  </a:ext>
                </a:extLst>
              </a:tr>
              <a:tr h="225551">
                <a:tc>
                  <a:txBody>
                    <a:bodyPr/>
                    <a:lstStyle/>
                    <a:p>
                      <a:r>
                        <a:rPr sz="1000" b="1"/>
                        <a:t>MCP</a:t>
                      </a:r>
                    </a:p>
                  </a:txBody>
                  <a:tcPr marL="54864" marR="54864" marT="27432" marB="27432"/>
                </a:tc>
                <a:tc>
                  <a:txBody>
                    <a:bodyPr/>
                    <a:lstStyle/>
                    <a:p>
                      <a:r>
                        <a:rPr sz="1000"/>
                        <a:t>Model Context Protocol</a:t>
                      </a:r>
                    </a:p>
                  </a:txBody>
                  <a:tcPr marL="54864" marR="54864" marT="27432" marB="27432"/>
                </a:tc>
                <a:extLst>
                  <a:ext uri="{0D108BD9-81ED-4DB2-BD59-A6C34878D82A}">
                    <a16:rowId xmlns:a16="http://schemas.microsoft.com/office/drawing/2014/main" val="10013"/>
                  </a:ext>
                </a:extLst>
              </a:tr>
              <a:tr h="225551">
                <a:tc>
                  <a:txBody>
                    <a:bodyPr/>
                    <a:lstStyle/>
                    <a:p>
                      <a:r>
                        <a:rPr sz="1000" b="1"/>
                        <a:t>PCAP</a:t>
                      </a:r>
                    </a:p>
                  </a:txBody>
                  <a:tcPr marL="54864" marR="54864" marT="27432" marB="27432"/>
                </a:tc>
                <a:tc>
                  <a:txBody>
                    <a:bodyPr/>
                    <a:lstStyle/>
                    <a:p>
                      <a:r>
                        <a:rPr sz="1000"/>
                        <a:t>Packet capture</a:t>
                      </a:r>
                    </a:p>
                  </a:txBody>
                  <a:tcPr marL="54864" marR="54864" marT="27432" marB="27432"/>
                </a:tc>
                <a:extLst>
                  <a:ext uri="{0D108BD9-81ED-4DB2-BD59-A6C34878D82A}">
                    <a16:rowId xmlns:a16="http://schemas.microsoft.com/office/drawing/2014/main" val="10014"/>
                  </a:ext>
                </a:extLst>
              </a:tr>
              <a:tr h="225551">
                <a:tc>
                  <a:txBody>
                    <a:bodyPr/>
                    <a:lstStyle/>
                    <a:p>
                      <a:r>
                        <a:rPr sz="1000" b="1"/>
                        <a:t>RF / GB / XGB / LR / SVM / KNN</a:t>
                      </a:r>
                    </a:p>
                  </a:txBody>
                  <a:tcPr marL="54864" marR="54864" marT="27432" marB="27432"/>
                </a:tc>
                <a:tc>
                  <a:txBody>
                    <a:bodyPr/>
                    <a:lstStyle/>
                    <a:p>
                      <a:r>
                        <a:rPr sz="1000"/>
                        <a:t>Random Forest / Gradient Boosting / XGBoost / Logistic Regression / Support Vector Machine / K-Nearest Neighbors</a:t>
                      </a:r>
                    </a:p>
                  </a:txBody>
                  <a:tcPr marL="54864" marR="54864" marT="27432" marB="27432"/>
                </a:tc>
                <a:extLst>
                  <a:ext uri="{0D108BD9-81ED-4DB2-BD59-A6C34878D82A}">
                    <a16:rowId xmlns:a16="http://schemas.microsoft.com/office/drawing/2014/main" val="10015"/>
                  </a:ext>
                </a:extLst>
              </a:tr>
              <a:tr h="225551">
                <a:tc>
                  <a:txBody>
                    <a:bodyPr/>
                    <a:lstStyle/>
                    <a:p>
                      <a:r>
                        <a:rPr sz="1000" b="1"/>
                        <a:t>ROE</a:t>
                      </a:r>
                    </a:p>
                  </a:txBody>
                  <a:tcPr marL="54864" marR="54864" marT="27432" marB="27432"/>
                </a:tc>
                <a:tc>
                  <a:txBody>
                    <a:bodyPr/>
                    <a:lstStyle/>
                    <a:p>
                      <a:r>
                        <a:rPr sz="1000"/>
                        <a:t>Rules of Engagement</a:t>
                      </a:r>
                    </a:p>
                  </a:txBody>
                  <a:tcPr marL="54864" marR="54864" marT="27432" marB="27432"/>
                </a:tc>
                <a:extLst>
                  <a:ext uri="{0D108BD9-81ED-4DB2-BD59-A6C34878D82A}">
                    <a16:rowId xmlns:a16="http://schemas.microsoft.com/office/drawing/2014/main" val="10016"/>
                  </a:ext>
                </a:extLst>
              </a:tr>
              <a:tr h="225551">
                <a:tc>
                  <a:txBody>
                    <a:bodyPr/>
                    <a:lstStyle/>
                    <a:p>
                      <a:r>
                        <a:rPr sz="1000" b="1"/>
                        <a:t>SHA-256</a:t>
                      </a:r>
                    </a:p>
                  </a:txBody>
                  <a:tcPr marL="54864" marR="54864" marT="27432" marB="27432"/>
                </a:tc>
                <a:tc>
                  <a:txBody>
                    <a:bodyPr/>
                    <a:lstStyle/>
                    <a:p>
                      <a:r>
                        <a:rPr sz="1000"/>
                        <a:t>Secure Hash Algorithm, 256-bit (evidence manifests)</a:t>
                      </a:r>
                    </a:p>
                  </a:txBody>
                  <a:tcPr marL="54864" marR="54864" marT="27432" marB="27432"/>
                </a:tc>
                <a:extLst>
                  <a:ext uri="{0D108BD9-81ED-4DB2-BD59-A6C34878D82A}">
                    <a16:rowId xmlns:a16="http://schemas.microsoft.com/office/drawing/2014/main" val="10017"/>
                  </a:ext>
                </a:extLst>
              </a:tr>
              <a:tr h="225551">
                <a:tc>
                  <a:txBody>
                    <a:bodyPr/>
                    <a:lstStyle/>
                    <a:p>
                      <a:r>
                        <a:rPr sz="1000" b="1"/>
                        <a:t>SMOTE</a:t>
                      </a:r>
                    </a:p>
                  </a:txBody>
                  <a:tcPr marL="54864" marR="54864" marT="27432" marB="27432"/>
                </a:tc>
                <a:tc>
                  <a:txBody>
                    <a:bodyPr/>
                    <a:lstStyle/>
                    <a:p>
                      <a:r>
                        <a:rPr sz="1000"/>
                        <a:t>Synthetic Minority Over-sampling Technique</a:t>
                      </a:r>
                    </a:p>
                  </a:txBody>
                  <a:tcPr marL="54864" marR="54864" marT="27432" marB="27432"/>
                </a:tc>
                <a:extLst>
                  <a:ext uri="{0D108BD9-81ED-4DB2-BD59-A6C34878D82A}">
                    <a16:rowId xmlns:a16="http://schemas.microsoft.com/office/drawing/2014/main" val="1001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0"/>
            <a:ext cx="8595360" cy="640080"/>
          </a:xfrm>
        </p:spPr>
        <p:txBody>
          <a:bodyPr wrap="square"/>
          <a:lstStyle/>
          <a:p>
            <a:pPr algn="ctr"/>
            <a:r>
              <a:rPr sz="1500" b="1" dirty="0">
                <a:solidFill>
                  <a:srgbClr val="404040"/>
                </a:solidFill>
              </a:rPr>
              <a:t>Block Diagram Level 1</a:t>
            </a:r>
          </a:p>
        </p:txBody>
      </p:sp>
      <p:sp>
        <p:nvSpPr>
          <p:cNvPr id="4" name="Rectangle 3"/>
          <p:cNvSpPr/>
          <p:nvPr/>
        </p:nvSpPr>
        <p:spPr>
          <a:xfrm>
            <a:off x="3429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 Stand up the GOAD lab and evidence pipeline</a:t>
            </a:r>
          </a:p>
          <a:p>
            <a:pPr algn="l"/>
            <a:r>
              <a:rPr sz="950" b="0">
                <a:solidFill>
                  <a:srgbClr val="000000"/>
                </a:solidFill>
              </a:rPr>
              <a:t>Deploy GOAD on AWS at a pinned revision with host auditing, a network sensor and a separate evidence account.</a:t>
            </a:r>
          </a:p>
        </p:txBody>
      </p:sp>
      <p:sp>
        <p:nvSpPr>
          <p:cNvPr id="5" name="Rectangle 4"/>
          <p:cNvSpPr/>
          <p:nvPr/>
        </p:nvSpPr>
        <p:spPr>
          <a:xfrm>
            <a:off x="33147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dirty="0">
                <a:solidFill>
                  <a:srgbClr val="000000"/>
                </a:solidFill>
              </a:rPr>
              <a:t>2. Attest telemetry and resets</a:t>
            </a:r>
          </a:p>
          <a:p>
            <a:pPr algn="l"/>
            <a:r>
              <a:rPr sz="950" b="0" dirty="0">
                <a:solidFill>
                  <a:srgbClr val="000000"/>
                </a:solidFill>
              </a:rPr>
              <a:t>Prove every source is captured and archived and resets are clean before any scored run.</a:t>
            </a:r>
          </a:p>
        </p:txBody>
      </p:sp>
      <p:sp>
        <p:nvSpPr>
          <p:cNvPr id="6" name="Rectangle 5"/>
          <p:cNvSpPr/>
          <p:nvPr/>
        </p:nvSpPr>
        <p:spPr>
          <a:xfrm>
            <a:off x="62865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3. Freeze the protocol and preregister</a:t>
            </a:r>
          </a:p>
          <a:p>
            <a:pPr algn="l"/>
            <a:r>
              <a:rPr sz="950" b="0">
                <a:solidFill>
                  <a:srgbClr val="000000"/>
                </a:solidFill>
              </a:rPr>
              <a:t>Fix the objective, access window, rules of engagement, hypotheses, baselines and split plan.</a:t>
            </a:r>
          </a:p>
        </p:txBody>
      </p:sp>
      <p:sp>
        <p:nvSpPr>
          <p:cNvPr id="7" name="Rectangle 6"/>
          <p:cNvSpPr/>
          <p:nvPr/>
        </p:nvSpPr>
        <p:spPr>
          <a:xfrm>
            <a:off x="3429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4. Prepare operators and the shared session mechanism</a:t>
            </a:r>
          </a:p>
          <a:p>
            <a:pPr algn="l"/>
            <a:r>
              <a:rPr sz="950" b="0">
                <a:solidFill>
                  <a:srgbClr val="000000"/>
                </a:solidFill>
              </a:rPr>
              <a:t>Brief testers, confirm the autonomous configuration, and give both arms an identical foothold.</a:t>
            </a:r>
          </a:p>
        </p:txBody>
      </p:sp>
      <p:sp>
        <p:nvSpPr>
          <p:cNvPr id="8" name="Rectangle 7"/>
          <p:cNvSpPr/>
          <p:nvPr/>
        </p:nvSpPr>
        <p:spPr>
          <a:xfrm>
            <a:off x="33147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5. Run Phase 1 matched trials</a:t>
            </a:r>
          </a:p>
          <a:p>
            <a:pPr algn="l"/>
            <a:r>
              <a:rPr sz="950" b="0">
                <a:solidFill>
                  <a:srgbClr val="000000"/>
                </a:solidFill>
              </a:rPr>
              <a:t>Execute black-box and white-box trials per arm from verified resets inside the shared access window.</a:t>
            </a:r>
          </a:p>
        </p:txBody>
      </p:sp>
      <p:sp>
        <p:nvSpPr>
          <p:cNvPr id="9" name="Rectangle 8"/>
          <p:cNvSpPr/>
          <p:nvPr/>
        </p:nvSpPr>
        <p:spPr>
          <a:xfrm>
            <a:off x="62865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6. Archive evidence and ground truth</a:t>
            </a:r>
          </a:p>
          <a:p>
            <a:pPr algn="l"/>
            <a:r>
              <a:rPr sz="950" b="0">
                <a:solidFill>
                  <a:srgbClr val="000000"/>
                </a:solidFill>
              </a:rPr>
              <a:t>Store native logs with hash manifests and keep labels apart from model inputs.</a:t>
            </a:r>
          </a:p>
        </p:txBody>
      </p:sp>
      <p:sp>
        <p:nvSpPr>
          <p:cNvPr id="10" name="Rectangle 9"/>
          <p:cNvSpPr/>
          <p:nvPr/>
        </p:nvSpPr>
        <p:spPr>
          <a:xfrm>
            <a:off x="342900" y="310896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7. Engineer target-side features</a:t>
            </a:r>
          </a:p>
          <a:p>
            <a:pPr algn="l"/>
            <a:r>
              <a:rPr sz="950" b="0">
                <a:solidFill>
                  <a:srgbClr val="000000"/>
                </a:solidFill>
              </a:rPr>
              <a:t>Build pre-declared behavioral feature families from host and network evidence.</a:t>
            </a:r>
          </a:p>
        </p:txBody>
      </p:sp>
      <p:sp>
        <p:nvSpPr>
          <p:cNvPr id="11" name="Rectangle 10"/>
          <p:cNvSpPr/>
          <p:nvPr/>
        </p:nvSpPr>
        <p:spPr>
          <a:xfrm>
            <a:off x="3314700" y="310896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8. Train and evaluate models</a:t>
            </a:r>
          </a:p>
          <a:p>
            <a:pPr algn="l"/>
            <a:r>
              <a:rPr sz="950" b="0">
                <a:solidFill>
                  <a:srgbClr val="000000"/>
                </a:solidFill>
              </a:rPr>
              <a:t>Compare model families against the baselines on identical grouped folds.</a:t>
            </a:r>
          </a:p>
        </p:txBody>
      </p:sp>
      <p:sp>
        <p:nvSpPr>
          <p:cNvPr id="12" name="Rectangle 11"/>
          <p:cNvSpPr/>
          <p:nvPr/>
        </p:nvSpPr>
        <p:spPr>
          <a:xfrm>
            <a:off x="6286500" y="310896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9. Ablate and test generalization</a:t>
            </a:r>
          </a:p>
          <a:p>
            <a:pPr algn="l"/>
            <a:r>
              <a:rPr sz="950" b="0">
                <a:solidFill>
                  <a:srgbClr val="000000"/>
                </a:solidFill>
              </a:rPr>
              <a:t>Remove timing and tool identifiers; hold out operators and configurations; add an evasion arm.</a:t>
            </a:r>
          </a:p>
        </p:txBody>
      </p:sp>
      <p:sp>
        <p:nvSpPr>
          <p:cNvPr id="13" name="Rectangle 12"/>
          <p:cNvSpPr/>
          <p:nvPr/>
        </p:nvSpPr>
        <p:spPr>
          <a:xfrm>
            <a:off x="342900" y="429768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10. Gate B, Phase 2 and defense</a:t>
            </a:r>
          </a:p>
          <a:p>
            <a:pPr algn="l"/>
            <a:r>
              <a:rPr sz="950" b="0">
                <a:solidFill>
                  <a:srgbClr val="000000"/>
                </a:solidFill>
              </a:rPr>
              <a:t>Expand to the confirmatory study, assemble the reproducibility package and defend the finding.</a:t>
            </a:r>
          </a:p>
        </p:txBody>
      </p:sp>
      <p:cxnSp>
        <p:nvCxnSpPr>
          <p:cNvPr id="14" name="Connector 13"/>
          <p:cNvCxnSpPr/>
          <p:nvPr/>
        </p:nvCxnSpPr>
        <p:spPr>
          <a:xfrm>
            <a:off x="28575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93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164592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600200" y="178308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178308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575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293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283464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600200" y="297180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00200" y="297180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8575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293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43800" y="402336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00200" y="416052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00200" y="416052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 Stand up the GOAD lab and evidence pipeline</a:t>
            </a:r>
          </a:p>
          <a:p>
            <a:pPr algn="l"/>
            <a:r>
              <a:rPr sz="1100" b="0">
                <a:solidFill>
                  <a:srgbClr val="000000"/>
                </a:solidFill>
              </a:rPr>
              <a:t>Deploy GOAD on AWS at a pinned revision with host auditing, a network sensor and a separate evidence account.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1.1 Deploy GOAD on AWS</a:t>
            </a:r>
          </a:p>
          <a:p>
            <a:pPr algn="l"/>
            <a:r>
              <a:rPr sz="1000" b="0">
                <a:solidFill>
                  <a:srgbClr val="000000"/>
                </a:solidFill>
              </a:rPr>
              <a:t>Pinned revision in us-east-1 with disposable targets and a separate persistent evidence account (private S3 plus CloudWatch Logs for search).</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1.2 Enable host auditing</a:t>
            </a:r>
          </a:p>
          <a:p>
            <a:pPr algn="l"/>
            <a:r>
              <a:rPr sz="1000" b="0">
                <a:solidFill>
                  <a:srgbClr val="000000"/>
                </a:solidFill>
              </a:rPr>
              <a:t>Sysmon or Security 4688 with command lines, PowerShell 4104, AD object audit and DNS logging on the foothold and the five domain targets.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1.3 Add the network sensor</a:t>
            </a:r>
          </a:p>
          <a:p>
            <a:pPr algn="l"/>
            <a:r>
              <a:rPr sz="1000" b="0">
                <a:solidFill>
                  <a:srgbClr val="000000"/>
                </a:solidFill>
              </a:rPr>
              <a:t>VPC traffic mirror of the DC and member-server interfaces into Zeek/Suricata with capped PCAP; confirm instance-type support and add the cost to the estimate.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2. Gate A: attest telemetry and resets</a:t>
            </a:r>
          </a:p>
          <a:p>
            <a:pPr algn="l"/>
            <a:r>
              <a:rPr sz="1100" b="0">
                <a:solidFill>
                  <a:srgbClr val="000000"/>
                </a:solidFill>
              </a:rPr>
              <a:t>Prove every source is captured and archived and resets are clean before any scored run.</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2.1 Fire canaries on every source</a:t>
            </a:r>
          </a:p>
          <a:p>
            <a:pPr algn="l"/>
            <a:r>
              <a:rPr sz="1000" b="0">
                <a:solidFill>
                  <a:srgbClr val="000000"/>
                </a:solidFill>
              </a:rPr>
              <a:t>Harmless logon, process, script, directory-change and network events must arrive in CloudWatch and the native archive with SHA-256 manifests.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2.2 Check clocks and delivery lag</a:t>
            </a:r>
          </a:p>
          <a:p>
            <a:pPr algn="l"/>
            <a:r>
              <a:rPr sz="1000" b="0">
                <a:solidFill>
                  <a:srgbClr val="000000"/>
                </a:solidFill>
              </a:rPr>
              <a:t>UTC offset at most 1 second at trial boundaries; delivery lag recorded separately; source counts reconciled to the manifest.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2.3 Attest the reset</a:t>
            </a:r>
          </a:p>
          <a:p>
            <a:pPr algn="l"/>
            <a:r>
              <a:rPr sz="1000" b="0">
                <a:solidFill>
                  <a:srgbClr val="000000"/>
                </a:solidFill>
              </a:rPr>
              <a:t>Rebuild from images, verify the clean state and record the reset ID; a failed check blocks scored runs and triggers remediation, not a larger run.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3. Freeze the protocol and preregister</a:t>
            </a:r>
          </a:p>
          <a:p>
            <a:pPr algn="l"/>
            <a:r>
              <a:rPr sz="1100" b="0">
                <a:solidFill>
                  <a:srgbClr val="000000"/>
                </a:solidFill>
              </a:rPr>
              <a:t>Fix the objective, access window, rules of engagement, hypotheses, baselines and split plan.</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3.1 Fix the objective and ROE</a:t>
            </a:r>
          </a:p>
          <a:p>
            <a:pPr algn="l"/>
            <a:r>
              <a:rPr sz="1000" b="0">
                <a:solidFill>
                  <a:srgbClr val="000000"/>
                </a:solidFill>
              </a:rPr>
              <a:t>From a low-privilege domain identity, map directory and share relationships and read one synthetic marker file through one predefined weakness; one ROE for both arms.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3.2 Size the access window</a:t>
            </a:r>
          </a:p>
          <a:p>
            <a:pPr algn="l"/>
            <a:r>
              <a:rPr sz="1000" b="0">
                <a:solidFill>
                  <a:srgbClr val="000000"/>
                </a:solidFill>
              </a:rPr>
              <a:t>Dry run sets the window at several times the human median; define the stop rule; runs continue past the objective until the window closes.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3.3 Preregister</a:t>
            </a:r>
          </a:p>
          <a:p>
            <a:pPr algn="l"/>
            <a:r>
              <a:rPr sz="1000" b="0">
                <a:solidFill>
                  <a:srgbClr val="000000"/>
                </a:solidFill>
              </a:rPr>
              <a:t>Freeze H1–H3, the metadata-only and timing-threshold baselines, the trial roll-up rule and the grouped split manifest before scored runs.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4. Prepare operators and the shared session mechanism</a:t>
            </a:r>
          </a:p>
          <a:p>
            <a:pPr algn="l"/>
            <a:r>
              <a:rPr sz="1100" b="0">
                <a:solidFill>
                  <a:srgbClr val="000000"/>
                </a:solidFill>
              </a:rPr>
              <a:t>Brief testers, confirm the autonomous configuration, and give both arms an identical foothold.</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4.1 Recruit and brief testers</a:t>
            </a:r>
          </a:p>
          <a:p>
            <a:pPr algn="l"/>
            <a:r>
              <a:rPr sz="1000" b="0">
                <a:solidFill>
                  <a:srgbClr val="000000"/>
                </a:solidFill>
              </a:rPr>
              <a:t>Two certified penetration testers for Phase 1; exposure declarations for GOAD; consent covering retention and publication use.</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4.2 Readiness demo for the AI arm</a:t>
            </a:r>
          </a:p>
          <a:p>
            <a:pPr algn="l"/>
            <a:r>
              <a:rPr sz="1000" b="0">
                <a:solidFill>
                  <a:srgbClr val="000000"/>
                </a:solidFill>
              </a:rPr>
              <a:t>ARTEMIS driving the DGX Spark model: autonomy, per-step latency and provenance; fall back to the in-house agent loop or a hosted model within the spending cap.</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4.3 Equalize the foothold</a:t>
            </a:r>
          </a:p>
          <a:p>
            <a:pPr algn="l"/>
            <a:r>
              <a:rPr sz="1000" b="0">
                <a:solidFill>
                  <a:srgbClr val="000000"/>
                </a:solidFill>
              </a:rPr>
              <a:t>Same OS, tool manifest, offline reference corpus and interactive terminal session for both arms so logons and parent processes do not reveal the arm.</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5. Run Phase 1 matched trials</a:t>
            </a:r>
          </a:p>
          <a:p>
            <a:pPr algn="l"/>
            <a:r>
              <a:rPr sz="1100" b="0">
                <a:solidFill>
                  <a:srgbClr val="000000"/>
                </a:solidFill>
              </a:rPr>
              <a:t>Execute black-box and white-box trials per arm from verified resets inside the shared access window.</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5.1 Scored trials</a:t>
            </a:r>
          </a:p>
          <a:p>
            <a:pPr algn="l"/>
            <a:r>
              <a:rPr sz="1000" b="0">
                <a:solidFill>
                  <a:srgbClr val="000000"/>
                </a:solidFill>
              </a:rPr>
              <a:t>Black-box (primary) and white-box trials for each arm, counterbalancing replica, day and address assignments; reset between every trial.</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5.2 Controls</a:t>
            </a:r>
          </a:p>
          <a:p>
            <a:pPr algn="l"/>
            <a:r>
              <a:rPr sz="1000" b="0">
                <a:solidFill>
                  <a:srgbClr val="000000"/>
                </a:solidFill>
              </a:rPr>
              <a:t>Walkthrough runs for detection-rule development and the convergence stress test; scripted replay as a telemetry control (never labeled AI); benign baselines.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5.3 Record outcomes</a:t>
            </a:r>
          </a:p>
          <a:p>
            <a:pPr algn="l"/>
            <a:r>
              <a:rPr sz="1000" b="0">
                <a:solidFill>
                  <a:srgbClr val="000000"/>
                </a:solidFill>
              </a:rPr>
              <a:t>Time-to-objective (censored at window close), interventions and deviations; aborted and failed runs stay in the registry with the reason.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6. Archive evidence and ground truth</a:t>
            </a:r>
          </a:p>
          <a:p>
            <a:pPr algn="l"/>
            <a:r>
              <a:rPr sz="1100" b="0">
                <a:solidFill>
                  <a:srgbClr val="000000"/>
                </a:solidFill>
              </a:rPr>
              <a:t>Store native logs with hash manifests and keep labels apart from model inputs.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6.1 Export native logs per trial</a:t>
            </a:r>
          </a:p>
          <a:p>
            <a:pPr algn="l"/>
            <a:r>
              <a:rPr sz="1000" b="0">
                <a:solidFill>
                  <a:srgbClr val="000000"/>
                </a:solidFill>
              </a:rPr>
              <a:t>EVTX, Sysmon, PowerShell, Zeek/Suricata, capped PCAP and Flow Logs with SHA-256 manifests; originals never replaced by searchable copies.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6.2 Maintain the trial registry</a:t>
            </a:r>
          </a:p>
          <a:p>
            <a:pPr algn="l"/>
            <a:r>
              <a:rPr sz="1000" b="0">
                <a:solidFill>
                  <a:srgbClr val="000000"/>
                </a:solidFill>
              </a:rPr>
              <a:t>Labels, intervention log and partition assignments kept apart from feature directories with restricted access.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6.3 Steward independently</a:t>
            </a:r>
          </a:p>
          <a:p>
            <a:pPr algn="l"/>
            <a:r>
              <a:rPr sz="1000" b="0">
                <a:solidFill>
                  <a:srgbClr val="000000"/>
                </a:solidFill>
              </a:rPr>
              <a:t>Hash spot checks by an evidence steward separate from the builder; retention runs through publication and the institution’s research-data policy.</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7. Engineer target-side features</a:t>
            </a:r>
          </a:p>
          <a:p>
            <a:pPr algn="l"/>
            <a:r>
              <a:rPr sz="1100" b="0">
                <a:solidFill>
                  <a:srgbClr val="000000"/>
                </a:solidFill>
              </a:rPr>
              <a:t>Build pre-declared behavioral feature families from host and network evidence.</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7.1 Host features</a:t>
            </a:r>
          </a:p>
          <a:p>
            <a:pPr algn="l"/>
            <a:r>
              <a:rPr sz="1000" b="0">
                <a:solidFill>
                  <a:srgbClr val="000000"/>
                </a:solidFill>
              </a:rPr>
              <a:t>ATT&amp;CK-mapped categories: command diversity, transition entropy, enumeration breadth, Kerberos and LDAP cadence, hosts touched per hour, phase ordering, retries and errors.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7.2 Network features</a:t>
            </a:r>
          </a:p>
          <a:p>
            <a:pPr algn="l"/>
            <a:r>
              <a:rPr sz="1000" b="0">
                <a:solidFill>
                  <a:srgbClr val="000000"/>
                </a:solidFill>
              </a:rPr>
              <a:t>Connection concurrency (parallelism), inter-arrival timing, protocol mix and burst structure from Zeek/Suricata; Flow Logs for coverage only.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7.3 Deny-list and normalization</a:t>
            </a:r>
          </a:p>
          <a:p>
            <a:pPr algn="l"/>
            <a:r>
              <a:rPr sz="1000" b="0">
                <a:solidFill>
                  <a:srgbClr val="000000"/>
                </a:solidFill>
              </a:rPr>
              <a:t>Strip IPs, hostnames, accounts, banners, parent process, runner artifacts and experimenter-set hours; convert counts to rates; version the extraction code.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8. Train and evaluate models</a:t>
            </a:r>
          </a:p>
          <a:p>
            <a:pPr algn="l"/>
            <a:r>
              <a:rPr sz="1100" b="0">
                <a:solidFill>
                  <a:srgbClr val="000000"/>
                </a:solidFill>
              </a:rPr>
              <a:t>Compare model families against the baselines on identical grouped folds.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8.1 Train on grouped folds</a:t>
            </a:r>
          </a:p>
          <a:p>
            <a:pPr algn="l"/>
            <a:r>
              <a:rPr sz="1000" b="0">
                <a:solidFill>
                  <a:srgbClr val="000000"/>
                </a:solidFill>
              </a:rPr>
              <a:t>Tree ensembles (RF, GB, XGB), linear (LR, SVM) and distance-based (KNN) models; all windows from one trial stay on one side of every split.</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8.2 Roll up and compare</a:t>
            </a:r>
          </a:p>
          <a:p>
            <a:pPr algn="l"/>
            <a:r>
              <a:rPr sz="1000" b="0">
                <a:solidFill>
                  <a:srgbClr val="000000"/>
                </a:solidFill>
              </a:rPr>
              <a:t>Window scores roll up to trial predictions by the frozen rule; compare against the metadata-only model and the Palisade-style timing-threshold rule.</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8.3 Report</a:t>
            </a:r>
          </a:p>
          <a:p>
            <a:pPr algn="l"/>
            <a:r>
              <a:rPr sz="1000" b="0">
                <a:solidFill>
                  <a:srgbClr val="000000"/>
                </a:solidFill>
              </a:rPr>
              <a:t>Trial-level macro-F1, per-class precision and recall, confusion matrix; benign false-positive rate, scenario success and time-to-objective reported separately.</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9. Ablate and test generalization</a:t>
            </a:r>
          </a:p>
          <a:p>
            <a:pPr algn="l"/>
            <a:r>
              <a:rPr sz="1100" b="0">
                <a:solidFill>
                  <a:srgbClr val="000000"/>
                </a:solidFill>
              </a:rPr>
              <a:t>Remove timing and tool identifiers; hold out operators and configurations; add an evasion arm.</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9.1 Ablations (H2)</a:t>
            </a:r>
          </a:p>
          <a:p>
            <a:pPr algn="l"/>
            <a:r>
              <a:rPr sz="1000" b="0">
                <a:solidFill>
                  <a:srgbClr val="000000"/>
                </a:solidFill>
              </a:rPr>
              <a:t>Remove timing features, then timing plus tool identifiers; measure the macro-F1 drop per family on the same folds.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9.2 Held-out groups (H3, Phase 2)</a:t>
            </a:r>
          </a:p>
          <a:p>
            <a:pPr algn="l"/>
            <a:r>
              <a:rPr sz="1000" b="0">
                <a:solidFill>
                  <a:srgbClr val="000000"/>
                </a:solidFill>
              </a:rPr>
              <a:t>Hold out one human tester and one AI configuration; evaluate once on the locked groups; report trial counts and grouped uncertainty.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9.3 Evasion arm (RQ4, Phase 2)</a:t>
            </a:r>
          </a:p>
          <a:p>
            <a:pPr algn="l"/>
            <a:r>
              <a:rPr sz="1000" b="0">
                <a:solidFill>
                  <a:srgbClr val="000000"/>
                </a:solidFill>
              </a:rPr>
              <a:t>Instruct the AI to mimic human pacing and re-run the locked evaluation; report the change in separation.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10. Gate B, Phase 2 and defense</a:t>
            </a:r>
          </a:p>
          <a:p>
            <a:pPr algn="l"/>
            <a:r>
              <a:rPr sz="1100" b="0">
                <a:solidFill>
                  <a:srgbClr val="000000"/>
                </a:solidFill>
              </a:rPr>
              <a:t>Expand to the confirmatory study, assemble the reproducibility package and defend the finding.</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10.1 Pass Gate B and expand</a:t>
            </a:r>
          </a:p>
          <a:p>
            <a:pPr algn="l"/>
            <a:r>
              <a:rPr sz="1000" b="0">
                <a:solidFill>
                  <a:srgbClr val="000000"/>
                </a:solidFill>
              </a:rPr>
              <a:t>Usable pilot signal plus settled protocol, recruiting and funding; at least 3 testers and 2 AI configurations on parallel lab copies in multi-day campaigns.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10.2 Reproducibility package</a:t>
            </a:r>
          </a:p>
          <a:p>
            <a:pPr algn="l"/>
            <a:r>
              <a:rPr sz="1000" b="0">
                <a:solidFill>
                  <a:srgbClr val="000000"/>
                </a:solidFill>
              </a:rPr>
              <a:t>Stored logs, frozen splits, versioned feature and model code, seeds, container image, trained models, raw predictions, protocol and deviation log.</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10.3 Write up and defend</a:t>
            </a:r>
          </a:p>
          <a:p>
            <a:pPr algn="l"/>
            <a:r>
              <a:rPr sz="1000" b="0">
                <a:solidFill>
                  <a:srgbClr val="000000"/>
                </a:solidFill>
              </a:rPr>
              <a:t>Report every trial including failures; a partial or negative answer is still a finding; prepare the praxis defense deck and abstract.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Data Collection Pipeline (Branch 1)</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Lab image: </a:t>
            </a:r>
            <a:r>
              <a:rPr sz="1050">
                <a:solidFill>
                  <a:srgbClr val="000000"/>
                </a:solidFill>
              </a:rPr>
              <a:t>GOAD at a pinned revision with audit policies, sensors and the evidence account baked in</a:t>
            </a:r>
          </a:p>
          <a:p>
            <a:pPr>
              <a:spcAft>
                <a:spcPts val="500"/>
              </a:spcAft>
            </a:pPr>
            <a:r>
              <a:rPr sz="1050" b="1">
                <a:solidFill>
                  <a:srgbClr val="000000"/>
                </a:solidFill>
              </a:rPr>
              <a:t>2. Verified reset: </a:t>
            </a:r>
            <a:r>
              <a:rPr sz="1050">
                <a:solidFill>
                  <a:srgbClr val="000000"/>
                </a:solidFill>
              </a:rPr>
              <a:t>rebuild targets from images; attest clean state; issue run ID</a:t>
            </a:r>
          </a:p>
          <a:p>
            <a:pPr>
              <a:spcAft>
                <a:spcPts val="500"/>
              </a:spcAft>
            </a:pPr>
            <a:r>
              <a:rPr sz="1050" b="1">
                <a:solidFill>
                  <a:srgbClr val="000000"/>
                </a:solidFill>
              </a:rPr>
              <a:t>3. Matched trial: </a:t>
            </a:r>
            <a:r>
              <a:rPr sz="1050">
                <a:solidFill>
                  <a:srgbClr val="000000"/>
                </a:solidFill>
              </a:rPr>
              <a:t>human or autonomous-AI arm starts on the same foothold with the same window, tools and ROE</a:t>
            </a:r>
          </a:p>
          <a:p>
            <a:pPr>
              <a:spcAft>
                <a:spcPts val="500"/>
              </a:spcAft>
            </a:pPr>
            <a:r>
              <a:rPr sz="1050" b="1">
                <a:solidFill>
                  <a:srgbClr val="000000"/>
                </a:solidFill>
              </a:rPr>
              <a:t>4. Target-side capture: </a:t>
            </a:r>
            <a:r>
              <a:rPr sz="1050">
                <a:solidFill>
                  <a:srgbClr val="000000"/>
                </a:solidFill>
              </a:rPr>
              <a:t>host events (Sysmon, Security, PowerShell, AD, DNS) and network sensor (Zeek/Suricata, PCAP, Flow Logs)</a:t>
            </a:r>
          </a:p>
          <a:p>
            <a:pPr>
              <a:spcAft>
                <a:spcPts val="500"/>
              </a:spcAft>
            </a:pPr>
            <a:r>
              <a:rPr sz="1050" b="1">
                <a:solidFill>
                  <a:srgbClr val="000000"/>
                </a:solidFill>
              </a:rPr>
              <a:t>5. Evidence archive: </a:t>
            </a:r>
            <a:r>
              <a:rPr sz="1050">
                <a:solidFill>
                  <a:srgbClr val="000000"/>
                </a:solidFill>
              </a:rPr>
              <a:t>native exports to private S3 with SHA-256 manifests; CloudWatch copies for search</a:t>
            </a:r>
          </a:p>
          <a:p>
            <a:pPr>
              <a:spcAft>
                <a:spcPts val="500"/>
              </a:spcAft>
            </a:pPr>
            <a:r>
              <a:rPr sz="1050" b="1">
                <a:solidFill>
                  <a:srgbClr val="000000"/>
                </a:solidFill>
              </a:rPr>
              <a:t>6. Gate checks: </a:t>
            </a:r>
            <a:r>
              <a:rPr sz="1050">
                <a:solidFill>
                  <a:srgbClr val="000000"/>
                </a:solidFill>
              </a:rPr>
              <a:t>canaries present, clocks within 1 s, hashes verified, reset attested; fail = remediate and rerun</a:t>
            </a:r>
          </a:p>
          <a:p>
            <a:pPr>
              <a:spcAft>
                <a:spcPts val="500"/>
              </a:spcAft>
            </a:pPr>
            <a:r>
              <a:rPr sz="1050" b="1">
                <a:solidFill>
                  <a:srgbClr val="000000"/>
                </a:solidFill>
              </a:rPr>
              <a:t>7. Registry and labels: </a:t>
            </a:r>
            <a:r>
              <a:rPr sz="1050">
                <a:solidFill>
                  <a:srgbClr val="000000"/>
                </a:solidFill>
              </a:rPr>
              <a:t>arm, operator/config, condition, partition, outcome and interventions stored apart from features</a:t>
            </a:r>
          </a:p>
        </p:txBody>
      </p:sp>
      <p:sp>
        <p:nvSpPr>
          <p:cNvPr id="6" name="Magnetic Disk 5"/>
          <p:cNvSpPr/>
          <p:nvPr/>
        </p:nvSpPr>
        <p:spPr>
          <a:xfrm>
            <a:off x="777239" y="320040"/>
            <a:ext cx="2834640" cy="475488"/>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GOAD lab image (pinned revision)</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Verified reset → run ID</a:t>
            </a:r>
          </a:p>
        </p:txBody>
      </p:sp>
      <p:sp>
        <p:nvSpPr>
          <p:cNvPr id="8" name="Data 7"/>
          <p:cNvSpPr/>
          <p:nvPr/>
        </p:nvSpPr>
        <p:spPr>
          <a:xfrm>
            <a:off x="640080" y="1837944"/>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Matched trial: human | AI arm</a:t>
            </a:r>
          </a:p>
          <a:p>
            <a:pPr algn="ctr"/>
            <a:r>
              <a:rPr sz="1000" b="0">
                <a:solidFill>
                  <a:srgbClr val="000000"/>
                </a:solidFill>
              </a:rPr>
              <a:t>(same foothold, window, ROE)</a:t>
            </a:r>
          </a:p>
        </p:txBody>
      </p:sp>
      <p:sp>
        <p:nvSpPr>
          <p:cNvPr id="9" name="Process 8"/>
          <p:cNvSpPr/>
          <p:nvPr/>
        </p:nvSpPr>
        <p:spPr>
          <a:xfrm>
            <a:off x="777239" y="2596896"/>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Target-side capture</a:t>
            </a:r>
          </a:p>
          <a:p>
            <a:pPr algn="ctr"/>
            <a:r>
              <a:rPr sz="1000" b="0">
                <a:solidFill>
                  <a:srgbClr val="FFFFFF"/>
                </a:solidFill>
              </a:rPr>
              <a:t>host events + network sensor</a:t>
            </a:r>
          </a:p>
        </p:txBody>
      </p:sp>
      <p:sp>
        <p:nvSpPr>
          <p:cNvPr id="10" name="Magnetic Disk 9"/>
          <p:cNvSpPr/>
          <p:nvPr/>
        </p:nvSpPr>
        <p:spPr>
          <a:xfrm>
            <a:off x="777239" y="3355848"/>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Evidence archive</a:t>
            </a:r>
          </a:p>
          <a:p>
            <a:pPr algn="ctr"/>
            <a:r>
              <a:rPr sz="1000" b="0">
                <a:solidFill>
                  <a:srgbClr val="FFFFFF"/>
                </a:solidFill>
              </a:rPr>
              <a:t>S3 + SHA-256 manifests</a:t>
            </a:r>
          </a:p>
        </p:txBody>
      </p:sp>
      <p:sp>
        <p:nvSpPr>
          <p:cNvPr id="11" name="Decision 10"/>
          <p:cNvSpPr/>
          <p:nvPr/>
        </p:nvSpPr>
        <p:spPr>
          <a:xfrm>
            <a:off x="640080" y="4014215"/>
            <a:ext cx="3108960" cy="67665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Gate checks pass?</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Trial registry + labels</a:t>
            </a:r>
          </a:p>
          <a:p>
            <a:pPr algn="ctr"/>
            <a:r>
              <a:rPr sz="1000" b="0">
                <a:solidFill>
                  <a:srgbClr val="000000"/>
                </a:solidFill>
              </a:rPr>
              <a:t>(restricted)</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182879"/>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690872"/>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4352544"/>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1316736"/>
            <a:ext cx="0" cy="3035808"/>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1316736"/>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4151376"/>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690872"/>
            <a:ext cx="457200" cy="182880"/>
          </a:xfrm>
          <a:prstGeom prst="rect">
            <a:avLst/>
          </a:prstGeom>
          <a:noFill/>
        </p:spPr>
        <p:txBody>
          <a:bodyPr wrap="square" lIns="27432" tIns="27432" rIns="27432" bIns="27432" anchor="t">
            <a:spAutoFit/>
          </a:bodyPr>
          <a:lstStyle/>
          <a:p>
            <a:r>
              <a:rPr sz="800">
                <a:solidFill>
                  <a:srgbClr val="000000"/>
                </a:solidFill>
              </a:rPr>
              <a:t>Yes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Classification Pipeline (Branch 2)</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Native logs: </a:t>
            </a:r>
            <a:r>
              <a:rPr sz="1050">
                <a:solidFill>
                  <a:srgbClr val="000000"/>
                </a:solidFill>
              </a:rPr>
              <a:t>per-trial host and network evidence from the archive</a:t>
            </a:r>
          </a:p>
          <a:p>
            <a:pPr>
              <a:spcAft>
                <a:spcPts val="500"/>
              </a:spcAft>
            </a:pPr>
            <a:r>
              <a:rPr sz="1050" b="1">
                <a:solidFill>
                  <a:srgbClr val="000000"/>
                </a:solidFill>
              </a:rPr>
              <a:t>2. Feature extraction: </a:t>
            </a:r>
            <a:r>
              <a:rPr sz="1050">
                <a:solidFill>
                  <a:srgbClr val="000000"/>
                </a:solidFill>
              </a:rPr>
              <a:t>ATT&amp;CK mapping, rate normalization, deny-list; versioned code</a:t>
            </a:r>
          </a:p>
          <a:p>
            <a:pPr>
              <a:spcAft>
                <a:spcPts val="500"/>
              </a:spcAft>
            </a:pPr>
            <a:r>
              <a:rPr sz="1050" b="1">
                <a:solidFill>
                  <a:srgbClr val="000000"/>
                </a:solidFill>
              </a:rPr>
              <a:t>3. Frozen grouped split: </a:t>
            </a:r>
            <a:r>
              <a:rPr sz="1050">
                <a:solidFill>
                  <a:srgbClr val="000000"/>
                </a:solidFill>
              </a:rPr>
              <a:t>train / validation / test by trial; manifest fixed before scored runs</a:t>
            </a:r>
          </a:p>
          <a:p>
            <a:pPr>
              <a:spcAft>
                <a:spcPts val="500"/>
              </a:spcAft>
            </a:pPr>
            <a:r>
              <a:rPr sz="1050" b="1">
                <a:solidFill>
                  <a:srgbClr val="000000"/>
                </a:solidFill>
              </a:rPr>
              <a:t>4. Model training: </a:t>
            </a:r>
            <a:r>
              <a:rPr sz="1050">
                <a:solidFill>
                  <a:srgbClr val="000000"/>
                </a:solidFill>
              </a:rPr>
              <a:t>RF, GB, XGBoost, LR, SVM, KNN on identical folds; window scores roll up to trials</a:t>
            </a:r>
          </a:p>
          <a:p>
            <a:pPr>
              <a:spcAft>
                <a:spcPts val="500"/>
              </a:spcAft>
            </a:pPr>
            <a:r>
              <a:rPr sz="1050" b="1">
                <a:solidFill>
                  <a:srgbClr val="000000"/>
                </a:solidFill>
              </a:rPr>
              <a:t>5. Validation: </a:t>
            </a:r>
            <a:r>
              <a:rPr sz="1050">
                <a:solidFill>
                  <a:srgbClr val="000000"/>
                </a:solidFill>
              </a:rPr>
              <a:t>grouped cross-validation until performance converges; nothing tuned on the test set</a:t>
            </a:r>
          </a:p>
          <a:p>
            <a:pPr>
              <a:spcAft>
                <a:spcPts val="500"/>
              </a:spcAft>
            </a:pPr>
            <a:r>
              <a:rPr sz="1050" b="1">
                <a:solidFill>
                  <a:srgbClr val="000000"/>
                </a:solidFill>
              </a:rPr>
              <a:t>6. Locked test: </a:t>
            </a:r>
            <a:r>
              <a:rPr sz="1050">
                <a:solidFill>
                  <a:srgbClr val="000000"/>
                </a:solidFill>
              </a:rPr>
              <a:t>one evaluation of trial-level predictions on the held-out trials</a:t>
            </a:r>
          </a:p>
          <a:p>
            <a:pPr>
              <a:spcAft>
                <a:spcPts val="500"/>
              </a:spcAft>
            </a:pPr>
            <a:r>
              <a:rPr sz="1050" b="1">
                <a:solidFill>
                  <a:srgbClr val="000000"/>
                </a:solidFill>
              </a:rPr>
              <a:t>7. Metrics and baselines: </a:t>
            </a:r>
            <a:r>
              <a:rPr sz="1050">
                <a:solidFill>
                  <a:srgbClr val="000000"/>
                </a:solidFill>
              </a:rPr>
              <a:t>macro-F1, per-class precision/recall, confusion matrix vs. metadata-only and timing-threshold baselines</a:t>
            </a:r>
          </a:p>
        </p:txBody>
      </p:sp>
      <p:sp>
        <p:nvSpPr>
          <p:cNvPr id="6" name="Magnetic Disk 5"/>
          <p:cNvSpPr/>
          <p:nvPr/>
        </p:nvSpPr>
        <p:spPr>
          <a:xfrm>
            <a:off x="777239" y="320040"/>
            <a:ext cx="2834640" cy="475488"/>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Native logs (per trial)</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Feature extraction</a:t>
            </a:r>
          </a:p>
          <a:p>
            <a:pPr algn="ctr"/>
            <a:r>
              <a:rPr sz="1000" b="0">
                <a:solidFill>
                  <a:srgbClr val="FFFFFF"/>
                </a:solidFill>
              </a:rPr>
              <a:t>(deny-list, ATT&amp;CK, rates)</a:t>
            </a:r>
          </a:p>
        </p:txBody>
      </p:sp>
      <p:sp>
        <p:nvSpPr>
          <p:cNvPr id="8" name="Data 7"/>
          <p:cNvSpPr/>
          <p:nvPr/>
        </p:nvSpPr>
        <p:spPr>
          <a:xfrm>
            <a:off x="640080" y="1837944"/>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Frozen grouped split</a:t>
            </a:r>
          </a:p>
          <a:p>
            <a:pPr algn="ctr"/>
            <a:r>
              <a:rPr sz="1000" b="0">
                <a:solidFill>
                  <a:srgbClr val="000000"/>
                </a:solidFill>
              </a:rPr>
              <a:t>train / validation / test</a:t>
            </a:r>
          </a:p>
        </p:txBody>
      </p:sp>
      <p:sp>
        <p:nvSpPr>
          <p:cNvPr id="9" name="Process 8"/>
          <p:cNvSpPr/>
          <p:nvPr/>
        </p:nvSpPr>
        <p:spPr>
          <a:xfrm>
            <a:off x="777239" y="2596896"/>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Train models</a:t>
            </a:r>
          </a:p>
          <a:p>
            <a:pPr algn="ctr"/>
            <a:r>
              <a:rPr sz="1000" b="0">
                <a:solidFill>
                  <a:srgbClr val="FFFFFF"/>
                </a:solidFill>
              </a:rPr>
              <a:t>RF · GB · XGB · LR · SVM · KNN</a:t>
            </a:r>
          </a:p>
        </p:txBody>
      </p:sp>
      <p:sp>
        <p:nvSpPr>
          <p:cNvPr id="10" name="Decision 9"/>
          <p:cNvSpPr/>
          <p:nvPr/>
        </p:nvSpPr>
        <p:spPr>
          <a:xfrm>
            <a:off x="640080" y="3255264"/>
            <a:ext cx="3108960" cy="67665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Grouped CV converged?</a:t>
            </a:r>
          </a:p>
        </p:txBody>
      </p:sp>
      <p:sp>
        <p:nvSpPr>
          <p:cNvPr id="11" name="Process 10"/>
          <p:cNvSpPr/>
          <p:nvPr/>
        </p:nvSpPr>
        <p:spPr>
          <a:xfrm>
            <a:off x="777239" y="4114800"/>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Locked test: trial-level predictions</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Metrics: macro-F1, P/R, confusion</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931920"/>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59028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3593592"/>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2834640"/>
            <a:ext cx="0" cy="758952"/>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2834640"/>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3392424"/>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3931920"/>
            <a:ext cx="457200" cy="182880"/>
          </a:xfrm>
          <a:prstGeom prst="rect">
            <a:avLst/>
          </a:prstGeom>
          <a:noFill/>
        </p:spPr>
        <p:txBody>
          <a:bodyPr wrap="square" lIns="27432" tIns="27432" rIns="27432" bIns="27432" anchor="t">
            <a:spAutoFit/>
          </a:bodyPr>
          <a:lstStyle/>
          <a:p>
            <a:r>
              <a:rPr sz="800">
                <a:solidFill>
                  <a:srgbClr val="000000"/>
                </a:solidFill>
              </a:rPr>
              <a:t>Yes</a:t>
            </a:r>
          </a:p>
        </p:txBody>
      </p:sp>
      <p:sp>
        <p:nvSpPr>
          <p:cNvPr id="24" name="Rectangle 23"/>
          <p:cNvSpPr/>
          <p:nvPr/>
        </p:nvSpPr>
        <p:spPr>
          <a:xfrm>
            <a:off x="3840480" y="4855464"/>
            <a:ext cx="914400" cy="512064"/>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800" b="0">
                <a:solidFill>
                  <a:srgbClr val="000000"/>
                </a:solidFill>
              </a:rPr>
              <a:t>Baselines: metadata-only; timing threshold</a:t>
            </a:r>
          </a:p>
        </p:txBody>
      </p:sp>
      <p:cxnSp>
        <p:nvCxnSpPr>
          <p:cNvPr id="25" name="Connector 24"/>
          <p:cNvCxnSpPr/>
          <p:nvPr/>
        </p:nvCxnSpPr>
        <p:spPr>
          <a:xfrm flipH="1">
            <a:off x="3611880" y="5111496"/>
            <a:ext cx="228600" cy="0"/>
          </a:xfrm>
          <a:prstGeom prst="line">
            <a:avLst/>
          </a:prstGeom>
          <a:ln w="1270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Generalization &amp; Evasion Pipeline (Branch 3)</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Start from Branch 2: </a:t>
            </a:r>
            <a:r>
              <a:rPr sz="1050">
                <a:solidFill>
                  <a:srgbClr val="000000"/>
                </a:solidFill>
              </a:rPr>
              <a:t>frozen feature code and model configurations from Phase 1</a:t>
            </a:r>
          </a:p>
          <a:p>
            <a:pPr>
              <a:spcAft>
                <a:spcPts val="500"/>
              </a:spcAft>
            </a:pPr>
            <a:r>
              <a:rPr sz="1050" b="1">
                <a:solidFill>
                  <a:srgbClr val="000000"/>
                </a:solidFill>
              </a:rPr>
              <a:t>2. Ablations (H2): </a:t>
            </a:r>
            <a:r>
              <a:rPr sz="1050">
                <a:solidFill>
                  <a:srgbClr val="000000"/>
                </a:solidFill>
              </a:rPr>
              <a:t>drop timing features, then timing plus tool identifiers; measure the macro-F1 change</a:t>
            </a:r>
          </a:p>
          <a:p>
            <a:pPr>
              <a:spcAft>
                <a:spcPts val="500"/>
              </a:spcAft>
            </a:pPr>
            <a:r>
              <a:rPr sz="1050" b="1">
                <a:solidFill>
                  <a:srgbClr val="000000"/>
                </a:solidFill>
              </a:rPr>
              <a:t>3. Held-out groups (H3): </a:t>
            </a:r>
            <a:r>
              <a:rPr sz="1050">
                <a:solidFill>
                  <a:srgbClr val="000000"/>
                </a:solidFill>
              </a:rPr>
              <a:t>exclude one human tester and one AI configuration from training</a:t>
            </a:r>
          </a:p>
          <a:p>
            <a:pPr>
              <a:spcAft>
                <a:spcPts val="500"/>
              </a:spcAft>
            </a:pPr>
            <a:r>
              <a:rPr sz="1050" b="1">
                <a:solidFill>
                  <a:srgbClr val="000000"/>
                </a:solidFill>
              </a:rPr>
              <a:t>4. Evasion arm (RQ4): </a:t>
            </a:r>
            <a:r>
              <a:rPr sz="1050">
                <a:solidFill>
                  <a:srgbClr val="000000"/>
                </a:solidFill>
              </a:rPr>
              <a:t>AI instructed to mimic human pacing; same lab, window and ROE</a:t>
            </a:r>
          </a:p>
          <a:p>
            <a:pPr>
              <a:spcAft>
                <a:spcPts val="500"/>
              </a:spcAft>
            </a:pPr>
            <a:r>
              <a:rPr sz="1050" b="1">
                <a:solidFill>
                  <a:srgbClr val="000000"/>
                </a:solidFill>
              </a:rPr>
              <a:t>5. Single locked evaluation: </a:t>
            </a:r>
            <a:r>
              <a:rPr sz="1050">
                <a:solidFill>
                  <a:srgbClr val="000000"/>
                </a:solidFill>
              </a:rPr>
              <a:t>trial-level metrics on held-out and evasion trials, with grouped uncertainty</a:t>
            </a:r>
          </a:p>
          <a:p>
            <a:pPr>
              <a:spcAft>
                <a:spcPts val="500"/>
              </a:spcAft>
            </a:pPr>
            <a:r>
              <a:rPr sz="1050" b="1">
                <a:solidFill>
                  <a:srgbClr val="000000"/>
                </a:solidFill>
              </a:rPr>
              <a:t>6. Preregistered criteria: </a:t>
            </a:r>
            <a:r>
              <a:rPr sz="1050">
                <a:solidFill>
                  <a:srgbClr val="000000"/>
                </a:solidFill>
              </a:rPr>
              <a:t>beats metadata-only; survives timing removal; holds on held-out operators</a:t>
            </a:r>
          </a:p>
          <a:p>
            <a:pPr>
              <a:spcAft>
                <a:spcPts val="500"/>
              </a:spcAft>
            </a:pPr>
            <a:r>
              <a:rPr sz="1050" b="1">
                <a:solidFill>
                  <a:srgbClr val="000000"/>
                </a:solidFill>
              </a:rPr>
              <a:t>7. Finding: </a:t>
            </a:r>
            <a:r>
              <a:rPr sz="1050">
                <a:solidFill>
                  <a:srgbClr val="000000"/>
                </a:solidFill>
              </a:rPr>
              <a:t>positive, partial or negative result reported with every trial and exclusion</a:t>
            </a:r>
          </a:p>
        </p:txBody>
      </p:sp>
      <p:sp>
        <p:nvSpPr>
          <p:cNvPr id="6" name="Magnetic Disk 5"/>
          <p:cNvSpPr/>
          <p:nvPr/>
        </p:nvSpPr>
        <p:spPr>
          <a:xfrm>
            <a:off x="777239" y="320040"/>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Phase 1 pipeline</a:t>
            </a:r>
          </a:p>
          <a:p>
            <a:pPr algn="ctr"/>
            <a:r>
              <a:rPr sz="1000" b="0">
                <a:solidFill>
                  <a:srgbClr val="FFFFFF"/>
                </a:solidFill>
              </a:rPr>
              <a:t>(frozen code + configs)</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Ablations: − timing, − tool IDs (H2)</a:t>
            </a:r>
          </a:p>
        </p:txBody>
      </p:sp>
      <p:sp>
        <p:nvSpPr>
          <p:cNvPr id="8" name="Process 7"/>
          <p:cNvSpPr/>
          <p:nvPr/>
        </p:nvSpPr>
        <p:spPr>
          <a:xfrm>
            <a:off x="777239" y="1837944"/>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Hold out 1 human + 1 AI configuration (H3)</a:t>
            </a:r>
          </a:p>
        </p:txBody>
      </p:sp>
      <p:sp>
        <p:nvSpPr>
          <p:cNvPr id="9" name="Data 8"/>
          <p:cNvSpPr/>
          <p:nvPr/>
        </p:nvSpPr>
        <p:spPr>
          <a:xfrm>
            <a:off x="640080" y="2596896"/>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Evasion arm: AI mimics human pacing (RQ4)</a:t>
            </a:r>
          </a:p>
        </p:txBody>
      </p:sp>
      <p:sp>
        <p:nvSpPr>
          <p:cNvPr id="10" name="Process 9"/>
          <p:cNvSpPr/>
          <p:nvPr/>
        </p:nvSpPr>
        <p:spPr>
          <a:xfrm>
            <a:off x="777239" y="3355848"/>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Single locked evaluation</a:t>
            </a:r>
          </a:p>
          <a:p>
            <a:pPr algn="ctr"/>
            <a:r>
              <a:rPr sz="1000" b="0">
                <a:solidFill>
                  <a:srgbClr val="FFFFFF"/>
                </a:solidFill>
              </a:rPr>
              <a:t>(grouped uncertainty)</a:t>
            </a:r>
          </a:p>
        </p:txBody>
      </p:sp>
      <p:sp>
        <p:nvSpPr>
          <p:cNvPr id="11" name="Process 10"/>
          <p:cNvSpPr/>
          <p:nvPr/>
        </p:nvSpPr>
        <p:spPr>
          <a:xfrm>
            <a:off x="777239" y="4114800"/>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Compare with preregistered criteria (H1–H3)</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Finding: positive, partial or negative</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59028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ppendix background"/>
          <p:cNvSpPr/>
          <p:nvPr/>
        </p:nvSpPr>
        <p:spPr>
          <a:xfrm>
            <a:off x="0" y="0"/>
            <a:ext cx="9144000" cy="5559552"/>
          </a:xfrm>
          <a:prstGeom prst="rect">
            <a:avLst/>
          </a:prstGeom>
          <a:solidFill>
            <a:srgbClr val="00A5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ctr"/>
            <a:endParaRPr/>
          </a:p>
        </p:txBody>
      </p:sp>
      <p:sp>
        <p:nvSpPr>
          <p:cNvPr id="3" name="Title 2"/>
          <p:cNvSpPr>
            <a:spLocks noGrp="1"/>
          </p:cNvSpPr>
          <p:nvPr>
            <p:ph type="title"/>
          </p:nvPr>
        </p:nvSpPr>
        <p:spPr>
          <a:xfrm>
            <a:off x="640080" y="2011680"/>
            <a:ext cx="7315200" cy="914400"/>
          </a:xfrm>
        </p:spPr>
        <p:txBody>
          <a:bodyPr wrap="square"/>
          <a:lstStyle/>
          <a:p>
            <a:r>
              <a:rPr sz="4000" b="1">
                <a:solidFill>
                  <a:srgbClr val="FFFFFF"/>
                </a:solidFill>
              </a:rPr>
              <a:t>Appendix</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19204</TotalTime>
  <Words>6877</Words>
  <Application>Microsoft Office PowerPoint</Application>
  <PresentationFormat>On-screen Show (4:3)</PresentationFormat>
  <Paragraphs>652</Paragraphs>
  <Slides>32</Slides>
  <Notes>12</Notes>
  <HiddenSlides>6</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32</vt:i4>
      </vt:variant>
    </vt:vector>
  </HeadingPairs>
  <TitlesOfParts>
    <vt:vector size="36" baseType="lpstr">
      <vt:lpstr>Arial</vt:lpstr>
      <vt:lpstr>Calibri</vt:lpstr>
      <vt:lpstr>Custom Design</vt:lpstr>
      <vt:lpstr>1_Custom Design</vt:lpstr>
      <vt:lpstr>Human vs. Autonomous AI APT Classification from Target-Side Telemetry  Gary Pagan 16 October 2026 </vt:lpstr>
      <vt:lpstr>Problem Statement:</vt:lpstr>
      <vt:lpstr>Thesis Statement</vt:lpstr>
      <vt:lpstr>Research Questions</vt:lpstr>
      <vt:lpstr>Research Hypotheses</vt:lpstr>
      <vt:lpstr>Data Source – Primary (Dataset 1: Host Telemetry)</vt:lpstr>
      <vt:lpstr>Data Source – Primary (Dataset 2: Network Telemetry)</vt:lpstr>
      <vt:lpstr>Trial Registry Labels (Ground Truth)</vt:lpstr>
      <vt:lpstr>Annotated Bibliography (1 of 5)</vt:lpstr>
      <vt:lpstr>Annotated Bibliography (2 of 5)</vt:lpstr>
      <vt:lpstr>Annotated Bibliography (3 of 5)</vt:lpstr>
      <vt:lpstr>Annotated Bibliography (4 of 5)</vt:lpstr>
      <vt:lpstr>Annotated Bibliography (5 of 5)</vt:lpstr>
      <vt:lpstr>Research Matrix 1/2</vt:lpstr>
      <vt:lpstr>Research Matrix 2/2</vt:lpstr>
      <vt:lpstr>Glossary of Terms</vt:lpstr>
      <vt:lpstr>Acronyms</vt:lpstr>
      <vt:lpstr>Block Diagram Level 1</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PowerPoint Presentation</vt:lpstr>
      <vt:lpstr>PowerPoint Presentation</vt:lpstr>
      <vt:lpstr>PowerPoint Presentation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Sarkani, Shahryar</dc:creator>
  <cp:lastModifiedBy>gary pagan</cp:lastModifiedBy>
  <cp:revision>23</cp:revision>
  <dcterms:created xsi:type="dcterms:W3CDTF">2020-01-15T21:27:56Z</dcterms:created>
  <dcterms:modified xsi:type="dcterms:W3CDTF">2026-10-16T23:12:24Z</dcterms:modified>
</cp:coreProperties>
</file>