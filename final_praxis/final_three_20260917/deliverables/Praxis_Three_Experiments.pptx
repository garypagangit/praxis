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5363f9c9894591" /><Relationship Type="http://schemas.openxmlformats.org/officeDocument/2006/relationships/extended-properties" Target="/docProps/app.xml" Id="R6118c2755c4042d8" /><Relationship Type="http://schemas.openxmlformats.org/officeDocument/2006/relationships/officeDocument" Target="/ppt/presentation.xml" Id="R06f313f8407c4b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16cc51e8904017"/>
  </p:sldMasterIdLst>
  <p:notesMasterIdLst>
    <p:notesMasterId xmlns:r="http://schemas.openxmlformats.org/officeDocument/2006/relationships" r:id="Rbc3164832bbf46d1"/>
  </p:notesMasterIdLst>
  <p:sldIdLst>
    <p:sldId xmlns:r="http://schemas.openxmlformats.org/officeDocument/2006/relationships" id="256" r:id="R0a9d9077228546a5"/>
    <p:sldId xmlns:r="http://schemas.openxmlformats.org/officeDocument/2006/relationships" id="257" r:id="Rebdf7d7abd0f47d4"/>
    <p:sldId xmlns:r="http://schemas.openxmlformats.org/officeDocument/2006/relationships" id="258" r:id="R23078787481a4c1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593cc6669543d1" /><Relationship Type="http://schemas.openxmlformats.org/officeDocument/2006/relationships/slideMaster" Target="/ppt/slideMasters/slideMaster1.xml" Id="Rd016cc51e8904017" /><Relationship Type="http://schemas.openxmlformats.org/officeDocument/2006/relationships/notesMaster" Target="/ppt/notesMasters/notesMaster1.xml" Id="Rbc3164832bbf46d1" /><Relationship Type="http://schemas.openxmlformats.org/officeDocument/2006/relationships/presProps" Target="/ppt/presProps.xml" Id="R879a47c24f914841" /><Relationship Type="http://schemas.openxmlformats.org/officeDocument/2006/relationships/tableStyles" Target="/ppt/tableStyles.xml" Id="R4e9e724fdf684578" /><Relationship Type="http://schemas.openxmlformats.org/officeDocument/2006/relationships/slide" Target="/ppt/slides/slide1.xml" Id="R0a9d9077228546a5" /><Relationship Type="http://schemas.openxmlformats.org/officeDocument/2006/relationships/slide" Target="/ppt/slides/slide2.xml" Id="Rebdf7d7abd0f47d4" /><Relationship Type="http://schemas.openxmlformats.org/officeDocument/2006/relationships/slide" Target="/ppt/slides/slide3.xml" Id="R23078787481a4c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723ad4598445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35770944af41e4" /><Relationship Type="http://schemas.openxmlformats.org/officeDocument/2006/relationships/notesMaster" Target="/ppt/notesMasters/notesMaster1.xml" Id="Rd955840e309b45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cd36dc49434feb" /><Relationship Type="http://schemas.openxmlformats.org/officeDocument/2006/relationships/notesMaster" Target="/ppt/notesMasters/notesMaster1.xml" Id="R1ca9412af89e47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810d4fab8f42a0" /><Relationship Type="http://schemas.openxmlformats.org/officeDocument/2006/relationships/notesMaster" Target="/ppt/notesMasters/notesMaster1.xml" Id="R473a83ac295849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CTI — completed bounded empirical study; human academic review pending.</a:t>
            </a:r>
          </a:p>
          <a:p xmlns:a="http://schemas.openxmlformats.org/drawingml/2006/main">
            <a:r>
              <a:t>All effects are paired parser-accuracy percentage-point differences versus matching vanilla. Eligible n=1578; mismatch n=922. Source-known Llama +23.06717, Qwen +19.58175; query-only eligible +18.18758/+13.87833; mismatch -14.96746/-17.46204. Question units=2500; 40000 records include repeated conditions and are not independent n. CIs and exact gates are in PAPER/EVIDENCE. External router precision904/1954; FPR1050/1999; confirmation failed. External format defects limit efficacy interpretation. Prior exposure of500items and answer-option access remain limitations.</a:t>
            </a:r>
          </a:p>
          <a:p xmlns:a="http://schemas.openxmlformats.org/drawingml/2006/main">
            <a:r>
              <a:t>Evidence: https://github.com/garypagangit/praxis/tree/Final-Praxis-Three-Closure-20260917/final_praxis/final_three_20260917/01_cti/EVIDENCE.json</a:t>
            </a:r>
          </a:p>
          <a:p xmlns:a="http://schemas.openxmlformats.org/drawingml/2006/main">
            <a:r>
              <a:t>Paper: https://github.com/garypagangit/praxis/tree/Final-Praxis-Three-Closure-20260917/final_praxis/final_three_20260917/01_cti/PAPER.md</a:t>
            </a:r>
          </a:p>
          <a:p xmlns:a="http://schemas.openxmlformats.org/drawingml/2006/main">
            <a:r>
              <a:t>Primary prior work:</a:t>
            </a:r>
          </a:p>
          <a:p xmlns:a="http://schemas.openxmlformats.org/drawingml/2006/main">
            <a:r>
              <a:t>TechniqueRAG(2025) https://aclanthology.org/2025.findings-acl.1076.pdf</a:t>
            </a:r>
          </a:p>
          <a:p xmlns:a="http://schemas.openxmlformats.org/drawingml/2006/main">
            <a:r>
              <a:t>Beyond RAG(2026) https://arxiv.org/html/2604.11419v1</a:t>
            </a:r>
          </a:p>
          <a:p xmlns:a="http://schemas.openxmlformats.org/drawingml/2006/main">
            <a:r>
              <a:t>Ahlert(2026) https://arxiv.org/html/2609.08790v1</a:t>
            </a:r>
          </a:p>
          <a:p xmlns:a="http://schemas.openxmlformats.org/drawingml/2006/main">
            <a:r>
              <a:t>Prepared17September2026 with AI assistance; no human approval inferred.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008 — completed bounded empirical study; human academic review pending.</a:t>
            </a:r>
          </a:p>
          <a:p xmlns:a="http://schemas.openxmlformats.org/drawingml/2006/main">
            <a:r>
              <a:t>The comparison is UNIFORM versus selected passing-only disclosure, not all acquired tests versus a subset. Both keep code pairs, acquisition and maximum display count fixed. Actual record count may differ. Qwen native harmful n=101, selected12 uniform4; both4, selected-only8, uniform-only0, neither89. Effect+7.920792pp; 95%paired task-bootstrap CI[2.970297,13.861386]; raw one-sided exact p=.00390625; Holm-four p=.015625. Seven of eight selected-only cases omit uniform-visible failures; two of these seven are empty disclosures. Do not add7+2. Devstral3versus1/101 is unsupported(adjustedp=.75); reused V1 observations are not an independent replication. Both primary hybrid-defense gates failed. Generated harmful cohort n34 has no disclosure discordances for either reviewer; finite-test labels are conditional.</a:t>
            </a:r>
          </a:p>
          <a:p xmlns:a="http://schemas.openxmlformats.org/drawingml/2006/main">
            <a:r>
              <a:t>Evidence: https://github.com/garypagangit/praxis/tree/Final-Praxis-Three-Closure-20260917/final_praxis/final_three_20260917/02_008/EVIDENCE.json</a:t>
            </a:r>
          </a:p>
          <a:p xmlns:a="http://schemas.openxmlformats.org/drawingml/2006/main">
            <a:r>
              <a:t>Paper: https://github.com/garypagangit/praxis/tree/Final-Praxis-Three-Closure-20260917/final_praxis/final_three_20260917/02_008/PAPER.md</a:t>
            </a:r>
          </a:p>
          <a:p xmlns:a="http://schemas.openxmlformats.org/drawingml/2006/main">
            <a:r>
              <a:t>Closest prior work:</a:t>
            </a:r>
          </a:p>
          <a:p xmlns:a="http://schemas.openxmlformats.org/drawingml/2006/main">
            <a:r>
              <a:t>Preregistered Belief Revision Contracts https://arxiv.org/html/2604.15558v1#S9.SS2</a:t>
            </a:r>
          </a:p>
          <a:p xmlns:a="http://schemas.openxmlformats.org/drawingml/2006/main">
            <a:r>
              <a:t>When Helping Hurts and How to Fix It https://arxiv.org/html/2606.02866v1#S7</a:t>
            </a:r>
          </a:p>
          <a:p xmlns:a="http://schemas.openxmlformats.org/drawingml/2006/main">
            <a:r>
              <a:t>Prepared17September2026 with AI assistance; no human approval inferred.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010 D0 — technically complete; HOLD_CROSS_CHANNEL_HARM_SCALE_UP.</a:t>
            </a:r>
          </a:p>
          <a:p xmlns:a="http://schemas.openxmlformats.org/drawingml/2006/main">
            <a:r>
              <a:t>Six raw-joint variants had mean protected-channel error changes[-.007942247884642175,-.006083820171482706,-.007083947727937341,-.017815747361900038,-.013413696269373214,-.008985887932459632]. Counts with displacement&gt;=.05 standard units[6,8,11,22,23,23]of32. Positive-error origins[11,14,14,13,15,15]. Joint criterion required meanerrorinflation&gt;=.02 AND displacementcount&gt;=8, with at least2qualifying variants to proceed. Zero qualified. All six raw-joint means are negative; this does not imply absence of individual harm. Conditional simple-control adequacy gate NOT_REACHED, not failed. Fourpipelines×32origins×8conditions=1024evaluations;1536nativeforwards. Clean point/quantile repeats zero; independent-channel displacement zero. Three semisynthetic channels from one previously inspected public NABseries; origins overlap; no independent industrial/cyber replication. Cloud was stopped after run; no inference commissioned for this closure.</a:t>
            </a:r>
          </a:p>
          <a:p xmlns:a="http://schemas.openxmlformats.org/drawingml/2006/main">
            <a:r>
              <a:t>Evidence: https://github.com/garypagangit/praxis/tree/Final-Praxis-Three-Closure-20260917/final_praxis/final_three_20260917/03_010/EVIDENCE.json</a:t>
            </a:r>
          </a:p>
          <a:p xmlns:a="http://schemas.openxmlformats.org/drawingml/2006/main">
            <a:r>
              <a:t>Paper: https://github.com/garypagangit/praxis/tree/Final-Praxis-Three-Closure-20260917/final_praxis/final_three_20260917/03_010/PAPER.md</a:t>
            </a:r>
          </a:p>
          <a:p xmlns:a="http://schemas.openxmlformats.org/drawingml/2006/main">
            <a:r>
              <a:t>Primary sources:</a:t>
            </a:r>
          </a:p>
          <a:p xmlns:a="http://schemas.openxmlformats.org/drawingml/2006/main">
            <a:r>
              <a:t>https://arxiv.org/html/2606.06347v1</a:t>
            </a:r>
          </a:p>
          <a:p xmlns:a="http://schemas.openxmlformats.org/drawingml/2006/main">
            <a:r>
              <a:t>https://arxiv.org/html/2606.05332v1</a:t>
            </a:r>
          </a:p>
          <a:p xmlns:a="http://schemas.openxmlformats.org/drawingml/2006/main">
            <a:r>
              <a:t>https://github.com/google-research/timesfm/blob/8cb0628371af142e16b8c232cc9fbf667ffb12f9/src/timesfm3/torch/evaluator.py</a:t>
            </a:r>
          </a:p>
          <a:p xmlns:a="http://schemas.openxmlformats.org/drawingml/2006/main">
            <a:r>
              <a:t>Prepared17September2026 with AI assistance; human approval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864720325948c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0743e05a1a4343" /><Relationship Type="http://schemas.openxmlformats.org/officeDocument/2006/relationships/slideLayout" Target="/ppt/slideLayouts/slideLayout1.xml" Id="Rb40f29566a2942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0f29566a2942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c27a1239b34b94" /><Relationship Type="http://schemas.openxmlformats.org/officeDocument/2006/relationships/chart" Target="/ppt/slides/charts/chart1.xml" Id="R603a8c1f2cd64e10" /><Relationship Type="http://schemas.openxmlformats.org/officeDocument/2006/relationships/notesSlide" Target="/ppt/notesSlides/notesSlide1.xml" Id="Rcb3ba51ef00f4d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df40ef466e4b4f" /><Relationship Type="http://schemas.openxmlformats.org/officeDocument/2006/relationships/notesSlide" Target="/ppt/notesSlides/notesSlide2.xml" Id="R7686a6b2a66948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1a4db93d0c442f" /><Relationship Type="http://schemas.openxmlformats.org/officeDocument/2006/relationships/notesSlide" Target="/ppt/notesSlides/notesSlide3.xml" Id="R1efd648bb65246e6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Llama</c:v>
          </c:tx>
          <c:spPr>
            <a:solidFill xmlns:a="http://schemas.openxmlformats.org/drawingml/2006/main">
              <a:srgbClr val="111111"/>
            </a:solidFill>
          </c:spPr>
          <c:invertIfNegative val="0"/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>
                        <a:solidFill>
                          <a:srgbClr val="111111"/>
                        </a:solidFill>
                      </a:rPr>
                      <a:t>23.07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>
                      <a:solidFill>
                        <a:srgbClr val="111111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>
                        <a:solidFill>
                          <a:srgbClr val="111111"/>
                        </a:solidFill>
                      </a:rPr>
                      <a:t>18.19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>
                      <a:solidFill>
                        <a:srgbClr val="111111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>
                        <a:solidFill>
                          <a:srgbClr val="111111"/>
                        </a:solidFill>
                      </a:rPr>
                      <a:t>-14.97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>
                      <a:solidFill>
                        <a:srgbClr val="111111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3"/>
              <c:pt idx="0">
                <c:v>Source-known
eligible</c:v>
              </c:pt>
              <c:pt idx="1">
                <c:v>Query-only
eligible</c:v>
              </c:pt>
              <c:pt idx="2">
                <c:v>Query-only
mismatch</c:v>
              </c:pt>
            </c:strLit>
          </c:cat>
          <c:val>
            <c:numLit>
              <c:formatCode>0.00</c:formatCode>
              <c:ptCount val="3"/>
              <c:pt idx="0">
                <c:v>23.07</c:v>
              </c:pt>
              <c:pt idx="1">
                <c:v>18.19</c:v>
              </c:pt>
              <c:pt idx="2">
                <c:v>-14.97</c:v>
              </c:pt>
            </c:numLit>
          </c:val>
        </c:ser>
        <c:ser>
          <c:idx val="1"/>
          <c:order val="1"/>
          <c:tx>
            <c:v>Qwen</c:v>
          </c:tx>
          <c:spPr>
            <a:solidFill xmlns:a="http://schemas.openxmlformats.org/drawingml/2006/main">
              <a:srgbClr val="919191"/>
            </a:solidFill>
          </c:spPr>
          <c:invertIfNegative val="0"/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>
                        <a:solidFill>
                          <a:srgbClr val="111111"/>
                        </a:solidFill>
                      </a:rPr>
                      <a:t>19.58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>
                      <a:solidFill>
                        <a:srgbClr val="111111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>
                        <a:solidFill>
                          <a:srgbClr val="111111"/>
                        </a:solidFill>
                      </a:rPr>
                      <a:t>13.88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>
                      <a:solidFill>
                        <a:srgbClr val="111111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>
                        <a:solidFill>
                          <a:srgbClr val="111111"/>
                        </a:solidFill>
                      </a:rPr>
                      <a:t>-17.46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>
                      <a:solidFill>
                        <a:srgbClr val="111111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3"/>
              <c:pt idx="0">
                <c:v>Source-known
eligible</c:v>
              </c:pt>
              <c:pt idx="1">
                <c:v>Query-only
eligible</c:v>
              </c:pt>
              <c:pt idx="2">
                <c:v>Query-only
mismatch</c:v>
              </c:pt>
            </c:strLit>
          </c:cat>
          <c:val>
            <c:numLit>
              <c:formatCode>0.00</c:formatCode>
              <c:ptCount val="3"/>
              <c:pt idx="0">
                <c:v>19.58</c:v>
              </c:pt>
              <c:pt idx="1">
                <c:v>13.88</c:v>
              </c:pt>
              <c:pt idx="2">
                <c:v>-17.46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11111"/>
                  </a:solidFill>
                </a:defRPr>
              </a:pPr>
            </a:p>
          </c:txPr>
          <c:dLblPos val="outEnd"/>
          <c:showVal val="1"/>
        </c:dLbls>
        <c:gapWidth val="12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30"/>
          <c:min val="-25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DDD"/>
              </a:solidFill>
            </a:ln>
          </c:spPr>
        </c:majorGridlines>
        <c:numFmt formatCode="0"/>
        <c:majorUnit val="1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44444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448A0189-E712-444A-B83A-962784EA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22222"/>
                </a:solidFill>
              </a:defRPr>
            </a:pPr>
            <a:r>
              <a:t>CTI: gains depend on source compatibility</a:t>
            </a:r>
          </a:p>
        </p:txBody>
      </p:sp>
      <p:sp>
        <p:nvSpPr>
          <p:cNvPr id="2" name="Setup">
            <a:extLst xmlns:a="http://schemas.openxmlformats.org/drawingml/2006/main">
              <a:ext uri="{FF2B5EF4-FFF2-40B4-BE49-F238E27FC236}">
                <a16:creationId xmlns:a16="http://schemas.microsoft.com/office/drawing/2014/main" id="{F6A941B0-85B4-4364-AD6E-EDD550FED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22222"/>
                </a:solidFill>
              </a:defRPr>
            </a:pPr>
            <a:r>
              <a:t>2,500 questions · two fixed models · paired accuracy changes</a:t>
            </a:r>
          </a:p>
        </p:txBody>
      </p:sp>
      <p:sp>
        <p:nvSpPr>
          <p:cNvPr id="3" name="Chart label">
            <a:extLst xmlns:a="http://schemas.openxmlformats.org/drawingml/2006/main">
              <a:ext uri="{FF2B5EF4-FFF2-40B4-BE49-F238E27FC236}">
                <a16:creationId xmlns:a16="http://schemas.microsoft.com/office/drawing/2014/main" id="{0A68A6B7-FE4D-4FAD-A178-E19B66CA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9775"/>
            <a:ext cx="7143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22222"/>
                </a:solidFill>
              </a:defRPr>
            </a:pPr>
            <a:r>
              <a:t>Change versus vanilla, percentage points</a:t>
            </a:r>
          </a:p>
        </p:txBody>
      </p:sp>
      <p:sp>
        <p:nvSpPr>
          <p:cNvPr id="4" name="Chart legend">
            <a:extLst xmlns:a="http://schemas.openxmlformats.org/drawingml/2006/main">
              <a:ext uri="{FF2B5EF4-FFF2-40B4-BE49-F238E27FC236}">
                <a16:creationId xmlns:a16="http://schemas.microsoft.com/office/drawing/2014/main" id="{3F367844-74DE-4849-A6BF-7B24034D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7143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2222"/>
                </a:solidFill>
              </a:defRPr>
            </a:pPr>
            <a:r>
              <a:t>Llama (black) · Qwen (gray)</a:t>
            </a:r>
          </a:p>
        </p:txBody>
      </p:sp>
      <p:sp>
        <p:nvSpPr>
          <p:cNvPr id="5" name="Category 1">
            <a:extLst xmlns:a="http://schemas.openxmlformats.org/drawingml/2006/main">
              <a:ext uri="{FF2B5EF4-FFF2-40B4-BE49-F238E27FC236}">
                <a16:creationId xmlns:a16="http://schemas.microsoft.com/office/drawing/2014/main" id="{B37EA23E-46FE-4BFF-8A87-AFA2F750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57775"/>
            <a:ext cx="1952625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2222"/>
                </a:solidFill>
              </a:defRPr>
            </a:pPr>
            <a:r>
              <a:t>Source-known
eligible</a:t>
            </a:r>
          </a:p>
        </p:txBody>
      </p:sp>
      <p:sp>
        <p:nvSpPr>
          <p:cNvPr id="6" name="Category 2">
            <a:extLst xmlns:a="http://schemas.openxmlformats.org/drawingml/2006/main">
              <a:ext uri="{FF2B5EF4-FFF2-40B4-BE49-F238E27FC236}">
                <a16:creationId xmlns:a16="http://schemas.microsoft.com/office/drawing/2014/main" id="{4F653611-EDA4-4122-8D12-68C855B9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57775"/>
            <a:ext cx="1952625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2222"/>
                </a:solidFill>
              </a:defRPr>
            </a:pPr>
            <a:r>
              <a:t>Query-only
eligible</a:t>
            </a:r>
          </a:p>
        </p:txBody>
      </p:sp>
      <p:sp>
        <p:nvSpPr>
          <p:cNvPr id="7" name="Category 3">
            <a:extLst xmlns:a="http://schemas.openxmlformats.org/drawingml/2006/main">
              <a:ext uri="{FF2B5EF4-FFF2-40B4-BE49-F238E27FC236}">
                <a16:creationId xmlns:a16="http://schemas.microsoft.com/office/drawing/2014/main" id="{6A4A2FCF-FCCC-4F77-9A14-32085339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5057775"/>
            <a:ext cx="1952625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2222"/>
                </a:solidFill>
              </a:defRPr>
            </a:pPr>
            <a:r>
              <a:t>Query-only
mismatch</a:t>
            </a:r>
          </a:p>
        </p:txBody>
      </p:sp>
      <p:sp>
        <p:nvSpPr>
          <p:cNvPr id="8" name="Router label">
            <a:extLst xmlns:a="http://schemas.openxmlformats.org/drawingml/2006/main">
              <a:ext uri="{FF2B5EF4-FFF2-40B4-BE49-F238E27FC236}">
                <a16:creationId xmlns:a16="http://schemas.microsoft.com/office/drawing/2014/main" id="{98CA9A1D-0BE8-4E59-B72F-B82B5A6D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35623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22222"/>
                </a:solidFill>
              </a:defRPr>
            </a:pPr>
            <a:r>
              <a:t>External router</a:t>
            </a:r>
          </a:p>
        </p:txBody>
      </p:sp>
      <p:sp>
        <p:nvSpPr>
          <p:cNvPr id="9" name="Router precision">
            <a:extLst xmlns:a="http://schemas.openxmlformats.org/drawingml/2006/main">
              <a:ext uri="{FF2B5EF4-FFF2-40B4-BE49-F238E27FC236}">
                <a16:creationId xmlns:a16="http://schemas.microsoft.com/office/drawing/2014/main" id="{B6D0E7BD-3B57-4D01-BDC3-77431427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76525"/>
            <a:ext cx="35623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222222"/>
                </a:solidFill>
              </a:defRPr>
            </a:pPr>
            <a:r>
              <a:t>46.26%</a:t>
            </a:r>
          </a:p>
        </p:txBody>
      </p:sp>
      <p:sp>
        <p:nvSpPr>
          <p:cNvPr id="10" name="Router explanation">
            <a:extLst xmlns:a="http://schemas.openxmlformats.org/drawingml/2006/main">
              <a:ext uri="{FF2B5EF4-FFF2-40B4-BE49-F238E27FC236}">
                <a16:creationId xmlns:a16="http://schemas.microsoft.com/office/drawing/2014/main" id="{44411517-CF9E-4617-AF31-7239E870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33775"/>
            <a:ext cx="35623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22222"/>
                </a:solidFill>
              </a:defRPr>
            </a:pPr>
            <a:r>
              <a:t>precision on 2,997 questions
52.53% false-positive rate</a:t>
            </a:r>
          </a:p>
        </p:txBody>
      </p:sp>
      <p:sp>
        <p:nvSpPr>
          <p:cNvPr id="11" name="Router outcome">
            <a:extLst xmlns:a="http://schemas.openxmlformats.org/drawingml/2006/main">
              <a:ext uri="{FF2B5EF4-FFF2-40B4-BE49-F238E27FC236}">
                <a16:creationId xmlns:a16="http://schemas.microsoft.com/office/drawing/2014/main" id="{7159C964-B896-4028-A895-27D0881F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33900"/>
            <a:ext cx="35623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22222"/>
                </a:solidFill>
              </a:defRPr>
            </a:pPr>
            <a:r>
              <a:t>Confirmation failed</a:t>
            </a:r>
          </a:p>
        </p:txBody>
      </p:sp>
      <p:sp>
        <p:nvSpPr>
          <p:cNvPr id="12" name="Limitations">
            <a:extLst xmlns:a="http://schemas.openxmlformats.org/drawingml/2006/main">
              <a:ext uri="{FF2B5EF4-FFF2-40B4-BE49-F238E27FC236}">
                <a16:creationId xmlns:a16="http://schemas.microsoft.com/office/drawing/2014/main" id="{10F09EC1-64B1-4898-BC1D-B72BCBEB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43575"/>
            <a:ext cx="111252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22222"/>
                </a:solidFill>
              </a:defRPr>
            </a:pPr>
            <a:r>
              <a:t>Limits: source-known access advantage; 500 prior-exposed items; options visible.</a:t>
            </a:r>
          </a:p>
        </p:txBody>
      </p:sp>
      <p:sp>
        <p:nvSpPr>
          <p:cNvPr id="13" name="Divider">
            <a:extLst xmlns:a="http://schemas.openxmlformats.org/drawingml/2006/main">
              <a:ext uri="{FF2B5EF4-FFF2-40B4-BE49-F238E27FC236}">
                <a16:creationId xmlns:a16="http://schemas.microsoft.com/office/drawing/2014/main" id="{05A02AE4-C7BB-45A2-AD56-609B12D2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67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9"/>
          </a:solidFill>
        </p:spPr>
      </p:sp>
      <p:sp>
        <p:nvSpPr>
          <p:cNvPr id="14" name="Sources">
            <a:extLst xmlns:a="http://schemas.openxmlformats.org/drawingml/2006/main">
              <a:ext uri="{FF2B5EF4-FFF2-40B4-BE49-F238E27FC236}">
                <a16:creationId xmlns:a16="http://schemas.microsoft.com/office/drawing/2014/main" id="{225CBADD-950A-49A6-8FEC-D7A5032A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047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</a:defRPr>
            </a:pPr>
            <a:r>
              <a:t>CTI evidence C03–C07 · Intervals and sources in paper / speaker notes</a:t>
            </a:r>
          </a:p>
        </p:txBody>
      </p:sp>
      <p:sp>
        <p:nvSpPr>
          <p:cNvPr id="15" name="Page">
            <a:extLst xmlns:a="http://schemas.openxmlformats.org/drawingml/2006/main">
              <a:ext uri="{FF2B5EF4-FFF2-40B4-BE49-F238E27FC236}">
                <a16:creationId xmlns:a16="http://schemas.microsoft.com/office/drawing/2014/main" id="{7CB6E5C3-0587-4AA7-8372-D2DF80E2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304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</a:defRPr>
            </a:pPr>
            <a:r>
              <a:t>1</a:t>
            </a:r>
          </a:p>
        </p:txBody>
      </p:sp>
      <p:graphicFrame>
        <p:nvGraphicFramePr>
          <p:cNvPr id="32" name="Chart"/>
          <p:cNvGraphicFramePr/>
          <p:nvPr/>
        </p:nvGraphicFramePr>
        <p:xfrm>
          <a:off xmlns:a="http://schemas.openxmlformats.org/drawingml/2006/main" x="533400" y="2724150"/>
          <a:ext xmlns:a="http://schemas.openxmlformats.org/drawingml/2006/main" cx="7143750" cy="2238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03a8c1f2cd64e10"/>
          </a:graphicData>
        </a:graphic>
      </p:graphicFrame>
    </p:spTree>
    <p:extLst>
      <p:ext uri="{BB962C8B-B14F-4D97-AF65-F5344CB8AC3E}">
        <p14:creationId xmlns:p14="http://schemas.microsoft.com/office/powerpoint/2010/main" val="7790425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DA4E26F2-1F08-4880-901B-6C907770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22222"/>
                </a:solidFill>
              </a:defRPr>
            </a:pPr>
            <a:r>
              <a:t>008: selected disclosure changed decisions</a:t>
            </a:r>
          </a:p>
        </p:txBody>
      </p:sp>
      <p:sp>
        <p:nvSpPr>
          <p:cNvPr id="2" name="Setup">
            <a:extLst xmlns:a="http://schemas.openxmlformats.org/drawingml/2006/main">
              <a:ext uri="{FF2B5EF4-FFF2-40B4-BE49-F238E27FC236}">
                <a16:creationId xmlns:a16="http://schemas.microsoft.com/office/drawing/2014/main" id="{A34415DA-0DEB-4371-85A1-88B55DCC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22222"/>
                </a:solidFill>
              </a:defRPr>
            </a:pPr>
            <a:r>
              <a:t>101 paired harmful revisions · schema-constrained Qwen</a:t>
            </a:r>
          </a:p>
        </p:txBody>
      </p:sp>
      <p:sp>
        <p:nvSpPr>
          <p:cNvPr id="3" name="Uniform label">
            <a:extLst xmlns:a="http://schemas.openxmlformats.org/drawingml/2006/main">
              <a:ext uri="{FF2B5EF4-FFF2-40B4-BE49-F238E27FC236}">
                <a16:creationId xmlns:a16="http://schemas.microsoft.com/office/drawing/2014/main" id="{15BBF704-76CC-4BB8-8914-F63956C8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19325"/>
            <a:ext cx="3457575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22222"/>
                </a:solidFill>
              </a:defRPr>
            </a:pPr>
            <a:r>
              <a:t>Uniform disclosure</a:t>
            </a:r>
          </a:p>
        </p:txBody>
      </p:sp>
      <p:sp>
        <p:nvSpPr>
          <p:cNvPr id="4" name="Uniform metric">
            <a:extLst xmlns:a="http://schemas.openxmlformats.org/drawingml/2006/main">
              <a:ext uri="{FF2B5EF4-FFF2-40B4-BE49-F238E27FC236}">
                <a16:creationId xmlns:a16="http://schemas.microsoft.com/office/drawing/2014/main" id="{29A66910-877A-439E-89C3-CEF0CD8C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24150"/>
            <a:ext cx="3457575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6000" b="1">
                <a:solidFill>
                  <a:srgbClr val="222222"/>
                </a:solidFill>
              </a:defRPr>
            </a:pPr>
            <a:r>
              <a:t>4 / 101</a:t>
            </a:r>
          </a:p>
        </p:txBody>
      </p:sp>
      <p:sp>
        <p:nvSpPr>
          <p:cNvPr id="5" name="Uniform detail">
            <a:extLst xmlns:a="http://schemas.openxmlformats.org/drawingml/2006/main">
              <a:ext uri="{FF2B5EF4-FFF2-40B4-BE49-F238E27FC236}">
                <a16:creationId xmlns:a16="http://schemas.microsoft.com/office/drawing/2014/main" id="{4FDCBBB8-76FB-450F-874C-7058B024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71900"/>
            <a:ext cx="34575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22222"/>
                </a:solidFill>
              </a:defRPr>
            </a:pPr>
            <a:r>
              <a:t>harmful revisions accepted
3.96% of paired tasks</a:t>
            </a:r>
          </a:p>
        </p:txBody>
      </p:sp>
      <p:sp>
        <p:nvSpPr>
          <p:cNvPr id="6" name="Selected label">
            <a:extLst xmlns:a="http://schemas.openxmlformats.org/drawingml/2006/main">
              <a:ext uri="{FF2B5EF4-FFF2-40B4-BE49-F238E27FC236}">
                <a16:creationId xmlns:a16="http://schemas.microsoft.com/office/drawing/2014/main" id="{AC027EB9-D5E9-4E32-8EE0-A697D44E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19325"/>
            <a:ext cx="3457575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22222"/>
                </a:solidFill>
              </a:defRPr>
            </a:pPr>
            <a:r>
              <a:t>Selected disclosure</a:t>
            </a:r>
          </a:p>
        </p:txBody>
      </p:sp>
      <p:sp>
        <p:nvSpPr>
          <p:cNvPr id="7" name="Selected metric">
            <a:extLst xmlns:a="http://schemas.openxmlformats.org/drawingml/2006/main">
              <a:ext uri="{FF2B5EF4-FFF2-40B4-BE49-F238E27FC236}">
                <a16:creationId xmlns:a16="http://schemas.microsoft.com/office/drawing/2014/main" id="{78D0A905-8FF2-4481-8E49-2D48EBC8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24150"/>
            <a:ext cx="3457575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6000" b="1">
                <a:solidFill>
                  <a:srgbClr val="222222"/>
                </a:solidFill>
              </a:defRPr>
            </a:pPr>
            <a:r>
              <a:t>12 / 101</a:t>
            </a:r>
          </a:p>
        </p:txBody>
      </p:sp>
      <p:sp>
        <p:nvSpPr>
          <p:cNvPr id="8" name="Selected detail">
            <a:extLst xmlns:a="http://schemas.openxmlformats.org/drawingml/2006/main">
              <a:ext uri="{FF2B5EF4-FFF2-40B4-BE49-F238E27FC236}">
                <a16:creationId xmlns:a16="http://schemas.microsoft.com/office/drawing/2014/main" id="{1E37828B-C99F-4BC5-9020-B909D964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71900"/>
            <a:ext cx="34575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22222"/>
                </a:solidFill>
              </a:defRPr>
            </a:pPr>
            <a:r>
              <a:t>harmful revisions accepted
11.88% of paired tasks</a:t>
            </a:r>
          </a:p>
        </p:txBody>
      </p:sp>
      <p:sp>
        <p:nvSpPr>
          <p:cNvPr id="9" name="Change label">
            <a:extLst xmlns:a="http://schemas.openxmlformats.org/drawingml/2006/main">
              <a:ext uri="{FF2B5EF4-FFF2-40B4-BE49-F238E27FC236}">
                <a16:creationId xmlns:a16="http://schemas.microsoft.com/office/drawing/2014/main" id="{5F7B2A1C-6C5A-420C-B2E5-76947AC1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19325"/>
            <a:ext cx="3314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22222"/>
                </a:solidFill>
              </a:defRPr>
            </a:pPr>
            <a:r>
              <a:t>Paired increase</a:t>
            </a:r>
          </a:p>
        </p:txBody>
      </p:sp>
      <p:sp>
        <p:nvSpPr>
          <p:cNvPr id="10" name="Change metric">
            <a:extLst xmlns:a="http://schemas.openxmlformats.org/drawingml/2006/main">
              <a:ext uri="{FF2B5EF4-FFF2-40B4-BE49-F238E27FC236}">
                <a16:creationId xmlns:a16="http://schemas.microsoft.com/office/drawing/2014/main" id="{085185EC-C863-4EE1-9539-628309FA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314700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222222"/>
                </a:solidFill>
              </a:defRPr>
            </a:pPr>
            <a:r>
              <a:t>+7.92 pp</a:t>
            </a:r>
          </a:p>
        </p:txBody>
      </p:sp>
      <p:sp>
        <p:nvSpPr>
          <p:cNvPr id="11" name="Change detail">
            <a:extLst xmlns:a="http://schemas.openxmlformats.org/drawingml/2006/main">
              <a:ext uri="{FF2B5EF4-FFF2-40B4-BE49-F238E27FC236}">
                <a16:creationId xmlns:a16="http://schemas.microsoft.com/office/drawing/2014/main" id="{4B6FE130-7583-48FD-BEBE-7B1AD4FA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71900"/>
            <a:ext cx="33147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22222"/>
                </a:solidFill>
              </a:defRPr>
            </a:pPr>
            <a:r>
              <a:t>95% CI: 2.97–13.86 pp
Holm-adjusted p = .015625</a:t>
            </a:r>
          </a:p>
        </p:txBody>
      </p:sp>
      <p:sp>
        <p:nvSpPr>
          <p:cNvPr id="12" name="Divider">
            <a:extLst xmlns:a="http://schemas.openxmlformats.org/drawingml/2006/main">
              <a:ext uri="{FF2B5EF4-FFF2-40B4-BE49-F238E27FC236}">
                <a16:creationId xmlns:a16="http://schemas.microsoft.com/office/drawing/2014/main" id="{DEB1DDED-D5B8-43F3-98DA-32A675AF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720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9"/>
          </a:solidFill>
        </p:spPr>
      </p:sp>
      <p:sp>
        <p:nvSpPr>
          <p:cNvPr id="13" name="Mechanism">
            <a:extLst xmlns:a="http://schemas.openxmlformats.org/drawingml/2006/main">
              <a:ext uri="{FF2B5EF4-FFF2-40B4-BE49-F238E27FC236}">
                <a16:creationId xmlns:a16="http://schemas.microsoft.com/office/drawing/2014/main" id="{4CC12DA5-358F-45F5-BAB6-48FB5BA7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111252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22222"/>
                </a:solidFill>
              </a:defRPr>
            </a:pPr>
            <a:r>
              <a:t>8 selected-only acceptances: 7 omit failures; 2 of those disclose no tests.</a:t>
            </a:r>
          </a:p>
        </p:txBody>
      </p:sp>
      <p:sp>
        <p:nvSpPr>
          <p:cNvPr id="14" name="Limits">
            <a:extLst xmlns:a="http://schemas.openxmlformats.org/drawingml/2006/main">
              <a:ext uri="{FF2B5EF4-FFF2-40B4-BE49-F238E27FC236}">
                <a16:creationId xmlns:a16="http://schemas.microsoft.com/office/drawing/2014/main" id="{20629CC7-6386-48A2-BE6B-02AB86DD9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29275"/>
            <a:ext cx="11125200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22222"/>
                </a:solidFill>
              </a:defRPr>
            </a:pPr>
            <a:r>
              <a:t>Compound intervention. Devstral effect unsupported; hybrid defense gates failed.</a:t>
            </a:r>
          </a:p>
        </p:txBody>
      </p:sp>
      <p:sp>
        <p:nvSpPr>
          <p:cNvPr id="15" name="Divider">
            <a:extLst xmlns:a="http://schemas.openxmlformats.org/drawingml/2006/main">
              <a:ext uri="{FF2B5EF4-FFF2-40B4-BE49-F238E27FC236}">
                <a16:creationId xmlns:a16="http://schemas.microsoft.com/office/drawing/2014/main" id="{CA0DEBCA-9AC2-4B06-B9A7-2D807E59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67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9"/>
          </a:solidFill>
        </p:spPr>
      </p:sp>
      <p:sp>
        <p:nvSpPr>
          <p:cNvPr id="16" name="Sources">
            <a:extLst xmlns:a="http://schemas.openxmlformats.org/drawingml/2006/main">
              <a:ext uri="{FF2B5EF4-FFF2-40B4-BE49-F238E27FC236}">
                <a16:creationId xmlns:a16="http://schemas.microsoft.com/office/drawing/2014/main" id="{0ABD6767-573E-4271-9929-94021563A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047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</a:defRPr>
            </a:pPr>
            <a:r>
              <a:t>008 evidence E07–E09 · Paired task bootstrap; four-test Holm family</a:t>
            </a:r>
          </a:p>
        </p:txBody>
      </p:sp>
      <p:sp>
        <p:nvSpPr>
          <p:cNvPr id="17" name="Page">
            <a:extLst xmlns:a="http://schemas.openxmlformats.org/drawingml/2006/main">
              <a:ext uri="{FF2B5EF4-FFF2-40B4-BE49-F238E27FC236}">
                <a16:creationId xmlns:a16="http://schemas.microsoft.com/office/drawing/2014/main" id="{6828F77B-EC5A-4D5E-B7E4-67676FA9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304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</a:defRPr>
            </a:pPr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858612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74CB060C-B87D-4A26-B340-C9BB3FB44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22222"/>
                </a:solidFill>
              </a:defRPr>
            </a:pPr>
            <a:r>
              <a:t>010: the harm criterion was not met</a:t>
            </a:r>
          </a:p>
        </p:txBody>
      </p:sp>
      <p:sp>
        <p:nvSpPr>
          <p:cNvPr id="2" name="Setup">
            <a:extLst xmlns:a="http://schemas.openxmlformats.org/drawingml/2006/main">
              <a:ext uri="{FF2B5EF4-FFF2-40B4-BE49-F238E27FC236}">
                <a16:creationId xmlns:a16="http://schemas.microsoft.com/office/drawing/2014/main" id="{6CB09120-CDAA-447A-A25E-47FC24CD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22222"/>
                </a:solidFill>
              </a:defRPr>
            </a:pPr>
            <a:r>
              <a:t>1,024 evaluations completed · 32 overlapping development contexts</a:t>
            </a:r>
          </a:p>
        </p:txBody>
      </p:sp>
      <p:sp>
        <p:nvSpPr>
          <p:cNvPr id="3" name="Table label">
            <a:extLst xmlns:a="http://schemas.openxmlformats.org/drawingml/2006/main">
              <a:ext uri="{FF2B5EF4-FFF2-40B4-BE49-F238E27FC236}">
                <a16:creationId xmlns:a16="http://schemas.microsoft.com/office/drawing/2014/main" id="{FFA8BE95-7B77-4FF3-8031-CBA1B59B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9775"/>
            <a:ext cx="7239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22222"/>
                </a:solidFill>
              </a:defRPr>
            </a:pPr>
            <a:r>
              <a:t>Raw joint TimesFM 3 · unchanged channels</a:t>
            </a:r>
          </a:p>
        </p:txBody>
      </p:sp>
      <p:sp>
        <p:nvSpPr>
          <p:cNvPr id="4" name="Qualifying metric">
            <a:extLst xmlns:a="http://schemas.openxmlformats.org/drawingml/2006/main">
              <a:ext uri="{FF2B5EF4-FFF2-40B4-BE49-F238E27FC236}">
                <a16:creationId xmlns:a16="http://schemas.microsoft.com/office/drawing/2014/main" id="{58DAF662-5E5D-4266-934B-3DEF2930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09825"/>
            <a:ext cx="33337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6000" b="1">
                <a:solidFill>
                  <a:srgbClr val="222222"/>
                </a:solidFill>
              </a:defRPr>
            </a:pPr>
            <a:r>
              <a:t>0 / 6</a:t>
            </a:r>
          </a:p>
        </p:txBody>
      </p:sp>
      <p:sp>
        <p:nvSpPr>
          <p:cNvPr id="5" name="Qualifying label">
            <a:extLst xmlns:a="http://schemas.openxmlformats.org/drawingml/2006/main">
              <a:ext uri="{FF2B5EF4-FFF2-40B4-BE49-F238E27FC236}">
                <a16:creationId xmlns:a16="http://schemas.microsoft.com/office/drawing/2014/main" id="{B6DD8667-86B0-40DE-A91B-9C6D196F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71850"/>
            <a:ext cx="3333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22222"/>
                </a:solidFill>
              </a:defRPr>
            </a:pPr>
            <a:r>
              <a:t>variants qualified</a:t>
            </a:r>
          </a:p>
        </p:txBody>
      </p:sp>
      <p:sp>
        <p:nvSpPr>
          <p:cNvPr id="6" name="Decision">
            <a:extLst xmlns:a="http://schemas.openxmlformats.org/drawingml/2006/main">
              <a:ext uri="{FF2B5EF4-FFF2-40B4-BE49-F238E27FC236}">
                <a16:creationId xmlns:a16="http://schemas.microsoft.com/office/drawing/2014/main" id="{AD1FBED7-7067-48DC-869D-07B082C25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76700"/>
            <a:ext cx="3333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22222"/>
                </a:solidFill>
              </a:defRPr>
            </a:pPr>
            <a:r>
              <a:t>Scale-up held</a:t>
            </a:r>
          </a:p>
        </p:txBody>
      </p:sp>
      <p:sp>
        <p:nvSpPr>
          <p:cNvPr id="7" name="Interpretation">
            <a:extLst xmlns:a="http://schemas.openxmlformats.org/drawingml/2006/main">
              <a:ext uri="{FF2B5EF4-FFF2-40B4-BE49-F238E27FC236}">
                <a16:creationId xmlns:a16="http://schemas.microsoft.com/office/drawing/2014/main" id="{F37FE3C6-85B5-4601-80FD-EB7D6D66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57725"/>
            <a:ext cx="3333750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22222"/>
                </a:solidFill>
              </a:defRPr>
            </a:pPr>
            <a:r>
              <a:t>Individual harm occurred.
Mean harm did not meet
the frozen threshold.</a:t>
            </a:r>
          </a:p>
        </p:txBody>
      </p:sp>
      <p:sp>
        <p:nvSpPr>
          <p:cNvPr id="8" name="Limits">
            <a:extLst xmlns:a="http://schemas.openxmlformats.org/drawingml/2006/main">
              <a:ext uri="{FF2B5EF4-FFF2-40B4-BE49-F238E27FC236}">
                <a16:creationId xmlns:a16="http://schemas.microsoft.com/office/drawing/2014/main" id="{1819FA88-3B85-4956-B9F6-BE9C3346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53100"/>
            <a:ext cx="111252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22222"/>
                </a:solidFill>
              </a:defRPr>
            </a:pPr>
            <a:r>
              <a:t>Simple-control sufficiency: not reached. Technical audit passed; no defense validated.</a:t>
            </a:r>
          </a:p>
        </p:txBody>
      </p:sp>
      <p:sp>
        <p:nvSpPr>
          <p:cNvPr id="9" name="Divider">
            <a:extLst xmlns:a="http://schemas.openxmlformats.org/drawingml/2006/main">
              <a:ext uri="{FF2B5EF4-FFF2-40B4-BE49-F238E27FC236}">
                <a16:creationId xmlns:a16="http://schemas.microsoft.com/office/drawing/2014/main" id="{66062C92-5B57-4A4E-9577-47F40DD3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67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9"/>
          </a:solidFill>
        </p:spPr>
      </p:sp>
      <p:sp>
        <p:nvSpPr>
          <p:cNvPr id="10" name="Sources">
            <a:extLst xmlns:a="http://schemas.openxmlformats.org/drawingml/2006/main">
              <a:ext uri="{FF2B5EF4-FFF2-40B4-BE49-F238E27FC236}">
                <a16:creationId xmlns:a16="http://schemas.microsoft.com/office/drawing/2014/main" id="{9C1806D0-E64B-4F15-8133-D3C6B9A9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047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</a:defRPr>
            </a:pPr>
            <a:r>
              <a:t>010 evidence E1–E8 · Δerror &lt; 0 means lower average error</a:t>
            </a:r>
          </a:p>
        </p:txBody>
      </p:sp>
      <p:sp>
        <p:nvSpPr>
          <p:cNvPr id="11" name="Page">
            <a:extLst xmlns:a="http://schemas.openxmlformats.org/drawingml/2006/main">
              <a:ext uri="{FF2B5EF4-FFF2-40B4-BE49-F238E27FC236}">
                <a16:creationId xmlns:a16="http://schemas.microsoft.com/office/drawing/2014/main" id="{7A59B0D8-2424-4074-83A9-D0716FC95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304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</a:defRPr>
            </a:pPr>
            <a:r>
              <a:t>3</a:t>
            </a:r>
          </a:p>
        </p:txBody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533400" y="2486025"/>
          <a:ext xmlns:a="http://schemas.openxmlformats.org/drawingml/2006/main" cx="7162800" cy="3067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24050"/>
                <a:gridCol w="2619375"/>
                <a:gridCol w="2619375"/>
              </a:tblGrid>
              <a:tr h="4381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</a:rPr>
                        <a:t>Variant</a:t>
                      </a:r>
                    </a:p>
                  </a:txBody>
                  <a:tcPr marL="114300" marR="114300" marT="57150" marB="5715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</a:rPr>
                        <a:t>Mean Δerror</a:t>
                      </a:r>
                    </a:p>
                  </a:txBody>
                  <a:tcPr marL="114300" marR="114300" marT="57150" marB="5715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</a:rPr>
                        <a:t>Displaced / 32</a:t>
                      </a:r>
                    </a:p>
                  </a:txBody>
                  <a:tcPr marL="114300" marR="114300" marT="57150" marB="57150">
                    <a:solidFill>
                      <a:srgbClr val="EEEEEE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22222"/>
                          </a:solidFill>
                        </a:rPr>
                        <a:t>Step 1</a:t>
                      </a:r>
                    </a:p>
                  </a:txBody>
                  <a:tcPr marL="114300" marR="1143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22222"/>
                          </a:solidFill>
                        </a:rPr>
                        <a:t>−0.007942</a:t>
                      </a:r>
                    </a:p>
                  </a:txBody>
                  <a:tcPr marL="114300" marR="1143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22222"/>
                          </a:solidFill>
                        </a:rPr>
                        <a:t>6</a:t>
                      </a:r>
                    </a:p>
                  </a:txBody>
                  <a:tcPr marL="114300" marR="114300" marT="57150" marB="57150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22222"/>
                          </a:solidFill>
                        </a:rPr>
                        <a:t>Step 3</a:t>
                      </a:r>
                    </a:p>
                  </a:txBody>
                  <a:tcPr marL="114300" marR="1143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22222"/>
                          </a:solidFill>
                        </a:rPr>
                        <a:t>−0.006084</a:t>
                      </a:r>
                    </a:p>
                  </a:txBody>
                  <a:tcPr marL="114300" marR="1143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22222"/>
                          </a:solidFill>
                        </a:rPr>
                        <a:t>8</a:t>
                      </a:r>
                    </a:p>
                  </a:txBody>
                  <a:tcPr marL="114300" marR="114300" marT="57150" marB="57150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22222"/>
                          </a:solidFill>
                        </a:rPr>
                        <a:t>Step 6</a:t>
                      </a:r>
                    </a:p>
                  </a:txBody>
                  <a:tcPr marL="114300" marR="1143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22222"/>
                          </a:solidFill>
                        </a:rPr>
                        <a:t>−0.007084</a:t>
                      </a:r>
                    </a:p>
                  </a:txBody>
                  <a:tcPr marL="114300" marR="1143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22222"/>
                          </a:solidFill>
                        </a:rPr>
                        <a:t>11</a:t>
                      </a:r>
                    </a:p>
                  </a:txBody>
                  <a:tcPr marL="114300" marR="114300" marT="57150" marB="57150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22222"/>
                          </a:solidFill>
                        </a:rPr>
                        <a:t>Ramp 1</a:t>
                      </a:r>
                    </a:p>
                  </a:txBody>
                  <a:tcPr marL="114300" marR="1143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22222"/>
                          </a:solidFill>
                        </a:rPr>
                        <a:t>−0.017816</a:t>
                      </a:r>
                    </a:p>
                  </a:txBody>
                  <a:tcPr marL="114300" marR="1143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22222"/>
                          </a:solidFill>
                        </a:rPr>
                        <a:t>22</a:t>
                      </a:r>
                    </a:p>
                  </a:txBody>
                  <a:tcPr marL="114300" marR="114300" marT="57150" marB="57150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22222"/>
                          </a:solidFill>
                        </a:rPr>
                        <a:t>Ramp 3</a:t>
                      </a:r>
                    </a:p>
                  </a:txBody>
                  <a:tcPr marL="114300" marR="1143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22222"/>
                          </a:solidFill>
                        </a:rPr>
                        <a:t>−0.013414</a:t>
                      </a:r>
                    </a:p>
                  </a:txBody>
                  <a:tcPr marL="114300" marR="1143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22222"/>
                          </a:solidFill>
                        </a:rPr>
                        <a:t>23</a:t>
                      </a:r>
                    </a:p>
                  </a:txBody>
                  <a:tcPr marL="114300" marR="114300" marT="57150" marB="57150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22222"/>
                          </a:solidFill>
                        </a:rPr>
                        <a:t>Ramp 6</a:t>
                      </a:r>
                    </a:p>
                  </a:txBody>
                  <a:tcPr marL="114300" marR="1143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22222"/>
                          </a:solidFill>
                        </a:rPr>
                        <a:t>−0.008986</a:t>
                      </a:r>
                    </a:p>
                  </a:txBody>
                  <a:tcPr marL="114300" marR="1143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22222"/>
                          </a:solidFill>
                        </a:rPr>
                        <a:t>23</a:t>
                      </a:r>
                    </a:p>
                  </a:txBody>
                  <a:tcPr marL="114300" marR="114300" marT="57150" marB="571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01565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2026-09-17T05:16:00.6300000Z</dcterms:created>
  <dcterms:modified xsi:type="dcterms:W3CDTF">2026-09-17T05:16:00.6300000Z</dcterms:modified>
</coreProperties>
</file>