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36.xml" ContentType="application/vnd.openxmlformats-officedocument.presentationml.notesSlide+xml"/>
  <Override PartName="/ppt/slides/slide37.xml" ContentType="application/vnd.openxmlformats-officedocument.presentationml.slide+xml"/>
  <Override PartName="/ppt/notesSlides/notesSlide137.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 id="2147483694" r:id="rId2"/>
  </p:sldMasterIdLst>
  <p:notesMasterIdLst>
    <p:notesMasterId r:id="rId39"/>
  </p:notesMasterIdLst>
  <p:sldIdLst>
    <p:sldId id="256" r:id="rId3"/>
    <p:sldId id="257" r:id="rId4"/>
    <p:sldId id="258" r:id="rId5"/>
    <p:sldId id="259" r:id="rId6"/>
    <p:sldId id="260" r:id="rId7"/>
    <p:sldId id="289"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90" r:id="rId34"/>
    <p:sldId id="286" r:id="rId35"/>
    <p:sldId id="288" r:id="rId36"/>
    <p:sldId id="325" r:id="rId37"/>
    <p:sldId id="326" r:id="rId38"/>
    <p:sldId id="327" r:id="rIdDataSource3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0AD47"/>
    <a:srgbClr val="FFC000"/>
    <a:srgbClr val="505046"/>
    <a:srgbClr val="B22600"/>
    <a:srgbClr val="4472C4"/>
    <a:srgbClr val="E84C22"/>
    <a:srgbClr val="44546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953"/>
    <p:restoredTop sz="94681"/>
  </p:normalViewPr>
  <p:slideViewPr>
    <p:cSldViewPr snapToGrid="0">
      <p:cViewPr varScale="1">
        <p:scale>
          <a:sx n="89" d="100"/>
          <a:sy n="89" d="100"/>
        </p:scale>
        <p:origin x="806" y="67"/>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notesMaster" Target="notesMasters/notesMaster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DataSource37"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6CF2B60-A650-A240-9969-3833CC7E6942}" type="datetimeFigureOut">
              <a:rPr lang="en-US" smtClean="0"/>
              <a:t>10/24/2026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6EB8F1-786E-1E4C-8521-6592BFBA63DE}" type="slidenum">
              <a:rPr lang="en-US" smtClean="0"/>
              <a:t>‹#›</a:t>
            </a:fld>
            <a:endParaRPr lang="en-US"/>
          </a:p>
        </p:txBody>
      </p:sp>
    </p:spTree>
    <p:extLst>
      <p:ext uri="{BB962C8B-B14F-4D97-AF65-F5344CB8AC3E}">
        <p14:creationId xmlns:p14="http://schemas.microsoft.com/office/powerpoint/2010/main" val="24525865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Alt (2026) reported Gradient Boosting at macro-F1 0.809 and Random Forest at 0.808 on Cowrie SSH data, a difference the author called within fold-to-fold variation. H3 tests whether Gradient Boosting keeps the top rank on multi-host APT telemetry when all eight classifiers get identical features, folds and tuning budgets. H4 (Phase 2) was H3 in the previous version.</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Step 1 status: in progress.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Step 2 status: in progress.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Step 3 status: planned.</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Step 4 status: planned.</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Step 5 status: planned.</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Step 6 status: planned.</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Step 7 status: planned.</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Step 8 status: planned.</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Step 9 status: planned.</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Step 10 status: planned.</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are the eight classifiers run in Steps 8 and 9. Gradient Boosting is the hypothesized best (RQ3/H3); the other seven span bagging, regularized boosting, single-tree, linear, maximum-margin, probabilistic and distance-based families so the comparison shows whether the advantage comes from boosting itself.</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Graphical model representation from the October 24 working Praxis, Chapter 3. Operator, task and range affect behavior. Behavior, environment and sensor quality affect telemetry. Features support prediction. No fitted Bayesian network or causal-effect estimate is claimed. Source: https://github.com/garypagangit/praxis/tree/praxis-research/paper/working-praxis-20261024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Author-specified design, October 24, 2026. GOAD and ARTEMIS are the preliminary test case. Model short IDs: Qwen 36711483afce (19 GB), Gemma 63f914bef7f4 (16 GB). Exact digests and local-model compatibility remain to be qualified. GOAD: https://github.com/Orange-Cyberdefense/GOAD . ARTEMIS study: https://arxiv.org/abs/2512.09882 . Updated questions: https://github.com/garypagangit/praxis/blob/praxis-research/PRAXIS_RESEARCH_DESIGN.md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Design source: working Praxis, Chapters 3–4, October 24, 2026. https://github.com/garypagangit/praxis/tree/praxis-research/paper/working-praxis-20261024 . Synthetic refers to the constructed scenario. Real operators and agents generate measured telemetry. No collection results or deployed topology are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sensor inventory based on the working Praxis and the prior V002 collection specification. Enable and verify each sensor before collection. Event availability depends on audit configuration and selected services. AI and human execution traces are independent ground truth, not model inputs. Exact deployment and retention controls remain to be recorded.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Working Praxis Chapters 3 and 4. Raw evidence, normalized events and feature tables are versioned separately. Five days are a collection window, not five independent observations. Record seeds and software settings, while acknowledging that autonomous actions may not be exactly repeatable. Hold out people/configurations and prevent windows from one trial crossing partitions.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APA source: Splunk. (n.d.). Attack range [Computer software]. GitHub. Retrieved October 24, 2026, from https://github.com/splunk/attack_range . Verified October 24, 2026. Paper identifies this as a candidate baseline, not evidence of deployment. NVIDIA. (n.d.). NVIDIA DGX Spark. Retrieved October 24, 2026, from https://www.nvidia.com/en-us/products/workstations/dgx-spark/ . Author-supplied model short IDs: gemma4-ablit:latest 63f914bef7f4 (16 GB); huihui_ai/qwen2.5-coder-abliterate:32b 36711483afce (19 GB). Tags and short IDs do not validate model lineage or capability. Full hashes and scaffold/skills repository remain required.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2" name="Picture 1" descr="photos-ppt.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8" name="Title 1"/>
          <p:cNvSpPr>
            <a:spLocks noGrp="1"/>
          </p:cNvSpPr>
          <p:nvPr>
            <p:ph type="ctrTitle" hasCustomPrompt="1"/>
          </p:nvPr>
        </p:nvSpPr>
        <p:spPr>
          <a:xfrm>
            <a:off x="360379" y="601091"/>
            <a:ext cx="4301269" cy="2305339"/>
          </a:xfrm>
          <a:prstGeom prst="rect">
            <a:avLst/>
          </a:prstGeom>
        </p:spPr>
        <p:txBody>
          <a:bodyPr anchor="b"/>
          <a:lstStyle>
            <a:lvl1pPr algn="l">
              <a:defRPr sz="4000" b="1"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defRPr>
            </a:lvl1pPr>
          </a:lstStyle>
          <a:p>
            <a:r>
              <a:rPr lang="en-US"/>
              <a:t>Click to edit </a:t>
            </a:r>
            <a:br>
              <a:rPr lang="en-US"/>
            </a:br>
            <a:r>
              <a:rPr lang="en-US"/>
              <a:t>Master title style</a:t>
            </a:r>
          </a:p>
        </p:txBody>
      </p:sp>
      <p:sp>
        <p:nvSpPr>
          <p:cNvPr id="9" name="Subtitle 2"/>
          <p:cNvSpPr>
            <a:spLocks noGrp="1"/>
          </p:cNvSpPr>
          <p:nvPr>
            <p:ph type="subTitle" idx="1" hasCustomPrompt="1"/>
          </p:nvPr>
        </p:nvSpPr>
        <p:spPr>
          <a:xfrm>
            <a:off x="360379" y="3137687"/>
            <a:ext cx="4301269" cy="1752600"/>
          </a:xfrm>
          <a:prstGeom prst="rect">
            <a:avLst/>
          </a:prstGeom>
        </p:spPr>
        <p:txBody>
          <a:bodyPr/>
          <a:lstStyle>
            <a:lvl1pPr marL="0" indent="0" algn="l">
              <a:buNone/>
              <a:defRPr>
                <a:solidFill>
                  <a:srgbClr val="ECE9C6"/>
                </a:solidFill>
                <a:effectLst>
                  <a:outerShdw blurRad="34925" dist="12700" dir="14400000" rotWithShape="0">
                    <a:prstClr val="black">
                      <a:alpha val="21000"/>
                    </a:prstClr>
                  </a:outerShdw>
                </a:effectLst>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a:t>
            </a:r>
            <a:br>
              <a:rPr lang="en-US"/>
            </a:br>
            <a:r>
              <a:rPr lang="en-US"/>
              <a:t>subtitle style</a:t>
            </a:r>
          </a:p>
        </p:txBody>
      </p:sp>
    </p:spTree>
    <p:extLst>
      <p:ext uri="{BB962C8B-B14F-4D97-AF65-F5344CB8AC3E}">
        <p14:creationId xmlns:p14="http://schemas.microsoft.com/office/powerpoint/2010/main" val="29488283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Content Placeholder 2"/>
          <p:cNvSpPr>
            <a:spLocks noGrp="1"/>
          </p:cNvSpPr>
          <p:nvPr>
            <p:ph idx="1"/>
          </p:nvPr>
        </p:nvSpPr>
        <p:spPr>
          <a:xfrm>
            <a:off x="699248" y="1861441"/>
            <a:ext cx="7745505" cy="3170264"/>
          </a:xfrm>
          <a:prstGeom prst="rect">
            <a:avLst/>
          </a:prstGeom>
        </p:spPr>
        <p:txBody>
          <a:bodyPr/>
          <a:lstStyle>
            <a:lvl1pPr>
              <a:defRPr>
                <a:solidFill>
                  <a:srgbClr val="595959"/>
                </a:solidFill>
                <a:latin typeface="Arial"/>
                <a:cs typeface="Arial"/>
              </a:defRPr>
            </a:lvl1pPr>
            <a:lvl2pPr>
              <a:defRPr>
                <a:latin typeface="Arial"/>
                <a:cs typeface="Arial"/>
              </a:defRPr>
            </a:lvl2pPr>
            <a:lvl3pPr>
              <a:defRPr>
                <a:latin typeface="Arial"/>
                <a:cs typeface="Arial"/>
              </a:defRPr>
            </a:lvl3pPr>
            <a:lvl4pPr>
              <a:defRPr>
                <a:latin typeface="Arial"/>
                <a:cs typeface="Arial"/>
              </a:defRPr>
            </a:lvl4pPr>
            <a:lvl5pPr>
              <a:defRPr>
                <a:latin typeface="Arial"/>
                <a:cs typeface="Arial"/>
              </a:defRPr>
            </a:lvl5pPr>
          </a:lstStyle>
          <a:p>
            <a:pPr lvl="0"/>
            <a:r>
              <a:rPr lang="en-US"/>
              <a:t>Click to edit Master text styles</a:t>
            </a:r>
          </a:p>
        </p:txBody>
      </p:sp>
      <p:sp>
        <p:nvSpPr>
          <p:cNvPr id="8" name="Title 10"/>
          <p:cNvSpPr>
            <a:spLocks noGrp="1"/>
          </p:cNvSpPr>
          <p:nvPr>
            <p:ph type="title"/>
          </p:nvPr>
        </p:nvSpPr>
        <p:spPr>
          <a:xfrm>
            <a:off x="688490" y="570156"/>
            <a:ext cx="7756263" cy="1054250"/>
          </a:xfrm>
          <a:prstGeom prst="rect">
            <a:avLst/>
          </a:prstGeom>
        </p:spPr>
        <p:txBody>
          <a:bodyPr/>
          <a:lstStyle>
            <a:lvl1pPr algn="l">
              <a:defRPr sz="4000" b="1">
                <a:solidFill>
                  <a:schemeClr val="tx1">
                    <a:lumMod val="75000"/>
                    <a:lumOff val="25000"/>
                  </a:schemeClr>
                </a:solidFill>
                <a:latin typeface="Arial"/>
                <a:cs typeface="Arial"/>
              </a:defRPr>
            </a:lvl1pPr>
          </a:lstStyle>
          <a:p>
            <a:r>
              <a:rPr lang="en-US"/>
              <a:t>Click to edit Master title style</a:t>
            </a:r>
          </a:p>
        </p:txBody>
      </p:sp>
    </p:spTree>
    <p:extLst>
      <p:ext uri="{BB962C8B-B14F-4D97-AF65-F5344CB8AC3E}">
        <p14:creationId xmlns:p14="http://schemas.microsoft.com/office/powerpoint/2010/main" val="7861476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8" name="Title 1"/>
          <p:cNvSpPr>
            <a:spLocks noGrp="1"/>
          </p:cNvSpPr>
          <p:nvPr>
            <p:ph type="title"/>
          </p:nvPr>
        </p:nvSpPr>
        <p:spPr>
          <a:xfrm>
            <a:off x="690041" y="1204857"/>
            <a:ext cx="7754713" cy="1910716"/>
          </a:xfrm>
          <a:prstGeom prst="rect">
            <a:avLst/>
          </a:prstGeom>
        </p:spPr>
        <p:txBody>
          <a:bodyPr anchor="b"/>
          <a:lstStyle>
            <a:lvl1pPr algn="ctr">
              <a:defRPr sz="5400" b="1" cap="none" baseline="0">
                <a:solidFill>
                  <a:srgbClr val="595959"/>
                </a:solidFill>
                <a:latin typeface="Arial"/>
                <a:cs typeface="Arial"/>
              </a:defRPr>
            </a:lvl1pPr>
          </a:lstStyle>
          <a:p>
            <a:r>
              <a:rPr lang="en-US"/>
              <a:t>Click to edit Master title style</a:t>
            </a:r>
          </a:p>
        </p:txBody>
      </p:sp>
      <p:sp>
        <p:nvSpPr>
          <p:cNvPr id="9" name="Text Placeholder 2"/>
          <p:cNvSpPr>
            <a:spLocks noGrp="1"/>
          </p:cNvSpPr>
          <p:nvPr>
            <p:ph type="body" idx="1"/>
          </p:nvPr>
        </p:nvSpPr>
        <p:spPr>
          <a:xfrm>
            <a:off x="699248" y="3324433"/>
            <a:ext cx="7734747" cy="1500187"/>
          </a:xfrm>
          <a:prstGeom prst="rect">
            <a:avLst/>
          </a:prstGeom>
        </p:spPr>
        <p:txBody>
          <a:bodyPr anchor="t"/>
          <a:lstStyle>
            <a:lvl1pPr marL="0" indent="0" algn="ctr">
              <a:buNone/>
              <a:defRPr sz="2000">
                <a:solidFill>
                  <a:srgbClr val="595959"/>
                </a:solidFill>
                <a:latin typeface="Arial"/>
                <a:cs typeface="Aria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540038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Areas">
    <p:spTree>
      <p:nvGrpSpPr>
        <p:cNvPr id="1" name=""/>
        <p:cNvGrpSpPr/>
        <p:nvPr/>
      </p:nvGrpSpPr>
      <p:grpSpPr>
        <a:xfrm>
          <a:off x="0" y="0"/>
          <a:ext cx="0" cy="0"/>
          <a:chOff x="0" y="0"/>
          <a:chExt cx="0" cy="0"/>
        </a:xfrm>
      </p:grpSpPr>
      <p:sp>
        <p:nvSpPr>
          <p:cNvPr id="10" name="Title 11"/>
          <p:cNvSpPr>
            <a:spLocks noGrp="1"/>
          </p:cNvSpPr>
          <p:nvPr>
            <p:ph type="title"/>
          </p:nvPr>
        </p:nvSpPr>
        <p:spPr>
          <a:xfrm>
            <a:off x="688490" y="570156"/>
            <a:ext cx="7756263" cy="1054250"/>
          </a:xfrm>
          <a:prstGeom prst="rect">
            <a:avLst/>
          </a:prstGeom>
        </p:spPr>
        <p:txBody>
          <a:bodyPr/>
          <a:lstStyle>
            <a:lvl1pPr>
              <a:defRPr sz="4300" b="1">
                <a:solidFill>
                  <a:srgbClr val="595959"/>
                </a:solidFill>
                <a:latin typeface="Arial"/>
                <a:cs typeface="Arial"/>
              </a:defRPr>
            </a:lvl1pPr>
          </a:lstStyle>
          <a:p>
            <a:r>
              <a:rPr lang="en-US"/>
              <a:t>Click to edit Master title style</a:t>
            </a:r>
          </a:p>
        </p:txBody>
      </p:sp>
      <p:sp>
        <p:nvSpPr>
          <p:cNvPr id="11" name="Content Placeholder 7"/>
          <p:cNvSpPr>
            <a:spLocks noGrp="1"/>
          </p:cNvSpPr>
          <p:nvPr>
            <p:ph sz="quarter" idx="13"/>
          </p:nvPr>
        </p:nvSpPr>
        <p:spPr>
          <a:xfrm>
            <a:off x="685800" y="1845482"/>
            <a:ext cx="3803904" cy="3434474"/>
          </a:xfrm>
          <a:prstGeom prst="rect">
            <a:avLst/>
          </a:prstGeom>
        </p:spPr>
        <p:txBody>
          <a:bodyPr>
            <a:normAutofit/>
          </a:bodyPr>
          <a:lstStyle>
            <a:lvl1pPr>
              <a:defRPr sz="2000">
                <a:solidFill>
                  <a:srgbClr val="595959"/>
                </a:solidFill>
                <a:latin typeface="Arial"/>
                <a:cs typeface="Arial"/>
              </a:defRPr>
            </a:lvl1pPr>
          </a:lstStyle>
          <a:p>
            <a:pPr lvl="0"/>
            <a:r>
              <a:rPr lang="en-US"/>
              <a:t>Click to edit Master text styles</a:t>
            </a:r>
          </a:p>
        </p:txBody>
      </p:sp>
      <p:sp>
        <p:nvSpPr>
          <p:cNvPr id="12" name="Content Placeholder 9"/>
          <p:cNvSpPr>
            <a:spLocks noGrp="1"/>
          </p:cNvSpPr>
          <p:nvPr>
            <p:ph sz="quarter" idx="14"/>
          </p:nvPr>
        </p:nvSpPr>
        <p:spPr>
          <a:xfrm>
            <a:off x="4645151" y="1845482"/>
            <a:ext cx="3803904" cy="3434474"/>
          </a:xfrm>
          <a:prstGeom prst="rect">
            <a:avLst/>
          </a:prstGeom>
        </p:spPr>
        <p:txBody>
          <a:bodyPr>
            <a:normAutofit/>
          </a:bodyPr>
          <a:lstStyle>
            <a:lvl1pPr>
              <a:defRPr sz="2000">
                <a:solidFill>
                  <a:srgbClr val="595959"/>
                </a:solidFill>
                <a:latin typeface="Arial"/>
                <a:cs typeface="Arial"/>
              </a:defRPr>
            </a:lvl1pPr>
          </a:lstStyle>
          <a:p>
            <a:pPr lvl="0"/>
            <a:r>
              <a:rPr lang="en-US"/>
              <a:t>Click to edit Master text styles</a:t>
            </a:r>
          </a:p>
        </p:txBody>
      </p:sp>
    </p:spTree>
    <p:extLst>
      <p:ext uri="{BB962C8B-B14F-4D97-AF65-F5344CB8AC3E}">
        <p14:creationId xmlns:p14="http://schemas.microsoft.com/office/powerpoint/2010/main" val="34239932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lumns with Subtitles">
    <p:spTree>
      <p:nvGrpSpPr>
        <p:cNvPr id="1" name=""/>
        <p:cNvGrpSpPr/>
        <p:nvPr/>
      </p:nvGrpSpPr>
      <p:grpSpPr>
        <a:xfrm>
          <a:off x="0" y="0"/>
          <a:ext cx="0" cy="0"/>
          <a:chOff x="0" y="0"/>
          <a:chExt cx="0" cy="0"/>
        </a:xfrm>
      </p:grpSpPr>
      <p:sp>
        <p:nvSpPr>
          <p:cNvPr id="6" name="Title 1"/>
          <p:cNvSpPr>
            <a:spLocks noGrp="1"/>
          </p:cNvSpPr>
          <p:nvPr>
            <p:ph type="title"/>
          </p:nvPr>
        </p:nvSpPr>
        <p:spPr>
          <a:xfrm>
            <a:off x="688490" y="570156"/>
            <a:ext cx="7756263" cy="1054250"/>
          </a:xfrm>
          <a:prstGeom prst="rect">
            <a:avLst/>
          </a:prstGeom>
        </p:spPr>
        <p:txBody>
          <a:bodyPr/>
          <a:lstStyle>
            <a:lvl1pPr>
              <a:defRPr sz="4300" b="1">
                <a:solidFill>
                  <a:srgbClr val="595959"/>
                </a:solidFill>
                <a:latin typeface="Arial"/>
                <a:cs typeface="Arial"/>
              </a:defRPr>
            </a:lvl1pPr>
          </a:lstStyle>
          <a:p>
            <a:r>
              <a:rPr lang="en-US"/>
              <a:t>Click to edit Master title style</a:t>
            </a:r>
          </a:p>
        </p:txBody>
      </p:sp>
      <p:sp>
        <p:nvSpPr>
          <p:cNvPr id="7" name="Text Placeholder 2"/>
          <p:cNvSpPr>
            <a:spLocks noGrp="1"/>
          </p:cNvSpPr>
          <p:nvPr>
            <p:ph type="body" idx="1"/>
          </p:nvPr>
        </p:nvSpPr>
        <p:spPr>
          <a:xfrm>
            <a:off x="688491" y="1783601"/>
            <a:ext cx="3621929" cy="658368"/>
          </a:xfrm>
          <a:prstGeom prst="rect">
            <a:avLst/>
          </a:prstGeom>
        </p:spPr>
        <p:txBody>
          <a:bodyPr anchor="b">
            <a:noAutofit/>
          </a:bodyPr>
          <a:lstStyle>
            <a:lvl1pPr marL="0" indent="0" algn="l">
              <a:buNone/>
              <a:defRPr sz="2500" b="1">
                <a:solidFill>
                  <a:srgbClr val="595959"/>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Content Placeholder 3"/>
          <p:cNvSpPr>
            <a:spLocks noGrp="1"/>
          </p:cNvSpPr>
          <p:nvPr>
            <p:ph sz="half" idx="2"/>
          </p:nvPr>
        </p:nvSpPr>
        <p:spPr>
          <a:xfrm>
            <a:off x="688489" y="2622290"/>
            <a:ext cx="3621931" cy="2595107"/>
          </a:xfrm>
          <a:prstGeom prst="rect">
            <a:avLst/>
          </a:prstGeom>
        </p:spPr>
        <p:txBody>
          <a:bodyPr>
            <a:normAutofit/>
          </a:bodyPr>
          <a:lstStyle>
            <a:lvl1pPr>
              <a:defRPr sz="2000">
                <a:solidFill>
                  <a:srgbClr val="595959"/>
                </a:solidFill>
                <a:latin typeface="Arial"/>
                <a:cs typeface="Arial"/>
              </a:defRPr>
            </a:lvl1pPr>
            <a:lvl2pPr>
              <a:defRPr sz="2000">
                <a:latin typeface="Arial"/>
                <a:cs typeface="Arial"/>
              </a:defRPr>
            </a:lvl2pPr>
            <a:lvl3pPr>
              <a:defRPr sz="2000">
                <a:latin typeface="Arial"/>
                <a:cs typeface="Arial"/>
              </a:defRPr>
            </a:lvl3pPr>
            <a:lvl4pPr>
              <a:defRPr sz="2000">
                <a:latin typeface="Arial"/>
                <a:cs typeface="Arial"/>
              </a:defRPr>
            </a:lvl4pPr>
            <a:lvl5pPr>
              <a:defRPr sz="2000">
                <a:latin typeface="Arial"/>
                <a:cs typeface="Arial"/>
              </a:defRPr>
            </a:lvl5pPr>
            <a:lvl6pPr>
              <a:defRPr sz="1600"/>
            </a:lvl6pPr>
            <a:lvl7pPr>
              <a:defRPr sz="1600"/>
            </a:lvl7pPr>
            <a:lvl8pPr>
              <a:defRPr sz="1600"/>
            </a:lvl8pPr>
            <a:lvl9pPr>
              <a:defRPr sz="1600"/>
            </a:lvl9pPr>
          </a:lstStyle>
          <a:p>
            <a:pPr lvl="0"/>
            <a:r>
              <a:rPr lang="en-US"/>
              <a:t>Click to edit Master text styles</a:t>
            </a:r>
          </a:p>
        </p:txBody>
      </p:sp>
      <p:sp>
        <p:nvSpPr>
          <p:cNvPr id="9" name="Text Placeholder 4"/>
          <p:cNvSpPr>
            <a:spLocks noGrp="1"/>
          </p:cNvSpPr>
          <p:nvPr>
            <p:ph type="body" sz="quarter" idx="3"/>
          </p:nvPr>
        </p:nvSpPr>
        <p:spPr>
          <a:xfrm>
            <a:off x="4785879" y="1783601"/>
            <a:ext cx="3663716" cy="658368"/>
          </a:xfrm>
          <a:prstGeom prst="rect">
            <a:avLst/>
          </a:prstGeom>
        </p:spPr>
        <p:txBody>
          <a:bodyPr anchor="b">
            <a:noAutofit/>
          </a:bodyPr>
          <a:lstStyle>
            <a:lvl1pPr marL="0" indent="0" algn="l">
              <a:buNone/>
              <a:defRPr sz="2500" b="1">
                <a:solidFill>
                  <a:srgbClr val="595959"/>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Content Placeholder 5"/>
          <p:cNvSpPr>
            <a:spLocks noGrp="1"/>
          </p:cNvSpPr>
          <p:nvPr>
            <p:ph sz="quarter" idx="4"/>
          </p:nvPr>
        </p:nvSpPr>
        <p:spPr>
          <a:xfrm>
            <a:off x="4785878" y="2619063"/>
            <a:ext cx="3658875" cy="2595107"/>
          </a:xfrm>
          <a:prstGeom prst="rect">
            <a:avLst/>
          </a:prstGeom>
        </p:spPr>
        <p:txBody>
          <a:bodyPr>
            <a:normAutofit/>
          </a:bodyPr>
          <a:lstStyle>
            <a:lvl1pPr>
              <a:defRPr sz="2000">
                <a:solidFill>
                  <a:srgbClr val="595959"/>
                </a:solidFill>
                <a:latin typeface="Arial"/>
                <a:cs typeface="Arial"/>
              </a:defRPr>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p:txBody>
      </p:sp>
    </p:spTree>
    <p:extLst>
      <p:ext uri="{BB962C8B-B14F-4D97-AF65-F5344CB8AC3E}">
        <p14:creationId xmlns:p14="http://schemas.microsoft.com/office/powerpoint/2010/main" val="9492561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5" name="Content Placeholder 2"/>
          <p:cNvSpPr>
            <a:spLocks noGrp="1"/>
          </p:cNvSpPr>
          <p:nvPr>
            <p:ph idx="1"/>
          </p:nvPr>
        </p:nvSpPr>
        <p:spPr>
          <a:xfrm>
            <a:off x="692003" y="559401"/>
            <a:ext cx="3580882" cy="4414019"/>
          </a:xfrm>
          <a:prstGeom prst="rect">
            <a:avLst/>
          </a:prstGeom>
        </p:spPr>
        <p:txBody>
          <a:bodyPr anchor="t">
            <a:normAutofit/>
          </a:bodyPr>
          <a:lstStyle>
            <a:lvl1pPr marL="0" indent="0" algn="l">
              <a:buNone/>
              <a:defRPr sz="2000">
                <a:solidFill>
                  <a:srgbClr val="595959"/>
                </a:solidFill>
                <a:latin typeface="Arial"/>
                <a:cs typeface="Arial"/>
              </a:defRPr>
            </a:lvl1pPr>
            <a:lvl2pPr algn="l">
              <a:defRPr sz="2000">
                <a:latin typeface="Arial"/>
                <a:cs typeface="Arial"/>
              </a:defRPr>
            </a:lvl2pPr>
            <a:lvl3pPr algn="l">
              <a:defRPr sz="2000">
                <a:latin typeface="Arial"/>
                <a:cs typeface="Arial"/>
              </a:defRPr>
            </a:lvl3pPr>
            <a:lvl4pPr algn="l">
              <a:defRPr sz="2000">
                <a:latin typeface="Arial"/>
                <a:cs typeface="Arial"/>
              </a:defRPr>
            </a:lvl4pPr>
            <a:lvl5pPr algn="l">
              <a:defRPr sz="2000">
                <a:latin typeface="Arial"/>
                <a:cs typeface="Arial"/>
              </a:defRPr>
            </a:lvl5pPr>
            <a:lvl6pPr>
              <a:defRPr sz="2000"/>
            </a:lvl6pPr>
            <a:lvl7pPr>
              <a:defRPr sz="2000"/>
            </a:lvl7pPr>
            <a:lvl8pPr>
              <a:defRPr sz="2000"/>
            </a:lvl8pPr>
            <a:lvl9pPr>
              <a:defRPr sz="2000"/>
            </a:lvl9pPr>
          </a:lstStyle>
          <a:p>
            <a:pPr lvl="0"/>
            <a:r>
              <a:rPr lang="en-US"/>
              <a:t>Click to edit Master text styles</a:t>
            </a:r>
          </a:p>
        </p:txBody>
      </p:sp>
      <p:sp>
        <p:nvSpPr>
          <p:cNvPr id="6" name="Text Placeholder 3"/>
          <p:cNvSpPr>
            <a:spLocks noGrp="1"/>
          </p:cNvSpPr>
          <p:nvPr>
            <p:ph type="body" sz="half" idx="2"/>
          </p:nvPr>
        </p:nvSpPr>
        <p:spPr>
          <a:xfrm>
            <a:off x="4889813" y="562026"/>
            <a:ext cx="3580882" cy="4414018"/>
          </a:xfrm>
          <a:prstGeom prst="rect">
            <a:avLst/>
          </a:prstGeom>
        </p:spPr>
        <p:txBody>
          <a:bodyPr>
            <a:normAutofit/>
          </a:bodyPr>
          <a:lstStyle>
            <a:lvl1pPr marL="0" indent="0">
              <a:buNone/>
              <a:defRPr sz="2000">
                <a:solidFill>
                  <a:srgbClr val="595959"/>
                </a:solidFill>
                <a:latin typeface="Arial"/>
                <a:cs typeface="Aria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8595193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hoto with Caption">
    <p:spTree>
      <p:nvGrpSpPr>
        <p:cNvPr id="1" name=""/>
        <p:cNvGrpSpPr/>
        <p:nvPr/>
      </p:nvGrpSpPr>
      <p:grpSpPr>
        <a:xfrm>
          <a:off x="0" y="0"/>
          <a:ext cx="0" cy="0"/>
          <a:chOff x="0" y="0"/>
          <a:chExt cx="0" cy="0"/>
        </a:xfrm>
      </p:grpSpPr>
      <p:sp>
        <p:nvSpPr>
          <p:cNvPr id="8" name="Picture Placeholder 2"/>
          <p:cNvSpPr>
            <a:spLocks noGrp="1"/>
          </p:cNvSpPr>
          <p:nvPr>
            <p:ph type="pic" idx="1"/>
          </p:nvPr>
        </p:nvSpPr>
        <p:spPr>
          <a:xfrm rot="344365">
            <a:off x="773476" y="536674"/>
            <a:ext cx="7578326" cy="3491307"/>
          </a:xfrm>
          <a:prstGeom prst="rect">
            <a:avLst/>
          </a:prstGeom>
          <a:solidFill>
            <a:srgbClr val="FFFFFF">
              <a:shade val="85000"/>
            </a:srgbClr>
          </a:solidFill>
          <a:ln w="190500" cap="sq">
            <a:solidFill>
              <a:srgbClr val="FFFFFF"/>
            </a:solidFill>
            <a:miter lim="800000"/>
          </a:ln>
          <a:effectLst/>
          <a:scene3d>
            <a:camera prst="orthographicFront">
              <a:rot lat="0" lon="0" rev="360000"/>
            </a:camera>
            <a:lightRig rig="twoPt" dir="t">
              <a:rot lat="0" lon="0" rev="7200000"/>
            </a:lightRig>
          </a:scene3d>
          <a:sp3d contourW="12700">
            <a:contourClr>
              <a:srgbClr val="969696"/>
            </a:contourClr>
          </a:sp3d>
        </p:spPr>
        <p:txBody>
          <a:bodyPr>
            <a:normAutofit/>
          </a:bodyPr>
          <a:lstStyle>
            <a:lvl1pPr marL="0" indent="0">
              <a:buNone/>
              <a:defRPr sz="2000">
                <a:latin typeface="Arial"/>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p>
        </p:txBody>
      </p:sp>
      <p:sp>
        <p:nvSpPr>
          <p:cNvPr id="9" name="Text Placeholder 3"/>
          <p:cNvSpPr>
            <a:spLocks noGrp="1"/>
          </p:cNvSpPr>
          <p:nvPr>
            <p:ph type="body" sz="half" idx="2"/>
          </p:nvPr>
        </p:nvSpPr>
        <p:spPr>
          <a:xfrm>
            <a:off x="688490" y="4486019"/>
            <a:ext cx="7756264" cy="804862"/>
          </a:xfrm>
          <a:prstGeom prst="rect">
            <a:avLst/>
          </a:prstGeom>
        </p:spPr>
        <p:txBody>
          <a:bodyPr>
            <a:normAutofit/>
          </a:bodyPr>
          <a:lstStyle>
            <a:lvl1pPr marL="0" indent="0" algn="ctr">
              <a:buNone/>
              <a:defRPr sz="1600" b="0">
                <a:solidFill>
                  <a:srgbClr val="595959"/>
                </a:solidFill>
                <a:latin typeface="Arial"/>
                <a:cs typeface="Aria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5476621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losing Slide">
    <p:spTree>
      <p:nvGrpSpPr>
        <p:cNvPr id="1" name=""/>
        <p:cNvGrpSpPr/>
        <p:nvPr/>
      </p:nvGrpSpPr>
      <p:grpSpPr>
        <a:xfrm>
          <a:off x="0" y="0"/>
          <a:ext cx="0" cy="0"/>
          <a:chOff x="0" y="0"/>
          <a:chExt cx="0" cy="0"/>
        </a:xfrm>
      </p:grpSpPr>
      <p:pic>
        <p:nvPicPr>
          <p:cNvPr id="3" name="Picture 2" descr="PPT-General9.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21065294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with Custom Photo">
    <p:spTree>
      <p:nvGrpSpPr>
        <p:cNvPr id="1" name=""/>
        <p:cNvGrpSpPr/>
        <p:nvPr/>
      </p:nvGrpSpPr>
      <p:grpSpPr>
        <a:xfrm>
          <a:off x="0" y="0"/>
          <a:ext cx="0" cy="0"/>
          <a:chOff x="0" y="0"/>
          <a:chExt cx="0" cy="0"/>
        </a:xfrm>
      </p:grpSpPr>
      <p:pic>
        <p:nvPicPr>
          <p:cNvPr id="7" name="Picture 6" descr="bgblueonephoto.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8" name="Subtitle 2"/>
          <p:cNvSpPr>
            <a:spLocks noGrp="1"/>
          </p:cNvSpPr>
          <p:nvPr>
            <p:ph type="subTitle" idx="1" hasCustomPrompt="1"/>
          </p:nvPr>
        </p:nvSpPr>
        <p:spPr>
          <a:xfrm>
            <a:off x="360378" y="3137687"/>
            <a:ext cx="3658798" cy="1752600"/>
          </a:xfrm>
          <a:prstGeom prst="rect">
            <a:avLst/>
          </a:prstGeom>
        </p:spPr>
        <p:txBody>
          <a:bodyPr/>
          <a:lstStyle>
            <a:lvl1pPr marL="0" indent="0" algn="l">
              <a:buNone/>
              <a:defRPr>
                <a:solidFill>
                  <a:schemeClr val="bg2"/>
                </a:solidFill>
                <a:effectLst>
                  <a:outerShdw blurRad="34925" dist="12700" dir="14400000" rotWithShape="0">
                    <a:prstClr val="black">
                      <a:alpha val="21000"/>
                    </a:prstClr>
                  </a:outerShdw>
                </a:effectLst>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a:t>
            </a:r>
            <a:br>
              <a:rPr lang="en-US"/>
            </a:br>
            <a:r>
              <a:rPr lang="en-US"/>
              <a:t>subtitle style</a:t>
            </a:r>
          </a:p>
        </p:txBody>
      </p:sp>
      <p:sp>
        <p:nvSpPr>
          <p:cNvPr id="9" name="Title 1"/>
          <p:cNvSpPr>
            <a:spLocks noGrp="1"/>
          </p:cNvSpPr>
          <p:nvPr>
            <p:ph type="ctrTitle" hasCustomPrompt="1"/>
          </p:nvPr>
        </p:nvSpPr>
        <p:spPr>
          <a:xfrm>
            <a:off x="360379" y="601091"/>
            <a:ext cx="4480563" cy="2305339"/>
          </a:xfrm>
          <a:prstGeom prst="rect">
            <a:avLst/>
          </a:prstGeom>
        </p:spPr>
        <p:txBody>
          <a:bodyPr anchor="b"/>
          <a:lstStyle>
            <a:lvl1pPr algn="l">
              <a:defRPr sz="4000" b="1"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defRPr>
            </a:lvl1pPr>
          </a:lstStyle>
          <a:p>
            <a:r>
              <a:rPr lang="en-US"/>
              <a:t>Click to edit </a:t>
            </a:r>
            <a:br>
              <a:rPr lang="en-US"/>
            </a:br>
            <a:r>
              <a:rPr lang="en-US"/>
              <a:t>Master title style</a:t>
            </a:r>
          </a:p>
        </p:txBody>
      </p:sp>
      <p:sp>
        <p:nvSpPr>
          <p:cNvPr id="10" name="Picture Placeholder 8"/>
          <p:cNvSpPr>
            <a:spLocks noGrp="1" noChangeAspect="1"/>
          </p:cNvSpPr>
          <p:nvPr>
            <p:ph type="pic" sz="quarter" idx="10" hasCustomPrompt="1"/>
          </p:nvPr>
        </p:nvSpPr>
        <p:spPr>
          <a:xfrm>
            <a:off x="1954870" y="0"/>
            <a:ext cx="7201580" cy="6858000"/>
          </a:xfrm>
          <a:custGeom>
            <a:avLst/>
            <a:gdLst>
              <a:gd name="connsiteX0" fmla="*/ 0 w 7201580"/>
              <a:gd name="connsiteY0" fmla="*/ 0 h 6858000"/>
              <a:gd name="connsiteX1" fmla="*/ 7201580 w 7201580"/>
              <a:gd name="connsiteY1" fmla="*/ 0 h 6858000"/>
              <a:gd name="connsiteX2" fmla="*/ 7201580 w 7201580"/>
              <a:gd name="connsiteY2" fmla="*/ 6858000 h 6858000"/>
              <a:gd name="connsiteX3" fmla="*/ 0 w 7201580"/>
              <a:gd name="connsiteY3" fmla="*/ 6858000 h 6858000"/>
              <a:gd name="connsiteX4" fmla="*/ 0 w 7201580"/>
              <a:gd name="connsiteY4" fmla="*/ 0 h 6858000"/>
              <a:gd name="connsiteX0" fmla="*/ 5050118 w 7201580"/>
              <a:gd name="connsiteY0" fmla="*/ 74706 h 6858000"/>
              <a:gd name="connsiteX1" fmla="*/ 7201580 w 7201580"/>
              <a:gd name="connsiteY1" fmla="*/ 0 h 6858000"/>
              <a:gd name="connsiteX2" fmla="*/ 7201580 w 7201580"/>
              <a:gd name="connsiteY2" fmla="*/ 6858000 h 6858000"/>
              <a:gd name="connsiteX3" fmla="*/ 0 w 7201580"/>
              <a:gd name="connsiteY3" fmla="*/ 6858000 h 6858000"/>
              <a:gd name="connsiteX4" fmla="*/ 5050118 w 7201580"/>
              <a:gd name="connsiteY4" fmla="*/ 74706 h 6858000"/>
              <a:gd name="connsiteX0" fmla="*/ 5020236 w 7201580"/>
              <a:gd name="connsiteY0" fmla="*/ 29883 h 6858000"/>
              <a:gd name="connsiteX1" fmla="*/ 7201580 w 7201580"/>
              <a:gd name="connsiteY1" fmla="*/ 0 h 6858000"/>
              <a:gd name="connsiteX2" fmla="*/ 7201580 w 7201580"/>
              <a:gd name="connsiteY2" fmla="*/ 6858000 h 6858000"/>
              <a:gd name="connsiteX3" fmla="*/ 0 w 7201580"/>
              <a:gd name="connsiteY3" fmla="*/ 6858000 h 6858000"/>
              <a:gd name="connsiteX4" fmla="*/ 5020236 w 7201580"/>
              <a:gd name="connsiteY4" fmla="*/ 29883 h 6858000"/>
              <a:gd name="connsiteX0" fmla="*/ 5020236 w 7201580"/>
              <a:gd name="connsiteY0" fmla="*/ 14941 h 6858000"/>
              <a:gd name="connsiteX1" fmla="*/ 7201580 w 7201580"/>
              <a:gd name="connsiteY1" fmla="*/ 0 h 6858000"/>
              <a:gd name="connsiteX2" fmla="*/ 7201580 w 7201580"/>
              <a:gd name="connsiteY2" fmla="*/ 6858000 h 6858000"/>
              <a:gd name="connsiteX3" fmla="*/ 0 w 7201580"/>
              <a:gd name="connsiteY3" fmla="*/ 6858000 h 6858000"/>
              <a:gd name="connsiteX4" fmla="*/ 5020236 w 7201580"/>
              <a:gd name="connsiteY4" fmla="*/ 14941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01580" h="6858000">
                <a:moveTo>
                  <a:pt x="5020236" y="14941"/>
                </a:moveTo>
                <a:lnTo>
                  <a:pt x="7201580" y="0"/>
                </a:lnTo>
                <a:lnTo>
                  <a:pt x="7201580" y="6858000"/>
                </a:lnTo>
                <a:lnTo>
                  <a:pt x="0" y="6858000"/>
                </a:lnTo>
                <a:lnTo>
                  <a:pt x="5020236" y="14941"/>
                </a:lnTo>
                <a:close/>
              </a:path>
            </a:pathLst>
          </a:custGeom>
        </p:spPr>
        <p:txBody>
          <a:bodyPr vert="horz" anchor="ctr"/>
          <a:lstStyle>
            <a:lvl1pPr algn="r">
              <a:lnSpc>
                <a:spcPct val="100000"/>
              </a:lnSpc>
              <a:defRPr sz="2000">
                <a:solidFill>
                  <a:srgbClr val="ECE9C6"/>
                </a:solidFill>
                <a:latin typeface="Arial"/>
                <a:cs typeface="Arial"/>
              </a:defRPr>
            </a:lvl1pPr>
          </a:lstStyle>
          <a:p>
            <a:r>
              <a:rPr lang="en-US"/>
              <a:t>Drag picture to placeholder </a:t>
            </a:r>
            <a:br>
              <a:rPr lang="en-US"/>
            </a:br>
            <a:r>
              <a:rPr lang="en-US"/>
              <a:t>or click icon to add</a:t>
            </a:r>
          </a:p>
        </p:txBody>
      </p:sp>
    </p:spTree>
    <p:extLst>
      <p:ext uri="{BB962C8B-B14F-4D97-AF65-F5344CB8AC3E}">
        <p14:creationId xmlns:p14="http://schemas.microsoft.com/office/powerpoint/2010/main" val="8917877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2" name="Picture 1" descr="photos-ppt.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8" name="Title 1"/>
          <p:cNvSpPr>
            <a:spLocks noGrp="1"/>
          </p:cNvSpPr>
          <p:nvPr>
            <p:ph type="ctrTitle" hasCustomPrompt="1"/>
          </p:nvPr>
        </p:nvSpPr>
        <p:spPr>
          <a:xfrm>
            <a:off x="360379" y="601091"/>
            <a:ext cx="4301269" cy="2305339"/>
          </a:xfrm>
          <a:prstGeom prst="rect">
            <a:avLst/>
          </a:prstGeom>
        </p:spPr>
        <p:txBody>
          <a:bodyPr anchor="b"/>
          <a:lstStyle>
            <a:lvl1pPr algn="l">
              <a:defRPr sz="4000" b="1"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defRPr>
            </a:lvl1pPr>
          </a:lstStyle>
          <a:p>
            <a:r>
              <a:rPr lang="en-US"/>
              <a:t>Click to edit </a:t>
            </a:r>
            <a:br>
              <a:rPr lang="en-US"/>
            </a:br>
            <a:r>
              <a:rPr lang="en-US"/>
              <a:t>Master title style</a:t>
            </a:r>
          </a:p>
        </p:txBody>
      </p:sp>
      <p:sp>
        <p:nvSpPr>
          <p:cNvPr id="9" name="Subtitle 2"/>
          <p:cNvSpPr>
            <a:spLocks noGrp="1"/>
          </p:cNvSpPr>
          <p:nvPr>
            <p:ph type="subTitle" idx="1" hasCustomPrompt="1"/>
          </p:nvPr>
        </p:nvSpPr>
        <p:spPr>
          <a:xfrm>
            <a:off x="360379" y="3137687"/>
            <a:ext cx="4301269" cy="1752600"/>
          </a:xfrm>
          <a:prstGeom prst="rect">
            <a:avLst/>
          </a:prstGeom>
        </p:spPr>
        <p:txBody>
          <a:bodyPr/>
          <a:lstStyle>
            <a:lvl1pPr marL="0" indent="0" algn="l">
              <a:buNone/>
              <a:defRPr>
                <a:solidFill>
                  <a:srgbClr val="ECE9C6"/>
                </a:solidFill>
                <a:effectLst>
                  <a:outerShdw blurRad="34925" dist="12700" dir="14400000" rotWithShape="0">
                    <a:prstClr val="black">
                      <a:alpha val="21000"/>
                    </a:prstClr>
                  </a:outerShdw>
                </a:effectLst>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a:t>
            </a:r>
            <a:br>
              <a:rPr lang="en-US"/>
            </a:br>
            <a:r>
              <a:rPr lang="en-US"/>
              <a:t>subtitle style</a:t>
            </a:r>
          </a:p>
        </p:txBody>
      </p:sp>
    </p:spTree>
    <p:extLst>
      <p:ext uri="{BB962C8B-B14F-4D97-AF65-F5344CB8AC3E}">
        <p14:creationId xmlns:p14="http://schemas.microsoft.com/office/powerpoint/2010/main" val="16495569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Content Placeholder 2"/>
          <p:cNvSpPr>
            <a:spLocks noGrp="1"/>
          </p:cNvSpPr>
          <p:nvPr>
            <p:ph idx="1"/>
          </p:nvPr>
        </p:nvSpPr>
        <p:spPr>
          <a:xfrm>
            <a:off x="699248" y="1264358"/>
            <a:ext cx="7745505" cy="4007555"/>
          </a:xfrm>
          <a:prstGeom prst="rect">
            <a:avLst/>
          </a:prstGeom>
        </p:spPr>
        <p:txBody>
          <a:bodyPr/>
          <a:lstStyle>
            <a:lvl1pPr>
              <a:defRPr>
                <a:solidFill>
                  <a:srgbClr val="595959"/>
                </a:solidFill>
                <a:latin typeface="Arial"/>
                <a:cs typeface="Arial"/>
              </a:defRPr>
            </a:lvl1pPr>
            <a:lvl2pPr>
              <a:defRPr>
                <a:latin typeface="Arial"/>
                <a:cs typeface="Arial"/>
              </a:defRPr>
            </a:lvl2pPr>
            <a:lvl3pPr>
              <a:defRPr>
                <a:latin typeface="Arial"/>
                <a:cs typeface="Arial"/>
              </a:defRPr>
            </a:lvl3pPr>
            <a:lvl4pPr>
              <a:defRPr>
                <a:latin typeface="Arial"/>
                <a:cs typeface="Arial"/>
              </a:defRPr>
            </a:lvl4pPr>
            <a:lvl5pPr>
              <a:defRPr>
                <a:latin typeface="Arial"/>
                <a:cs typeface="Arial"/>
              </a:defRPr>
            </a:lvl5pPr>
          </a:lstStyle>
          <a:p>
            <a:pPr lvl="0"/>
            <a:r>
              <a:rPr lang="en-US"/>
              <a:t>Click to edit Master text styles</a:t>
            </a:r>
          </a:p>
        </p:txBody>
      </p:sp>
      <p:sp>
        <p:nvSpPr>
          <p:cNvPr id="8" name="Title 10"/>
          <p:cNvSpPr>
            <a:spLocks noGrp="1"/>
          </p:cNvSpPr>
          <p:nvPr>
            <p:ph type="title"/>
          </p:nvPr>
        </p:nvSpPr>
        <p:spPr>
          <a:xfrm>
            <a:off x="688490" y="366958"/>
            <a:ext cx="7756263" cy="739355"/>
          </a:xfrm>
          <a:prstGeom prst="rect">
            <a:avLst/>
          </a:prstGeom>
        </p:spPr>
        <p:txBody>
          <a:bodyPr/>
          <a:lstStyle>
            <a:lvl1pPr algn="l">
              <a:defRPr sz="4000" b="1">
                <a:solidFill>
                  <a:schemeClr val="tx1">
                    <a:lumMod val="75000"/>
                    <a:lumOff val="25000"/>
                  </a:schemeClr>
                </a:solidFill>
                <a:latin typeface="Arial"/>
                <a:cs typeface="Arial"/>
              </a:defRPr>
            </a:lvl1pPr>
          </a:lstStyle>
          <a:p>
            <a:r>
              <a:rPr lang="en-US"/>
              <a:t>Click to edit Master title style</a:t>
            </a:r>
          </a:p>
        </p:txBody>
      </p:sp>
    </p:spTree>
    <p:extLst>
      <p:ext uri="{BB962C8B-B14F-4D97-AF65-F5344CB8AC3E}">
        <p14:creationId xmlns:p14="http://schemas.microsoft.com/office/powerpoint/2010/main" val="20642732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8" name="Title 1"/>
          <p:cNvSpPr>
            <a:spLocks noGrp="1"/>
          </p:cNvSpPr>
          <p:nvPr>
            <p:ph type="title"/>
          </p:nvPr>
        </p:nvSpPr>
        <p:spPr>
          <a:xfrm>
            <a:off x="690041" y="1204857"/>
            <a:ext cx="7754713" cy="1910716"/>
          </a:xfrm>
          <a:prstGeom prst="rect">
            <a:avLst/>
          </a:prstGeom>
        </p:spPr>
        <p:txBody>
          <a:bodyPr anchor="b"/>
          <a:lstStyle>
            <a:lvl1pPr algn="ctr">
              <a:defRPr sz="5400" b="1" cap="none" baseline="0">
                <a:solidFill>
                  <a:srgbClr val="595959"/>
                </a:solidFill>
                <a:latin typeface="Arial"/>
                <a:cs typeface="Arial"/>
              </a:defRPr>
            </a:lvl1pPr>
          </a:lstStyle>
          <a:p>
            <a:r>
              <a:rPr lang="en-US"/>
              <a:t>Click to edit Master title style</a:t>
            </a:r>
          </a:p>
        </p:txBody>
      </p:sp>
      <p:sp>
        <p:nvSpPr>
          <p:cNvPr id="9" name="Text Placeholder 2"/>
          <p:cNvSpPr>
            <a:spLocks noGrp="1"/>
          </p:cNvSpPr>
          <p:nvPr>
            <p:ph type="body" idx="1"/>
          </p:nvPr>
        </p:nvSpPr>
        <p:spPr>
          <a:xfrm>
            <a:off x="699248" y="3324433"/>
            <a:ext cx="7734747" cy="1500187"/>
          </a:xfrm>
          <a:prstGeom prst="rect">
            <a:avLst/>
          </a:prstGeom>
        </p:spPr>
        <p:txBody>
          <a:bodyPr anchor="t"/>
          <a:lstStyle>
            <a:lvl1pPr marL="0" indent="0" algn="ctr">
              <a:buNone/>
              <a:defRPr sz="2000">
                <a:solidFill>
                  <a:srgbClr val="595959"/>
                </a:solidFill>
                <a:latin typeface="Arial"/>
                <a:cs typeface="Aria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6284256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ntent Areas">
    <p:spTree>
      <p:nvGrpSpPr>
        <p:cNvPr id="1" name=""/>
        <p:cNvGrpSpPr/>
        <p:nvPr/>
      </p:nvGrpSpPr>
      <p:grpSpPr>
        <a:xfrm>
          <a:off x="0" y="0"/>
          <a:ext cx="0" cy="0"/>
          <a:chOff x="0" y="0"/>
          <a:chExt cx="0" cy="0"/>
        </a:xfrm>
      </p:grpSpPr>
      <p:sp>
        <p:nvSpPr>
          <p:cNvPr id="10" name="Title 11"/>
          <p:cNvSpPr>
            <a:spLocks noGrp="1"/>
          </p:cNvSpPr>
          <p:nvPr>
            <p:ph type="title"/>
          </p:nvPr>
        </p:nvSpPr>
        <p:spPr>
          <a:xfrm>
            <a:off x="688490" y="570156"/>
            <a:ext cx="7756263" cy="1054250"/>
          </a:xfrm>
          <a:prstGeom prst="rect">
            <a:avLst/>
          </a:prstGeom>
        </p:spPr>
        <p:txBody>
          <a:bodyPr/>
          <a:lstStyle>
            <a:lvl1pPr>
              <a:defRPr sz="4300" b="1">
                <a:solidFill>
                  <a:srgbClr val="595959"/>
                </a:solidFill>
                <a:latin typeface="Arial"/>
                <a:cs typeface="Arial"/>
              </a:defRPr>
            </a:lvl1pPr>
          </a:lstStyle>
          <a:p>
            <a:r>
              <a:rPr lang="en-US"/>
              <a:t>Click to edit Master title style</a:t>
            </a:r>
          </a:p>
        </p:txBody>
      </p:sp>
      <p:sp>
        <p:nvSpPr>
          <p:cNvPr id="11" name="Content Placeholder 7"/>
          <p:cNvSpPr>
            <a:spLocks noGrp="1"/>
          </p:cNvSpPr>
          <p:nvPr>
            <p:ph sz="quarter" idx="13"/>
          </p:nvPr>
        </p:nvSpPr>
        <p:spPr>
          <a:xfrm>
            <a:off x="685800" y="1845482"/>
            <a:ext cx="3803904" cy="3434474"/>
          </a:xfrm>
          <a:prstGeom prst="rect">
            <a:avLst/>
          </a:prstGeom>
        </p:spPr>
        <p:txBody>
          <a:bodyPr>
            <a:normAutofit/>
          </a:bodyPr>
          <a:lstStyle>
            <a:lvl1pPr>
              <a:defRPr sz="2000">
                <a:solidFill>
                  <a:srgbClr val="595959"/>
                </a:solidFill>
                <a:latin typeface="Arial"/>
                <a:cs typeface="Arial"/>
              </a:defRPr>
            </a:lvl1pPr>
          </a:lstStyle>
          <a:p>
            <a:pPr lvl="0"/>
            <a:r>
              <a:rPr lang="en-US"/>
              <a:t>Click to edit Master text styles</a:t>
            </a:r>
          </a:p>
        </p:txBody>
      </p:sp>
      <p:sp>
        <p:nvSpPr>
          <p:cNvPr id="12" name="Content Placeholder 9"/>
          <p:cNvSpPr>
            <a:spLocks noGrp="1"/>
          </p:cNvSpPr>
          <p:nvPr>
            <p:ph sz="quarter" idx="14"/>
          </p:nvPr>
        </p:nvSpPr>
        <p:spPr>
          <a:xfrm>
            <a:off x="4645151" y="1845482"/>
            <a:ext cx="3803904" cy="3434474"/>
          </a:xfrm>
          <a:prstGeom prst="rect">
            <a:avLst/>
          </a:prstGeom>
        </p:spPr>
        <p:txBody>
          <a:bodyPr>
            <a:normAutofit/>
          </a:bodyPr>
          <a:lstStyle>
            <a:lvl1pPr>
              <a:defRPr sz="2000">
                <a:solidFill>
                  <a:srgbClr val="595959"/>
                </a:solidFill>
                <a:latin typeface="Arial"/>
                <a:cs typeface="Arial"/>
              </a:defRPr>
            </a:lvl1pPr>
          </a:lstStyle>
          <a:p>
            <a:pPr lvl="0"/>
            <a:r>
              <a:rPr lang="en-US"/>
              <a:t>Click to edit Master text styles</a:t>
            </a:r>
          </a:p>
        </p:txBody>
      </p:sp>
    </p:spTree>
    <p:extLst>
      <p:ext uri="{BB962C8B-B14F-4D97-AF65-F5344CB8AC3E}">
        <p14:creationId xmlns:p14="http://schemas.microsoft.com/office/powerpoint/2010/main" val="364593620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lumns with Subtitles">
    <p:spTree>
      <p:nvGrpSpPr>
        <p:cNvPr id="1" name=""/>
        <p:cNvGrpSpPr/>
        <p:nvPr/>
      </p:nvGrpSpPr>
      <p:grpSpPr>
        <a:xfrm>
          <a:off x="0" y="0"/>
          <a:ext cx="0" cy="0"/>
          <a:chOff x="0" y="0"/>
          <a:chExt cx="0" cy="0"/>
        </a:xfrm>
      </p:grpSpPr>
      <p:sp>
        <p:nvSpPr>
          <p:cNvPr id="6" name="Title 1"/>
          <p:cNvSpPr>
            <a:spLocks noGrp="1"/>
          </p:cNvSpPr>
          <p:nvPr>
            <p:ph type="title"/>
          </p:nvPr>
        </p:nvSpPr>
        <p:spPr>
          <a:xfrm>
            <a:off x="688490" y="570156"/>
            <a:ext cx="7756263" cy="1054250"/>
          </a:xfrm>
          <a:prstGeom prst="rect">
            <a:avLst/>
          </a:prstGeom>
        </p:spPr>
        <p:txBody>
          <a:bodyPr/>
          <a:lstStyle>
            <a:lvl1pPr>
              <a:defRPr sz="4300" b="1">
                <a:solidFill>
                  <a:srgbClr val="595959"/>
                </a:solidFill>
                <a:latin typeface="Arial"/>
                <a:cs typeface="Arial"/>
              </a:defRPr>
            </a:lvl1pPr>
          </a:lstStyle>
          <a:p>
            <a:r>
              <a:rPr lang="en-US"/>
              <a:t>Click to edit Master title style</a:t>
            </a:r>
          </a:p>
        </p:txBody>
      </p:sp>
      <p:sp>
        <p:nvSpPr>
          <p:cNvPr id="7" name="Text Placeholder 2"/>
          <p:cNvSpPr>
            <a:spLocks noGrp="1"/>
          </p:cNvSpPr>
          <p:nvPr>
            <p:ph type="body" idx="1"/>
          </p:nvPr>
        </p:nvSpPr>
        <p:spPr>
          <a:xfrm>
            <a:off x="688491" y="1783601"/>
            <a:ext cx="3621929" cy="658368"/>
          </a:xfrm>
          <a:prstGeom prst="rect">
            <a:avLst/>
          </a:prstGeom>
        </p:spPr>
        <p:txBody>
          <a:bodyPr anchor="b">
            <a:noAutofit/>
          </a:bodyPr>
          <a:lstStyle>
            <a:lvl1pPr marL="0" indent="0" algn="l">
              <a:buNone/>
              <a:defRPr sz="2500" b="1">
                <a:solidFill>
                  <a:srgbClr val="595959"/>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Content Placeholder 3"/>
          <p:cNvSpPr>
            <a:spLocks noGrp="1"/>
          </p:cNvSpPr>
          <p:nvPr>
            <p:ph sz="half" idx="2"/>
          </p:nvPr>
        </p:nvSpPr>
        <p:spPr>
          <a:xfrm>
            <a:off x="688489" y="2622290"/>
            <a:ext cx="3621931" cy="2595107"/>
          </a:xfrm>
          <a:prstGeom prst="rect">
            <a:avLst/>
          </a:prstGeom>
        </p:spPr>
        <p:txBody>
          <a:bodyPr>
            <a:normAutofit/>
          </a:bodyPr>
          <a:lstStyle>
            <a:lvl1pPr>
              <a:defRPr sz="2000">
                <a:solidFill>
                  <a:srgbClr val="595959"/>
                </a:solidFill>
                <a:latin typeface="Arial"/>
                <a:cs typeface="Arial"/>
              </a:defRPr>
            </a:lvl1pPr>
            <a:lvl2pPr>
              <a:defRPr sz="2000">
                <a:latin typeface="Arial"/>
                <a:cs typeface="Arial"/>
              </a:defRPr>
            </a:lvl2pPr>
            <a:lvl3pPr>
              <a:defRPr sz="2000">
                <a:latin typeface="Arial"/>
                <a:cs typeface="Arial"/>
              </a:defRPr>
            </a:lvl3pPr>
            <a:lvl4pPr>
              <a:defRPr sz="2000">
                <a:latin typeface="Arial"/>
                <a:cs typeface="Arial"/>
              </a:defRPr>
            </a:lvl4pPr>
            <a:lvl5pPr>
              <a:defRPr sz="2000">
                <a:latin typeface="Arial"/>
                <a:cs typeface="Arial"/>
              </a:defRPr>
            </a:lvl5pPr>
            <a:lvl6pPr>
              <a:defRPr sz="1600"/>
            </a:lvl6pPr>
            <a:lvl7pPr>
              <a:defRPr sz="1600"/>
            </a:lvl7pPr>
            <a:lvl8pPr>
              <a:defRPr sz="1600"/>
            </a:lvl8pPr>
            <a:lvl9pPr>
              <a:defRPr sz="1600"/>
            </a:lvl9pPr>
          </a:lstStyle>
          <a:p>
            <a:pPr lvl="0"/>
            <a:r>
              <a:rPr lang="en-US"/>
              <a:t>Click to edit Master text styles</a:t>
            </a:r>
          </a:p>
        </p:txBody>
      </p:sp>
      <p:sp>
        <p:nvSpPr>
          <p:cNvPr id="9" name="Text Placeholder 4"/>
          <p:cNvSpPr>
            <a:spLocks noGrp="1"/>
          </p:cNvSpPr>
          <p:nvPr>
            <p:ph type="body" sz="quarter" idx="3"/>
          </p:nvPr>
        </p:nvSpPr>
        <p:spPr>
          <a:xfrm>
            <a:off x="4785879" y="1783601"/>
            <a:ext cx="3663716" cy="658368"/>
          </a:xfrm>
          <a:prstGeom prst="rect">
            <a:avLst/>
          </a:prstGeom>
        </p:spPr>
        <p:txBody>
          <a:bodyPr anchor="b">
            <a:noAutofit/>
          </a:bodyPr>
          <a:lstStyle>
            <a:lvl1pPr marL="0" indent="0" algn="l">
              <a:buNone/>
              <a:defRPr sz="2500" b="1">
                <a:solidFill>
                  <a:srgbClr val="595959"/>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Content Placeholder 5"/>
          <p:cNvSpPr>
            <a:spLocks noGrp="1"/>
          </p:cNvSpPr>
          <p:nvPr>
            <p:ph sz="quarter" idx="4"/>
          </p:nvPr>
        </p:nvSpPr>
        <p:spPr>
          <a:xfrm>
            <a:off x="4785878" y="2619063"/>
            <a:ext cx="3658875" cy="2595107"/>
          </a:xfrm>
          <a:prstGeom prst="rect">
            <a:avLst/>
          </a:prstGeom>
        </p:spPr>
        <p:txBody>
          <a:bodyPr>
            <a:normAutofit/>
          </a:bodyPr>
          <a:lstStyle>
            <a:lvl1pPr>
              <a:defRPr sz="2000">
                <a:solidFill>
                  <a:srgbClr val="595959"/>
                </a:solidFill>
                <a:latin typeface="Arial"/>
                <a:cs typeface="Arial"/>
              </a:defRPr>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p:txBody>
      </p:sp>
    </p:spTree>
    <p:extLst>
      <p:ext uri="{BB962C8B-B14F-4D97-AF65-F5344CB8AC3E}">
        <p14:creationId xmlns:p14="http://schemas.microsoft.com/office/powerpoint/2010/main" val="36758126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5" name="Content Placeholder 2"/>
          <p:cNvSpPr>
            <a:spLocks noGrp="1"/>
          </p:cNvSpPr>
          <p:nvPr>
            <p:ph idx="1"/>
          </p:nvPr>
        </p:nvSpPr>
        <p:spPr>
          <a:xfrm>
            <a:off x="692003" y="559401"/>
            <a:ext cx="3580882" cy="4414019"/>
          </a:xfrm>
          <a:prstGeom prst="rect">
            <a:avLst/>
          </a:prstGeom>
        </p:spPr>
        <p:txBody>
          <a:bodyPr anchor="t">
            <a:normAutofit/>
          </a:bodyPr>
          <a:lstStyle>
            <a:lvl1pPr marL="0" indent="0" algn="l">
              <a:buNone/>
              <a:defRPr sz="2000">
                <a:solidFill>
                  <a:srgbClr val="595959"/>
                </a:solidFill>
                <a:latin typeface="Arial"/>
                <a:cs typeface="Arial"/>
              </a:defRPr>
            </a:lvl1pPr>
            <a:lvl2pPr algn="l">
              <a:defRPr sz="2000">
                <a:latin typeface="Arial"/>
                <a:cs typeface="Arial"/>
              </a:defRPr>
            </a:lvl2pPr>
            <a:lvl3pPr algn="l">
              <a:defRPr sz="2000">
                <a:latin typeface="Arial"/>
                <a:cs typeface="Arial"/>
              </a:defRPr>
            </a:lvl3pPr>
            <a:lvl4pPr algn="l">
              <a:defRPr sz="2000">
                <a:latin typeface="Arial"/>
                <a:cs typeface="Arial"/>
              </a:defRPr>
            </a:lvl4pPr>
            <a:lvl5pPr algn="l">
              <a:defRPr sz="2000">
                <a:latin typeface="Arial"/>
                <a:cs typeface="Arial"/>
              </a:defRPr>
            </a:lvl5pPr>
            <a:lvl6pPr>
              <a:defRPr sz="2000"/>
            </a:lvl6pPr>
            <a:lvl7pPr>
              <a:defRPr sz="2000"/>
            </a:lvl7pPr>
            <a:lvl8pPr>
              <a:defRPr sz="2000"/>
            </a:lvl8pPr>
            <a:lvl9pPr>
              <a:defRPr sz="2000"/>
            </a:lvl9pPr>
          </a:lstStyle>
          <a:p>
            <a:pPr lvl="0"/>
            <a:r>
              <a:rPr lang="en-US"/>
              <a:t>Click to edit Master text styles</a:t>
            </a:r>
          </a:p>
        </p:txBody>
      </p:sp>
      <p:sp>
        <p:nvSpPr>
          <p:cNvPr id="6" name="Text Placeholder 3"/>
          <p:cNvSpPr>
            <a:spLocks noGrp="1"/>
          </p:cNvSpPr>
          <p:nvPr>
            <p:ph type="body" sz="half" idx="2"/>
          </p:nvPr>
        </p:nvSpPr>
        <p:spPr>
          <a:xfrm>
            <a:off x="4889813" y="562026"/>
            <a:ext cx="3580882" cy="4414018"/>
          </a:xfrm>
          <a:prstGeom prst="rect">
            <a:avLst/>
          </a:prstGeom>
        </p:spPr>
        <p:txBody>
          <a:bodyPr>
            <a:normAutofit/>
          </a:bodyPr>
          <a:lstStyle>
            <a:lvl1pPr marL="0" indent="0">
              <a:buNone/>
              <a:defRPr sz="2000">
                <a:solidFill>
                  <a:srgbClr val="595959"/>
                </a:solidFill>
                <a:latin typeface="Arial"/>
                <a:cs typeface="Aria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40048885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hoto with Caption">
    <p:spTree>
      <p:nvGrpSpPr>
        <p:cNvPr id="1" name=""/>
        <p:cNvGrpSpPr/>
        <p:nvPr/>
      </p:nvGrpSpPr>
      <p:grpSpPr>
        <a:xfrm>
          <a:off x="0" y="0"/>
          <a:ext cx="0" cy="0"/>
          <a:chOff x="0" y="0"/>
          <a:chExt cx="0" cy="0"/>
        </a:xfrm>
      </p:grpSpPr>
      <p:sp>
        <p:nvSpPr>
          <p:cNvPr id="8" name="Picture Placeholder 2"/>
          <p:cNvSpPr>
            <a:spLocks noGrp="1"/>
          </p:cNvSpPr>
          <p:nvPr>
            <p:ph type="pic" idx="1"/>
          </p:nvPr>
        </p:nvSpPr>
        <p:spPr>
          <a:xfrm rot="344365">
            <a:off x="773476" y="536674"/>
            <a:ext cx="7578326" cy="3491307"/>
          </a:xfrm>
          <a:prstGeom prst="rect">
            <a:avLst/>
          </a:prstGeom>
          <a:solidFill>
            <a:srgbClr val="FFFFFF">
              <a:shade val="85000"/>
            </a:srgbClr>
          </a:solidFill>
          <a:ln w="190500" cap="sq">
            <a:solidFill>
              <a:srgbClr val="FFFFFF"/>
            </a:solidFill>
            <a:miter lim="800000"/>
          </a:ln>
          <a:effectLst/>
          <a:scene3d>
            <a:camera prst="orthographicFront">
              <a:rot lat="0" lon="0" rev="360000"/>
            </a:camera>
            <a:lightRig rig="twoPt" dir="t">
              <a:rot lat="0" lon="0" rev="7200000"/>
            </a:lightRig>
          </a:scene3d>
          <a:sp3d contourW="12700">
            <a:contourClr>
              <a:srgbClr val="969696"/>
            </a:contourClr>
          </a:sp3d>
        </p:spPr>
        <p:txBody>
          <a:bodyPr>
            <a:normAutofit/>
          </a:bodyPr>
          <a:lstStyle>
            <a:lvl1pPr marL="0" indent="0">
              <a:buNone/>
              <a:defRPr sz="2000">
                <a:latin typeface="Arial"/>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p>
        </p:txBody>
      </p:sp>
      <p:sp>
        <p:nvSpPr>
          <p:cNvPr id="9" name="Text Placeholder 3"/>
          <p:cNvSpPr>
            <a:spLocks noGrp="1"/>
          </p:cNvSpPr>
          <p:nvPr>
            <p:ph type="body" sz="half" idx="2"/>
          </p:nvPr>
        </p:nvSpPr>
        <p:spPr>
          <a:xfrm>
            <a:off x="688490" y="4486019"/>
            <a:ext cx="7756264" cy="804862"/>
          </a:xfrm>
          <a:prstGeom prst="rect">
            <a:avLst/>
          </a:prstGeom>
        </p:spPr>
        <p:txBody>
          <a:bodyPr>
            <a:normAutofit/>
          </a:bodyPr>
          <a:lstStyle>
            <a:lvl1pPr marL="0" indent="0" algn="ctr">
              <a:buNone/>
              <a:defRPr sz="1600" b="0">
                <a:solidFill>
                  <a:srgbClr val="595959"/>
                </a:solidFill>
                <a:latin typeface="Arial"/>
                <a:cs typeface="Aria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3180962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losing Slide">
    <p:spTree>
      <p:nvGrpSpPr>
        <p:cNvPr id="1" name=""/>
        <p:cNvGrpSpPr/>
        <p:nvPr/>
      </p:nvGrpSpPr>
      <p:grpSpPr>
        <a:xfrm>
          <a:off x="0" y="0"/>
          <a:ext cx="0" cy="0"/>
          <a:chOff x="0" y="0"/>
          <a:chExt cx="0" cy="0"/>
        </a:xfrm>
      </p:grpSpPr>
      <p:pic>
        <p:nvPicPr>
          <p:cNvPr id="3" name="Picture 2" descr="PPT-General9.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110484213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with Custom Photo">
    <p:spTree>
      <p:nvGrpSpPr>
        <p:cNvPr id="1" name=""/>
        <p:cNvGrpSpPr/>
        <p:nvPr/>
      </p:nvGrpSpPr>
      <p:grpSpPr>
        <a:xfrm>
          <a:off x="0" y="0"/>
          <a:ext cx="0" cy="0"/>
          <a:chOff x="0" y="0"/>
          <a:chExt cx="0" cy="0"/>
        </a:xfrm>
      </p:grpSpPr>
      <p:pic>
        <p:nvPicPr>
          <p:cNvPr id="7" name="Picture 6" descr="bgblueonephoto.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8" name="Subtitle 2"/>
          <p:cNvSpPr>
            <a:spLocks noGrp="1"/>
          </p:cNvSpPr>
          <p:nvPr>
            <p:ph type="subTitle" idx="1" hasCustomPrompt="1"/>
          </p:nvPr>
        </p:nvSpPr>
        <p:spPr>
          <a:xfrm>
            <a:off x="360378" y="3137687"/>
            <a:ext cx="3658798" cy="1752600"/>
          </a:xfrm>
          <a:prstGeom prst="rect">
            <a:avLst/>
          </a:prstGeom>
        </p:spPr>
        <p:txBody>
          <a:bodyPr/>
          <a:lstStyle>
            <a:lvl1pPr marL="0" indent="0" algn="l">
              <a:buNone/>
              <a:defRPr>
                <a:solidFill>
                  <a:schemeClr val="bg2"/>
                </a:solidFill>
                <a:effectLst>
                  <a:outerShdw blurRad="34925" dist="12700" dir="14400000" rotWithShape="0">
                    <a:prstClr val="black">
                      <a:alpha val="21000"/>
                    </a:prstClr>
                  </a:outerShdw>
                </a:effectLst>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a:t>
            </a:r>
            <a:br>
              <a:rPr lang="en-US"/>
            </a:br>
            <a:r>
              <a:rPr lang="en-US"/>
              <a:t>subtitle style</a:t>
            </a:r>
          </a:p>
        </p:txBody>
      </p:sp>
      <p:sp>
        <p:nvSpPr>
          <p:cNvPr id="9" name="Title 1"/>
          <p:cNvSpPr>
            <a:spLocks noGrp="1"/>
          </p:cNvSpPr>
          <p:nvPr>
            <p:ph type="ctrTitle" hasCustomPrompt="1"/>
          </p:nvPr>
        </p:nvSpPr>
        <p:spPr>
          <a:xfrm>
            <a:off x="360379" y="601091"/>
            <a:ext cx="4480563" cy="2305339"/>
          </a:xfrm>
          <a:prstGeom prst="rect">
            <a:avLst/>
          </a:prstGeom>
        </p:spPr>
        <p:txBody>
          <a:bodyPr anchor="b"/>
          <a:lstStyle>
            <a:lvl1pPr algn="l">
              <a:defRPr sz="4000" b="1"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defRPr>
            </a:lvl1pPr>
          </a:lstStyle>
          <a:p>
            <a:r>
              <a:rPr lang="en-US"/>
              <a:t>Click to edit </a:t>
            </a:r>
            <a:br>
              <a:rPr lang="en-US"/>
            </a:br>
            <a:r>
              <a:rPr lang="en-US"/>
              <a:t>Master title style</a:t>
            </a:r>
          </a:p>
        </p:txBody>
      </p:sp>
      <p:sp>
        <p:nvSpPr>
          <p:cNvPr id="10" name="Picture Placeholder 8"/>
          <p:cNvSpPr>
            <a:spLocks noGrp="1" noChangeAspect="1"/>
          </p:cNvSpPr>
          <p:nvPr>
            <p:ph type="pic" sz="quarter" idx="10" hasCustomPrompt="1"/>
          </p:nvPr>
        </p:nvSpPr>
        <p:spPr>
          <a:xfrm>
            <a:off x="1954870" y="0"/>
            <a:ext cx="7201580" cy="6858000"/>
          </a:xfrm>
          <a:custGeom>
            <a:avLst/>
            <a:gdLst>
              <a:gd name="connsiteX0" fmla="*/ 0 w 7201580"/>
              <a:gd name="connsiteY0" fmla="*/ 0 h 6858000"/>
              <a:gd name="connsiteX1" fmla="*/ 7201580 w 7201580"/>
              <a:gd name="connsiteY1" fmla="*/ 0 h 6858000"/>
              <a:gd name="connsiteX2" fmla="*/ 7201580 w 7201580"/>
              <a:gd name="connsiteY2" fmla="*/ 6858000 h 6858000"/>
              <a:gd name="connsiteX3" fmla="*/ 0 w 7201580"/>
              <a:gd name="connsiteY3" fmla="*/ 6858000 h 6858000"/>
              <a:gd name="connsiteX4" fmla="*/ 0 w 7201580"/>
              <a:gd name="connsiteY4" fmla="*/ 0 h 6858000"/>
              <a:gd name="connsiteX0" fmla="*/ 5050118 w 7201580"/>
              <a:gd name="connsiteY0" fmla="*/ 74706 h 6858000"/>
              <a:gd name="connsiteX1" fmla="*/ 7201580 w 7201580"/>
              <a:gd name="connsiteY1" fmla="*/ 0 h 6858000"/>
              <a:gd name="connsiteX2" fmla="*/ 7201580 w 7201580"/>
              <a:gd name="connsiteY2" fmla="*/ 6858000 h 6858000"/>
              <a:gd name="connsiteX3" fmla="*/ 0 w 7201580"/>
              <a:gd name="connsiteY3" fmla="*/ 6858000 h 6858000"/>
              <a:gd name="connsiteX4" fmla="*/ 5050118 w 7201580"/>
              <a:gd name="connsiteY4" fmla="*/ 74706 h 6858000"/>
              <a:gd name="connsiteX0" fmla="*/ 5020236 w 7201580"/>
              <a:gd name="connsiteY0" fmla="*/ 29883 h 6858000"/>
              <a:gd name="connsiteX1" fmla="*/ 7201580 w 7201580"/>
              <a:gd name="connsiteY1" fmla="*/ 0 h 6858000"/>
              <a:gd name="connsiteX2" fmla="*/ 7201580 w 7201580"/>
              <a:gd name="connsiteY2" fmla="*/ 6858000 h 6858000"/>
              <a:gd name="connsiteX3" fmla="*/ 0 w 7201580"/>
              <a:gd name="connsiteY3" fmla="*/ 6858000 h 6858000"/>
              <a:gd name="connsiteX4" fmla="*/ 5020236 w 7201580"/>
              <a:gd name="connsiteY4" fmla="*/ 29883 h 6858000"/>
              <a:gd name="connsiteX0" fmla="*/ 5020236 w 7201580"/>
              <a:gd name="connsiteY0" fmla="*/ 14941 h 6858000"/>
              <a:gd name="connsiteX1" fmla="*/ 7201580 w 7201580"/>
              <a:gd name="connsiteY1" fmla="*/ 0 h 6858000"/>
              <a:gd name="connsiteX2" fmla="*/ 7201580 w 7201580"/>
              <a:gd name="connsiteY2" fmla="*/ 6858000 h 6858000"/>
              <a:gd name="connsiteX3" fmla="*/ 0 w 7201580"/>
              <a:gd name="connsiteY3" fmla="*/ 6858000 h 6858000"/>
              <a:gd name="connsiteX4" fmla="*/ 5020236 w 7201580"/>
              <a:gd name="connsiteY4" fmla="*/ 14941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01580" h="6858000">
                <a:moveTo>
                  <a:pt x="5020236" y="14941"/>
                </a:moveTo>
                <a:lnTo>
                  <a:pt x="7201580" y="0"/>
                </a:lnTo>
                <a:lnTo>
                  <a:pt x="7201580" y="6858000"/>
                </a:lnTo>
                <a:lnTo>
                  <a:pt x="0" y="6858000"/>
                </a:lnTo>
                <a:lnTo>
                  <a:pt x="5020236" y="14941"/>
                </a:lnTo>
                <a:close/>
              </a:path>
            </a:pathLst>
          </a:custGeom>
        </p:spPr>
        <p:txBody>
          <a:bodyPr vert="horz" anchor="ctr"/>
          <a:lstStyle>
            <a:lvl1pPr algn="r">
              <a:lnSpc>
                <a:spcPct val="100000"/>
              </a:lnSpc>
              <a:defRPr sz="2000">
                <a:solidFill>
                  <a:srgbClr val="ECE9C6"/>
                </a:solidFill>
                <a:latin typeface="Arial"/>
                <a:cs typeface="Arial"/>
              </a:defRPr>
            </a:lvl1pPr>
          </a:lstStyle>
          <a:p>
            <a:r>
              <a:rPr lang="en-US"/>
              <a:t>Drag picture to placeholder </a:t>
            </a:r>
            <a:br>
              <a:rPr lang="en-US"/>
            </a:br>
            <a:r>
              <a:rPr lang="en-US"/>
              <a:t>or click icon to add</a:t>
            </a:r>
          </a:p>
        </p:txBody>
      </p:sp>
    </p:spTree>
    <p:extLst>
      <p:ext uri="{BB962C8B-B14F-4D97-AF65-F5344CB8AC3E}">
        <p14:creationId xmlns:p14="http://schemas.microsoft.com/office/powerpoint/2010/main" val="25492655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e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3" Type="http://schemas.openxmlformats.org/officeDocument/2006/relationships/slideLayout" Target="../slideLayouts/slideLayout12.xml"/><Relationship Id="rId7" Type="http://schemas.openxmlformats.org/officeDocument/2006/relationships/slideLayout" Target="../slideLayouts/slideLayout16.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image" Target="../media/image1.jpeg"/><Relationship Id="rId5" Type="http://schemas.openxmlformats.org/officeDocument/2006/relationships/slideLayout" Target="../slideLayouts/slideLayout14.xml"/><Relationship Id="rId10" Type="http://schemas.openxmlformats.org/officeDocument/2006/relationships/theme" Target="../theme/theme2.xml"/><Relationship Id="rId4" Type="http://schemas.openxmlformats.org/officeDocument/2006/relationships/slideLayout" Target="../slideLayouts/slideLayout13.xml"/><Relationship Id="rId9"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descr="PPT-General11.jpg"/>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3263079937"/>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descr="PPT-General11.jpg"/>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2494964538"/>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Layout" Type="http://schemas.openxmlformats.org/officeDocument/2006/relationships/slideLayout" Target="../slideLayouts/slideLayout2.xml"/><Relationship Id="rIdNotes" Type="http://schemas.openxmlformats.org/officeDocument/2006/relationships/notesSlide" Target="../notesSlides/notesSlide107.xml"/></Relationships>
</file>

<file path=ppt/slides/_rels/slide8.xml.rels><?xml version='1.0' encoding='UTF-8' standalone='yes'?>
<Relationships xmlns="http://schemas.openxmlformats.org/package/2006/relationships"><Relationship Id="rIdLayout" Type="http://schemas.openxmlformats.org/officeDocument/2006/relationships/slideLayout" Target="../slideLayouts/slideLayout2.xml"/><Relationship Id="rIdNotes" Type="http://schemas.openxmlformats.org/officeDocument/2006/relationships/notesSlide" Target="../notesSlides/notesSlide10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arxiv.org/abs/2512.09882" TargetMode="External"/><Relationship Id="rId2" Type="http://schemas.openxmlformats.org/officeDocument/2006/relationships/hyperlink" Target="https://arxiv.org/abs/2410.13919" TargetMode="External"/><Relationship Id="rId1" Type="http://schemas.openxmlformats.org/officeDocument/2006/relationships/slideLayout" Target="../slideLayouts/slideLayout2.xml"/><Relationship Id="rId4" Type="http://schemas.openxmlformats.org/officeDocument/2006/relationships/hyperlink" Target="https://assets.anthropic.com/m/ec212e6566a0d47/original/Disrupting-the-first-reported-AI-orchestrated-cyber-espionage-campaign.pdf" TargetMode="External"/></Relationships>
</file>

<file path=ppt/slides/_rels/slide16.xml.rels><?xml version="1.0" encoding="UTF-8" standalone="yes"?>
<Relationships xmlns="http://schemas.openxmlformats.org/package/2006/relationships"><Relationship Id="rId3" Type="http://schemas.openxmlformats.org/officeDocument/2006/relationships/hyperlink" Target="https://github.com/Orange-Cyberdefense/GOAD" TargetMode="External"/><Relationship Id="rId2" Type="http://schemas.openxmlformats.org/officeDocument/2006/relationships/hyperlink" Target="https://arxiv.org/abs/2308.06782" TargetMode="External"/><Relationship Id="rId1" Type="http://schemas.openxmlformats.org/officeDocument/2006/relationships/slideLayout" Target="../slideLayouts/slideLayout2.xml"/><Relationship Id="rId4" Type="http://schemas.openxmlformats.org/officeDocument/2006/relationships/hyperlink" Target="https://www.ibm.com/reports/data-breach"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Layout" Type="http://schemas.openxmlformats.org/officeDocument/2006/relationships/slideLayout" Target="../slideLayouts/slideLayout2.xml"/><Relationship Id="rIdNotes" Type="http://schemas.openxmlformats.org/officeDocument/2006/relationships/notesSlide" Target="../notesSlides/notesSlide136.xml"/></Relationships>
</file>

<file path=ppt/slides/_rels/slide37.xml.rels><?xml version='1.0' encoding='UTF-8' standalone='yes'?>
<Relationships xmlns="http://schemas.openxmlformats.org/package/2006/relationships"><Relationship Id="rIdLayout" Type="http://schemas.openxmlformats.org/officeDocument/2006/relationships/slideLayout" Target="../slideLayouts/slideLayout2.xml"/><Relationship Id="rIdNotes" Type="http://schemas.openxmlformats.org/officeDocument/2006/relationships/notesSlide" Target="../notesSlides/notesSlide13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34500" y="2209817"/>
            <a:ext cx="4301269" cy="2305339"/>
          </a:xfrm>
        </p:spPr>
        <p:txBody>
          <a:bodyPr wrap="square"/>
          <a:lstStyle/>
          <a:p>
            <a:r>
              <a:rPr sz="2200" b="0" dirty="0"/>
              <a:t>Human vs. Autonomous AI Operator Classification in Advanced Persistent Threat (APT</a:t>
            </a:r>
            <a:r>
              <a:rPr sz="2200" b="0"/>
              <a:t>) Intrusions</a:t>
            </a:r>
            <a:br>
              <a:rPr lang="en-US" sz="2200" b="0" dirty="0"/>
            </a:br>
            <a:endParaRPr sz="2200" b="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64592" y="0"/>
            <a:ext cx="7772400" cy="548640"/>
          </a:xfrm>
        </p:spPr>
        <p:txBody>
          <a:bodyPr wrap="square"/>
          <a:lstStyle/>
          <a:p>
            <a:r>
              <a:rPr sz="1600" b="1" u="sng">
                <a:solidFill>
                  <a:srgbClr val="000000"/>
                </a:solidFill>
              </a:rPr>
              <a:t>Problem Statement:</a:t>
            </a:r>
          </a:p>
        </p:txBody>
      </p:sp>
      <p:graphicFrame>
        <p:nvGraphicFramePr>
          <p:cNvPr id="4" name="Table 3"/>
          <p:cNvGraphicFramePr>
            <a:graphicFrameLocks noGrp="1"/>
          </p:cNvGraphicFramePr>
          <p:nvPr>
            <p:extLst>
              <p:ext uri="{D42A27DB-BD31-4B8C-83A1-F6EECF244321}">
                <p14:modId xmlns:p14="http://schemas.microsoft.com/office/powerpoint/2010/main" val="1823381766"/>
              </p:ext>
            </p:extLst>
          </p:nvPr>
        </p:nvGraphicFramePr>
        <p:xfrm>
          <a:off x="164592" y="566928"/>
          <a:ext cx="8814815" cy="4864605"/>
        </p:xfrm>
        <a:graphic>
          <a:graphicData uri="http://schemas.openxmlformats.org/drawingml/2006/table">
            <a:tbl>
              <a:tblPr firstRow="1" bandRow="1">
                <a:tableStyleId>{5C22544A-7EE6-4342-B048-85BDC9FD1C3A}</a:tableStyleId>
              </a:tblPr>
              <a:tblGrid>
                <a:gridCol w="1606867">
                  <a:extLst>
                    <a:ext uri="{9D8B030D-6E8A-4147-A177-3AD203B41FA5}">
                      <a16:colId xmlns:a16="http://schemas.microsoft.com/office/drawing/2014/main" val="20000"/>
                    </a:ext>
                  </a:extLst>
                </a:gridCol>
                <a:gridCol w="6519291">
                  <a:extLst>
                    <a:ext uri="{9D8B030D-6E8A-4147-A177-3AD203B41FA5}">
                      <a16:colId xmlns:a16="http://schemas.microsoft.com/office/drawing/2014/main" val="20001"/>
                    </a:ext>
                  </a:extLst>
                </a:gridCol>
                <a:gridCol w="688657">
                  <a:extLst>
                    <a:ext uri="{9D8B030D-6E8A-4147-A177-3AD203B41FA5}">
                      <a16:colId xmlns:a16="http://schemas.microsoft.com/office/drawing/2014/main" val="20002"/>
                    </a:ext>
                  </a:extLst>
                </a:gridCol>
              </a:tblGrid>
              <a:tr h="256031">
                <a:tc>
                  <a:txBody>
                    <a:bodyPr/>
                    <a:lstStyle/>
                    <a:p>
                      <a:r>
                        <a:rPr sz="1200" b="1"/>
                        <a:t>(A) Deliverable</a:t>
                      </a:r>
                    </a:p>
                  </a:txBody>
                  <a:tcPr marL="54864" marR="54864" marT="27432" marB="27432" anchor="ctr"/>
                </a:tc>
                <a:tc>
                  <a:txBody>
                    <a:bodyPr/>
                    <a:lstStyle/>
                    <a:p>
                      <a:pPr algn="ctr"/>
                      <a:r>
                        <a:rPr sz="1200" b="1"/>
                        <a:t>(B) Format</a:t>
                      </a:r>
                    </a:p>
                  </a:txBody>
                  <a:tcPr marL="54864" marR="54864" marT="27432" marB="27432" anchor="ctr"/>
                </a:tc>
                <a:tc>
                  <a:txBody>
                    <a:bodyPr/>
                    <a:lstStyle/>
                    <a:p>
                      <a:pPr algn="ctr"/>
                      <a:r>
                        <a:rPr sz="1200" b="1"/>
                        <a:t>(C) WC</a:t>
                      </a:r>
                    </a:p>
                  </a:txBody>
                  <a:tcPr marL="54864" marR="54864" marT="27432" marB="27432" anchor="ctr"/>
                </a:tc>
                <a:extLst>
                  <a:ext uri="{0D108BD9-81ED-4DB2-BD59-A6C34878D82A}">
                    <a16:rowId xmlns:a16="http://schemas.microsoft.com/office/drawing/2014/main" val="10000"/>
                  </a:ext>
                </a:extLst>
              </a:tr>
              <a:tr h="621792">
                <a:tc>
                  <a:txBody>
                    <a:bodyPr/>
                    <a:lstStyle/>
                    <a:p>
                      <a:r>
                        <a:rPr sz="1200" b="1"/>
                        <a:t>Issue</a:t>
                      </a:r>
                    </a:p>
                  </a:txBody>
                  <a:tcPr marL="54864" marR="54864" marT="27432" marB="27432"/>
                </a:tc>
                <a:tc>
                  <a:txBody>
                    <a:bodyPr/>
                    <a:lstStyle/>
                    <a:p>
                      <a:r>
                        <a:rPr lang="en-US" sz="1200" dirty="0"/>
                        <a:t>Defenders reviewing target-side telemetry during an advanced persistent threat (APT) intrusion cannot distinguish human from autonomous AI operators, leaving responders blind to an adversary class growing 89% (Anthropic, 2025; CrowdStrike, 2026).</a:t>
                      </a:r>
                    </a:p>
                  </a:txBody>
                  <a:tcPr marL="54864" marR="54864" marT="27432" marB="27432"/>
                </a:tc>
                <a:tc>
                  <a:txBody>
                    <a:bodyPr/>
                    <a:lstStyle/>
                    <a:p>
                      <a:pPr algn="ctr"/>
                      <a:r>
                        <a:rPr lang="en-US" sz="1200" dirty="0"/>
                        <a:t>27</a:t>
                      </a:r>
                      <a:endParaRPr sz="1200" dirty="0"/>
                    </a:p>
                  </a:txBody>
                  <a:tcPr marL="54864" marR="54864" marT="27432" marB="27432"/>
                </a:tc>
                <a:extLst>
                  <a:ext uri="{0D108BD9-81ED-4DB2-BD59-A6C34878D82A}">
                    <a16:rowId xmlns:a16="http://schemas.microsoft.com/office/drawing/2014/main" val="10001"/>
                  </a:ext>
                </a:extLst>
              </a:tr>
              <a:tr h="621792">
                <a:tc>
                  <a:txBody>
                    <a:bodyPr/>
                    <a:lstStyle/>
                    <a:p>
                      <a:r>
                        <a:rPr sz="1200" b="1"/>
                        <a:t>Reference</a:t>
                      </a:r>
                    </a:p>
                  </a:txBody>
                  <a:tcPr marL="54864" marR="54864" marT="27432" marB="27432"/>
                </a:tc>
                <a:tc>
                  <a:txBody>
                    <a:bodyPr/>
                    <a:lstStyle/>
                    <a:p>
                      <a:r>
                        <a:rPr sz="1200" dirty="0"/>
                        <a:t>Anthropic. (2025, November). Disrupting the first reported AI-orchestrated cyber espionage campaign [Threat intelligence report]. https://assets.anthropic.com/m/ec212e6566a0d47/original/Disrupting-the-first-reported-AI-orchestrated-cyber-espionage-campaign.pdf</a:t>
                      </a:r>
                    </a:p>
                  </a:txBody>
                  <a:tcPr marL="54864" marR="54864" marT="27432" marB="27432"/>
                </a:tc>
                <a:tc>
                  <a:txBody>
                    <a:bodyPr/>
                    <a:lstStyle/>
                    <a:p>
                      <a:pPr algn="ctr"/>
                      <a:r>
                        <a:rPr sz="1200"/>
                        <a:t>NA</a:t>
                      </a:r>
                    </a:p>
                  </a:txBody>
                  <a:tcPr marL="54864" marR="54864" marT="27432" marB="27432"/>
                </a:tc>
                <a:extLst>
                  <a:ext uri="{0D108BD9-81ED-4DB2-BD59-A6C34878D82A}">
                    <a16:rowId xmlns:a16="http://schemas.microsoft.com/office/drawing/2014/main" val="10002"/>
                  </a:ext>
                </a:extLst>
              </a:tr>
              <a:tr h="438912">
                <a:tc>
                  <a:txBody>
                    <a:bodyPr/>
                    <a:lstStyle/>
                    <a:p>
                      <a:r>
                        <a:rPr sz="1200" b="1"/>
                        <a:t>“so what”</a:t>
                      </a:r>
                    </a:p>
                  </a:txBody>
                  <a:tcPr marL="54864" marR="54864" marT="27432" marB="27432"/>
                </a:tc>
                <a:tc>
                  <a:txBody>
                    <a:bodyPr/>
                    <a:lstStyle/>
                    <a:p>
                      <a:r>
                        <a:rPr sz="1200" dirty="0"/>
                        <a:t>average </a:t>
                      </a:r>
                      <a:r>
                        <a:rPr lang="en-US" sz="1200" dirty="0"/>
                        <a:t>per </a:t>
                      </a:r>
                      <a:r>
                        <a:rPr sz="1200" dirty="0"/>
                        <a:t>breach costs $4.44 million globally and $10.22 million </a:t>
                      </a:r>
                      <a:r>
                        <a:rPr lang="en-US" sz="1200" dirty="0"/>
                        <a:t>per breach </a:t>
                      </a:r>
                      <a:r>
                        <a:rPr sz="1200" dirty="0"/>
                        <a:t>in the United States (IBM, 2025).</a:t>
                      </a:r>
                    </a:p>
                  </a:txBody>
                  <a:tcPr marL="54864" marR="54864" marT="27432" marB="27432"/>
                </a:tc>
                <a:tc>
                  <a:txBody>
                    <a:bodyPr/>
                    <a:lstStyle/>
                    <a:p>
                      <a:pPr algn="ctr"/>
                      <a:r>
                        <a:rPr lang="en-US" sz="1200" dirty="0"/>
                        <a:t>13</a:t>
                      </a:r>
                      <a:endParaRPr sz="1200" dirty="0"/>
                    </a:p>
                  </a:txBody>
                  <a:tcPr marL="54864" marR="54864" marT="27432" marB="27432"/>
                </a:tc>
                <a:extLst>
                  <a:ext uri="{0D108BD9-81ED-4DB2-BD59-A6C34878D82A}">
                    <a16:rowId xmlns:a16="http://schemas.microsoft.com/office/drawing/2014/main" val="10003"/>
                  </a:ext>
                </a:extLst>
              </a:tr>
              <a:tr h="621792">
                <a:tc>
                  <a:txBody>
                    <a:bodyPr/>
                    <a:lstStyle/>
                    <a:p>
                      <a:r>
                        <a:rPr sz="1200" b="1"/>
                        <a:t>Reference</a:t>
                      </a:r>
                    </a:p>
                  </a:txBody>
                  <a:tcPr marL="54864" marR="54864" marT="27432" marB="27432"/>
                </a:tc>
                <a:tc>
                  <a:txBody>
                    <a:bodyPr/>
                    <a:lstStyle/>
                    <a:p>
                      <a:r>
                        <a:rPr sz="1200" dirty="0"/>
                        <a:t>CrowdStrike. (2026, February 24). 2026 CrowdStrike Global Threat Report. https://www.crowdstrike.com/en-us/press-releases/2026-crowdstrike-global-threat-report  |  IBM. (2025). Cost of a Data Breach Report 2025. https://www.ibm.com/reports/data-breach</a:t>
                      </a:r>
                    </a:p>
                  </a:txBody>
                  <a:tcPr marL="54864" marR="54864" marT="27432" marB="27432"/>
                </a:tc>
                <a:tc>
                  <a:txBody>
                    <a:bodyPr/>
                    <a:lstStyle/>
                    <a:p>
                      <a:pPr algn="ctr"/>
                      <a:r>
                        <a:rPr sz="1200"/>
                        <a:t>NA</a:t>
                      </a:r>
                    </a:p>
                  </a:txBody>
                  <a:tcPr marL="54864" marR="54864" marT="27432" marB="27432"/>
                </a:tc>
                <a:extLst>
                  <a:ext uri="{0D108BD9-81ED-4DB2-BD59-A6C34878D82A}">
                    <a16:rowId xmlns:a16="http://schemas.microsoft.com/office/drawing/2014/main" val="10004"/>
                  </a:ext>
                </a:extLst>
              </a:tr>
              <a:tr h="804671">
                <a:tc>
                  <a:txBody>
                    <a:bodyPr/>
                    <a:lstStyle/>
                    <a:p>
                      <a:r>
                        <a:rPr sz="1200" b="1"/>
                        <a:t>Problem statement</a:t>
                      </a:r>
                    </a:p>
                  </a:txBody>
                  <a:tcPr marL="54864" marR="54864" marT="27432" marB="27432"/>
                </a:tc>
                <a:tc>
                  <a:txBody>
                    <a:bodyPr/>
                    <a:lstStyle/>
                    <a:p>
                      <a:r>
                        <a:rPr lang="en-US" sz="1200" dirty="0"/>
                        <a:t>Defenders reviewing target-side telemetry of advanced persistent threat (APT) intrusions cannot distinguish human from autonomous AI operators, leaving responders blind to an adversary class growing 89% and costing $4.44 million per breach (Anthropic, 2025; CrowdStrike, 2026; IBM, 2025).</a:t>
                      </a:r>
                    </a:p>
                  </a:txBody>
                  <a:tcPr marL="54864" marR="54864" marT="27432" marB="27432"/>
                </a:tc>
                <a:tc>
                  <a:txBody>
                    <a:bodyPr/>
                    <a:lstStyle/>
                    <a:p>
                      <a:pPr algn="ctr"/>
                      <a:r>
                        <a:rPr lang="en-US" sz="1200" dirty="0"/>
                        <a:t>32</a:t>
                      </a:r>
                      <a:endParaRPr sz="1200" dirty="0"/>
                    </a:p>
                  </a:txBody>
                  <a:tcPr marL="54864" marR="54864" marT="27432" marB="27432"/>
                </a:tc>
                <a:extLst>
                  <a:ext uri="{0D108BD9-81ED-4DB2-BD59-A6C34878D82A}">
                    <a16:rowId xmlns:a16="http://schemas.microsoft.com/office/drawing/2014/main" val="10005"/>
                  </a:ext>
                </a:extLst>
              </a:tr>
              <a:tr h="256031">
                <a:tc>
                  <a:txBody>
                    <a:bodyPr/>
                    <a:lstStyle/>
                    <a:p>
                      <a:r>
                        <a:rPr sz="1200" b="1"/>
                        <a:t>Industry</a:t>
                      </a:r>
                    </a:p>
                  </a:txBody>
                  <a:tcPr marL="54864" marR="54864" marT="27432" marB="27432"/>
                </a:tc>
                <a:tc>
                  <a:txBody>
                    <a:bodyPr/>
                    <a:lstStyle/>
                    <a:p>
                      <a:r>
                        <a:rPr sz="1200" dirty="0"/>
                        <a:t>Government, Commercial Industry (enterprise security operations, incident response, cyber ranges)</a:t>
                      </a:r>
                    </a:p>
                  </a:txBody>
                  <a:tcPr marL="54864" marR="54864" marT="27432" marB="27432"/>
                </a:tc>
                <a:tc>
                  <a:txBody>
                    <a:bodyPr/>
                    <a:lstStyle/>
                    <a:p>
                      <a:pPr algn="ctr"/>
                      <a:r>
                        <a:rPr sz="1200"/>
                        <a:t>NA</a:t>
                      </a:r>
                    </a:p>
                  </a:txBody>
                  <a:tcPr marL="54864" marR="54864" marT="27432" marB="27432"/>
                </a:tc>
                <a:extLst>
                  <a:ext uri="{0D108BD9-81ED-4DB2-BD59-A6C34878D82A}">
                    <a16:rowId xmlns:a16="http://schemas.microsoft.com/office/drawing/2014/main" val="10006"/>
                  </a:ext>
                </a:extLst>
              </a:tr>
              <a:tr h="621792">
                <a:tc>
                  <a:txBody>
                    <a:bodyPr/>
                    <a:lstStyle/>
                    <a:p>
                      <a:r>
                        <a:rPr sz="1200" b="1"/>
                        <a:t>PS elaboration 1</a:t>
                      </a:r>
                    </a:p>
                  </a:txBody>
                  <a:tcPr marL="54864" marR="54864" marT="27432" marB="27432"/>
                </a:tc>
                <a:tc>
                  <a:txBody>
                    <a:bodyPr/>
                    <a:lstStyle/>
                    <a:p>
                      <a:r>
                        <a:rPr sz="1200"/>
                        <a:t>Existing evidence comes from single-host SSH honeypots that observed humans using AI tools, not fully autonomous agents running a multi-host APT-style campaign under matched conditions (Alt, 2026; Reworr &amp; Volkov, 2025).</a:t>
                      </a:r>
                    </a:p>
                  </a:txBody>
                  <a:tcPr marL="54864" marR="54864" marT="27432" marB="27432"/>
                </a:tc>
                <a:tc>
                  <a:txBody>
                    <a:bodyPr/>
                    <a:lstStyle/>
                    <a:p>
                      <a:pPr algn="ctr"/>
                      <a:r>
                        <a:rPr sz="1200"/>
                        <a:t>25</a:t>
                      </a:r>
                    </a:p>
                  </a:txBody>
                  <a:tcPr marL="54864" marR="54864" marT="27432" marB="27432"/>
                </a:tc>
                <a:extLst>
                  <a:ext uri="{0D108BD9-81ED-4DB2-BD59-A6C34878D82A}">
                    <a16:rowId xmlns:a16="http://schemas.microsoft.com/office/drawing/2014/main" val="10007"/>
                  </a:ext>
                </a:extLst>
              </a:tr>
              <a:tr h="621792">
                <a:tc>
                  <a:txBody>
                    <a:bodyPr/>
                    <a:lstStyle/>
                    <a:p>
                      <a:r>
                        <a:rPr sz="1200" b="1"/>
                        <a:t>PS elaboration 2</a:t>
                      </a:r>
                    </a:p>
                  </a:txBody>
                  <a:tcPr marL="54864" marR="54864" marT="27432" marB="27432"/>
                </a:tc>
                <a:tc>
                  <a:txBody>
                    <a:bodyPr/>
                    <a:lstStyle/>
                    <a:p>
                      <a:r>
                        <a:rPr sz="1200"/>
                        <a:t>Knowing whether a human or an autonomous agent is behind an APT intrusion changes the response: agents enumerate in parallel, move on quickly and run around the clock, so containment speed, deception and attribution decisions differ (Lin et al., 2026).</a:t>
                      </a:r>
                    </a:p>
                  </a:txBody>
                  <a:tcPr marL="54864" marR="54864" marT="27432" marB="27432"/>
                </a:tc>
                <a:tc>
                  <a:txBody>
                    <a:bodyPr/>
                    <a:lstStyle/>
                    <a:p>
                      <a:pPr algn="ctr"/>
                      <a:r>
                        <a:rPr sz="1200" dirty="0"/>
                        <a:t>36</a:t>
                      </a:r>
                    </a:p>
                  </a:txBody>
                  <a:tcPr marL="54864" marR="54864" marT="27432" marB="27432"/>
                </a:tc>
                <a:extLst>
                  <a:ext uri="{0D108BD9-81ED-4DB2-BD59-A6C34878D82A}">
                    <a16:rowId xmlns:a16="http://schemas.microsoft.com/office/drawing/2014/main" val="10008"/>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64592" y="0"/>
            <a:ext cx="7772400" cy="548640"/>
          </a:xfrm>
        </p:spPr>
        <p:txBody>
          <a:bodyPr wrap="square"/>
          <a:lstStyle/>
          <a:p>
            <a:r>
              <a:rPr sz="1600" b="1" u="sng">
                <a:solidFill>
                  <a:srgbClr val="000000"/>
                </a:solidFill>
              </a:rPr>
              <a:t>Thesis Statement</a:t>
            </a:r>
          </a:p>
        </p:txBody>
      </p:sp>
      <p:graphicFrame>
        <p:nvGraphicFramePr>
          <p:cNvPr id="4" name="Table 3"/>
          <p:cNvGraphicFramePr>
            <a:graphicFrameLocks noGrp="1"/>
          </p:cNvGraphicFramePr>
          <p:nvPr>
            <p:extLst>
              <p:ext uri="{D42A27DB-BD31-4B8C-83A1-F6EECF244321}">
                <p14:modId xmlns:p14="http://schemas.microsoft.com/office/powerpoint/2010/main" val="113847965"/>
              </p:ext>
            </p:extLst>
          </p:nvPr>
        </p:nvGraphicFramePr>
        <p:xfrm>
          <a:off x="164592" y="566928"/>
          <a:ext cx="8814815" cy="4730496"/>
        </p:xfrm>
        <a:graphic>
          <a:graphicData uri="http://schemas.openxmlformats.org/drawingml/2006/table">
            <a:tbl>
              <a:tblPr firstRow="1" bandRow="1">
                <a:tableStyleId>{5C22544A-7EE6-4342-B048-85BDC9FD1C3A}</a:tableStyleId>
              </a:tblPr>
              <a:tblGrid>
                <a:gridCol w="1606867">
                  <a:extLst>
                    <a:ext uri="{9D8B030D-6E8A-4147-A177-3AD203B41FA5}">
                      <a16:colId xmlns:a16="http://schemas.microsoft.com/office/drawing/2014/main" val="20000"/>
                    </a:ext>
                  </a:extLst>
                </a:gridCol>
                <a:gridCol w="6519291">
                  <a:extLst>
                    <a:ext uri="{9D8B030D-6E8A-4147-A177-3AD203B41FA5}">
                      <a16:colId xmlns:a16="http://schemas.microsoft.com/office/drawing/2014/main" val="20001"/>
                    </a:ext>
                  </a:extLst>
                </a:gridCol>
                <a:gridCol w="688657">
                  <a:extLst>
                    <a:ext uri="{9D8B030D-6E8A-4147-A177-3AD203B41FA5}">
                      <a16:colId xmlns:a16="http://schemas.microsoft.com/office/drawing/2014/main" val="20002"/>
                    </a:ext>
                  </a:extLst>
                </a:gridCol>
              </a:tblGrid>
              <a:tr h="240791">
                <a:tc>
                  <a:txBody>
                    <a:bodyPr/>
                    <a:lstStyle/>
                    <a:p>
                      <a:r>
                        <a:rPr sz="1100" b="1"/>
                        <a:t>(A) Deliverable</a:t>
                      </a:r>
                    </a:p>
                  </a:txBody>
                  <a:tcPr marL="54864" marR="54864" marT="27432" marB="27432" anchor="ctr"/>
                </a:tc>
                <a:tc>
                  <a:txBody>
                    <a:bodyPr/>
                    <a:lstStyle/>
                    <a:p>
                      <a:pPr algn="ctr"/>
                      <a:endParaRPr/>
                    </a:p>
                  </a:txBody>
                  <a:tcPr marL="54864" marR="54864" marT="27432" marB="27432" anchor="ctr"/>
                </a:tc>
                <a:tc>
                  <a:txBody>
                    <a:bodyPr/>
                    <a:lstStyle/>
                    <a:p>
                      <a:pPr algn="ctr"/>
                      <a:r>
                        <a:rPr sz="1100" b="1"/>
                        <a:t>WC</a:t>
                      </a:r>
                    </a:p>
                  </a:txBody>
                  <a:tcPr marL="54864" marR="54864" marT="27432" marB="27432" anchor="ctr"/>
                </a:tc>
                <a:extLst>
                  <a:ext uri="{0D108BD9-81ED-4DB2-BD59-A6C34878D82A}">
                    <a16:rowId xmlns:a16="http://schemas.microsoft.com/office/drawing/2014/main" val="10000"/>
                  </a:ext>
                </a:extLst>
              </a:tr>
              <a:tr h="408432">
                <a:tc>
                  <a:txBody>
                    <a:bodyPr/>
                    <a:lstStyle/>
                    <a:p>
                      <a:r>
                        <a:rPr sz="1100" b="1"/>
                        <a:t>Thesis Statement</a:t>
                      </a:r>
                    </a:p>
                  </a:txBody>
                  <a:tcPr marL="54864" marR="54864" marT="27432" marB="27432"/>
                </a:tc>
                <a:tc>
                  <a:txBody>
                    <a:bodyPr/>
                    <a:lstStyle/>
                    <a:p>
                      <a:r>
                        <a:rPr lang="en-US" sz="1100" dirty="0"/>
                        <a:t>In emulated advanced persistent threat (APT) intrusions under matched conditions, target-side host and network telemetry can tell a human operator from an autonomous AI agent, even without timing features.</a:t>
                      </a:r>
                      <a:endParaRPr sz="1100" dirty="0"/>
                    </a:p>
                  </a:txBody>
                  <a:tcPr marL="54864" marR="54864" marT="27432" marB="27432"/>
                </a:tc>
                <a:tc>
                  <a:txBody>
                    <a:bodyPr/>
                    <a:lstStyle/>
                    <a:p>
                      <a:pPr algn="ctr"/>
                      <a:r>
                        <a:rPr lang="en-US" sz="1100" dirty="0"/>
                        <a:t>29</a:t>
                      </a:r>
                      <a:endParaRPr sz="1100" dirty="0"/>
                    </a:p>
                  </a:txBody>
                  <a:tcPr marL="54864" marR="54864" marT="27432" marB="27432"/>
                </a:tc>
                <a:extLst>
                  <a:ext uri="{0D108BD9-81ED-4DB2-BD59-A6C34878D82A}">
                    <a16:rowId xmlns:a16="http://schemas.microsoft.com/office/drawing/2014/main" val="10001"/>
                  </a:ext>
                </a:extLst>
              </a:tr>
              <a:tr h="408432">
                <a:tc>
                  <a:txBody>
                    <a:bodyPr/>
                    <a:lstStyle/>
                    <a:p>
                      <a:r>
                        <a:rPr sz="1100" b="1"/>
                        <a:t>Research Product</a:t>
                      </a:r>
                    </a:p>
                  </a:txBody>
                  <a:tcPr marL="54864" marR="54864" marT="27432" marB="27432"/>
                </a:tc>
                <a:tc>
                  <a:txBody>
                    <a:bodyPr/>
                    <a:lstStyle/>
                    <a:p>
                      <a:r>
                        <a:rPr sz="1100"/>
                        <a:t>A finding on how well, by which signals and with which of eight classifiers target-side telemetry separates human from autonomous-AI APT operators, backed by a reproducible private dataset, pipeline and models.</a:t>
                      </a:r>
                    </a:p>
                  </a:txBody>
                  <a:tcPr marL="54864" marR="54864" marT="27432" marB="27432"/>
                </a:tc>
                <a:tc>
                  <a:txBody>
                    <a:bodyPr/>
                    <a:lstStyle/>
                    <a:p>
                      <a:pPr algn="ctr"/>
                      <a:r>
                        <a:rPr sz="1100"/>
                        <a:t>NA</a:t>
                      </a:r>
                    </a:p>
                  </a:txBody>
                  <a:tcPr marL="54864" marR="54864" marT="27432" marB="27432"/>
                </a:tc>
                <a:extLst>
                  <a:ext uri="{0D108BD9-81ED-4DB2-BD59-A6C34878D82A}">
                    <a16:rowId xmlns:a16="http://schemas.microsoft.com/office/drawing/2014/main" val="10002"/>
                  </a:ext>
                </a:extLst>
              </a:tr>
              <a:tr h="408432">
                <a:tc>
                  <a:txBody>
                    <a:bodyPr/>
                    <a:lstStyle/>
                    <a:p>
                      <a:r>
                        <a:rPr sz="1100" b="1"/>
                        <a:t>Format</a:t>
                      </a:r>
                    </a:p>
                  </a:txBody>
                  <a:tcPr marL="54864" marR="54864" marT="27432" marB="27432"/>
                </a:tc>
                <a:tc>
                  <a:txBody>
                    <a:bodyPr/>
                    <a:lstStyle/>
                    <a:p>
                      <a:r>
                        <a:rPr sz="1100"/>
                        <a:t>Preregistered APT emulation experiment; Python feature-engineering, EDA and model code; archived native logs (EVTX, Sysmon, PowerShell, Zeek/Suricata, capped PCAP) with SHA-256 manifests; trial-level evaluation report.</a:t>
                      </a:r>
                    </a:p>
                  </a:txBody>
                  <a:tcPr marL="54864" marR="54864" marT="27432" marB="27432"/>
                </a:tc>
                <a:tc>
                  <a:txBody>
                    <a:bodyPr/>
                    <a:lstStyle/>
                    <a:p>
                      <a:pPr algn="ctr"/>
                      <a:r>
                        <a:rPr sz="1100"/>
                        <a:t>NA</a:t>
                      </a:r>
                    </a:p>
                  </a:txBody>
                  <a:tcPr marL="54864" marR="54864" marT="27432" marB="27432"/>
                </a:tc>
                <a:extLst>
                  <a:ext uri="{0D108BD9-81ED-4DB2-BD59-A6C34878D82A}">
                    <a16:rowId xmlns:a16="http://schemas.microsoft.com/office/drawing/2014/main" val="10003"/>
                  </a:ext>
                </a:extLst>
              </a:tr>
              <a:tr h="408432">
                <a:tc>
                  <a:txBody>
                    <a:bodyPr/>
                    <a:lstStyle/>
                    <a:p>
                      <a:r>
                        <a:rPr sz="1100" b="1"/>
                        <a:t>Deliverable Usage</a:t>
                      </a:r>
                    </a:p>
                  </a:txBody>
                  <a:tcPr marL="54864" marR="54864" marT="27432" marB="27432"/>
                </a:tc>
                <a:tc>
                  <a:txBody>
                    <a:bodyPr/>
                    <a:lstStyle/>
                    <a:p>
                      <a:r>
                        <a:rPr sz="1100"/>
                        <a:t>Only the research team runs the classifier against the archived logs; the archive regenerates every number in the paper.</a:t>
                      </a:r>
                    </a:p>
                  </a:txBody>
                  <a:tcPr marL="54864" marR="54864" marT="27432" marB="27432"/>
                </a:tc>
                <a:tc>
                  <a:txBody>
                    <a:bodyPr/>
                    <a:lstStyle/>
                    <a:p>
                      <a:pPr algn="ctr"/>
                      <a:r>
                        <a:rPr sz="1100"/>
                        <a:t>19</a:t>
                      </a:r>
                    </a:p>
                  </a:txBody>
                  <a:tcPr marL="54864" marR="54864" marT="27432" marB="27432"/>
                </a:tc>
                <a:extLst>
                  <a:ext uri="{0D108BD9-81ED-4DB2-BD59-A6C34878D82A}">
                    <a16:rowId xmlns:a16="http://schemas.microsoft.com/office/drawing/2014/main" val="10004"/>
                  </a:ext>
                </a:extLst>
              </a:tr>
              <a:tr h="408432">
                <a:tc>
                  <a:txBody>
                    <a:bodyPr/>
                    <a:lstStyle/>
                    <a:p>
                      <a:r>
                        <a:rPr sz="1100" b="1"/>
                        <a:t>Tie back to PS</a:t>
                      </a:r>
                    </a:p>
                  </a:txBody>
                  <a:tcPr marL="54864" marR="54864" marT="27432" marB="27432"/>
                </a:tc>
                <a:tc>
                  <a:txBody>
                    <a:bodyPr/>
                    <a:lstStyle/>
                    <a:p>
                      <a:r>
                        <a:rPr sz="1100"/>
                        <a:t>Gives defenders the first controlled evidence of which target-side signals reveal an autonomous AI operator inside an APT intrusion, so detection and response can be tuned to the adversary class.</a:t>
                      </a:r>
                    </a:p>
                  </a:txBody>
                  <a:tcPr marL="54864" marR="54864" marT="27432" marB="27432"/>
                </a:tc>
                <a:tc>
                  <a:txBody>
                    <a:bodyPr/>
                    <a:lstStyle/>
                    <a:p>
                      <a:pPr algn="ctr"/>
                      <a:r>
                        <a:rPr sz="1100"/>
                        <a:t>30</a:t>
                      </a:r>
                    </a:p>
                  </a:txBody>
                  <a:tcPr marL="54864" marR="54864" marT="27432" marB="27432"/>
                </a:tc>
                <a:extLst>
                  <a:ext uri="{0D108BD9-81ED-4DB2-BD59-A6C34878D82A}">
                    <a16:rowId xmlns:a16="http://schemas.microsoft.com/office/drawing/2014/main" val="10005"/>
                  </a:ext>
                </a:extLst>
              </a:tr>
              <a:tr h="408432">
                <a:tc>
                  <a:txBody>
                    <a:bodyPr/>
                    <a:lstStyle/>
                    <a:p>
                      <a:r>
                        <a:rPr sz="1100" b="1"/>
                        <a:t>New Contributions</a:t>
                      </a:r>
                    </a:p>
                  </a:txBody>
                  <a:tcPr marL="54864" marR="54864" marT="27432" marB="27432"/>
                </a:tc>
                <a:tc>
                  <a:txBody>
                    <a:bodyPr/>
                    <a:lstStyle/>
                    <a:p>
                      <a:r>
                        <a:rPr sz="1100"/>
                        <a:t>First matched human vs. fully autonomous AI comparison on multi-host, multi-day APT-style target-side telemetry, with an eight-classifier comparison, grouped trial-level evaluation and held-out operator tests.</a:t>
                      </a:r>
                    </a:p>
                  </a:txBody>
                  <a:tcPr marL="54864" marR="54864" marT="27432" marB="27432"/>
                </a:tc>
                <a:tc>
                  <a:txBody>
                    <a:bodyPr/>
                    <a:lstStyle/>
                    <a:p>
                      <a:pPr algn="ctr"/>
                      <a:r>
                        <a:rPr sz="1100"/>
                        <a:t>25</a:t>
                      </a:r>
                    </a:p>
                  </a:txBody>
                  <a:tcPr marL="54864" marR="54864" marT="27432" marB="27432"/>
                </a:tc>
                <a:extLst>
                  <a:ext uri="{0D108BD9-81ED-4DB2-BD59-A6C34878D82A}">
                    <a16:rowId xmlns:a16="http://schemas.microsoft.com/office/drawing/2014/main" val="10006"/>
                  </a:ext>
                </a:extLst>
              </a:tr>
              <a:tr h="408432">
                <a:tc>
                  <a:txBody>
                    <a:bodyPr/>
                    <a:lstStyle/>
                    <a:p>
                      <a:r>
                        <a:rPr sz="1100" b="1"/>
                        <a:t>Scope</a:t>
                      </a:r>
                    </a:p>
                  </a:txBody>
                  <a:tcPr marL="54864" marR="54864" marT="27432" marB="27432"/>
                </a:tc>
                <a:tc>
                  <a:txBody>
                    <a:bodyPr/>
                    <a:lstStyle/>
                    <a:p>
                      <a:r>
                        <a:rPr sz="1100"/>
                        <a:t>Proposed instrumented AWS range as an APT-like target; human red team vs. autonomous agents on DGX Spark. Match objectives, access and time. Pin the range and agent configuration before collection.</a:t>
                      </a:r>
                    </a:p>
                  </a:txBody>
                  <a:tcPr marL="54864" marR="54864" marT="27432" marB="27432"/>
                </a:tc>
                <a:tc>
                  <a:txBody>
                    <a:bodyPr/>
                    <a:lstStyle/>
                    <a:p>
                      <a:pPr algn="ctr"/>
                      <a:r>
                        <a:rPr sz="1100"/>
                        <a:t>32</a:t>
                      </a:r>
                    </a:p>
                  </a:txBody>
                  <a:tcPr marL="54864" marR="54864" marT="27432" marB="27432"/>
                </a:tc>
                <a:extLst>
                  <a:ext uri="{0D108BD9-81ED-4DB2-BD59-A6C34878D82A}">
                    <a16:rowId xmlns:a16="http://schemas.microsoft.com/office/drawing/2014/main" val="10007"/>
                  </a:ext>
                </a:extLst>
              </a:tr>
              <a:tr h="408432">
                <a:tc>
                  <a:txBody>
                    <a:bodyPr/>
                    <a:lstStyle/>
                    <a:p>
                      <a:r>
                        <a:rPr sz="1100" b="1"/>
                        <a:t>Main methodology</a:t>
                      </a:r>
                    </a:p>
                  </a:txBody>
                  <a:tcPr marL="54864" marR="54864" marT="27432" marB="27432"/>
                </a:tc>
                <a:tc>
                  <a:txBody>
                    <a:bodyPr/>
                    <a:lstStyle/>
                    <a:p>
                      <a:r>
                        <a:rPr sz="1100"/>
                        <a:t>Matched-trial APT emulation generating a labeled dataset; feature engineering; EDA (top features); eight-classifier comparison (GB, RF, XGBoost, DT, LR, linear SVM, NB, KNN); ablations; held-out tests.</a:t>
                      </a:r>
                    </a:p>
                  </a:txBody>
                  <a:tcPr marL="54864" marR="54864" marT="27432" marB="27432"/>
                </a:tc>
                <a:tc>
                  <a:txBody>
                    <a:bodyPr/>
                    <a:lstStyle/>
                    <a:p>
                      <a:pPr algn="ctr"/>
                      <a:r>
                        <a:rPr sz="1100"/>
                        <a:t>NA</a:t>
                      </a:r>
                    </a:p>
                  </a:txBody>
                  <a:tcPr marL="54864" marR="54864" marT="27432" marB="27432"/>
                </a:tc>
                <a:extLst>
                  <a:ext uri="{0D108BD9-81ED-4DB2-BD59-A6C34878D82A}">
                    <a16:rowId xmlns:a16="http://schemas.microsoft.com/office/drawing/2014/main" val="10008"/>
                  </a:ext>
                </a:extLst>
              </a:tr>
              <a:tr h="408432">
                <a:tc>
                  <a:txBody>
                    <a:bodyPr/>
                    <a:lstStyle/>
                    <a:p>
                      <a:r>
                        <a:rPr sz="1100" b="1"/>
                        <a:t>Inputs</a:t>
                      </a:r>
                    </a:p>
                  </a:txBody>
                  <a:tcPr marL="54864" marR="54864" marT="27432" marB="27432"/>
                </a:tc>
                <a:tc>
                  <a:txBody>
                    <a:bodyPr/>
                    <a:lstStyle/>
                    <a:p>
                      <a:r>
                        <a:rPr sz="1100"/>
                        <a:t>Target-side host logs (Security 4688/4624/4769/5145, Sysmon, PowerShell 4104, AD audit, DNS) and network capture (Zeek/Suricata logs, capped PCAP, VPC Flow Logs) from reset AWS range trials.</a:t>
                      </a:r>
                    </a:p>
                  </a:txBody>
                  <a:tcPr marL="54864" marR="54864" marT="27432" marB="27432"/>
                </a:tc>
                <a:tc>
                  <a:txBody>
                    <a:bodyPr/>
                    <a:lstStyle/>
                    <a:p>
                      <a:pPr algn="ctr"/>
                      <a:r>
                        <a:rPr sz="1100"/>
                        <a:t>NA</a:t>
                      </a:r>
                    </a:p>
                  </a:txBody>
                  <a:tcPr marL="54864" marR="54864" marT="27432" marB="27432"/>
                </a:tc>
                <a:extLst>
                  <a:ext uri="{0D108BD9-81ED-4DB2-BD59-A6C34878D82A}">
                    <a16:rowId xmlns:a16="http://schemas.microsoft.com/office/drawing/2014/main" val="10009"/>
                  </a:ext>
                </a:extLst>
              </a:tr>
              <a:tr h="576072">
                <a:tc>
                  <a:txBody>
                    <a:bodyPr/>
                    <a:lstStyle/>
                    <a:p>
                      <a:r>
                        <a:rPr sz="1100" b="1"/>
                        <a:t>Outputs</a:t>
                      </a:r>
                    </a:p>
                  </a:txBody>
                  <a:tcPr marL="54864" marR="54864" marT="27432" marB="27432"/>
                </a:tc>
                <a:tc>
                  <a:txBody>
                    <a:bodyPr/>
                    <a:lstStyle/>
                    <a:p>
                      <a:r>
                        <a:rPr sz="1100"/>
                        <a:t>Trial-level predictions with confidence; EDA top-feature and feature-family rankings; eight-classifier ranking by macro-F1 with per-class precision/recall and confusion matrices; ablations (no timing, no tool IDs); held-out performance. Benign false-positive rate, scenario success and time-to-objective reported separately.</a:t>
                      </a:r>
                    </a:p>
                  </a:txBody>
                  <a:tcPr marL="54864" marR="54864" marT="27432" marB="27432"/>
                </a:tc>
                <a:tc>
                  <a:txBody>
                    <a:bodyPr/>
                    <a:lstStyle/>
                    <a:p>
                      <a:pPr algn="ctr"/>
                      <a:r>
                        <a:rPr sz="1100" dirty="0"/>
                        <a:t>NA</a:t>
                      </a:r>
                    </a:p>
                  </a:txBody>
                  <a:tcPr marL="54864" marR="54864" marT="27432" marB="27432"/>
                </a:tc>
                <a:extLst>
                  <a:ext uri="{0D108BD9-81ED-4DB2-BD59-A6C34878D82A}">
                    <a16:rowId xmlns:a16="http://schemas.microsoft.com/office/drawing/2014/main" val="10010"/>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64592" y="0"/>
            <a:ext cx="7772400" cy="548640"/>
          </a:xfrm>
        </p:spPr>
        <p:txBody>
          <a:bodyPr wrap="square"/>
          <a:lstStyle/>
          <a:p>
            <a:r>
              <a:rPr sz="1600" b="1" u="sng">
                <a:solidFill>
                  <a:srgbClr val="000000"/>
                </a:solidFill>
              </a:rPr>
              <a:t>Research Questions</a:t>
            </a:r>
          </a:p>
        </p:txBody>
      </p:sp>
      <p:graphicFrame>
        <p:nvGraphicFramePr>
          <p:cNvPr id="4" name="Table 3"/>
          <p:cNvGraphicFramePr>
            <a:graphicFrameLocks noGrp="1"/>
          </p:cNvGraphicFramePr>
          <p:nvPr>
            <p:extLst>
              <p:ext uri="{D42A27DB-BD31-4B8C-83A1-F6EECF244321}">
                <p14:modId xmlns:p14="http://schemas.microsoft.com/office/powerpoint/2010/main" val="3394328296"/>
              </p:ext>
            </p:extLst>
          </p:nvPr>
        </p:nvGraphicFramePr>
        <p:xfrm>
          <a:off x="164592" y="566928"/>
          <a:ext cx="8814815" cy="2615183"/>
        </p:xfrm>
        <a:graphic>
          <a:graphicData uri="http://schemas.openxmlformats.org/drawingml/2006/table">
            <a:tbl>
              <a:tblPr firstRow="1" bandRow="1">
                <a:tableStyleId>{5C22544A-7EE6-4342-B048-85BDC9FD1C3A}</a:tableStyleId>
              </a:tblPr>
              <a:tblGrid>
                <a:gridCol w="1928241">
                  <a:extLst>
                    <a:ext uri="{9D8B030D-6E8A-4147-A177-3AD203B41FA5}">
                      <a16:colId xmlns:a16="http://schemas.microsoft.com/office/drawing/2014/main" val="20000"/>
                    </a:ext>
                  </a:extLst>
                </a:gridCol>
                <a:gridCol w="6197917">
                  <a:extLst>
                    <a:ext uri="{9D8B030D-6E8A-4147-A177-3AD203B41FA5}">
                      <a16:colId xmlns:a16="http://schemas.microsoft.com/office/drawing/2014/main" val="20001"/>
                    </a:ext>
                  </a:extLst>
                </a:gridCol>
                <a:gridCol w="688657">
                  <a:extLst>
                    <a:ext uri="{9D8B030D-6E8A-4147-A177-3AD203B41FA5}">
                      <a16:colId xmlns:a16="http://schemas.microsoft.com/office/drawing/2014/main" val="20002"/>
                    </a:ext>
                  </a:extLst>
                </a:gridCol>
              </a:tblGrid>
              <a:tr h="256031">
                <a:tc>
                  <a:txBody>
                    <a:bodyPr/>
                    <a:lstStyle/>
                    <a:p>
                      <a:r>
                        <a:rPr sz="1200" b="1"/>
                        <a:t>(A) Deliverable</a:t>
                      </a:r>
                    </a:p>
                  </a:txBody>
                  <a:tcPr marL="54864" marR="54864" marT="27432" marB="27432" anchor="ctr"/>
                </a:tc>
                <a:tc>
                  <a:txBody>
                    <a:bodyPr/>
                    <a:lstStyle/>
                    <a:p>
                      <a:pPr algn="ctr">
                        <a:buNone/>
                      </a:pPr>
                      <a:r>
                        <a:rPr sz="1200" b="1"/>
                        <a:t>(B) Format</a:t>
                      </a:r>
                    </a:p>
                  </a:txBody>
                  <a:tcPr marL="54864" marR="54864" marT="27432" marB="27432" anchor="ctr"/>
                </a:tc>
                <a:tc>
                  <a:txBody>
                    <a:bodyPr/>
                    <a:lstStyle/>
                    <a:p>
                      <a:pPr algn="ctr">
                        <a:buNone/>
                      </a:pPr>
                      <a:r>
                        <a:rPr sz="1200" b="1"/>
                        <a:t>(C) WC</a:t>
                      </a:r>
                    </a:p>
                  </a:txBody>
                  <a:tcPr marL="54864" marR="54864" marT="27432" marB="27432" anchor="ctr"/>
                </a:tc>
                <a:extLst>
                  <a:ext uri="{0D108BD9-81ED-4DB2-BD59-A6C34878D82A}">
                    <a16:rowId xmlns:a16="http://schemas.microsoft.com/office/drawing/2014/main" val="10000"/>
                  </a:ext>
                </a:extLst>
              </a:tr>
              <a:tr h="438912">
                <a:tc>
                  <a:txBody>
                    <a:bodyPr/>
                    <a:lstStyle/>
                    <a:p>
                      <a:r>
                        <a:rPr sz="1200" b="1"/>
                        <a:t>RQ1: feature identification</a:t>
                      </a:r>
                    </a:p>
                  </a:txBody>
                  <a:tcPr marL="54864" marR="54864" marT="27432" marB="27432"/>
                </a:tc>
                <a:tc>
                  <a:txBody>
                    <a:bodyPr/>
                    <a:lstStyle/>
                    <a:p>
                      <a:r>
                        <a:rPr sz="1200"/>
                        <a:t>Which target-side host and network behavioral feature families distinguish human-operated from autonomous-AI APT-like trials under matched conditions?</a:t>
                      </a:r>
                    </a:p>
                  </a:txBody>
                  <a:tcPr marL="54864" marR="54864" marT="27432" marB="27432"/>
                </a:tc>
                <a:tc>
                  <a:txBody>
                    <a:bodyPr/>
                    <a:lstStyle/>
                    <a:p>
                      <a:pPr algn="ctr">
                        <a:buNone/>
                      </a:pPr>
                      <a:r>
                        <a:rPr sz="1200"/>
                        <a:t>17</a:t>
                      </a:r>
                    </a:p>
                  </a:txBody>
                  <a:tcPr marL="54864" marR="54864" marT="27432" marB="27432"/>
                </a:tc>
                <a:extLst>
                  <a:ext uri="{0D108BD9-81ED-4DB2-BD59-A6C34878D82A}">
                    <a16:rowId xmlns:a16="http://schemas.microsoft.com/office/drawing/2014/main" val="10001"/>
                  </a:ext>
                </a:extLst>
              </a:tr>
              <a:tr h="438912">
                <a:tc>
                  <a:txBody>
                    <a:bodyPr/>
                    <a:lstStyle/>
                    <a:p>
                      <a:r>
                        <a:rPr sz="1200" b="1"/>
                        <a:t>RQ2: transfer and attributes</a:t>
                      </a:r>
                    </a:p>
                  </a:txBody>
                  <a:tcPr marL="54864" marR="54864" marT="27432" marB="27432"/>
                </a:tc>
                <a:tc>
                  <a:txBody>
                    <a:bodyPr/>
                    <a:lstStyle/>
                    <a:p>
                      <a:r>
                        <a:rPr sz="1200"/>
                        <a:t>Which classifiers retain useful behavioral attributes for classification performance on autonomous-AI APT data?</a:t>
                      </a:r>
                    </a:p>
                  </a:txBody>
                  <a:tcPr marL="54864" marR="54864" marT="27432" marB="27432"/>
                </a:tc>
                <a:tc>
                  <a:txBody>
                    <a:bodyPr/>
                    <a:lstStyle/>
                    <a:p>
                      <a:pPr algn="ctr">
                        <a:buNone/>
                      </a:pPr>
                      <a:r>
                        <a:rPr sz="1200"/>
                        <a:t>13</a:t>
                      </a:r>
                    </a:p>
                  </a:txBody>
                  <a:tcPr marL="54864" marR="54864" marT="27432" marB="27432"/>
                </a:tc>
                <a:extLst>
                  <a:ext uri="{0D108BD9-81ED-4DB2-BD59-A6C34878D82A}">
                    <a16:rowId xmlns:a16="http://schemas.microsoft.com/office/drawing/2014/main" val="10002"/>
                  </a:ext>
                </a:extLst>
              </a:tr>
              <a:tr h="438912">
                <a:tc>
                  <a:txBody>
                    <a:bodyPr/>
                    <a:lstStyle/>
                    <a:p>
                      <a:r>
                        <a:rPr sz="1200" b="1"/>
                        <a:t>RQ3: classifier comparison</a:t>
                      </a:r>
                    </a:p>
                  </a:txBody>
                  <a:tcPr marL="54864" marR="54864" marT="27432" marB="27432"/>
                </a:tc>
                <a:tc>
                  <a:txBody>
                    <a:bodyPr/>
                    <a:lstStyle/>
                    <a:p>
                      <a:r>
                        <a:rPr sz="1200"/>
                        <a:t>Among XGBoost, a decision tree, a random forest, SVM and a tabular transformer, which provides the strongest trial-level human-versus-autonomous-AI classification?</a:t>
                      </a:r>
                    </a:p>
                  </a:txBody>
                  <a:tcPr marL="54864" marR="54864" marT="27432" marB="27432"/>
                </a:tc>
                <a:tc>
                  <a:txBody>
                    <a:bodyPr/>
                    <a:lstStyle/>
                    <a:p>
                      <a:pPr algn="ctr">
                        <a:buNone/>
                      </a:pPr>
                      <a:r>
                        <a:rPr sz="1200"/>
                        <a:t>20</a:t>
                      </a:r>
                    </a:p>
                  </a:txBody>
                  <a:tcPr marL="54864" marR="54864" marT="27432" marB="27432"/>
                </a:tc>
                <a:extLst>
                  <a:ext uri="{0D108BD9-81ED-4DB2-BD59-A6C34878D82A}">
                    <a16:rowId xmlns:a16="http://schemas.microsoft.com/office/drawing/2014/main" val="10003"/>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64592" y="0"/>
            <a:ext cx="7772400" cy="548640"/>
          </a:xfrm>
        </p:spPr>
        <p:txBody>
          <a:bodyPr wrap="square"/>
          <a:lstStyle/>
          <a:p>
            <a:r>
              <a:rPr sz="1600" b="1" u="sng">
                <a:solidFill>
                  <a:srgbClr val="000000"/>
                </a:solidFill>
              </a:rPr>
              <a:t>Research Hypotheses (1 of 2)</a:t>
            </a:r>
          </a:p>
        </p:txBody>
      </p:sp>
      <p:graphicFrame>
        <p:nvGraphicFramePr>
          <p:cNvPr id="4" name="Table 3"/>
          <p:cNvGraphicFramePr>
            <a:graphicFrameLocks noGrp="1"/>
          </p:cNvGraphicFramePr>
          <p:nvPr>
            <p:extLst>
              <p:ext uri="{D42A27DB-BD31-4B8C-83A1-F6EECF244321}">
                <p14:modId xmlns:p14="http://schemas.microsoft.com/office/powerpoint/2010/main" val="2897980571"/>
              </p:ext>
            </p:extLst>
          </p:nvPr>
        </p:nvGraphicFramePr>
        <p:xfrm>
          <a:off x="164592" y="566928"/>
          <a:ext cx="8814815" cy="3035803"/>
        </p:xfrm>
        <a:graphic>
          <a:graphicData uri="http://schemas.openxmlformats.org/drawingml/2006/table">
            <a:tbl>
              <a:tblPr firstRow="1" bandRow="1">
                <a:tableStyleId>{5C22544A-7EE6-4342-B048-85BDC9FD1C3A}</a:tableStyleId>
              </a:tblPr>
              <a:tblGrid>
                <a:gridCol w="1606867">
                  <a:extLst>
                    <a:ext uri="{9D8B030D-6E8A-4147-A177-3AD203B41FA5}">
                      <a16:colId xmlns:a16="http://schemas.microsoft.com/office/drawing/2014/main" val="20000"/>
                    </a:ext>
                  </a:extLst>
                </a:gridCol>
                <a:gridCol w="6519291">
                  <a:extLst>
                    <a:ext uri="{9D8B030D-6E8A-4147-A177-3AD203B41FA5}">
                      <a16:colId xmlns:a16="http://schemas.microsoft.com/office/drawing/2014/main" val="20001"/>
                    </a:ext>
                  </a:extLst>
                </a:gridCol>
                <a:gridCol w="688657">
                  <a:extLst>
                    <a:ext uri="{9D8B030D-6E8A-4147-A177-3AD203B41FA5}">
                      <a16:colId xmlns:a16="http://schemas.microsoft.com/office/drawing/2014/main" val="20002"/>
                    </a:ext>
                  </a:extLst>
                </a:gridCol>
              </a:tblGrid>
              <a:tr h="256031">
                <a:tc>
                  <a:txBody>
                    <a:bodyPr/>
                    <a:lstStyle/>
                    <a:p>
                      <a:r>
                        <a:rPr sz="1200" b="1"/>
                        <a:t>(A) Deliverable</a:t>
                      </a:r>
                    </a:p>
                  </a:txBody>
                  <a:tcPr marL="54864" marR="54864" marT="27432" marB="27432" anchor="ctr"/>
                </a:tc>
                <a:tc>
                  <a:txBody>
                    <a:bodyPr/>
                    <a:lstStyle/>
                    <a:p>
                      <a:pPr algn="ctr">
                        <a:buNone/>
                      </a:pPr>
                      <a:r>
                        <a:rPr sz="1200" b="1"/>
                        <a:t>(B) Format</a:t>
                      </a:r>
                    </a:p>
                  </a:txBody>
                  <a:tcPr marL="54864" marR="54864" marT="27432" marB="27432" anchor="ctr"/>
                </a:tc>
                <a:tc>
                  <a:txBody>
                    <a:bodyPr/>
                    <a:lstStyle/>
                    <a:p>
                      <a:pPr algn="ctr">
                        <a:buNone/>
                      </a:pPr>
                      <a:r>
                        <a:rPr sz="1200" b="1"/>
                        <a:t>(C) WC</a:t>
                      </a:r>
                    </a:p>
                  </a:txBody>
                  <a:tcPr marL="54864" marR="54864" marT="27432" marB="27432" anchor="ctr"/>
                </a:tc>
                <a:extLst>
                  <a:ext uri="{0D108BD9-81ED-4DB2-BD59-A6C34878D82A}">
                    <a16:rowId xmlns:a16="http://schemas.microsoft.com/office/drawing/2014/main" val="10000"/>
                  </a:ext>
                </a:extLst>
              </a:tr>
              <a:tr h="438912">
                <a:tc>
                  <a:txBody>
                    <a:bodyPr/>
                    <a:lstStyle/>
                    <a:p>
                      <a:r>
                        <a:rPr sz="1200" b="1"/>
                        <a:t>H1 / RQ1</a:t>
                      </a:r>
                    </a:p>
                  </a:txBody>
                  <a:tcPr marL="54864" marR="54864" marT="27432" marB="27432"/>
                </a:tc>
                <a:tc>
                  <a:txBody>
                    <a:bodyPr/>
                    <a:lstStyle/>
                    <a:p>
                      <a:r>
                        <a:rPr sz="1200"/>
                        <a:t>Command diversity and command-sequence transition entropy improve classification of human-operated versus autonomous-AI APT-like activity compared with a predefined baseline.</a:t>
                      </a:r>
                    </a:p>
                  </a:txBody>
                  <a:tcPr marL="54864" marR="54864" marT="27432" marB="27432"/>
                </a:tc>
                <a:tc>
                  <a:txBody>
                    <a:bodyPr/>
                    <a:lstStyle/>
                    <a:p>
                      <a:pPr algn="ctr">
                        <a:buNone/>
                      </a:pPr>
                      <a:r>
                        <a:rPr sz="1200"/>
                        <a:t>19</a:t>
                      </a:r>
                    </a:p>
                  </a:txBody>
                  <a:tcPr marL="54864" marR="54864" marT="27432" marB="27432"/>
                </a:tc>
                <a:extLst>
                  <a:ext uri="{0D108BD9-81ED-4DB2-BD59-A6C34878D82A}">
                    <a16:rowId xmlns:a16="http://schemas.microsoft.com/office/drawing/2014/main" val="10001"/>
                  </a:ext>
                </a:extLst>
              </a:tr>
              <a:tr h="256031">
                <a:tc>
                  <a:txBody>
                    <a:bodyPr/>
                    <a:lstStyle/>
                    <a:p>
                      <a:r>
                        <a:rPr sz="1200" b="1"/>
                        <a:t>Independent variables</a:t>
                      </a:r>
                    </a:p>
                  </a:txBody>
                  <a:tcPr marL="54864" marR="54864" marT="27432" marB="27432"/>
                </a:tc>
                <a:tc>
                  <a:txBody>
                    <a:bodyPr/>
                    <a:lstStyle/>
                    <a:p>
                      <a:r>
                        <a:rPr sz="1200"/>
                        <a:t>Feature inclusion: diversity, entropy, each separately and jointly. Freeze the baseline and definitions before scoring.</a:t>
                      </a:r>
                    </a:p>
                  </a:txBody>
                  <a:tcPr marL="54864" marR="54864" marT="27432" marB="27432"/>
                </a:tc>
                <a:tc>
                  <a:txBody>
                    <a:bodyPr/>
                    <a:lstStyle/>
                    <a:p>
                      <a:pPr algn="ctr">
                        <a:buNone/>
                      </a:pPr>
                      <a:r>
                        <a:rPr sz="1200"/>
                        <a:t>15</a:t>
                      </a:r>
                    </a:p>
                  </a:txBody>
                  <a:tcPr marL="54864" marR="54864" marT="27432" marB="27432"/>
                </a:tc>
                <a:extLst>
                  <a:ext uri="{0D108BD9-81ED-4DB2-BD59-A6C34878D82A}">
                    <a16:rowId xmlns:a16="http://schemas.microsoft.com/office/drawing/2014/main" val="10002"/>
                  </a:ext>
                </a:extLst>
              </a:tr>
              <a:tr h="256031">
                <a:tc>
                  <a:txBody>
                    <a:bodyPr/>
                    <a:lstStyle/>
                    <a:p>
                      <a:r>
                        <a:rPr sz="1200" b="1"/>
                        <a:t>Dependent variable</a:t>
                      </a:r>
                    </a:p>
                  </a:txBody>
                  <a:tcPr marL="54864" marR="54864" marT="27432" marB="27432"/>
                </a:tc>
                <a:tc>
                  <a:txBody>
                    <a:bodyPr/>
                    <a:lstStyle/>
                    <a:p>
                      <a:r>
                        <a:rPr sz="1200"/>
                        <a:t>Paired change in trial macro-F1 and group uncertainty.</a:t>
                      </a:r>
                    </a:p>
                  </a:txBody>
                  <a:tcPr marL="54864" marR="54864" marT="27432" marB="27432"/>
                </a:tc>
                <a:tc>
                  <a:txBody>
                    <a:bodyPr/>
                    <a:lstStyle/>
                    <a:p>
                      <a:pPr algn="ctr">
                        <a:buNone/>
                      </a:pPr>
                      <a:r>
                        <a:rPr sz="1200"/>
                        <a:t>8</a:t>
                      </a:r>
                    </a:p>
                  </a:txBody>
                  <a:tcPr marL="54864" marR="54864" marT="27432" marB="27432"/>
                </a:tc>
                <a:extLst>
                  <a:ext uri="{0D108BD9-81ED-4DB2-BD59-A6C34878D82A}">
                    <a16:rowId xmlns:a16="http://schemas.microsoft.com/office/drawing/2014/main" val="10003"/>
                  </a:ext>
                </a:extLst>
              </a:tr>
              <a:tr h="438912">
                <a:tc>
                  <a:txBody>
                    <a:bodyPr/>
                    <a:lstStyle/>
                    <a:p>
                      <a:r>
                        <a:rPr sz="1200" b="1"/>
                        <a:t>Test</a:t>
                      </a:r>
                    </a:p>
                  </a:txBody>
                  <a:tcPr marL="54864" marR="54864" marT="27432" marB="27432"/>
                </a:tc>
                <a:tc>
                  <a:txBody>
                    <a:bodyPr/>
                    <a:lstStyle/>
                    <a:p>
                      <a:r>
                        <a:rPr sz="1200"/>
                        <a:t>Retrain ablations on common grouped splits. Feature-family importance alone cannot establish benefit from both named features.</a:t>
                      </a:r>
                    </a:p>
                  </a:txBody>
                  <a:tcPr marL="54864" marR="54864" marT="27432" marB="27432"/>
                </a:tc>
                <a:tc>
                  <a:txBody>
                    <a:bodyPr/>
                    <a:lstStyle/>
                    <a:p>
                      <a:pPr algn="ctr">
                        <a:buNone/>
                      </a:pPr>
                      <a:r>
                        <a:rPr sz="1200"/>
                        <a:t>16</a:t>
                      </a:r>
                    </a:p>
                  </a:txBody>
                  <a:tcPr marL="54864" marR="54864" marT="27432" marB="27432"/>
                </a:tc>
                <a:extLst>
                  <a:ext uri="{0D108BD9-81ED-4DB2-BD59-A6C34878D82A}">
                    <a16:rowId xmlns:a16="http://schemas.microsoft.com/office/drawing/2014/main" val="10004"/>
                  </a:ext>
                </a:extLst>
              </a:tr>
              <a:tr h="438912">
                <a:tc>
                  <a:txBody>
                    <a:bodyPr/>
                    <a:lstStyle/>
                    <a:p>
                      <a:r>
                        <a:rPr sz="1200" b="1"/>
                        <a:t>H2 / RQ2</a:t>
                      </a:r>
                    </a:p>
                  </a:txBody>
                  <a:tcPr marL="54864" marR="54864" marT="27432" marB="27432"/>
                </a:tc>
                <a:tc>
                  <a:txBody>
                    <a:bodyPr/>
                    <a:lstStyle/>
                    <a:p>
                      <a:r>
                        <a:rPr sz="1200"/>
                        <a:t>Logistic regression retains useful behavioral attributes and achieves above-baseline classification performance on previously unseen autonomous-AI configurations and human operators.</a:t>
                      </a:r>
                    </a:p>
                  </a:txBody>
                  <a:tcPr marL="54864" marR="54864" marT="27432" marB="27432"/>
                </a:tc>
                <a:tc>
                  <a:txBody>
                    <a:bodyPr/>
                    <a:lstStyle/>
                    <a:p>
                      <a:pPr algn="ctr">
                        <a:buNone/>
                      </a:pPr>
                      <a:r>
                        <a:rPr sz="1200"/>
                        <a:t>19</a:t>
                      </a:r>
                    </a:p>
                  </a:txBody>
                  <a:tcPr marL="54864" marR="54864" marT="27432" marB="27432"/>
                </a:tc>
                <a:extLst>
                  <a:ext uri="{0D108BD9-81ED-4DB2-BD59-A6C34878D82A}">
                    <a16:rowId xmlns:a16="http://schemas.microsoft.com/office/drawing/2014/main" val="10005"/>
                  </a:ext>
                </a:extLst>
              </a:tr>
              <a:tr h="256031">
                <a:tc>
                  <a:txBody>
                    <a:bodyPr/>
                    <a:lstStyle/>
                    <a:p>
                      <a:r>
                        <a:rPr sz="1200" b="1"/>
                        <a:t>Independent variables</a:t>
                      </a:r>
                    </a:p>
                  </a:txBody>
                  <a:tcPr marL="54864" marR="54864" marT="27432" marB="27432"/>
                </a:tc>
                <a:tc>
                  <a:txBody>
                    <a:bodyPr/>
                    <a:lstStyle/>
                    <a:p>
                      <a:r>
                        <a:rPr sz="1200"/>
                        <a:t>Held-out human/configuration groups and full versus reduced behavioral representation.</a:t>
                      </a:r>
                    </a:p>
                  </a:txBody>
                  <a:tcPr marL="54864" marR="54864" marT="27432" marB="27432"/>
                </a:tc>
                <a:tc>
                  <a:txBody>
                    <a:bodyPr/>
                    <a:lstStyle/>
                    <a:p>
                      <a:pPr algn="ctr">
                        <a:buNone/>
                      </a:pPr>
                      <a:r>
                        <a:rPr sz="1200"/>
                        <a:t>9</a:t>
                      </a:r>
                    </a:p>
                  </a:txBody>
                  <a:tcPr marL="54864" marR="54864" marT="27432" marB="27432"/>
                </a:tc>
                <a:extLst>
                  <a:ext uri="{0D108BD9-81ED-4DB2-BD59-A6C34878D82A}">
                    <a16:rowId xmlns:a16="http://schemas.microsoft.com/office/drawing/2014/main" val="10006"/>
                  </a:ext>
                </a:extLst>
              </a:tr>
              <a:tr h="256031">
                <a:tc>
                  <a:txBody>
                    <a:bodyPr/>
                    <a:lstStyle/>
                    <a:p>
                      <a:r>
                        <a:rPr sz="1200" b="1"/>
                        <a:t>Dependent variable</a:t>
                      </a:r>
                    </a:p>
                  </a:txBody>
                  <a:tcPr marL="54864" marR="54864" marT="27432" marB="27432"/>
                </a:tc>
                <a:tc>
                  <a:txBody>
                    <a:bodyPr/>
                    <a:lstStyle/>
                    <a:p>
                      <a:r>
                        <a:rPr sz="1200"/>
                        <a:t>Above-baseline macro-F1, human false-AI rate, feature stability and transfer loss.</a:t>
                      </a:r>
                    </a:p>
                  </a:txBody>
                  <a:tcPr marL="54864" marR="54864" marT="27432" marB="27432"/>
                </a:tc>
                <a:tc>
                  <a:txBody>
                    <a:bodyPr/>
                    <a:lstStyle/>
                    <a:p>
                      <a:pPr algn="ctr">
                        <a:buNone/>
                      </a:pPr>
                      <a:r>
                        <a:rPr sz="1200"/>
                        <a:t>10</a:t>
                      </a:r>
                    </a:p>
                  </a:txBody>
                  <a:tcPr marL="54864" marR="54864" marT="27432" marB="27432"/>
                </a:tc>
                <a:extLst>
                  <a:ext uri="{0D108BD9-81ED-4DB2-BD59-A6C34878D82A}">
                    <a16:rowId xmlns:a16="http://schemas.microsoft.com/office/drawing/2014/main" val="10007"/>
                  </a:ext>
                </a:extLst>
              </a:tr>
              <a:tr h="438912">
                <a:tc>
                  <a:txBody>
                    <a:bodyPr/>
                    <a:lstStyle/>
                    <a:p>
                      <a:r>
                        <a:rPr sz="1200" b="1"/>
                        <a:t>Test</a:t>
                      </a:r>
                    </a:p>
                  </a:txBody>
                  <a:tcPr marL="54864" marR="54864" marT="27432" marB="27432"/>
                </a:tc>
                <a:tc>
                  <a:txBody>
                    <a:bodyPr/>
                    <a:lstStyle/>
                    <a:p>
                      <a:r>
                        <a:rPr sz="1200"/>
                        <a:t>Freeze logistic regression and the baseline. Fit preprocessing inside training folds. Test unseen groups with timing/tool controls.</a:t>
                      </a:r>
                    </a:p>
                  </a:txBody>
                  <a:tcPr marL="54864" marR="54864" marT="27432" marB="27432"/>
                </a:tc>
                <a:tc>
                  <a:txBody>
                    <a:bodyPr/>
                    <a:lstStyle/>
                    <a:p>
                      <a:pPr algn="ctr">
                        <a:buNone/>
                      </a:pPr>
                      <a:r>
                        <a:rPr sz="1200"/>
                        <a:t>17</a:t>
                      </a:r>
                    </a:p>
                  </a:txBody>
                  <a:tcPr marL="54864" marR="54864" marT="27432" marB="27432"/>
                </a:tc>
                <a:extLst>
                  <a:ext uri="{0D108BD9-81ED-4DB2-BD59-A6C34878D82A}">
                    <a16:rowId xmlns:a16="http://schemas.microsoft.com/office/drawing/2014/main" val="10008"/>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64592" y="0"/>
            <a:ext cx="7772400" cy="548640"/>
          </a:xfrm>
        </p:spPr>
        <p:txBody>
          <a:bodyPr wrap="square"/>
          <a:lstStyle/>
          <a:p>
            <a:r>
              <a:rPr sz="1600" b="1" u="sng">
                <a:solidFill>
                  <a:srgbClr val="000000"/>
                </a:solidFill>
              </a:rPr>
              <a:t>Research Hypotheses (2 of 2)</a:t>
            </a:r>
          </a:p>
        </p:txBody>
      </p:sp>
      <p:graphicFrame>
        <p:nvGraphicFramePr>
          <p:cNvPr id="4" name="Table 3"/>
          <p:cNvGraphicFramePr>
            <a:graphicFrameLocks noGrp="1"/>
          </p:cNvGraphicFramePr>
          <p:nvPr>
            <p:extLst>
              <p:ext uri="{D42A27DB-BD31-4B8C-83A1-F6EECF244321}">
                <p14:modId xmlns:p14="http://schemas.microsoft.com/office/powerpoint/2010/main" val="2897980571"/>
              </p:ext>
            </p:extLst>
          </p:nvPr>
        </p:nvGraphicFramePr>
        <p:xfrm>
          <a:off x="164592" y="566928"/>
          <a:ext cx="8814815" cy="3364988"/>
        </p:xfrm>
        <a:graphic>
          <a:graphicData uri="http://schemas.openxmlformats.org/drawingml/2006/table">
            <a:tbl>
              <a:tblPr firstRow="1" bandRow="1">
                <a:tableStyleId>{5C22544A-7EE6-4342-B048-85BDC9FD1C3A}</a:tableStyleId>
              </a:tblPr>
              <a:tblGrid>
                <a:gridCol w="1606867">
                  <a:extLst>
                    <a:ext uri="{9D8B030D-6E8A-4147-A177-3AD203B41FA5}">
                      <a16:colId xmlns:a16="http://schemas.microsoft.com/office/drawing/2014/main" val="20000"/>
                    </a:ext>
                  </a:extLst>
                </a:gridCol>
                <a:gridCol w="6519291">
                  <a:extLst>
                    <a:ext uri="{9D8B030D-6E8A-4147-A177-3AD203B41FA5}">
                      <a16:colId xmlns:a16="http://schemas.microsoft.com/office/drawing/2014/main" val="20001"/>
                    </a:ext>
                  </a:extLst>
                </a:gridCol>
                <a:gridCol w="688657">
                  <a:extLst>
                    <a:ext uri="{9D8B030D-6E8A-4147-A177-3AD203B41FA5}">
                      <a16:colId xmlns:a16="http://schemas.microsoft.com/office/drawing/2014/main" val="20002"/>
                    </a:ext>
                  </a:extLst>
                </a:gridCol>
              </a:tblGrid>
              <a:tr h="256031">
                <a:tc>
                  <a:txBody>
                    <a:bodyPr/>
                    <a:lstStyle/>
                    <a:p>
                      <a:r>
                        <a:rPr sz="1200" b="1"/>
                        <a:t>(A) Deliverable</a:t>
                      </a:r>
                    </a:p>
                  </a:txBody>
                  <a:tcPr marL="54864" marR="54864" marT="27432" marB="27432" anchor="ctr"/>
                </a:tc>
                <a:tc>
                  <a:txBody>
                    <a:bodyPr/>
                    <a:lstStyle/>
                    <a:p>
                      <a:pPr algn="ctr">
                        <a:buNone/>
                      </a:pPr>
                      <a:r>
                        <a:rPr sz="1200" b="1"/>
                        <a:t>(B) Format</a:t>
                      </a:r>
                    </a:p>
                  </a:txBody>
                  <a:tcPr marL="54864" marR="54864" marT="27432" marB="27432" anchor="ctr"/>
                </a:tc>
                <a:tc>
                  <a:txBody>
                    <a:bodyPr/>
                    <a:lstStyle/>
                    <a:p>
                      <a:pPr algn="ctr">
                        <a:buNone/>
                      </a:pPr>
                      <a:r>
                        <a:rPr sz="1200" b="1"/>
                        <a:t>(C) WC</a:t>
                      </a:r>
                    </a:p>
                  </a:txBody>
                  <a:tcPr marL="54864" marR="54864" marT="27432" marB="27432" anchor="ctr"/>
                </a:tc>
                <a:extLst>
                  <a:ext uri="{0D108BD9-81ED-4DB2-BD59-A6C34878D82A}">
                    <a16:rowId xmlns:a16="http://schemas.microsoft.com/office/drawing/2014/main" val="10000"/>
                  </a:ext>
                </a:extLst>
              </a:tr>
              <a:tr h="438912">
                <a:tc>
                  <a:txBody>
                    <a:bodyPr/>
                    <a:lstStyle/>
                    <a:p>
                      <a:r>
                        <a:rPr sz="1200" b="1"/>
                        <a:t>H3 / RQ3</a:t>
                      </a:r>
                    </a:p>
                  </a:txBody>
                  <a:tcPr marL="54864" marR="54864" marT="27432" marB="27432"/>
                </a:tc>
                <a:tc>
                  <a:txBody>
                    <a:bodyPr/>
                    <a:lstStyle/>
                    <a:p>
                      <a:r>
                        <a:rPr sz="1200"/>
                        <a:t>SVM achieves higher trial-level macro-F1 than XGBoost, a decision tree, a random forest and a tabular transformer for human-versus-autonomous-AI classification.</a:t>
                      </a:r>
                    </a:p>
                  </a:txBody>
                  <a:tcPr marL="54864" marR="54864" marT="27432" marB="27432"/>
                </a:tc>
                <a:tc>
                  <a:txBody>
                    <a:bodyPr/>
                    <a:lstStyle/>
                    <a:p>
                      <a:pPr algn="ctr">
                        <a:buNone/>
                      </a:pPr>
                      <a:r>
                        <a:rPr sz="1200"/>
                        <a:t>20</a:t>
                      </a:r>
                    </a:p>
                  </a:txBody>
                  <a:tcPr marL="54864" marR="54864" marT="27432" marB="27432"/>
                </a:tc>
                <a:extLst>
                  <a:ext uri="{0D108BD9-81ED-4DB2-BD59-A6C34878D82A}">
                    <a16:rowId xmlns:a16="http://schemas.microsoft.com/office/drawing/2014/main" val="10001"/>
                  </a:ext>
                </a:extLst>
              </a:tr>
              <a:tr h="256031">
                <a:tc>
                  <a:txBody>
                    <a:bodyPr/>
                    <a:lstStyle/>
                    <a:p>
                      <a:r>
                        <a:rPr sz="1200" b="1"/>
                        <a:t>Independent variables</a:t>
                      </a:r>
                    </a:p>
                  </a:txBody>
                  <a:tcPr marL="54864" marR="54864" marT="27432" marB="27432"/>
                </a:tc>
                <a:tc>
                  <a:txBody>
                    <a:bodyPr/>
                    <a:lstStyle/>
                    <a:p>
                      <a:r>
                        <a:rPr sz="1200"/>
                        <a:t>Five primary classifiers using the same feature table, grouped splits and bounded tuning budgets.</a:t>
                      </a:r>
                    </a:p>
                  </a:txBody>
                  <a:tcPr marL="54864" marR="54864" marT="27432" marB="27432"/>
                </a:tc>
                <a:tc>
                  <a:txBody>
                    <a:bodyPr/>
                    <a:lstStyle/>
                    <a:p>
                      <a:pPr algn="ctr">
                        <a:buNone/>
                      </a:pPr>
                      <a:r>
                        <a:rPr sz="1200"/>
                        <a:t>14</a:t>
                      </a:r>
                    </a:p>
                  </a:txBody>
                  <a:tcPr marL="54864" marR="54864" marT="27432" marB="27432"/>
                </a:tc>
                <a:extLst>
                  <a:ext uri="{0D108BD9-81ED-4DB2-BD59-A6C34878D82A}">
                    <a16:rowId xmlns:a16="http://schemas.microsoft.com/office/drawing/2014/main" val="10002"/>
                  </a:ext>
                </a:extLst>
              </a:tr>
              <a:tr h="256031">
                <a:tc>
                  <a:txBody>
                    <a:bodyPr/>
                    <a:lstStyle/>
                    <a:p>
                      <a:r>
                        <a:rPr sz="1200" b="1"/>
                        <a:t>Dependent variable</a:t>
                      </a:r>
                    </a:p>
                  </a:txBody>
                  <a:tcPr marL="54864" marR="54864" marT="27432" marB="27432"/>
                </a:tc>
                <a:tc>
                  <a:txBody>
                    <a:bodyPr/>
                    <a:lstStyle/>
                    <a:p>
                      <a:r>
                        <a:rPr sz="1200"/>
                        <a:t>Trial macro-F1, paired score differences and corrected group uncertainty. Secondary metrics include errors, calibration and cost.</a:t>
                      </a:r>
                    </a:p>
                  </a:txBody>
                  <a:tcPr marL="54864" marR="54864" marT="27432" marB="27432"/>
                </a:tc>
                <a:tc>
                  <a:txBody>
                    <a:bodyPr/>
                    <a:lstStyle/>
                    <a:p>
                      <a:pPr algn="ctr">
                        <a:buNone/>
                      </a:pPr>
                      <a:r>
                        <a:rPr sz="1200"/>
                        <a:t>16</a:t>
                      </a:r>
                    </a:p>
                  </a:txBody>
                  <a:tcPr marL="54864" marR="54864" marT="27432" marB="27432"/>
                </a:tc>
                <a:extLst>
                  <a:ext uri="{0D108BD9-81ED-4DB2-BD59-A6C34878D82A}">
                    <a16:rowId xmlns:a16="http://schemas.microsoft.com/office/drawing/2014/main" val="10003"/>
                  </a:ext>
                </a:extLst>
              </a:tr>
              <a:tr h="438912">
                <a:tc>
                  <a:txBody>
                    <a:bodyPr/>
                    <a:lstStyle/>
                    <a:p>
                      <a:r>
                        <a:rPr sz="1200" b="1"/>
                        <a:t>Test</a:t>
                      </a:r>
                    </a:p>
                  </a:txBody>
                  <a:tcPr marL="54864" marR="54864" marT="27432" marB="27432"/>
                </a:tc>
                <a:tc>
                  <a:txBody>
                    <a:bodyPr/>
                    <a:lstStyle/>
                    <a:p>
                      <a:r>
                        <a:rPr sz="1200"/>
                        <a:t>Compare SVM with each of four candidates using paired predictions and a declared multiplicity procedure. A leading mean alone is insufficient.</a:t>
                      </a:r>
                    </a:p>
                  </a:txBody>
                  <a:tcPr marL="54864" marR="54864" marT="27432" marB="27432"/>
                </a:tc>
                <a:tc>
                  <a:txBody>
                    <a:bodyPr/>
                    <a:lstStyle/>
                    <a:p>
                      <a:pPr algn="ctr">
                        <a:buNone/>
                      </a:pPr>
                      <a:r>
                        <a:rPr sz="1200"/>
                        <a:t>21</a:t>
                      </a:r>
                    </a:p>
                  </a:txBody>
                  <a:tcPr marL="54864" marR="54864" marT="27432" marB="27432"/>
                </a:tc>
                <a:extLst>
                  <a:ext uri="{0D108BD9-81ED-4DB2-BD59-A6C34878D82A}">
                    <a16:rowId xmlns:a16="http://schemas.microsoft.com/office/drawing/2014/main" val="10004"/>
                  </a:ext>
                </a:extLst>
              </a:tr>
            </a:tbl>
          </a:graphicData>
        </a:graphic>
      </p:graphicFrame>
    </p:spTree>
  </p:cSld>
  <p:clrMapOvr>
    <a:masterClrMapping/>
  </p:clrMapOvr>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BA283C48-1E39-4AF8-96F8-511440A3361C}"/>
              </a:ext>
            </a:extLst>
          </p:cNvPr>
          <p:cNvSpPr>
            <a:spLocks xmlns:a="http://schemas.openxmlformats.org/drawingml/2006/main" noGrp="1"/>
          </p:cNvSpPr>
          <p:nvPr/>
        </p:nvSpPr>
        <p:spPr>
          <a:xfrm xmlns:a="http://schemas.openxmlformats.org/drawingml/2006/main">
            <a:off x="333375" y="2381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a:solidFill>
                  <a:srgbClr val="222222"/>
                </a:solidFill>
              </a:defRPr>
            </a:defPPr>
          </a:lstStyle>
          <a:p xmlns:a="http://schemas.openxmlformats.org/drawingml/2006/main">
            <a:pPr>
              <a:defRPr sz="2250">
                <a:solidFill>
                  <a:srgbClr val="222222"/>
                </a:solidFill>
              </a:defRPr>
            </a:pPr>
            <a:r>
              <a:rPr sz="2250">
                <a:solidFill>
                  <a:srgbClr val="222222"/>
                </a:solidFill>
              </a:rPr>
              <a:t>Data Source: Study-Created Synthetic Dataset</a:t>
            </a:r>
          </a:p>
        </p:txBody>
      </p:sp>
      <p:graphicFrame>
        <p:nvGraphicFramePr>
          <p:cNvPr id="2" name="">
            <a:extLst xmlns:a="http://schemas.openxmlformats.org/drawingml/2006/main">
              <a:ext uri="{FF2B5EF4-FFF2-40B4-BE49-F238E27FC236}">
                <a16:creationId xmlns:a16="http://schemas.microsoft.com/office/drawing/2014/main" id="{8C6FB926-AE12-4BAB-84FD-EA095E7B639A}"/>
              </a:ext>
            </a:extLst>
          </p:cNvPr>
          <p:cNvGraphicFramePr/>
          <p:nvPr/>
        </p:nvGraphicFramePr>
        <p:xfrm>
          <a:off xmlns:a="http://schemas.openxmlformats.org/drawingml/2006/main" x="333375" y="1000125"/>
          <a:ext xmlns:a="http://schemas.openxmlformats.org/drawingml/2006/main" cx="8477250" cy="3905250"/>
        </p:xfrm>
        <a:graphic xmlns:a="http://schemas.openxmlformats.org/drawingml/2006/main">
          <a:graphicData uri="http://schemas.openxmlformats.org/drawingml/2006/table">
            <a:tbl>
              <a:tblPr/>
              <a:tblGrid>
                <a:gridCol w="1905000"/>
                <a:gridCol w="6572250"/>
              </a:tblGrid>
              <a:tr h="650875">
                <a:tc>
                  <a:txBody>
                    <a:bodyPr/>
                    <a:lstStyle/>
                    <a:p>
                      <a:r>
                        <a:rPr sz="1350" b="1">
                          <a:solidFill>
                            <a:srgbClr val="FFFFFF"/>
                          </a:solidFill>
                        </a:rPr>
                        <a:t>Element</a:t>
                      </a:r>
                    </a:p>
                  </a:txBody>
                  <a:tcPr marL="91440" marR="91440" marT="45720" marB="45720">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4F81BD"/>
                    </a:solidFill>
                  </a:tcPr>
                </a:tc>
                <a:tc>
                  <a:txBody>
                    <a:bodyPr/>
                    <a:lstStyle/>
                    <a:p>
                      <a:r>
                        <a:rPr sz="1350" b="1">
                          <a:solidFill>
                            <a:srgbClr val="FFFFFF"/>
                          </a:solidFill>
                        </a:rPr>
                        <a:t>Planned collection</a:t>
                      </a:r>
                    </a:p>
                  </a:txBody>
                  <a:tcPr marL="91440" marR="91440" marT="45720" marB="45720">
                    <a:lnR w="9525">
                      <a:solidFill>
                        <a:srgbClr val="FFFFFF"/>
                      </a:solidFill>
                      <a:prstDash val="solid"/>
                    </a:lnR>
                    <a:lnT w="9525">
                      <a:solidFill>
                        <a:srgbClr val="FFFFFF"/>
                      </a:solidFill>
                      <a:prstDash val="solid"/>
                    </a:lnT>
                    <a:lnB w="9525">
                      <a:solidFill>
                        <a:srgbClr val="FFFFFF"/>
                      </a:solidFill>
                      <a:prstDash val="solid"/>
                    </a:lnB>
                    <a:solidFill>
                      <a:srgbClr val="4F81BD"/>
                    </a:solidFill>
                  </a:tcPr>
                </a:tc>
              </a:tr>
              <a:tr h="650875">
                <a:tc>
                  <a:txBody>
                    <a:bodyPr/>
                    <a:lstStyle/>
                    <a:p>
                      <a:r>
                        <a:rPr sz="1350" b="0">
                          <a:solidFill>
                            <a:srgbClr val="222222"/>
                          </a:solidFill>
                        </a:rPr>
                        <a:t>Dataset meaning</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D0D8E8"/>
                    </a:solidFill>
                  </a:tcPr>
                </a:tc>
                <a:tc>
                  <a:txBody>
                    <a:bodyPr/>
                    <a:lstStyle/>
                    <a:p>
                      <a:r>
                        <a:rPr sz="1350" b="0">
                          <a:solidFill>
                            <a:srgbClr val="222222"/>
                          </a:solidFill>
                        </a:rPr>
                        <a:t>Constructed AWS scenarios generate real, measured telemetry from human and AI actions. Numeric test fixtures remain separate from collected evidence.</a:t>
                      </a:r>
                    </a:p>
                  </a:txBody>
                  <a:tcPr marL="91440" marR="91440" marT="45720" marB="45720">
                    <a:lnR w="9525">
                      <a:solidFill>
                        <a:srgbClr val="FFFFFF"/>
                      </a:solidFill>
                      <a:prstDash val="solid"/>
                    </a:lnR>
                    <a:lnB w="9525">
                      <a:solidFill>
                        <a:srgbClr val="FFFFFF"/>
                      </a:solidFill>
                      <a:prstDash val="solid"/>
                    </a:lnB>
                    <a:solidFill>
                      <a:srgbClr val="D0D8E8"/>
                    </a:solidFill>
                  </a:tcPr>
                </a:tc>
              </a:tr>
              <a:tr h="650875">
                <a:tc>
                  <a:txBody>
                    <a:bodyPr/>
                    <a:lstStyle/>
                    <a:p>
                      <a:r>
                        <a:rPr sz="1350" b="0">
                          <a:solidFill>
                            <a:srgbClr val="222222"/>
                          </a:solidFill>
                        </a:rPr>
                        <a:t>Human red team</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E9EDF4"/>
                    </a:solidFill>
                  </a:tcPr>
                </a:tc>
                <a:tc>
                  <a:txBody>
                    <a:bodyPr/>
                    <a:lstStyle/>
                    <a:p>
                      <a:r>
                        <a:rPr sz="1350" b="0">
                          <a:solidFill>
                            <a:srgbClr val="222222"/>
                          </a:solidFill>
                        </a:rPr>
                        <a:t>Human participants pursue the assigned APT-like objective from an external execution host under a fixed time and tool budget.</a:t>
                      </a:r>
                    </a:p>
                  </a:txBody>
                  <a:tcPr marL="91440" marR="91440" marT="45720" marB="45720">
                    <a:lnR w="9525">
                      <a:solidFill>
                        <a:srgbClr val="FFFFFF"/>
                      </a:solidFill>
                      <a:prstDash val="solid"/>
                    </a:lnR>
                    <a:lnB w="9525">
                      <a:solidFill>
                        <a:srgbClr val="FFFFFF"/>
                      </a:solidFill>
                      <a:prstDash val="solid"/>
                    </a:lnB>
                    <a:solidFill>
                      <a:srgbClr val="E9EDF4"/>
                    </a:solidFill>
                  </a:tcPr>
                </a:tc>
              </a:tr>
              <a:tr h="650875">
                <a:tc>
                  <a:txBody>
                    <a:bodyPr/>
                    <a:lstStyle/>
                    <a:p>
                      <a:r>
                        <a:rPr sz="1350" b="0">
                          <a:solidFill>
                            <a:srgbClr val="222222"/>
                          </a:solidFill>
                        </a:rPr>
                        <a:t>Autonomous AI</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D0D8E8"/>
                    </a:solidFill>
                  </a:tcPr>
                </a:tc>
                <a:tc>
                  <a:txBody>
                    <a:bodyPr/>
                    <a:lstStyle/>
                    <a:p>
                      <a:r>
                        <a:rPr sz="1350" b="0">
                          <a:solidFill>
                            <a:srgbClr val="222222"/>
                          </a:solidFill>
                        </a:rPr>
                        <a:t>An external NVIDIA DGX Spark runs the supplied abliterated model variants through an agent scaffold. Record prompts, tools, skills and interventions.</a:t>
                      </a:r>
                    </a:p>
                  </a:txBody>
                  <a:tcPr marL="91440" marR="91440" marT="45720" marB="45720">
                    <a:lnR w="9525">
                      <a:solidFill>
                        <a:srgbClr val="FFFFFF"/>
                      </a:solidFill>
                      <a:prstDash val="solid"/>
                    </a:lnR>
                    <a:lnB w="9525">
                      <a:solidFill>
                        <a:srgbClr val="FFFFFF"/>
                      </a:solidFill>
                      <a:prstDash val="solid"/>
                    </a:lnB>
                    <a:solidFill>
                      <a:srgbClr val="D0D8E8"/>
                    </a:solidFill>
                  </a:tcPr>
                </a:tc>
              </a:tr>
              <a:tr h="650875">
                <a:tc>
                  <a:txBody>
                    <a:bodyPr/>
                    <a:lstStyle/>
                    <a:p>
                      <a:r>
                        <a:rPr sz="1350" b="0">
                          <a:solidFill>
                            <a:srgbClr val="222222"/>
                          </a:solidFill>
                        </a:rPr>
                        <a:t>Matched scenario</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E9EDF4"/>
                    </a:solidFill>
                  </a:tcPr>
                </a:tc>
                <a:tc>
                  <a:txBody>
                    <a:bodyPr/>
                    <a:lstStyle/>
                    <a:p>
                      <a:r>
                        <a:rPr sz="1350" b="0">
                          <a:solidFill>
                            <a:srgbClr val="222222"/>
                          </a:solidFill>
                        </a:rPr>
                        <a:t>Authorized discovery, controlled movement between lab systems and verification of a decoy artifact. Both arms receive equivalent objectives, access and time.</a:t>
                      </a:r>
                    </a:p>
                  </a:txBody>
                  <a:tcPr marL="91440" marR="91440" marT="45720" marB="45720">
                    <a:lnR w="9525">
                      <a:solidFill>
                        <a:srgbClr val="FFFFFF"/>
                      </a:solidFill>
                      <a:prstDash val="solid"/>
                    </a:lnR>
                    <a:lnB w="9525">
                      <a:solidFill>
                        <a:srgbClr val="FFFFFF"/>
                      </a:solidFill>
                      <a:prstDash val="solid"/>
                    </a:lnB>
                    <a:solidFill>
                      <a:srgbClr val="E9EDF4"/>
                    </a:solidFill>
                  </a:tcPr>
                </a:tc>
              </a:tr>
              <a:tr h="650875">
                <a:tc>
                  <a:txBody>
                    <a:bodyPr/>
                    <a:lstStyle/>
                    <a:p>
                      <a:r>
                        <a:rPr sz="1350" b="0">
                          <a:solidFill>
                            <a:srgbClr val="222222"/>
                          </a:solidFill>
                        </a:rPr>
                        <a:t>Collection window</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D0D8E8"/>
                    </a:solidFill>
                  </a:tcPr>
                </a:tc>
                <a:tc>
                  <a:txBody>
                    <a:bodyPr/>
                    <a:lstStyle/>
                    <a:p>
                      <a:r>
                        <a:rPr sz="1350" b="0">
                          <a:solidFill>
                            <a:srgbClr val="222222"/>
                          </a:solidFill>
                        </a:rPr>
                        <a:t>Five days, with balanced arms and tasks and a verified reset before each trial. Pilot evidence determines the final number of independent trials.</a:t>
                      </a:r>
                    </a:p>
                  </a:txBody>
                  <a:tcPr marL="91440" marR="91440" marT="45720" marB="45720">
                    <a:lnR w="9525">
                      <a:solidFill>
                        <a:srgbClr val="FFFFFF"/>
                      </a:solidFill>
                      <a:prstDash val="solid"/>
                    </a:lnR>
                    <a:lnB w="9525">
                      <a:solidFill>
                        <a:srgbClr val="FFFFFF"/>
                      </a:solidFill>
                      <a:prstDash val="solid"/>
                    </a:lnB>
                    <a:solidFill>
                      <a:srgbClr val="D0D8E8"/>
                    </a:solidFill>
                  </a:tcPr>
                </a:tc>
              </a:tr>
            </a:tbl>
          </a:graphicData>
        </a:graphic>
      </p:graphicFrame>
      <p:sp>
        <p:nvSpPr>
          <p:cNvPr id="3" name="">
            <a:extLst xmlns:a="http://schemas.openxmlformats.org/drawingml/2006/main">
              <a:ext uri="{FF2B5EF4-FFF2-40B4-BE49-F238E27FC236}">
                <a16:creationId xmlns:a16="http://schemas.microsoft.com/office/drawing/2014/main" id="{0A4E7437-3EA0-4481-8CEB-8619FCEFFF44}"/>
              </a:ext>
            </a:extLst>
          </p:cNvPr>
          <p:cNvSpPr>
            <a:spLocks xmlns:a="http://schemas.openxmlformats.org/drawingml/2006/main" noGrp="1"/>
          </p:cNvSpPr>
          <p:nvPr/>
        </p:nvSpPr>
        <p:spPr>
          <a:xfrm xmlns:a="http://schemas.openxmlformats.org/drawingml/2006/main">
            <a:off x="333375" y="5048250"/>
            <a:ext cx="8477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a:solidFill>
                  <a:srgbClr val="222222"/>
                </a:solidFill>
              </a:defRPr>
            </a:defPPr>
          </a:lstStyle>
          <a:p xmlns:a="http://schemas.openxmlformats.org/drawingml/2006/main">
            <a:pPr>
              <a:defRPr sz="1275">
                <a:solidFill>
                  <a:srgbClr val="222222"/>
                </a:solidFill>
              </a:defRPr>
            </a:pPr>
            <a:r>
              <a:rPr sz="1275">
                <a:solidFill>
                  <a:srgbClr val="222222"/>
                </a:solidFill>
              </a:rPr>
              <a:t>Formal collection is planned. APT-like laboratory behavior does not establish attribution to a real campaign.</a:t>
            </a:r>
          </a:p>
        </p:txBody>
      </p:sp>
    </p:spTree>
    <p:extLst>
      <p:ext uri="{BB962C8B-B14F-4D97-AF65-F5344CB8AC3E}">
        <p14:creationId xmlns:p14="http://schemas.microsoft.com/office/powerpoint/2010/main" val="179395511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95CE706B-05A3-4AB2-8295-876E2E951BE6}"/>
              </a:ext>
            </a:extLst>
          </p:cNvPr>
          <p:cNvSpPr>
            <a:spLocks xmlns:a="http://schemas.openxmlformats.org/drawingml/2006/main" noGrp="1"/>
          </p:cNvSpPr>
          <p:nvPr/>
        </p:nvSpPr>
        <p:spPr>
          <a:xfrm xmlns:a="http://schemas.openxmlformats.org/drawingml/2006/main">
            <a:off x="333375" y="2381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a:solidFill>
                  <a:srgbClr val="222222"/>
                </a:solidFill>
              </a:defRPr>
            </a:defPPr>
          </a:lstStyle>
          <a:p xmlns:a="http://schemas.openxmlformats.org/drawingml/2006/main">
            <a:pPr>
              <a:defRPr sz="2250">
                <a:solidFill>
                  <a:srgbClr val="222222"/>
                </a:solidFill>
              </a:defRPr>
            </a:pPr>
            <a:r>
              <a:rPr sz="2250">
                <a:solidFill>
                  <a:srgbClr val="222222"/>
                </a:solidFill>
              </a:rPr>
              <a:t>Data Source: Logs and Ground Truth</a:t>
            </a:r>
          </a:p>
        </p:txBody>
      </p:sp>
      <p:graphicFrame>
        <p:nvGraphicFramePr>
          <p:cNvPr id="2" name="">
            <a:extLst xmlns:a="http://schemas.openxmlformats.org/drawingml/2006/main">
              <a:ext uri="{FF2B5EF4-FFF2-40B4-BE49-F238E27FC236}">
                <a16:creationId xmlns:a16="http://schemas.microsoft.com/office/drawing/2014/main" id="{D7A8280B-EEED-45F6-B7B2-24D746E33231}"/>
              </a:ext>
            </a:extLst>
          </p:cNvPr>
          <p:cNvGraphicFramePr/>
          <p:nvPr/>
        </p:nvGraphicFramePr>
        <p:xfrm>
          <a:off xmlns:a="http://schemas.openxmlformats.org/drawingml/2006/main" x="333375" y="1000125"/>
          <a:ext xmlns:a="http://schemas.openxmlformats.org/drawingml/2006/main" cx="8477250" cy="4000500"/>
        </p:xfrm>
        <a:graphic xmlns:a="http://schemas.openxmlformats.org/drawingml/2006/main">
          <a:graphicData uri="http://schemas.openxmlformats.org/drawingml/2006/table">
            <a:tbl>
              <a:tblPr/>
              <a:tblGrid>
                <a:gridCol w="1905000"/>
                <a:gridCol w="6572250"/>
              </a:tblGrid>
              <a:tr h="666750">
                <a:tc>
                  <a:txBody>
                    <a:bodyPr/>
                    <a:lstStyle/>
                    <a:p>
                      <a:r>
                        <a:rPr sz="1350" b="1">
                          <a:solidFill>
                            <a:srgbClr val="FFFFFF"/>
                          </a:solidFill>
                        </a:rPr>
                        <a:t>Evidence</a:t>
                      </a:r>
                    </a:p>
                  </a:txBody>
                  <a:tcPr marL="91440" marR="91440" marT="45720" marB="45720">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4F81BD"/>
                    </a:solidFill>
                  </a:tcPr>
                </a:tc>
                <a:tc>
                  <a:txBody>
                    <a:bodyPr/>
                    <a:lstStyle/>
                    <a:p>
                      <a:r>
                        <a:rPr sz="1350" b="1">
                          <a:solidFill>
                            <a:srgbClr val="FFFFFF"/>
                          </a:solidFill>
                        </a:rPr>
                        <a:t>Planned records and analytical role</a:t>
                      </a:r>
                    </a:p>
                  </a:txBody>
                  <a:tcPr marL="91440" marR="91440" marT="45720" marB="45720">
                    <a:lnR w="9525">
                      <a:solidFill>
                        <a:srgbClr val="FFFFFF"/>
                      </a:solidFill>
                      <a:prstDash val="solid"/>
                    </a:lnR>
                    <a:lnT w="9525">
                      <a:solidFill>
                        <a:srgbClr val="FFFFFF"/>
                      </a:solidFill>
                      <a:prstDash val="solid"/>
                    </a:lnT>
                    <a:lnB w="9525">
                      <a:solidFill>
                        <a:srgbClr val="FFFFFF"/>
                      </a:solidFill>
                      <a:prstDash val="solid"/>
                    </a:lnB>
                    <a:solidFill>
                      <a:srgbClr val="4F81BD"/>
                    </a:solidFill>
                  </a:tcPr>
                </a:tc>
              </a:tr>
              <a:tr h="666750">
                <a:tc>
                  <a:txBody>
                    <a:bodyPr/>
                    <a:lstStyle/>
                    <a:p>
                      <a:r>
                        <a:rPr sz="1350" b="0">
                          <a:solidFill>
                            <a:srgbClr val="222222"/>
                          </a:solidFill>
                        </a:rPr>
                        <a:t>Host and process</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D0D8E8"/>
                    </a:solidFill>
                  </a:tcPr>
                </a:tc>
                <a:tc>
                  <a:txBody>
                    <a:bodyPr/>
                    <a:lstStyle/>
                    <a:p>
                      <a:r>
                        <a:rPr sz="1350" b="0">
                          <a:solidFill>
                            <a:srgbClr val="222222"/>
                          </a:solidFill>
                        </a:rPr>
                        <a:t>Windows Security events 4688, 4624 and 4648, PowerShell 4104 and Sysmon process/network events. Capture commands, process trees and execution times.</a:t>
                      </a:r>
                    </a:p>
                  </a:txBody>
                  <a:tcPr marL="91440" marR="91440" marT="45720" marB="45720">
                    <a:lnR w="9525">
                      <a:solidFill>
                        <a:srgbClr val="FFFFFF"/>
                      </a:solidFill>
                      <a:prstDash val="solid"/>
                    </a:lnR>
                    <a:lnB w="9525">
                      <a:solidFill>
                        <a:srgbClr val="FFFFFF"/>
                      </a:solidFill>
                      <a:prstDash val="solid"/>
                    </a:lnB>
                    <a:solidFill>
                      <a:srgbClr val="D0D8E8"/>
                    </a:solidFill>
                  </a:tcPr>
                </a:tc>
              </a:tr>
              <a:tr h="666750">
                <a:tc>
                  <a:txBody>
                    <a:bodyPr/>
                    <a:lstStyle/>
                    <a:p>
                      <a:r>
                        <a:rPr sz="1350" b="0">
                          <a:solidFill>
                            <a:srgbClr val="222222"/>
                          </a:solidFill>
                        </a:rPr>
                        <a:t>Identity and services</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E9EDF4"/>
                    </a:solidFill>
                  </a:tcPr>
                </a:tc>
                <a:tc>
                  <a:txBody>
                    <a:bodyPr/>
                    <a:lstStyle/>
                    <a:p>
                      <a:r>
                        <a:rPr sz="1350" b="0">
                          <a:solidFill>
                            <a:srgbClr val="222222"/>
                          </a:solidFill>
                        </a:rPr>
                        <a:t>Kerberos 4768/4769, share access 5145 and DNS records where the configured AD/SMB services exist. Log Linux audit/authentication if Linux targets are included.</a:t>
                      </a:r>
                    </a:p>
                  </a:txBody>
                  <a:tcPr marL="91440" marR="91440" marT="45720" marB="45720">
                    <a:lnR w="9525">
                      <a:solidFill>
                        <a:srgbClr val="FFFFFF"/>
                      </a:solidFill>
                      <a:prstDash val="solid"/>
                    </a:lnR>
                    <a:lnB w="9525">
                      <a:solidFill>
                        <a:srgbClr val="FFFFFF"/>
                      </a:solidFill>
                      <a:prstDash val="solid"/>
                    </a:lnB>
                    <a:solidFill>
                      <a:srgbClr val="E9EDF4"/>
                    </a:solidFill>
                  </a:tcPr>
                </a:tc>
              </a:tr>
              <a:tr h="666750">
                <a:tc>
                  <a:txBody>
                    <a:bodyPr/>
                    <a:lstStyle/>
                    <a:p>
                      <a:r>
                        <a:rPr sz="1350" b="0">
                          <a:solidFill>
                            <a:srgbClr val="222222"/>
                          </a:solidFill>
                        </a:rPr>
                        <a:t>Network</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D0D8E8"/>
                    </a:solidFill>
                  </a:tcPr>
                </a:tc>
                <a:tc>
                  <a:txBody>
                    <a:bodyPr/>
                    <a:lstStyle/>
                    <a:p>
                      <a:r>
                        <a:rPr sz="1350" b="0">
                          <a:solidFill>
                            <a:srgbClr val="222222"/>
                          </a:solidFill>
                        </a:rPr>
                        <a:t>Zeek connections, DNS and relevant protocol logs, Suricata EVE JSON and bounded PCAP where enabled. VPC Flow Logs support coverage checks.</a:t>
                      </a:r>
                    </a:p>
                  </a:txBody>
                  <a:tcPr marL="91440" marR="91440" marT="45720" marB="45720">
                    <a:lnR w="9525">
                      <a:solidFill>
                        <a:srgbClr val="FFFFFF"/>
                      </a:solidFill>
                      <a:prstDash val="solid"/>
                    </a:lnR>
                    <a:lnB w="9525">
                      <a:solidFill>
                        <a:srgbClr val="FFFFFF"/>
                      </a:solidFill>
                      <a:prstDash val="solid"/>
                    </a:lnB>
                    <a:solidFill>
                      <a:srgbClr val="D0D8E8"/>
                    </a:solidFill>
                  </a:tcPr>
                </a:tc>
              </a:tr>
              <a:tr h="666750">
                <a:tc>
                  <a:txBody>
                    <a:bodyPr/>
                    <a:lstStyle/>
                    <a:p>
                      <a:r>
                        <a:rPr sz="1350" b="0">
                          <a:solidFill>
                            <a:srgbClr val="222222"/>
                          </a:solidFill>
                        </a:rPr>
                        <a:t>Independent truth</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E9EDF4"/>
                    </a:solidFill>
                  </a:tcPr>
                </a:tc>
                <a:tc>
                  <a:txBody>
                    <a:bodyPr/>
                    <a:lstStyle/>
                    <a:p>
                      <a:r>
                        <a:rPr sz="1350" b="0">
                          <a:solidFill>
                            <a:srgbClr val="222222"/>
                          </a:solidFill>
                        </a:rPr>
                        <a:t>Trial manifest, human terminal records and AI prompt/action/tool traces establish operator, objective, outcome and interventions. Exclude these from predictors.</a:t>
                      </a:r>
                    </a:p>
                  </a:txBody>
                  <a:tcPr marL="91440" marR="91440" marT="45720" marB="45720">
                    <a:lnR w="9525">
                      <a:solidFill>
                        <a:srgbClr val="FFFFFF"/>
                      </a:solidFill>
                      <a:prstDash val="solid"/>
                    </a:lnR>
                    <a:lnB w="9525">
                      <a:solidFill>
                        <a:srgbClr val="FFFFFF"/>
                      </a:solidFill>
                      <a:prstDash val="solid"/>
                    </a:lnB>
                    <a:solidFill>
                      <a:srgbClr val="E9EDF4"/>
                    </a:solidFill>
                  </a:tcPr>
                </a:tc>
              </a:tr>
              <a:tr h="666750">
                <a:tc>
                  <a:txBody>
                    <a:bodyPr/>
                    <a:lstStyle/>
                    <a:p>
                      <a:r>
                        <a:rPr sz="1350" b="0">
                          <a:solidFill>
                            <a:srgbClr val="222222"/>
                          </a:solidFill>
                        </a:rPr>
                        <a:t>Preservation</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D0D8E8"/>
                    </a:solidFill>
                  </a:tcPr>
                </a:tc>
                <a:tc>
                  <a:txBody>
                    <a:bodyPr/>
                    <a:lstStyle/>
                    <a:p>
                      <a:r>
                        <a:rPr sz="1350" b="0">
                          <a:solidFill>
                            <a:srgbClr val="222222"/>
                          </a:solidFill>
                        </a:rPr>
                        <a:t>Retain native EVTX, JSON, Zeek and PCAP with UTC timestamps, sensor versions and SHA-256 hashes. Audit missing events, clock skew and duplicates.</a:t>
                      </a:r>
                    </a:p>
                  </a:txBody>
                  <a:tcPr marL="91440" marR="91440" marT="45720" marB="45720">
                    <a:lnR w="9525">
                      <a:solidFill>
                        <a:srgbClr val="FFFFFF"/>
                      </a:solidFill>
                      <a:prstDash val="solid"/>
                    </a:lnR>
                    <a:lnB w="9525">
                      <a:solidFill>
                        <a:srgbClr val="FFFFFF"/>
                      </a:solidFill>
                      <a:prstDash val="solid"/>
                    </a:lnB>
                    <a:solidFill>
                      <a:srgbClr val="D0D8E8"/>
                    </a:solidFill>
                  </a:tcPr>
                </a:tc>
              </a:tr>
            </a:tbl>
          </a:graphicData>
        </a:graphic>
      </p:graphicFrame>
      <p:sp>
        <p:nvSpPr>
          <p:cNvPr id="3" name="">
            <a:extLst xmlns:a="http://schemas.openxmlformats.org/drawingml/2006/main">
              <a:ext uri="{FF2B5EF4-FFF2-40B4-BE49-F238E27FC236}">
                <a16:creationId xmlns:a16="http://schemas.microsoft.com/office/drawing/2014/main" id="{6D057060-F8B8-47FF-8B66-6187249E2D99}"/>
              </a:ext>
            </a:extLst>
          </p:cNvPr>
          <p:cNvSpPr>
            <a:spLocks xmlns:a="http://schemas.openxmlformats.org/drawingml/2006/main" noGrp="1"/>
          </p:cNvSpPr>
          <p:nvPr/>
        </p:nvSpPr>
        <p:spPr>
          <a:xfrm xmlns:a="http://schemas.openxmlformats.org/drawingml/2006/main">
            <a:off x="333375" y="5095875"/>
            <a:ext cx="847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a:solidFill>
                  <a:srgbClr val="222222"/>
                </a:solidFill>
              </a:defRPr>
            </a:defPPr>
          </a:lstStyle>
          <a:p xmlns:a="http://schemas.openxmlformats.org/drawingml/2006/main">
            <a:pPr>
              <a:defRPr sz="1275">
                <a:solidFill>
                  <a:srgbClr val="222222"/>
                </a:solidFill>
              </a:defRPr>
            </a:pPr>
            <a:r>
              <a:rPr sz="1275">
                <a:solidFill>
                  <a:srgbClr val="222222"/>
                </a:solidFill>
              </a:rPr>
              <a:t>Target-side host/network features drive classification. VPC flow summaries cannot substitute for fine-grained command timing.</a:t>
            </a:r>
          </a:p>
        </p:txBody>
      </p:sp>
    </p:spTree>
    <p:extLst>
      <p:ext uri="{BB962C8B-B14F-4D97-AF65-F5344CB8AC3E}">
        <p14:creationId xmlns:p14="http://schemas.microsoft.com/office/powerpoint/2010/main" val="1246072423"/>
      </p:ext>
    </p:extLst>
  </p:cSld>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p:cNvSpPr>
            <a:spLocks noGrp="1"/>
          </p:cNvSpPr>
          <p:nvPr>
            <p:ph type="title"/>
          </p:nvPr>
        </p:nvSpPr>
        <p:spPr>
          <a:xfrm>
            <a:off x="320040" y="73152"/>
            <a:ext cx="8595360" cy="640080"/>
          </a:xfrm>
        </p:spPr>
        <p:txBody>
          <a:bodyPr wrap="square"/>
          <a:lstStyle/>
          <a:p>
            <a:r>
              <a:rPr sz="2800" b="1">
                <a:solidFill>
                  <a:srgbClr val="B22600"/>
                </a:solidFill>
              </a:rPr>
              <a:t>Trial Registry Labels (Ground Truth)</a:t>
            </a:r>
          </a:p>
        </p:txBody>
      </p:sp>
      <p:graphicFrame>
        <p:nvGraphicFramePr>
          <p:cNvPr id="4" name="Table 3"/>
          <p:cNvGraphicFramePr>
            <a:graphicFrameLocks noGrp="1"/>
          </p:cNvGraphicFramePr>
          <p:nvPr/>
        </p:nvGraphicFramePr>
        <p:xfrm>
          <a:off x="164592" y="822960"/>
          <a:ext cx="8814816" cy="2889492"/>
        </p:xfrm>
        <a:graphic>
          <a:graphicData uri="http://schemas.openxmlformats.org/drawingml/2006/table">
            <a:tbl>
              <a:tblPr firstRow="1" bandRow="1">
                <a:tableStyleId>{5C22544A-7EE6-4342-B048-85BDC9FD1C3A}</a:tableStyleId>
              </a:tblPr>
              <a:tblGrid>
                <a:gridCol w="1928241">
                  <a:extLst>
                    <a:ext uri="{9D8B030D-6E8A-4147-A177-3AD203B41FA5}">
                      <a16:colId xmlns:a16="http://schemas.microsoft.com/office/drawing/2014/main" val="20000"/>
                    </a:ext>
                  </a:extLst>
                </a:gridCol>
                <a:gridCol w="4223766">
                  <a:extLst>
                    <a:ext uri="{9D8B030D-6E8A-4147-A177-3AD203B41FA5}">
                      <a16:colId xmlns:a16="http://schemas.microsoft.com/office/drawing/2014/main" val="20001"/>
                    </a:ext>
                  </a:extLst>
                </a:gridCol>
                <a:gridCol w="2662809">
                  <a:extLst>
                    <a:ext uri="{9D8B030D-6E8A-4147-A177-3AD203B41FA5}">
                      <a16:colId xmlns:a16="http://schemas.microsoft.com/office/drawing/2014/main" val="20002"/>
                    </a:ext>
                  </a:extLst>
                </a:gridCol>
              </a:tblGrid>
              <a:tr h="240791">
                <a:tc>
                  <a:txBody>
                    <a:bodyPr/>
                    <a:lstStyle/>
                    <a:p>
                      <a:r>
                        <a:rPr sz="1100" b="1"/>
                        <a:t>Field</a:t>
                      </a:r>
                    </a:p>
                  </a:txBody>
                  <a:tcPr marL="54864" marR="54864" marT="27432" marB="27432" anchor="ctr"/>
                </a:tc>
                <a:tc>
                  <a:txBody>
                    <a:bodyPr/>
                    <a:lstStyle/>
                    <a:p>
                      <a:pPr algn="ctr">
                        <a:buNone/>
                      </a:pPr>
                      <a:r>
                        <a:rPr sz="1100" b="1"/>
                        <a:t>Values</a:t>
                      </a:r>
                    </a:p>
                  </a:txBody>
                  <a:tcPr marL="54864" marR="54864" marT="27432" marB="27432" anchor="ctr"/>
                </a:tc>
                <a:tc>
                  <a:txBody>
                    <a:bodyPr/>
                    <a:lstStyle/>
                    <a:p>
                      <a:pPr algn="ctr">
                        <a:buNone/>
                      </a:pPr>
                      <a:r>
                        <a:rPr sz="1100" b="1"/>
                        <a:t>Role in analysis</a:t>
                      </a:r>
                    </a:p>
                  </a:txBody>
                  <a:tcPr marL="54864" marR="54864" marT="27432" marB="27432" anchor="ctr"/>
                </a:tc>
                <a:extLst>
                  <a:ext uri="{0D108BD9-81ED-4DB2-BD59-A6C34878D82A}">
                    <a16:rowId xmlns:a16="http://schemas.microsoft.com/office/drawing/2014/main" val="10000"/>
                  </a:ext>
                </a:extLst>
              </a:tr>
              <a:tr h="240791">
                <a:tc>
                  <a:txBody>
                    <a:bodyPr/>
                    <a:lstStyle/>
                    <a:p>
                      <a:r>
                        <a:rPr sz="1100" b="1"/>
                        <a:t>run_id</a:t>
                      </a:r>
                    </a:p>
                  </a:txBody>
                  <a:tcPr marL="54864" marR="54864" marT="27432" marB="27432"/>
                </a:tc>
                <a:tc>
                  <a:txBody>
                    <a:bodyPr/>
                    <a:lstStyle/>
                    <a:p>
                      <a:r>
                        <a:rPr sz="1100"/>
                        <a:t>Unique trial identifier issued at reset</a:t>
                      </a:r>
                    </a:p>
                  </a:txBody>
                  <a:tcPr marL="54864" marR="54864" marT="27432" marB="27432"/>
                </a:tc>
                <a:tc>
                  <a:txBody>
                    <a:bodyPr/>
                    <a:lstStyle/>
                    <a:p>
                      <a:r>
                        <a:rPr sz="1100"/>
                        <a:t>Join key; opaque to the model</a:t>
                      </a:r>
                    </a:p>
                  </a:txBody>
                  <a:tcPr marL="54864" marR="54864" marT="27432" marB="27432"/>
                </a:tc>
                <a:extLst>
                  <a:ext uri="{0D108BD9-81ED-4DB2-BD59-A6C34878D82A}">
                    <a16:rowId xmlns:a16="http://schemas.microsoft.com/office/drawing/2014/main" val="10001"/>
                  </a:ext>
                </a:extLst>
              </a:tr>
              <a:tr h="240791">
                <a:tc>
                  <a:txBody>
                    <a:bodyPr/>
                    <a:lstStyle/>
                    <a:p>
                      <a:r>
                        <a:rPr sz="1100" b="1"/>
                        <a:t>arm</a:t>
                      </a:r>
                    </a:p>
                  </a:txBody>
                  <a:tcPr marL="54864" marR="54864" marT="27432" marB="27432"/>
                </a:tc>
                <a:tc>
                  <a:txBody>
                    <a:bodyPr/>
                    <a:lstStyle/>
                    <a:p>
                      <a:r>
                        <a:rPr sz="1100"/>
                        <a:t>human | autonomous_ai | scripted_replay (control) | benign_baseline</a:t>
                      </a:r>
                    </a:p>
                  </a:txBody>
                  <a:tcPr marL="54864" marR="54864" marT="27432" marB="27432"/>
                </a:tc>
                <a:tc>
                  <a:txBody>
                    <a:bodyPr/>
                    <a:lstStyle/>
                    <a:p>
                      <a:r>
                        <a:rPr sz="1100"/>
                        <a:t>Class label (ground truth)</a:t>
                      </a:r>
                    </a:p>
                  </a:txBody>
                  <a:tcPr marL="54864" marR="54864" marT="27432" marB="27432"/>
                </a:tc>
                <a:extLst>
                  <a:ext uri="{0D108BD9-81ED-4DB2-BD59-A6C34878D82A}">
                    <a16:rowId xmlns:a16="http://schemas.microsoft.com/office/drawing/2014/main" val="10002"/>
                  </a:ext>
                </a:extLst>
              </a:tr>
              <a:tr h="240791">
                <a:tc>
                  <a:txBody>
                    <a:bodyPr/>
                    <a:lstStyle/>
                    <a:p>
                      <a:r>
                        <a:rPr sz="1100" b="1"/>
                        <a:t>operator_id / ai_config_id</a:t>
                      </a:r>
                    </a:p>
                  </a:txBody>
                  <a:tcPr marL="54864" marR="54864" marT="27432" marB="27432"/>
                </a:tc>
                <a:tc>
                  <a:txBody>
                    <a:bodyPr/>
                    <a:lstStyle/>
                    <a:p>
                      <a:r>
                        <a:rPr sz="1100"/>
                        <a:t>Human operator ID, or ARTEMIS version + model digest + prompts + skills + runtime</a:t>
                      </a:r>
                    </a:p>
                  </a:txBody>
                  <a:tcPr marL="54864" marR="54864" marT="27432" marB="27432"/>
                </a:tc>
                <a:tc>
                  <a:txBody>
                    <a:bodyPr/>
                    <a:lstStyle/>
                    <a:p>
                      <a:r>
                        <a:rPr sz="1100"/>
                        <a:t>Grouping for held-out tests</a:t>
                      </a:r>
                    </a:p>
                  </a:txBody>
                  <a:tcPr marL="54864" marR="54864" marT="27432" marB="27432"/>
                </a:tc>
                <a:extLst>
                  <a:ext uri="{0D108BD9-81ED-4DB2-BD59-A6C34878D82A}">
                    <a16:rowId xmlns:a16="http://schemas.microsoft.com/office/drawing/2014/main" val="10003"/>
                  </a:ext>
                </a:extLst>
              </a:tr>
              <a:tr h="240791">
                <a:tc>
                  <a:txBody>
                    <a:bodyPr/>
                    <a:lstStyle/>
                    <a:p>
                      <a:r>
                        <a:rPr sz="1100" b="1"/>
                        <a:t>knowledge_condition</a:t>
                      </a:r>
                    </a:p>
                  </a:txBody>
                  <a:tcPr marL="54864" marR="54864" marT="27432" marB="27432"/>
                </a:tc>
                <a:tc>
                  <a:txBody>
                    <a:bodyPr/>
                    <a:lstStyle/>
                    <a:p>
                      <a:r>
                        <a:rPr sz="1100"/>
                        <a:t>black_box (primary) | white_box | walkthrough</a:t>
                      </a:r>
                    </a:p>
                  </a:txBody>
                  <a:tcPr marL="54864" marR="54864" marT="27432" marB="27432"/>
                </a:tc>
                <a:tc>
                  <a:txBody>
                    <a:bodyPr/>
                    <a:lstStyle/>
                    <a:p>
                      <a:r>
                        <a:rPr sz="1100"/>
                        <a:t>Stratification; reported separately</a:t>
                      </a:r>
                    </a:p>
                  </a:txBody>
                  <a:tcPr marL="54864" marR="54864" marT="27432" marB="27432"/>
                </a:tc>
                <a:extLst>
                  <a:ext uri="{0D108BD9-81ED-4DB2-BD59-A6C34878D82A}">
                    <a16:rowId xmlns:a16="http://schemas.microsoft.com/office/drawing/2014/main" val="10004"/>
                  </a:ext>
                </a:extLst>
              </a:tr>
              <a:tr h="240791">
                <a:tc>
                  <a:txBody>
                    <a:bodyPr/>
                    <a:lstStyle/>
                    <a:p>
                      <a:r>
                        <a:rPr sz="1100" b="1"/>
                        <a:t>scenario_version</a:t>
                      </a:r>
                    </a:p>
                  </a:txBody>
                  <a:tcPr marL="54864" marR="54864" marT="27432" marB="27432"/>
                </a:tc>
                <a:tc>
                  <a:txBody>
                    <a:bodyPr/>
                    <a:lstStyle/>
                    <a:p>
                      <a:r>
                        <a:rPr sz="1100"/>
                        <a:t>Objective, scenario and AWS range revision used</a:t>
                      </a:r>
                    </a:p>
                  </a:txBody>
                  <a:tcPr marL="54864" marR="54864" marT="27432" marB="27432"/>
                </a:tc>
                <a:tc>
                  <a:txBody>
                    <a:bodyPr/>
                    <a:lstStyle/>
                    <a:p>
                      <a:r>
                        <a:rPr sz="1100"/>
                        <a:t>Provenance</a:t>
                      </a:r>
                    </a:p>
                  </a:txBody>
                  <a:tcPr marL="54864" marR="54864" marT="27432" marB="27432"/>
                </a:tc>
                <a:extLst>
                  <a:ext uri="{0D108BD9-81ED-4DB2-BD59-A6C34878D82A}">
                    <a16:rowId xmlns:a16="http://schemas.microsoft.com/office/drawing/2014/main" val="10005"/>
                  </a:ext>
                </a:extLst>
              </a:tr>
              <a:tr h="240791">
                <a:tc>
                  <a:txBody>
                    <a:bodyPr/>
                    <a:lstStyle/>
                    <a:p>
                      <a:r>
                        <a:rPr sz="1100" b="1"/>
                        <a:t>reset_id + attestation</a:t>
                      </a:r>
                    </a:p>
                  </a:txBody>
                  <a:tcPr marL="54864" marR="54864" marT="27432" marB="27432"/>
                </a:tc>
                <a:tc>
                  <a:txBody>
                    <a:bodyPr/>
                    <a:lstStyle/>
                    <a:p>
                      <a:r>
                        <a:rPr sz="1100"/>
                        <a:t>Image IDs and verified clean-reset check</a:t>
                      </a:r>
                    </a:p>
                  </a:txBody>
                  <a:tcPr marL="54864" marR="54864" marT="27432" marB="27432"/>
                </a:tc>
                <a:tc>
                  <a:txBody>
                    <a:bodyPr/>
                    <a:lstStyle/>
                    <a:p>
                      <a:r>
                        <a:rPr sz="1100"/>
                        <a:t>Data quality evidence</a:t>
                      </a:r>
                    </a:p>
                  </a:txBody>
                  <a:tcPr marL="54864" marR="54864" marT="27432" marB="27432"/>
                </a:tc>
                <a:extLst>
                  <a:ext uri="{0D108BD9-81ED-4DB2-BD59-A6C34878D82A}">
                    <a16:rowId xmlns:a16="http://schemas.microsoft.com/office/drawing/2014/main" val="10006"/>
                  </a:ext>
                </a:extLst>
              </a:tr>
              <a:tr h="240791">
                <a:tc>
                  <a:txBody>
                    <a:bodyPr/>
                    <a:lstStyle/>
                    <a:p>
                      <a:r>
                        <a:rPr sz="1100" b="1"/>
                        <a:t>partition</a:t>
                      </a:r>
                    </a:p>
                  </a:txBody>
                  <a:tcPr marL="54864" marR="54864" marT="27432" marB="27432"/>
                </a:tc>
                <a:tc>
                  <a:txBody>
                    <a:bodyPr/>
                    <a:lstStyle/>
                    <a:p>
                      <a:r>
                        <a:rPr sz="1100"/>
                        <a:t>Train / validation / test groups frozen before scored collection</a:t>
                      </a:r>
                    </a:p>
                  </a:txBody>
                  <a:tcPr marL="54864" marR="54864" marT="27432" marB="27432"/>
                </a:tc>
                <a:tc>
                  <a:txBody>
                    <a:bodyPr/>
                    <a:lstStyle/>
                    <a:p>
                      <a:r>
                        <a:rPr sz="1100"/>
                        <a:t>Prevent human/configuration overlap</a:t>
                      </a:r>
                    </a:p>
                  </a:txBody>
                  <a:tcPr marL="54864" marR="54864" marT="27432" marB="27432"/>
                </a:tc>
                <a:extLst>
                  <a:ext uri="{0D108BD9-81ED-4DB2-BD59-A6C34878D82A}">
                    <a16:rowId xmlns:a16="http://schemas.microsoft.com/office/drawing/2014/main" val="10007"/>
                  </a:ext>
                </a:extLst>
              </a:tr>
              <a:tr h="240791">
                <a:tc>
                  <a:txBody>
                    <a:bodyPr/>
                    <a:lstStyle/>
                    <a:p>
                      <a:r>
                        <a:rPr sz="1100" b="1"/>
                        <a:t>utc_start / utc_stop</a:t>
                      </a:r>
                    </a:p>
                  </a:txBody>
                  <a:tcPr marL="54864" marR="54864" marT="27432" marB="27432"/>
                </a:tc>
                <a:tc>
                  <a:txBody>
                    <a:bodyPr/>
                    <a:lstStyle/>
                    <a:p>
                      <a:r>
                        <a:rPr sz="1100"/>
                        <a:t>Access window bounds; clock offset recorded</a:t>
                      </a:r>
                    </a:p>
                  </a:txBody>
                  <a:tcPr marL="54864" marR="54864" marT="27432" marB="27432"/>
                </a:tc>
                <a:tc>
                  <a:txBody>
                    <a:bodyPr/>
                    <a:lstStyle/>
                    <a:p>
                      <a:r>
                        <a:rPr sz="1100"/>
                        <a:t>Trial segmentation</a:t>
                      </a:r>
                    </a:p>
                  </a:txBody>
                  <a:tcPr marL="54864" marR="54864" marT="27432" marB="27432"/>
                </a:tc>
                <a:extLst>
                  <a:ext uri="{0D108BD9-81ED-4DB2-BD59-A6C34878D82A}">
                    <a16:rowId xmlns:a16="http://schemas.microsoft.com/office/drawing/2014/main" val="10008"/>
                  </a:ext>
                </a:extLst>
              </a:tr>
              <a:tr h="240791">
                <a:tc>
                  <a:txBody>
                    <a:bodyPr/>
                    <a:lstStyle/>
                    <a:p>
                      <a:r>
                        <a:rPr sz="1100" b="1"/>
                        <a:t>time_to_objective</a:t>
                      </a:r>
                    </a:p>
                  </a:txBody>
                  <a:tcPr marL="54864" marR="54864" marT="27432" marB="27432"/>
                </a:tc>
                <a:tc>
                  <a:txBody>
                    <a:bodyPr/>
                    <a:lstStyle/>
                    <a:p>
                      <a:r>
                        <a:rPr sz="1100"/>
                        <a:t>Seconds to marker file read; censored at window close</a:t>
                      </a:r>
                    </a:p>
                  </a:txBody>
                  <a:tcPr marL="54864" marR="54864" marT="27432" marB="27432"/>
                </a:tc>
                <a:tc>
                  <a:txBody>
                    <a:bodyPr/>
                    <a:lstStyle/>
                    <a:p>
                      <a:r>
                        <a:rPr sz="1100"/>
                        <a:t>Outcome (reported separately)</a:t>
                      </a:r>
                    </a:p>
                  </a:txBody>
                  <a:tcPr marL="54864" marR="54864" marT="27432" marB="27432"/>
                </a:tc>
                <a:extLst>
                  <a:ext uri="{0D108BD9-81ED-4DB2-BD59-A6C34878D82A}">
                    <a16:rowId xmlns:a16="http://schemas.microsoft.com/office/drawing/2014/main" val="10009"/>
                  </a:ext>
                </a:extLst>
              </a:tr>
              <a:tr h="240791">
                <a:tc>
                  <a:txBody>
                    <a:bodyPr/>
                    <a:lstStyle/>
                    <a:p>
                      <a:r>
                        <a:rPr sz="1100" b="1"/>
                        <a:t>interventions</a:t>
                      </a:r>
                    </a:p>
                  </a:txBody>
                  <a:tcPr marL="54864" marR="54864" marT="27432" marB="27432"/>
                </a:tc>
                <a:tc>
                  <a:txBody>
                    <a:bodyPr/>
                    <a:lstStyle/>
                    <a:p>
                      <a:r>
                        <a:rPr sz="1100"/>
                        <a:t>Safety-supervisor halts or tactical interventions, with rule applied</a:t>
                      </a:r>
                    </a:p>
                  </a:txBody>
                  <a:tcPr marL="54864" marR="54864" marT="27432" marB="27432"/>
                </a:tc>
                <a:tc>
                  <a:txBody>
                    <a:bodyPr/>
                    <a:lstStyle/>
                    <a:p>
                      <a:r>
                        <a:rPr sz="1100"/>
                        <a:t>Exclusion / sensitivity</a:t>
                      </a:r>
                    </a:p>
                  </a:txBody>
                  <a:tcPr marL="54864" marR="54864" marT="27432" marB="27432"/>
                </a:tc>
                <a:extLst>
                  <a:ext uri="{0D108BD9-81ED-4DB2-BD59-A6C34878D82A}">
                    <a16:rowId xmlns:a16="http://schemas.microsoft.com/office/drawing/2014/main" val="10010"/>
                  </a:ext>
                </a:extLst>
              </a:tr>
              <a:tr h="240791">
                <a:tc>
                  <a:txBody>
                    <a:bodyPr/>
                    <a:lstStyle/>
                    <a:p>
                      <a:r>
                        <a:rPr sz="1100" b="1"/>
                        <a:t>outcome / deviation</a:t>
                      </a:r>
                    </a:p>
                  </a:txBody>
                  <a:tcPr marL="54864" marR="54864" marT="27432" marB="27432"/>
                </a:tc>
                <a:tc>
                  <a:txBody>
                    <a:bodyPr/>
                    <a:lstStyle/>
                    <a:p>
                      <a:r>
                        <a:rPr sz="1100"/>
                        <a:t>Success, failure, abort, scope escape, collection loss</a:t>
                      </a:r>
                    </a:p>
                  </a:txBody>
                  <a:tcPr marL="54864" marR="54864" marT="27432" marB="27432"/>
                </a:tc>
                <a:tc>
                  <a:txBody>
                    <a:bodyPr/>
                    <a:lstStyle/>
                    <a:p>
                      <a:r>
                        <a:rPr sz="1100"/>
                        <a:t>Reported for every trial</a:t>
                      </a:r>
                    </a:p>
                  </a:txBody>
                  <a:tcPr marL="54864" marR="54864" marT="27432" marB="27432"/>
                </a:tc>
                <a:extLst>
                  <a:ext uri="{0D108BD9-81ED-4DB2-BD59-A6C34878D82A}">
                    <a16:rowId xmlns:a16="http://schemas.microsoft.com/office/drawing/2014/main" val="10011"/>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74320" y="182880"/>
            <a:ext cx="8595360" cy="731520"/>
          </a:xfrm>
        </p:spPr>
        <p:txBody>
          <a:bodyPr wrap="square"/>
          <a:lstStyle/>
          <a:p>
            <a:pPr algn="ctr"/>
            <a:r>
              <a:rPr sz="3400" b="1">
                <a:solidFill>
                  <a:srgbClr val="8064A2"/>
                </a:solidFill>
              </a:rPr>
              <a:t>Annotated Bibliography (1 of 5)</a:t>
            </a:r>
          </a:p>
        </p:txBody>
      </p:sp>
      <p:graphicFrame>
        <p:nvGraphicFramePr>
          <p:cNvPr id="4" name="Table 3"/>
          <p:cNvGraphicFramePr>
            <a:graphicFrameLocks noGrp="1"/>
          </p:cNvGraphicFramePr>
          <p:nvPr/>
        </p:nvGraphicFramePr>
        <p:xfrm>
          <a:off x="164592" y="1005840"/>
          <a:ext cx="8814816" cy="3456428"/>
        </p:xfrm>
        <a:graphic>
          <a:graphicData uri="http://schemas.openxmlformats.org/drawingml/2006/table">
            <a:tbl>
              <a:tblPr firstRow="1" bandRow="1">
                <a:tableStyleId>{5C22544A-7EE6-4342-B048-85BDC9FD1C3A}</a:tableStyleId>
              </a:tblPr>
              <a:tblGrid>
                <a:gridCol w="1193673">
                  <a:extLst>
                    <a:ext uri="{9D8B030D-6E8A-4147-A177-3AD203B41FA5}">
                      <a16:colId xmlns:a16="http://schemas.microsoft.com/office/drawing/2014/main" val="20000"/>
                    </a:ext>
                  </a:extLst>
                </a:gridCol>
                <a:gridCol w="7070217">
                  <a:extLst>
                    <a:ext uri="{9D8B030D-6E8A-4147-A177-3AD203B41FA5}">
                      <a16:colId xmlns:a16="http://schemas.microsoft.com/office/drawing/2014/main" val="20001"/>
                    </a:ext>
                  </a:extLst>
                </a:gridCol>
                <a:gridCol w="550926">
                  <a:extLst>
                    <a:ext uri="{9D8B030D-6E8A-4147-A177-3AD203B41FA5}">
                      <a16:colId xmlns:a16="http://schemas.microsoft.com/office/drawing/2014/main" val="20002"/>
                    </a:ext>
                  </a:extLst>
                </a:gridCol>
              </a:tblGrid>
              <a:tr h="240791">
                <a:tc>
                  <a:txBody>
                    <a:bodyPr/>
                    <a:lstStyle/>
                    <a:p>
                      <a:r>
                        <a:rPr sz="1100" b="1"/>
                        <a:t>(A) Deliverable</a:t>
                      </a:r>
                    </a:p>
                  </a:txBody>
                  <a:tcPr marL="54864" marR="54864" marT="27432" marB="27432" anchor="ctr"/>
                </a:tc>
                <a:tc>
                  <a:txBody>
                    <a:bodyPr/>
                    <a:lstStyle/>
                    <a:p>
                      <a:pPr algn="ctr"/>
                      <a:r>
                        <a:rPr sz="1100" b="1"/>
                        <a:t>(B) Format</a:t>
                      </a:r>
                    </a:p>
                  </a:txBody>
                  <a:tcPr marL="54864" marR="54864" marT="27432" marB="27432" anchor="ctr"/>
                </a:tc>
                <a:tc>
                  <a:txBody>
                    <a:bodyPr/>
                    <a:lstStyle/>
                    <a:p>
                      <a:pPr algn="ctr"/>
                      <a:r>
                        <a:rPr sz="1100" b="1"/>
                        <a:t>(C) WC</a:t>
                      </a:r>
                    </a:p>
                  </a:txBody>
                  <a:tcPr marL="54864" marR="54864" marT="27432" marB="27432" anchor="ctr"/>
                </a:tc>
                <a:extLst>
                  <a:ext uri="{0D108BD9-81ED-4DB2-BD59-A6C34878D82A}">
                    <a16:rowId xmlns:a16="http://schemas.microsoft.com/office/drawing/2014/main" val="10000"/>
                  </a:ext>
                </a:extLst>
              </a:tr>
              <a:tr h="408432">
                <a:tc>
                  <a:txBody>
                    <a:bodyPr/>
                    <a:lstStyle/>
                    <a:p>
                      <a:r>
                        <a:rPr sz="1100" b="1"/>
                        <a:t>Reference</a:t>
                      </a:r>
                    </a:p>
                  </a:txBody>
                  <a:tcPr marL="54864" marR="54864" marT="27432" marB="27432"/>
                </a:tc>
                <a:tc>
                  <a:txBody>
                    <a:bodyPr/>
                    <a:lstStyle/>
                    <a:p>
                      <a:r>
                        <a:rPr sz="1100"/>
                        <a:t>Alt, A. (2026). Beyond anomaly detection: Classifying attacker automation level from SSH honeypot behavioral signatures [Master’s thesis, Rochester Institute of Technology, Golisano College of Computing and Information Sciences].</a:t>
                      </a:r>
                    </a:p>
                  </a:txBody>
                  <a:tcPr marL="54864" marR="54864" marT="27432" marB="27432"/>
                </a:tc>
                <a:tc>
                  <a:txBody>
                    <a:bodyPr/>
                    <a:lstStyle/>
                    <a:p>
                      <a:pPr algn="ctr"/>
                      <a:r>
                        <a:rPr sz="1100"/>
                        <a:t>NA</a:t>
                      </a:r>
                    </a:p>
                  </a:txBody>
                  <a:tcPr marL="54864" marR="54864" marT="27432" marB="27432"/>
                </a:tc>
                <a:extLst>
                  <a:ext uri="{0D108BD9-81ED-4DB2-BD59-A6C34878D82A}">
                    <a16:rowId xmlns:a16="http://schemas.microsoft.com/office/drawing/2014/main" val="10001"/>
                  </a:ext>
                </a:extLst>
              </a:tr>
              <a:tr h="743711">
                <a:tc>
                  <a:txBody>
                    <a:bodyPr/>
                    <a:lstStyle/>
                    <a:p>
                      <a:r>
                        <a:rPr sz="1100" b="1"/>
                        <a:t>Summary</a:t>
                      </a:r>
                    </a:p>
                  </a:txBody>
                  <a:tcPr marL="54864" marR="54864" marT="27432" marB="27432"/>
                </a:tc>
                <a:tc>
                  <a:txBody>
                    <a:bodyPr/>
                    <a:lstStyle/>
                    <a:p>
                      <a:r>
                        <a:rPr sz="1100"/>
                        <a:t>Asks whether human-driven, traditionally automated and AI-assisted attackers leave distinguishable behavioral signatures in a Cowrie SSH honeypot and whether machine learning can classify them. Collected 281,621 sessions over two months (Hydra automation, one human operator, PentestGPT and ChatGPT-assisted sessions) and engineered 24 session-level features from command patterns, authentication behavior, timing, phase distribution and interaction depth.</a:t>
                      </a:r>
                    </a:p>
                  </a:txBody>
                  <a:tcPr marL="54864" marR="54864" marT="27432" marB="27432"/>
                </a:tc>
                <a:tc>
                  <a:txBody>
                    <a:bodyPr/>
                    <a:lstStyle/>
                    <a:p>
                      <a:pPr algn="ctr"/>
                      <a:r>
                        <a:rPr sz="1100"/>
                        <a:t>55</a:t>
                      </a:r>
                    </a:p>
                  </a:txBody>
                  <a:tcPr marL="54864" marR="54864" marT="27432" marB="27432"/>
                </a:tc>
                <a:extLst>
                  <a:ext uri="{0D108BD9-81ED-4DB2-BD59-A6C34878D82A}">
                    <a16:rowId xmlns:a16="http://schemas.microsoft.com/office/drawing/2014/main" val="10002"/>
                  </a:ext>
                </a:extLst>
              </a:tr>
              <a:tr h="743711">
                <a:tc>
                  <a:txBody>
                    <a:bodyPr/>
                    <a:lstStyle/>
                    <a:p>
                      <a:r>
                        <a:rPr sz="1100" b="1"/>
                        <a:t>Methodology</a:t>
                      </a:r>
                    </a:p>
                  </a:txBody>
                  <a:tcPr marL="54864" marR="54864" marT="27432" marB="27432"/>
                </a:tc>
                <a:tc>
                  <a:txBody>
                    <a:bodyPr/>
                    <a:lstStyle/>
                    <a:p>
                      <a:r>
                        <a:rPr sz="1100"/>
                        <a:t>Controlled VMware lab with a Cowrie medium-interaction honeypot and ELK logging; sessions reconstructed and labeled by attacker VM; automated class undersampled and the human class SMOTE-oversampled inside training folds; eight classifiers (LR, NB, DT, RF, GB, KNN, SVM, XGBoost) tuned with randomized search under 5-fold stratified CV; leave-one-out evaluation of the 45 human sessions.</a:t>
                      </a:r>
                    </a:p>
                  </a:txBody>
                  <a:tcPr marL="54864" marR="54864" marT="27432" marB="27432"/>
                </a:tc>
                <a:tc>
                  <a:txBody>
                    <a:bodyPr/>
                    <a:lstStyle/>
                    <a:p>
                      <a:pPr algn="ctr"/>
                      <a:r>
                        <a:rPr sz="1100"/>
                        <a:t>NA</a:t>
                      </a:r>
                    </a:p>
                  </a:txBody>
                  <a:tcPr marL="54864" marR="54864" marT="27432" marB="27432"/>
                </a:tc>
                <a:extLst>
                  <a:ext uri="{0D108BD9-81ED-4DB2-BD59-A6C34878D82A}">
                    <a16:rowId xmlns:a16="http://schemas.microsoft.com/office/drawing/2014/main" val="10003"/>
                  </a:ext>
                </a:extLst>
              </a:tr>
              <a:tr h="743711">
                <a:tc>
                  <a:txBody>
                    <a:bodyPr/>
                    <a:lstStyle/>
                    <a:p>
                      <a:r>
                        <a:rPr sz="1100" b="1"/>
                        <a:t>Evaluation</a:t>
                      </a:r>
                    </a:p>
                  </a:txBody>
                  <a:tcPr marL="54864" marR="54864" marT="27432" marB="27432"/>
                </a:tc>
                <a:tc>
                  <a:txBody>
                    <a:bodyPr/>
                    <a:lstStyle/>
                    <a:p>
                      <a:r>
                        <a:rPr sz="1100"/>
                        <a:t>Gradient Boosting and Random Forest reached macro-F1 0.809 at about 89.5% accuracy; AI-assisted F1 above 0.888 in the top three models; human precision was 1.000 in every model but recall only 0.44–0.58 (best LOO F1 0.732, KNN). Session duration, command diversity and events per minute were the dominant features; transition entropy separated humans from AI-assisted tools.</a:t>
                      </a:r>
                    </a:p>
                  </a:txBody>
                  <a:tcPr marL="54864" marR="54864" marT="27432" marB="27432"/>
                </a:tc>
                <a:tc>
                  <a:txBody>
                    <a:bodyPr/>
                    <a:lstStyle/>
                    <a:p>
                      <a:pPr algn="ctr"/>
                      <a:r>
                        <a:rPr sz="1100"/>
                        <a:t>56</a:t>
                      </a:r>
                    </a:p>
                  </a:txBody>
                  <a:tcPr marL="54864" marR="54864" marT="27432" marB="27432"/>
                </a:tc>
                <a:extLst>
                  <a:ext uri="{0D108BD9-81ED-4DB2-BD59-A6C34878D82A}">
                    <a16:rowId xmlns:a16="http://schemas.microsoft.com/office/drawing/2014/main" val="10004"/>
                  </a:ext>
                </a:extLst>
              </a:tr>
              <a:tr h="576072">
                <a:tc>
                  <a:txBody>
                    <a:bodyPr/>
                    <a:lstStyle/>
                    <a:p>
                      <a:r>
                        <a:rPr sz="1100" b="1"/>
                        <a:t>Relevance</a:t>
                      </a:r>
                    </a:p>
                  </a:txBody>
                  <a:tcPr marL="54864" marR="54864" marT="27432" marB="27432"/>
                </a:tc>
                <a:tc>
                  <a:txBody>
                    <a:bodyPr/>
                    <a:lstStyle/>
                    <a:p>
                      <a:r>
                        <a:rPr sz="1100"/>
                        <a:t>Supplies our question framing, feature families and eight-classifier protocol; its near-tie between Gradient Boosting and Random Forest motivates RQ3. Its limits define our gap: a single emulated host, one human operator, AI-assisted rather than autonomous agents, and no network features because Suricata could not see NAT traffic.</a:t>
                      </a:r>
                    </a:p>
                  </a:txBody>
                  <a:tcPr marL="54864" marR="54864" marT="27432" marB="27432"/>
                </a:tc>
                <a:tc>
                  <a:txBody>
                    <a:bodyPr/>
                    <a:lstStyle/>
                    <a:p>
                      <a:pPr algn="ctr"/>
                      <a:r>
                        <a:rPr sz="1100"/>
                        <a:t>47</a:t>
                      </a:r>
                    </a:p>
                  </a:txBody>
                  <a:tcPr marL="54864" marR="54864" marT="27432" marB="27432"/>
                </a:tc>
                <a:extLst>
                  <a:ext uri="{0D108BD9-81ED-4DB2-BD59-A6C34878D82A}">
                    <a16:rowId xmlns:a16="http://schemas.microsoft.com/office/drawing/2014/main" val="10005"/>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74320" y="182880"/>
            <a:ext cx="8595360" cy="731520"/>
          </a:xfrm>
        </p:spPr>
        <p:txBody>
          <a:bodyPr wrap="square"/>
          <a:lstStyle/>
          <a:p>
            <a:pPr algn="ctr"/>
            <a:r>
              <a:rPr sz="3400" b="1">
                <a:solidFill>
                  <a:srgbClr val="8064A2"/>
                </a:solidFill>
              </a:rPr>
              <a:t>Annotated Bibliography (2 of 5)</a:t>
            </a:r>
          </a:p>
        </p:txBody>
      </p:sp>
      <p:graphicFrame>
        <p:nvGraphicFramePr>
          <p:cNvPr id="4" name="Table 3"/>
          <p:cNvGraphicFramePr>
            <a:graphicFrameLocks noGrp="1"/>
          </p:cNvGraphicFramePr>
          <p:nvPr/>
        </p:nvGraphicFramePr>
        <p:xfrm>
          <a:off x="164592" y="1005840"/>
          <a:ext cx="8814816" cy="3102863"/>
        </p:xfrm>
        <a:graphic>
          <a:graphicData uri="http://schemas.openxmlformats.org/drawingml/2006/table">
            <a:tbl>
              <a:tblPr firstRow="1" bandRow="1">
                <a:tableStyleId>{5C22544A-7EE6-4342-B048-85BDC9FD1C3A}</a:tableStyleId>
              </a:tblPr>
              <a:tblGrid>
                <a:gridCol w="1193673">
                  <a:extLst>
                    <a:ext uri="{9D8B030D-6E8A-4147-A177-3AD203B41FA5}">
                      <a16:colId xmlns:a16="http://schemas.microsoft.com/office/drawing/2014/main" val="20000"/>
                    </a:ext>
                  </a:extLst>
                </a:gridCol>
                <a:gridCol w="7070217">
                  <a:extLst>
                    <a:ext uri="{9D8B030D-6E8A-4147-A177-3AD203B41FA5}">
                      <a16:colId xmlns:a16="http://schemas.microsoft.com/office/drawing/2014/main" val="20001"/>
                    </a:ext>
                  </a:extLst>
                </a:gridCol>
                <a:gridCol w="550926">
                  <a:extLst>
                    <a:ext uri="{9D8B030D-6E8A-4147-A177-3AD203B41FA5}">
                      <a16:colId xmlns:a16="http://schemas.microsoft.com/office/drawing/2014/main" val="20002"/>
                    </a:ext>
                  </a:extLst>
                </a:gridCol>
              </a:tblGrid>
              <a:tr h="240791">
                <a:tc>
                  <a:txBody>
                    <a:bodyPr/>
                    <a:lstStyle/>
                    <a:p>
                      <a:r>
                        <a:rPr sz="1100" b="1"/>
                        <a:t>(A) Deliverable</a:t>
                      </a:r>
                    </a:p>
                  </a:txBody>
                  <a:tcPr marL="54864" marR="54864" marT="27432" marB="27432" anchor="ctr"/>
                </a:tc>
                <a:tc>
                  <a:txBody>
                    <a:bodyPr/>
                    <a:lstStyle/>
                    <a:p>
                      <a:pPr algn="ctr"/>
                      <a:r>
                        <a:rPr sz="1100" b="1"/>
                        <a:t>(B) Format</a:t>
                      </a:r>
                    </a:p>
                  </a:txBody>
                  <a:tcPr marL="54864" marR="54864" marT="27432" marB="27432" anchor="ctr"/>
                </a:tc>
                <a:tc>
                  <a:txBody>
                    <a:bodyPr/>
                    <a:lstStyle/>
                    <a:p>
                      <a:pPr algn="ctr"/>
                      <a:r>
                        <a:rPr sz="1100" b="1"/>
                        <a:t>(C) WC</a:t>
                      </a:r>
                    </a:p>
                  </a:txBody>
                  <a:tcPr marL="54864" marR="54864" marT="27432" marB="27432" anchor="ctr"/>
                </a:tc>
                <a:extLst>
                  <a:ext uri="{0D108BD9-81ED-4DB2-BD59-A6C34878D82A}">
                    <a16:rowId xmlns:a16="http://schemas.microsoft.com/office/drawing/2014/main" val="10000"/>
                  </a:ext>
                </a:extLst>
              </a:tr>
              <a:tr h="408432">
                <a:tc>
                  <a:txBody>
                    <a:bodyPr/>
                    <a:lstStyle/>
                    <a:p>
                      <a:r>
                        <a:rPr sz="1100" b="1"/>
                        <a:t>Reference</a:t>
                      </a:r>
                    </a:p>
                  </a:txBody>
                  <a:tcPr marL="54864" marR="54864" marT="27432" marB="27432"/>
                </a:tc>
                <a:tc>
                  <a:txBody>
                    <a:bodyPr/>
                    <a:lstStyle/>
                    <a:p>
                      <a:r>
                        <a:rPr sz="1100"/>
                        <a:t>Reworr, &amp; Volkov, D. (2025). LLM agent honeypot: Monitoring AI hacking agents in the wild (arXiv:2410.13919v2). Palisade Research. https://arxiv.org/abs/2410.13919</a:t>
                      </a:r>
                    </a:p>
                  </a:txBody>
                  <a:tcPr marL="54864" marR="54864" marT="27432" marB="27432"/>
                </a:tc>
                <a:tc>
                  <a:txBody>
                    <a:bodyPr/>
                    <a:lstStyle/>
                    <a:p>
                      <a:pPr algn="ctr"/>
                      <a:r>
                        <a:rPr sz="1100"/>
                        <a:t>NA</a:t>
                      </a:r>
                    </a:p>
                  </a:txBody>
                  <a:tcPr marL="54864" marR="54864" marT="27432" marB="27432"/>
                </a:tc>
                <a:extLst>
                  <a:ext uri="{0D108BD9-81ED-4DB2-BD59-A6C34878D82A}">
                    <a16:rowId xmlns:a16="http://schemas.microsoft.com/office/drawing/2014/main" val="10001"/>
                  </a:ext>
                </a:extLst>
              </a:tr>
              <a:tr h="576072">
                <a:tc>
                  <a:txBody>
                    <a:bodyPr/>
                    <a:lstStyle/>
                    <a:p>
                      <a:r>
                        <a:rPr sz="1100" b="1"/>
                        <a:t>Summary</a:t>
                      </a:r>
                    </a:p>
                  </a:txBody>
                  <a:tcPr marL="54864" marR="54864" marT="27432" marB="27432"/>
                </a:tc>
                <a:tc>
                  <a:txBody>
                    <a:bodyPr/>
                    <a:lstStyle/>
                    <a:p>
                      <a:r>
                        <a:rPr sz="1100"/>
                        <a:t>Presents a public SSH honeypot augmented with prompt injections and timing analysis to detect autonomous LLM agents among attackers. Over about three months it recorded 8,130,731 interaction attempts and flagged 8 potential AI agents, offering early evidence that LLM-driven hacking attempts exist in the wild.</a:t>
                      </a:r>
                    </a:p>
                  </a:txBody>
                  <a:tcPr marL="54864" marR="54864" marT="27432" marB="27432"/>
                </a:tc>
                <a:tc>
                  <a:txBody>
                    <a:bodyPr/>
                    <a:lstStyle/>
                    <a:p>
                      <a:pPr algn="ctr"/>
                      <a:r>
                        <a:rPr sz="1100"/>
                        <a:t>45</a:t>
                      </a:r>
                    </a:p>
                  </a:txBody>
                  <a:tcPr marL="54864" marR="54864" marT="27432" marB="27432"/>
                </a:tc>
                <a:extLst>
                  <a:ext uri="{0D108BD9-81ED-4DB2-BD59-A6C34878D82A}">
                    <a16:rowId xmlns:a16="http://schemas.microsoft.com/office/drawing/2014/main" val="10002"/>
                  </a:ext>
                </a:extLst>
              </a:tr>
              <a:tr h="576072">
                <a:tc>
                  <a:txBody>
                    <a:bodyPr/>
                    <a:lstStyle/>
                    <a:p>
                      <a:r>
                        <a:rPr sz="1100" b="1"/>
                        <a:t>Methodology</a:t>
                      </a:r>
                    </a:p>
                  </a:txBody>
                  <a:tcPr marL="54864" marR="54864" marT="27432" marB="27432"/>
                </a:tc>
                <a:tc>
                  <a:txBody>
                    <a:bodyPr/>
                    <a:lstStyle/>
                    <a:p>
                      <a:r>
                        <a:rPr sz="1100"/>
                        <a:t>Customized Cowrie honeypot on 10 IP addresses with prompts injected into banners, command outputs and files; two-step detection: a goal-hijacking “Important Message” injection followed by prompt stealing; timing thresholds calibrated on internal GPT-4o agents; actors classed as software bots, LLM agents or humans; the dashboard separates potential from confirmed agents.</a:t>
                      </a:r>
                    </a:p>
                  </a:txBody>
                  <a:tcPr marL="54864" marR="54864" marT="27432" marB="27432"/>
                </a:tc>
                <a:tc>
                  <a:txBody>
                    <a:bodyPr/>
                    <a:lstStyle/>
                    <a:p>
                      <a:pPr algn="ctr"/>
                      <a:r>
                        <a:rPr sz="1100"/>
                        <a:t>NA</a:t>
                      </a:r>
                    </a:p>
                  </a:txBody>
                  <a:tcPr marL="54864" marR="54864" marT="27432" marB="27432"/>
                </a:tc>
                <a:extLst>
                  <a:ext uri="{0D108BD9-81ED-4DB2-BD59-A6C34878D82A}">
                    <a16:rowId xmlns:a16="http://schemas.microsoft.com/office/drawing/2014/main" val="10003"/>
                  </a:ext>
                </a:extLst>
              </a:tr>
              <a:tr h="576072">
                <a:tc>
                  <a:txBody>
                    <a:bodyPr/>
                    <a:lstStyle/>
                    <a:p>
                      <a:r>
                        <a:rPr sz="1100" b="1"/>
                        <a:t>Evaluation</a:t>
                      </a:r>
                    </a:p>
                  </a:txBody>
                  <a:tcPr marL="54864" marR="54864" marT="27432" marB="27432"/>
                </a:tc>
                <a:tc>
                  <a:txBody>
                    <a:bodyPr/>
                    <a:lstStyle/>
                    <a:p>
                      <a:r>
                        <a:rPr sz="1100"/>
                        <a:t>Internal LLM agents replied within about 1.7 s (mean 1.20 s, median 1.06 s); “Important Message” hijacks succeeded 100% versus 6–82% for “ignore instructions”; in the wild, bot responses had a median of 0.69 s while a suspected human-driven session exceeded 10 s between commands. Only a handful of 8M+ sessions passed both checks.</a:t>
                      </a:r>
                    </a:p>
                  </a:txBody>
                  <a:tcPr marL="54864" marR="54864" marT="27432" marB="27432"/>
                </a:tc>
                <a:tc>
                  <a:txBody>
                    <a:bodyPr/>
                    <a:lstStyle/>
                    <a:p>
                      <a:pPr algn="ctr"/>
                      <a:r>
                        <a:rPr sz="1100"/>
                        <a:t>54</a:t>
                      </a:r>
                    </a:p>
                  </a:txBody>
                  <a:tcPr marL="54864" marR="54864" marT="27432" marB="27432"/>
                </a:tc>
                <a:extLst>
                  <a:ext uri="{0D108BD9-81ED-4DB2-BD59-A6C34878D82A}">
                    <a16:rowId xmlns:a16="http://schemas.microsoft.com/office/drawing/2014/main" val="10004"/>
                  </a:ext>
                </a:extLst>
              </a:tr>
              <a:tr h="576072">
                <a:tc>
                  <a:txBody>
                    <a:bodyPr/>
                    <a:lstStyle/>
                    <a:p>
                      <a:r>
                        <a:rPr sz="1100" b="1"/>
                        <a:t>Relevance</a:t>
                      </a:r>
                    </a:p>
                  </a:txBody>
                  <a:tcPr marL="54864" marR="54864" marT="27432" marB="27432"/>
                </a:tc>
                <a:tc>
                  <a:txBody>
                    <a:bodyPr/>
                    <a:lstStyle/>
                    <a:p>
                      <a:r>
                        <a:rPr sz="1100"/>
                        <a:t>Establishes response timing as the clearest current AI signal and prompt injection as an active probe. We treat timing as one feature family to ablate rather than the answer, log inference latency to normalize it, and avoid lures so both arms face identical targets.</a:t>
                      </a:r>
                    </a:p>
                  </a:txBody>
                  <a:tcPr marL="54864" marR="54864" marT="27432" marB="27432"/>
                </a:tc>
                <a:tc>
                  <a:txBody>
                    <a:bodyPr/>
                    <a:lstStyle/>
                    <a:p>
                      <a:pPr algn="ctr"/>
                      <a:r>
                        <a:rPr sz="1100"/>
                        <a:t>44</a:t>
                      </a:r>
                    </a:p>
                  </a:txBody>
                  <a:tcPr marL="54864" marR="54864" marT="27432" marB="27432"/>
                </a:tc>
                <a:extLst>
                  <a:ext uri="{0D108BD9-81ED-4DB2-BD59-A6C34878D82A}">
                    <a16:rowId xmlns:a16="http://schemas.microsoft.com/office/drawing/2014/main" val="10005"/>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74320" y="182880"/>
            <a:ext cx="8595360" cy="731520"/>
          </a:xfrm>
        </p:spPr>
        <p:txBody>
          <a:bodyPr wrap="square"/>
          <a:lstStyle/>
          <a:p>
            <a:pPr algn="ctr"/>
            <a:r>
              <a:rPr sz="3400" b="1">
                <a:solidFill>
                  <a:srgbClr val="8064A2"/>
                </a:solidFill>
              </a:rPr>
              <a:t>Annotated Bibliography (3 of 5)</a:t>
            </a:r>
          </a:p>
        </p:txBody>
      </p:sp>
      <p:graphicFrame>
        <p:nvGraphicFramePr>
          <p:cNvPr id="4" name="Table 3"/>
          <p:cNvGraphicFramePr>
            <a:graphicFrameLocks noGrp="1"/>
          </p:cNvGraphicFramePr>
          <p:nvPr/>
        </p:nvGraphicFramePr>
        <p:xfrm>
          <a:off x="164592" y="1005840"/>
          <a:ext cx="8814816" cy="3288790"/>
        </p:xfrm>
        <a:graphic>
          <a:graphicData uri="http://schemas.openxmlformats.org/drawingml/2006/table">
            <a:tbl>
              <a:tblPr firstRow="1" bandRow="1">
                <a:tableStyleId>{5C22544A-7EE6-4342-B048-85BDC9FD1C3A}</a:tableStyleId>
              </a:tblPr>
              <a:tblGrid>
                <a:gridCol w="1193673">
                  <a:extLst>
                    <a:ext uri="{9D8B030D-6E8A-4147-A177-3AD203B41FA5}">
                      <a16:colId xmlns:a16="http://schemas.microsoft.com/office/drawing/2014/main" val="20000"/>
                    </a:ext>
                  </a:extLst>
                </a:gridCol>
                <a:gridCol w="7070217">
                  <a:extLst>
                    <a:ext uri="{9D8B030D-6E8A-4147-A177-3AD203B41FA5}">
                      <a16:colId xmlns:a16="http://schemas.microsoft.com/office/drawing/2014/main" val="20001"/>
                    </a:ext>
                  </a:extLst>
                </a:gridCol>
                <a:gridCol w="550926">
                  <a:extLst>
                    <a:ext uri="{9D8B030D-6E8A-4147-A177-3AD203B41FA5}">
                      <a16:colId xmlns:a16="http://schemas.microsoft.com/office/drawing/2014/main" val="20002"/>
                    </a:ext>
                  </a:extLst>
                </a:gridCol>
              </a:tblGrid>
              <a:tr h="240791">
                <a:tc>
                  <a:txBody>
                    <a:bodyPr/>
                    <a:lstStyle/>
                    <a:p>
                      <a:r>
                        <a:rPr sz="1100" b="1"/>
                        <a:t>(A) Deliverable</a:t>
                      </a:r>
                    </a:p>
                  </a:txBody>
                  <a:tcPr marL="54864" marR="54864" marT="27432" marB="27432" anchor="ctr"/>
                </a:tc>
                <a:tc>
                  <a:txBody>
                    <a:bodyPr/>
                    <a:lstStyle/>
                    <a:p>
                      <a:pPr algn="ctr"/>
                      <a:r>
                        <a:rPr sz="1100" b="1"/>
                        <a:t>(B) Format</a:t>
                      </a:r>
                    </a:p>
                  </a:txBody>
                  <a:tcPr marL="54864" marR="54864" marT="27432" marB="27432" anchor="ctr"/>
                </a:tc>
                <a:tc>
                  <a:txBody>
                    <a:bodyPr/>
                    <a:lstStyle/>
                    <a:p>
                      <a:pPr algn="ctr"/>
                      <a:r>
                        <a:rPr sz="1100" b="1"/>
                        <a:t>(C) WC</a:t>
                      </a:r>
                    </a:p>
                  </a:txBody>
                  <a:tcPr marL="54864" marR="54864" marT="27432" marB="27432" anchor="ctr"/>
                </a:tc>
                <a:extLst>
                  <a:ext uri="{0D108BD9-81ED-4DB2-BD59-A6C34878D82A}">
                    <a16:rowId xmlns:a16="http://schemas.microsoft.com/office/drawing/2014/main" val="10000"/>
                  </a:ext>
                </a:extLst>
              </a:tr>
              <a:tr h="576072">
                <a:tc>
                  <a:txBody>
                    <a:bodyPr/>
                    <a:lstStyle/>
                    <a:p>
                      <a:r>
                        <a:rPr sz="1100" b="1"/>
                        <a:t>Reference</a:t>
                      </a:r>
                    </a:p>
                  </a:txBody>
                  <a:tcPr marL="54864" marR="54864" marT="27432" marB="27432"/>
                </a:tc>
                <a:tc>
                  <a:txBody>
                    <a:bodyPr/>
                    <a:lstStyle/>
                    <a:p>
                      <a:r>
                        <a:rPr sz="1100"/>
                        <a:t>Lin, J. W., Jones, E. K., Jasper, D. J., Ho, E. J., Wu, A., Yang, A. T., Perry, N., Zou, A., Fredrikson, M., Kolter, J. Z., Liang, P., Boneh, D., &amp; Ho, D. E. (2026). Comparing AI agents to cybersecurity professionals in real-world penetration testing (arXiv:2512.09882v2). Stanford University. https://arxiv.org/abs/2512.09882</a:t>
                      </a:r>
                    </a:p>
                  </a:txBody>
                  <a:tcPr marL="54864" marR="54864" marT="27432" marB="27432"/>
                </a:tc>
                <a:tc>
                  <a:txBody>
                    <a:bodyPr/>
                    <a:lstStyle/>
                    <a:p>
                      <a:pPr algn="ctr"/>
                      <a:r>
                        <a:rPr sz="1100"/>
                        <a:t>NA</a:t>
                      </a:r>
                    </a:p>
                  </a:txBody>
                  <a:tcPr marL="54864" marR="54864" marT="27432" marB="27432"/>
                </a:tc>
                <a:extLst>
                  <a:ext uri="{0D108BD9-81ED-4DB2-BD59-A6C34878D82A}">
                    <a16:rowId xmlns:a16="http://schemas.microsoft.com/office/drawing/2014/main" val="10001"/>
                  </a:ext>
                </a:extLst>
              </a:tr>
              <a:tr h="576072">
                <a:tc>
                  <a:txBody>
                    <a:bodyPr/>
                    <a:lstStyle/>
                    <a:p>
                      <a:r>
                        <a:rPr sz="1100" b="1"/>
                        <a:t>Summary</a:t>
                      </a:r>
                    </a:p>
                  </a:txBody>
                  <a:tcPr marL="54864" marR="54864" marT="27432" marB="27432"/>
                </a:tc>
                <a:tc>
                  <a:txBody>
                    <a:bodyPr/>
                    <a:lstStyle/>
                    <a:p>
                      <a:r>
                        <a:rPr sz="1100"/>
                        <a:t>First comparison of AI agents and human professionals in a live enterprise network: ten penetration testers, six existing agents and ARTEMIS, a new multi-agent scaffold, attacked a university network of about 8,000 hosts across 12 subnets. ARTEMIS placed second overall with 9 valid vulnerabilities and an 82% valid-submission rate.</a:t>
                      </a:r>
                    </a:p>
                  </a:txBody>
                  <a:tcPr marL="54864" marR="54864" marT="27432" marB="27432"/>
                </a:tc>
                <a:tc>
                  <a:txBody>
                    <a:bodyPr/>
                    <a:lstStyle/>
                    <a:p>
                      <a:pPr algn="ctr"/>
                      <a:r>
                        <a:rPr sz="1100"/>
                        <a:t>49</a:t>
                      </a:r>
                    </a:p>
                  </a:txBody>
                  <a:tcPr marL="54864" marR="54864" marT="27432" marB="27432"/>
                </a:tc>
                <a:extLst>
                  <a:ext uri="{0D108BD9-81ED-4DB2-BD59-A6C34878D82A}">
                    <a16:rowId xmlns:a16="http://schemas.microsoft.com/office/drawing/2014/main" val="10002"/>
                  </a:ext>
                </a:extLst>
              </a:tr>
              <a:tr h="743711">
                <a:tc>
                  <a:txBody>
                    <a:bodyPr/>
                    <a:lstStyle/>
                    <a:p>
                      <a:r>
                        <a:rPr sz="1100" b="1"/>
                        <a:t>Methodology</a:t>
                      </a:r>
                    </a:p>
                  </a:txBody>
                  <a:tcPr marL="54864" marR="54864" marT="27432" marB="27432"/>
                </a:tc>
                <a:tc>
                  <a:txBody>
                    <a:bodyPr/>
                    <a:lstStyle/>
                    <a:p>
                      <a:r>
                        <a:rPr sz="1100"/>
                        <a:t>Participants and agents used identical Kali VMs with screen, terminal and connection logging; 10 hours of active engagement within 4 days of VPN access; findings scored by technical complexity plus weighted criticality; ARTEMIS combines dynamic prompt generation, parallel sub-agents and an automatic vulnerability triager, in two configurations (A1 GPT-5; A2 model ensemble).</a:t>
                      </a:r>
                    </a:p>
                  </a:txBody>
                  <a:tcPr marL="54864" marR="54864" marT="27432" marB="27432"/>
                </a:tc>
                <a:tc>
                  <a:txBody>
                    <a:bodyPr/>
                    <a:lstStyle/>
                    <a:p>
                      <a:pPr algn="ctr"/>
                      <a:r>
                        <a:rPr sz="1100"/>
                        <a:t>NA</a:t>
                      </a:r>
                    </a:p>
                  </a:txBody>
                  <a:tcPr marL="54864" marR="54864" marT="27432" marB="27432"/>
                </a:tc>
                <a:extLst>
                  <a:ext uri="{0D108BD9-81ED-4DB2-BD59-A6C34878D82A}">
                    <a16:rowId xmlns:a16="http://schemas.microsoft.com/office/drawing/2014/main" val="10003"/>
                  </a:ext>
                </a:extLst>
              </a:tr>
              <a:tr h="576072">
                <a:tc>
                  <a:txBody>
                    <a:bodyPr/>
                    <a:lstStyle/>
                    <a:p>
                      <a:r>
                        <a:rPr sz="1100" b="1"/>
                        <a:t>Evaluation</a:t>
                      </a:r>
                    </a:p>
                  </a:txBody>
                  <a:tcPr marL="54864" marR="54864" marT="27432" marB="27432"/>
                </a:tc>
                <a:tc>
                  <a:txBody>
                    <a:bodyPr/>
                    <a:lstStyle/>
                    <a:p>
                      <a:r>
                        <a:rPr sz="1100"/>
                        <a:t>ARTEMIS outperformed 9 of 10 humans; peaked at 8 concurrent sub-agents (mean 2.82); cost $18–59 per hour versus $60 per hour for professionals; produced more false positives than humans and failed GUI-based tasks (missed a TinyPilot RCE that 80% of humans found) yet exploited an outdated iDRAC with curl -k that no human did.</a:t>
                      </a:r>
                    </a:p>
                  </a:txBody>
                  <a:tcPr marL="54864" marR="54864" marT="27432" marB="27432"/>
                </a:tc>
                <a:tc>
                  <a:txBody>
                    <a:bodyPr/>
                    <a:lstStyle/>
                    <a:p>
                      <a:pPr algn="ctr"/>
                      <a:r>
                        <a:rPr sz="1100"/>
                        <a:t>54</a:t>
                      </a:r>
                    </a:p>
                  </a:txBody>
                  <a:tcPr marL="54864" marR="54864" marT="27432" marB="27432"/>
                </a:tc>
                <a:extLst>
                  <a:ext uri="{0D108BD9-81ED-4DB2-BD59-A6C34878D82A}">
                    <a16:rowId xmlns:a16="http://schemas.microsoft.com/office/drawing/2014/main" val="10004"/>
                  </a:ext>
                </a:extLst>
              </a:tr>
              <a:tr h="576072">
                <a:tc>
                  <a:txBody>
                    <a:bodyPr/>
                    <a:lstStyle/>
                    <a:p>
                      <a:r>
                        <a:rPr sz="1100" b="1"/>
                        <a:t>Relevance</a:t>
                      </a:r>
                    </a:p>
                  </a:txBody>
                  <a:tcPr marL="54864" marR="54864" marT="27432" marB="27432"/>
                </a:tc>
                <a:tc>
                  <a:txBody>
                    <a:bodyPr/>
                    <a:lstStyle/>
                    <a:p>
                      <a:r>
                        <a:rPr sz="1100"/>
                        <a:t>Supplies the autonomous attacker scaffold and documents behavioral differences we will test as features: parallel enumeration, immediate submission and moving on, CLI-only interaction. It compares performance, not identifiability, and logged only the operator side; we capture the target side.</a:t>
                      </a:r>
                    </a:p>
                  </a:txBody>
                  <a:tcPr marL="54864" marR="54864" marT="27432" marB="27432"/>
                </a:tc>
                <a:tc>
                  <a:txBody>
                    <a:bodyPr/>
                    <a:lstStyle/>
                    <a:p>
                      <a:pPr algn="ctr"/>
                      <a:r>
                        <a:rPr sz="1100"/>
                        <a:t>39</a:t>
                      </a:r>
                    </a:p>
                  </a:txBody>
                  <a:tcPr marL="54864" marR="54864" marT="27432" marB="27432"/>
                </a:tc>
                <a:extLst>
                  <a:ext uri="{0D108BD9-81ED-4DB2-BD59-A6C34878D82A}">
                    <a16:rowId xmlns:a16="http://schemas.microsoft.com/office/drawing/2014/main" val="10005"/>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74320" y="182880"/>
            <a:ext cx="8595360" cy="731520"/>
          </a:xfrm>
        </p:spPr>
        <p:txBody>
          <a:bodyPr wrap="square"/>
          <a:lstStyle/>
          <a:p>
            <a:pPr algn="ctr"/>
            <a:r>
              <a:rPr sz="3400" b="1">
                <a:solidFill>
                  <a:srgbClr val="8064A2"/>
                </a:solidFill>
              </a:rPr>
              <a:t>Annotated Bibliography (4 of 5)</a:t>
            </a:r>
          </a:p>
        </p:txBody>
      </p:sp>
      <p:graphicFrame>
        <p:nvGraphicFramePr>
          <p:cNvPr id="4" name="Table 3"/>
          <p:cNvGraphicFramePr>
            <a:graphicFrameLocks noGrp="1"/>
          </p:cNvGraphicFramePr>
          <p:nvPr/>
        </p:nvGraphicFramePr>
        <p:xfrm>
          <a:off x="164592" y="1005840"/>
          <a:ext cx="8814816" cy="3121151"/>
        </p:xfrm>
        <a:graphic>
          <a:graphicData uri="http://schemas.openxmlformats.org/drawingml/2006/table">
            <a:tbl>
              <a:tblPr firstRow="1" bandRow="1">
                <a:tableStyleId>{5C22544A-7EE6-4342-B048-85BDC9FD1C3A}</a:tableStyleId>
              </a:tblPr>
              <a:tblGrid>
                <a:gridCol w="1193673">
                  <a:extLst>
                    <a:ext uri="{9D8B030D-6E8A-4147-A177-3AD203B41FA5}">
                      <a16:colId xmlns:a16="http://schemas.microsoft.com/office/drawing/2014/main" val="20000"/>
                    </a:ext>
                  </a:extLst>
                </a:gridCol>
                <a:gridCol w="7070217">
                  <a:extLst>
                    <a:ext uri="{9D8B030D-6E8A-4147-A177-3AD203B41FA5}">
                      <a16:colId xmlns:a16="http://schemas.microsoft.com/office/drawing/2014/main" val="20001"/>
                    </a:ext>
                  </a:extLst>
                </a:gridCol>
                <a:gridCol w="550926">
                  <a:extLst>
                    <a:ext uri="{9D8B030D-6E8A-4147-A177-3AD203B41FA5}">
                      <a16:colId xmlns:a16="http://schemas.microsoft.com/office/drawing/2014/main" val="20002"/>
                    </a:ext>
                  </a:extLst>
                </a:gridCol>
              </a:tblGrid>
              <a:tr h="240791">
                <a:tc>
                  <a:txBody>
                    <a:bodyPr/>
                    <a:lstStyle/>
                    <a:p>
                      <a:r>
                        <a:rPr sz="1100" b="1"/>
                        <a:t>(A) Deliverable</a:t>
                      </a:r>
                    </a:p>
                  </a:txBody>
                  <a:tcPr marL="54864" marR="54864" marT="27432" marB="27432" anchor="ctr"/>
                </a:tc>
                <a:tc>
                  <a:txBody>
                    <a:bodyPr/>
                    <a:lstStyle/>
                    <a:p>
                      <a:pPr algn="ctr"/>
                      <a:r>
                        <a:rPr sz="1100" b="1"/>
                        <a:t>(B) Format</a:t>
                      </a:r>
                    </a:p>
                  </a:txBody>
                  <a:tcPr marL="54864" marR="54864" marT="27432" marB="27432" anchor="ctr"/>
                </a:tc>
                <a:tc>
                  <a:txBody>
                    <a:bodyPr/>
                    <a:lstStyle/>
                    <a:p>
                      <a:pPr algn="ctr"/>
                      <a:r>
                        <a:rPr sz="1100" b="1"/>
                        <a:t>(C) WC</a:t>
                      </a:r>
                    </a:p>
                  </a:txBody>
                  <a:tcPr marL="54864" marR="54864" marT="27432" marB="27432" anchor="ctr"/>
                </a:tc>
                <a:extLst>
                  <a:ext uri="{0D108BD9-81ED-4DB2-BD59-A6C34878D82A}">
                    <a16:rowId xmlns:a16="http://schemas.microsoft.com/office/drawing/2014/main" val="10000"/>
                  </a:ext>
                </a:extLst>
              </a:tr>
              <a:tr h="576072">
                <a:tc>
                  <a:txBody>
                    <a:bodyPr/>
                    <a:lstStyle/>
                    <a:p>
                      <a:r>
                        <a:rPr sz="1100" b="1"/>
                        <a:t>Reference</a:t>
                      </a:r>
                    </a:p>
                  </a:txBody>
                  <a:tcPr marL="54864" marR="54864" marT="27432" marB="27432"/>
                </a:tc>
                <a:tc>
                  <a:txBody>
                    <a:bodyPr/>
                    <a:lstStyle/>
                    <a:p>
                      <a:r>
                        <a:rPr sz="1100"/>
                        <a:t>Anthropic. (2025, November). Disrupting the first reported AI-orchestrated cyber espionage campaign [Threat intelligence report]. https://assets.anthropic.com/m/ec212e6566a0d47/original/Disrupting-the-first-reported-AI-orchestrated-cyber-espionage-campaign.pdf</a:t>
                      </a:r>
                    </a:p>
                  </a:txBody>
                  <a:tcPr marL="54864" marR="54864" marT="27432" marB="27432"/>
                </a:tc>
                <a:tc>
                  <a:txBody>
                    <a:bodyPr/>
                    <a:lstStyle/>
                    <a:p>
                      <a:pPr algn="ctr"/>
                      <a:r>
                        <a:rPr sz="1100"/>
                        <a:t>NA</a:t>
                      </a:r>
                    </a:p>
                  </a:txBody>
                  <a:tcPr marL="54864" marR="54864" marT="27432" marB="27432"/>
                </a:tc>
                <a:extLst>
                  <a:ext uri="{0D108BD9-81ED-4DB2-BD59-A6C34878D82A}">
                    <a16:rowId xmlns:a16="http://schemas.microsoft.com/office/drawing/2014/main" val="10001"/>
                  </a:ext>
                </a:extLst>
              </a:tr>
              <a:tr h="576072">
                <a:tc>
                  <a:txBody>
                    <a:bodyPr/>
                    <a:lstStyle/>
                    <a:p>
                      <a:r>
                        <a:rPr sz="1100" b="1"/>
                        <a:t>Summary</a:t>
                      </a:r>
                    </a:p>
                  </a:txBody>
                  <a:tcPr marL="54864" marR="54864" marT="27432" marB="27432"/>
                </a:tc>
                <a:tc>
                  <a:txBody>
                    <a:bodyPr/>
                    <a:lstStyle/>
                    <a:p>
                      <a:r>
                        <a:rPr sz="1100"/>
                        <a:t>Reports a mid-September 2025 campaign (GTG-1002, assessed with high confidence as Chinese state-sponsored) in which a jailbroken agentic coding tool executed roughly 80–90% of tactical operations against about 30 organizations, with humans intervening only at strategic junctures such as approving exploitation, lateral movement and exfiltration scope.</a:t>
                      </a:r>
                    </a:p>
                  </a:txBody>
                  <a:tcPr marL="54864" marR="54864" marT="27432" marB="27432"/>
                </a:tc>
                <a:tc>
                  <a:txBody>
                    <a:bodyPr/>
                    <a:lstStyle/>
                    <a:p>
                      <a:pPr algn="ctr"/>
                      <a:r>
                        <a:rPr sz="1100"/>
                        <a:t>46</a:t>
                      </a:r>
                    </a:p>
                  </a:txBody>
                  <a:tcPr marL="54864" marR="54864" marT="27432" marB="27432"/>
                </a:tc>
                <a:extLst>
                  <a:ext uri="{0D108BD9-81ED-4DB2-BD59-A6C34878D82A}">
                    <a16:rowId xmlns:a16="http://schemas.microsoft.com/office/drawing/2014/main" val="10002"/>
                  </a:ext>
                </a:extLst>
              </a:tr>
              <a:tr h="576072">
                <a:tc>
                  <a:txBody>
                    <a:bodyPr/>
                    <a:lstStyle/>
                    <a:p>
                      <a:r>
                        <a:rPr sz="1100" b="1"/>
                        <a:t>Methodology</a:t>
                      </a:r>
                    </a:p>
                  </a:txBody>
                  <a:tcPr marL="54864" marR="54864" marT="27432" marB="27432"/>
                </a:tc>
                <a:tc>
                  <a:txBody>
                    <a:bodyPr/>
                    <a:lstStyle/>
                    <a:p>
                      <a:r>
                        <a:rPr sz="1100"/>
                        <a:t>Incident investigation of platform usage: operators posed as a legitimate security firm, decomposed the intrusion into innocuous-looking tasks, and drove open-source penetration-testing tools through custom Model Context Protocol automation across reconnaissance, exploitation, credential harvesting, lateral movement and exfiltration.</a:t>
                      </a:r>
                    </a:p>
                  </a:txBody>
                  <a:tcPr marL="54864" marR="54864" marT="27432" marB="27432"/>
                </a:tc>
                <a:tc>
                  <a:txBody>
                    <a:bodyPr/>
                    <a:lstStyle/>
                    <a:p>
                      <a:pPr algn="ctr"/>
                      <a:r>
                        <a:rPr sz="1100"/>
                        <a:t>NA</a:t>
                      </a:r>
                    </a:p>
                  </a:txBody>
                  <a:tcPr marL="54864" marR="54864" marT="27432" marB="27432"/>
                </a:tc>
                <a:extLst>
                  <a:ext uri="{0D108BD9-81ED-4DB2-BD59-A6C34878D82A}">
                    <a16:rowId xmlns:a16="http://schemas.microsoft.com/office/drawing/2014/main" val="10003"/>
                  </a:ext>
                </a:extLst>
              </a:tr>
              <a:tr h="576072">
                <a:tc>
                  <a:txBody>
                    <a:bodyPr/>
                    <a:lstStyle/>
                    <a:p>
                      <a:r>
                        <a:rPr sz="1100" b="1"/>
                        <a:t>Evaluation</a:t>
                      </a:r>
                    </a:p>
                  </a:txBody>
                  <a:tcPr marL="54864" marR="54864" marT="27432" marB="27432"/>
                </a:tc>
                <a:tc>
                  <a:txBody>
                    <a:bodyPr/>
                    <a:lstStyle/>
                    <a:p>
                      <a:r>
                        <a:rPr sz="1100"/>
                        <a:t>Human effort estimated at 10–20% of the campaign; the sustained, high-volume activity eventually triggered detection; the report notes hallucinated results in the AI’s output and that visibility is limited to one vendor’s platform; accounts were banned and affected organizations notified.</a:t>
                      </a:r>
                    </a:p>
                  </a:txBody>
                  <a:tcPr marL="54864" marR="54864" marT="27432" marB="27432"/>
                </a:tc>
                <a:tc>
                  <a:txBody>
                    <a:bodyPr/>
                    <a:lstStyle/>
                    <a:p>
                      <a:pPr algn="ctr"/>
                      <a:r>
                        <a:rPr sz="1100"/>
                        <a:t>40</a:t>
                      </a:r>
                    </a:p>
                  </a:txBody>
                  <a:tcPr marL="54864" marR="54864" marT="27432" marB="27432"/>
                </a:tc>
                <a:extLst>
                  <a:ext uri="{0D108BD9-81ED-4DB2-BD59-A6C34878D82A}">
                    <a16:rowId xmlns:a16="http://schemas.microsoft.com/office/drawing/2014/main" val="10004"/>
                  </a:ext>
                </a:extLst>
              </a:tr>
              <a:tr h="576072">
                <a:tc>
                  <a:txBody>
                    <a:bodyPr/>
                    <a:lstStyle/>
                    <a:p>
                      <a:r>
                        <a:rPr sz="1100" b="1"/>
                        <a:t>Relevance</a:t>
                      </a:r>
                    </a:p>
                  </a:txBody>
                  <a:tcPr marL="54864" marR="54864" marT="27432" marB="27432"/>
                </a:tc>
                <a:tc>
                  <a:txBody>
                    <a:bodyPr/>
                    <a:lstStyle/>
                    <a:p>
                      <a:r>
                        <a:rPr sz="1100"/>
                        <a:t>Motivates the problem statement and the APT framing: a state-sponsored APT ran an AI-orchestrated intrusion campaign with commodity tooling and was caught by volume and persistence, not by any target-side classifier. Our experiment measures how well target telemetry alone makes that distinction under controlled conditions.</a:t>
                      </a:r>
                    </a:p>
                  </a:txBody>
                  <a:tcPr marL="54864" marR="54864" marT="27432" marB="27432"/>
                </a:tc>
                <a:tc>
                  <a:txBody>
                    <a:bodyPr/>
                    <a:lstStyle/>
                    <a:p>
                      <a:pPr algn="ctr"/>
                      <a:r>
                        <a:rPr sz="1100"/>
                        <a:t>45</a:t>
                      </a:r>
                    </a:p>
                  </a:txBody>
                  <a:tcPr marL="54864" marR="54864" marT="27432" marB="27432"/>
                </a:tc>
                <a:extLst>
                  <a:ext uri="{0D108BD9-81ED-4DB2-BD59-A6C34878D82A}">
                    <a16:rowId xmlns:a16="http://schemas.microsoft.com/office/drawing/2014/main" val="10005"/>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74320" y="182880"/>
            <a:ext cx="8595360" cy="731520"/>
          </a:xfrm>
        </p:spPr>
        <p:txBody>
          <a:bodyPr wrap="square"/>
          <a:lstStyle/>
          <a:p>
            <a:pPr algn="ctr"/>
            <a:r>
              <a:rPr sz="3400" b="1">
                <a:solidFill>
                  <a:srgbClr val="8064A2"/>
                </a:solidFill>
              </a:rPr>
              <a:t>Annotated Bibliography (5 of 5)</a:t>
            </a:r>
          </a:p>
        </p:txBody>
      </p:sp>
      <p:graphicFrame>
        <p:nvGraphicFramePr>
          <p:cNvPr id="4" name="Table 3"/>
          <p:cNvGraphicFramePr>
            <a:graphicFrameLocks noGrp="1"/>
          </p:cNvGraphicFramePr>
          <p:nvPr/>
        </p:nvGraphicFramePr>
        <p:xfrm>
          <a:off x="164592" y="1005840"/>
          <a:ext cx="8814816" cy="2767583"/>
        </p:xfrm>
        <a:graphic>
          <a:graphicData uri="http://schemas.openxmlformats.org/drawingml/2006/table">
            <a:tbl>
              <a:tblPr firstRow="1" bandRow="1">
                <a:tableStyleId>{5C22544A-7EE6-4342-B048-85BDC9FD1C3A}</a:tableStyleId>
              </a:tblPr>
              <a:tblGrid>
                <a:gridCol w="1193673">
                  <a:extLst>
                    <a:ext uri="{9D8B030D-6E8A-4147-A177-3AD203B41FA5}">
                      <a16:colId xmlns:a16="http://schemas.microsoft.com/office/drawing/2014/main" val="20000"/>
                    </a:ext>
                  </a:extLst>
                </a:gridCol>
                <a:gridCol w="7070217">
                  <a:extLst>
                    <a:ext uri="{9D8B030D-6E8A-4147-A177-3AD203B41FA5}">
                      <a16:colId xmlns:a16="http://schemas.microsoft.com/office/drawing/2014/main" val="20001"/>
                    </a:ext>
                  </a:extLst>
                </a:gridCol>
                <a:gridCol w="550926">
                  <a:extLst>
                    <a:ext uri="{9D8B030D-6E8A-4147-A177-3AD203B41FA5}">
                      <a16:colId xmlns:a16="http://schemas.microsoft.com/office/drawing/2014/main" val="20002"/>
                    </a:ext>
                  </a:extLst>
                </a:gridCol>
              </a:tblGrid>
              <a:tr h="240791">
                <a:tc>
                  <a:txBody>
                    <a:bodyPr/>
                    <a:lstStyle/>
                    <a:p>
                      <a:r>
                        <a:rPr sz="1100" b="1"/>
                        <a:t>(A) Deliverable</a:t>
                      </a:r>
                    </a:p>
                  </a:txBody>
                  <a:tcPr marL="54864" marR="54864" marT="27432" marB="27432" anchor="ctr"/>
                </a:tc>
                <a:tc>
                  <a:txBody>
                    <a:bodyPr/>
                    <a:lstStyle/>
                    <a:p>
                      <a:pPr algn="ctr"/>
                      <a:r>
                        <a:rPr sz="1100" b="1"/>
                        <a:t>(B) Format</a:t>
                      </a:r>
                    </a:p>
                  </a:txBody>
                  <a:tcPr marL="54864" marR="54864" marT="27432" marB="27432" anchor="ctr"/>
                </a:tc>
                <a:tc>
                  <a:txBody>
                    <a:bodyPr/>
                    <a:lstStyle/>
                    <a:p>
                      <a:pPr algn="ctr"/>
                      <a:r>
                        <a:rPr sz="1100" b="1"/>
                        <a:t>(C) WC</a:t>
                      </a:r>
                    </a:p>
                  </a:txBody>
                  <a:tcPr marL="54864" marR="54864" marT="27432" marB="27432" anchor="ctr"/>
                </a:tc>
                <a:extLst>
                  <a:ext uri="{0D108BD9-81ED-4DB2-BD59-A6C34878D82A}">
                    <a16:rowId xmlns:a16="http://schemas.microsoft.com/office/drawing/2014/main" val="10000"/>
                  </a:ext>
                </a:extLst>
              </a:tr>
              <a:tr h="240791">
                <a:tc>
                  <a:txBody>
                    <a:bodyPr/>
                    <a:lstStyle/>
                    <a:p>
                      <a:r>
                        <a:rPr sz="1100" b="1"/>
                        <a:t>Reference</a:t>
                      </a:r>
                    </a:p>
                  </a:txBody>
                  <a:tcPr marL="54864" marR="54864" marT="27432" marB="27432"/>
                </a:tc>
                <a:tc>
                  <a:txBody>
                    <a:bodyPr/>
                    <a:lstStyle/>
                    <a:p>
                      <a:r>
                        <a:rPr sz="1100"/>
                        <a:t>IBM. (2025). Cost of a Data Breach Report 2025. IBM Security and Ponemon Institute. https://www.ibm.com/reports/data-breach</a:t>
                      </a:r>
                    </a:p>
                  </a:txBody>
                  <a:tcPr marL="54864" marR="54864" marT="27432" marB="27432"/>
                </a:tc>
                <a:tc>
                  <a:txBody>
                    <a:bodyPr/>
                    <a:lstStyle/>
                    <a:p>
                      <a:pPr algn="ctr"/>
                      <a:r>
                        <a:rPr sz="1100"/>
                        <a:t>NA</a:t>
                      </a:r>
                    </a:p>
                  </a:txBody>
                  <a:tcPr marL="54864" marR="54864" marT="27432" marB="27432"/>
                </a:tc>
                <a:extLst>
                  <a:ext uri="{0D108BD9-81ED-4DB2-BD59-A6C34878D82A}">
                    <a16:rowId xmlns:a16="http://schemas.microsoft.com/office/drawing/2014/main" val="10001"/>
                  </a:ext>
                </a:extLst>
              </a:tr>
              <a:tr h="576072">
                <a:tc>
                  <a:txBody>
                    <a:bodyPr/>
                    <a:lstStyle/>
                    <a:p>
                      <a:r>
                        <a:rPr sz="1100" b="1"/>
                        <a:t>Summary</a:t>
                      </a:r>
                    </a:p>
                  </a:txBody>
                  <a:tcPr marL="54864" marR="54864" marT="27432" marB="27432"/>
                </a:tc>
                <a:tc>
                  <a:txBody>
                    <a:bodyPr/>
                    <a:lstStyle/>
                    <a:p>
                      <a:r>
                        <a:rPr sz="1100"/>
                        <a:t>Annual study of the financial impact of data breaches. The 2025 edition reports a global average cost of $4.44 million (down 9%) and a U.S. average of $10.22 million (an all-time high), a mean of 241 days to identify and contain a breach, and 13% of organizations reporting breaches that involved an AI model or application.</a:t>
                      </a:r>
                    </a:p>
                  </a:txBody>
                  <a:tcPr marL="54864" marR="54864" marT="27432" marB="27432"/>
                </a:tc>
                <a:tc>
                  <a:txBody>
                    <a:bodyPr/>
                    <a:lstStyle/>
                    <a:p>
                      <a:pPr algn="ctr"/>
                      <a:r>
                        <a:rPr sz="1100"/>
                        <a:t>56</a:t>
                      </a:r>
                    </a:p>
                  </a:txBody>
                  <a:tcPr marL="54864" marR="54864" marT="27432" marB="27432"/>
                </a:tc>
                <a:extLst>
                  <a:ext uri="{0D108BD9-81ED-4DB2-BD59-A6C34878D82A}">
                    <a16:rowId xmlns:a16="http://schemas.microsoft.com/office/drawing/2014/main" val="10002"/>
                  </a:ext>
                </a:extLst>
              </a:tr>
              <a:tr h="576072">
                <a:tc>
                  <a:txBody>
                    <a:bodyPr/>
                    <a:lstStyle/>
                    <a:p>
                      <a:r>
                        <a:rPr sz="1100" b="1"/>
                        <a:t>Methodology</a:t>
                      </a:r>
                    </a:p>
                  </a:txBody>
                  <a:tcPr marL="54864" marR="54864" marT="27432" marB="27432"/>
                </a:tc>
                <a:tc>
                  <a:txBody>
                    <a:bodyPr/>
                    <a:lstStyle/>
                    <a:p>
                      <a:r>
                        <a:rPr sz="1100"/>
                        <a:t>Ponemon Institute interviews with organizations that experienced a breach in the prior year (roughly 600 organizations across 16 countries and regions and 17 industries), using activity-based costing of detection and escalation, notification, post-breach response and lost business.</a:t>
                      </a:r>
                    </a:p>
                  </a:txBody>
                  <a:tcPr marL="54864" marR="54864" marT="27432" marB="27432"/>
                </a:tc>
                <a:tc>
                  <a:txBody>
                    <a:bodyPr/>
                    <a:lstStyle/>
                    <a:p>
                      <a:pPr algn="ctr"/>
                      <a:r>
                        <a:rPr sz="1100"/>
                        <a:t>NA</a:t>
                      </a:r>
                    </a:p>
                  </a:txBody>
                  <a:tcPr marL="54864" marR="54864" marT="27432" marB="27432"/>
                </a:tc>
                <a:extLst>
                  <a:ext uri="{0D108BD9-81ED-4DB2-BD59-A6C34878D82A}">
                    <a16:rowId xmlns:a16="http://schemas.microsoft.com/office/drawing/2014/main" val="10003"/>
                  </a:ext>
                </a:extLst>
              </a:tr>
              <a:tr h="576072">
                <a:tc>
                  <a:txBody>
                    <a:bodyPr/>
                    <a:lstStyle/>
                    <a:p>
                      <a:r>
                        <a:rPr sz="1100" b="1"/>
                        <a:t>Evaluation</a:t>
                      </a:r>
                    </a:p>
                  </a:txBody>
                  <a:tcPr marL="54864" marR="54864" marT="27432" marB="27432"/>
                </a:tc>
                <a:tc>
                  <a:txBody>
                    <a:bodyPr/>
                    <a:lstStyle/>
                    <a:p>
                      <a:r>
                        <a:rPr sz="1100"/>
                        <a:t>Breach cost tracks time to identify and contain; organizations using security AI and automation extensively reported lower costs; 31% of AI-related incidents caused operational disruption with access to sensitive data; nearly two-thirds of organizations lack AI governance policies.</a:t>
                      </a:r>
                    </a:p>
                  </a:txBody>
                  <a:tcPr marL="54864" marR="54864" marT="27432" marB="27432"/>
                </a:tc>
                <a:tc>
                  <a:txBody>
                    <a:bodyPr/>
                    <a:lstStyle/>
                    <a:p>
                      <a:pPr algn="ctr"/>
                      <a:r>
                        <a:rPr sz="1100"/>
                        <a:t>38</a:t>
                      </a:r>
                    </a:p>
                  </a:txBody>
                  <a:tcPr marL="54864" marR="54864" marT="27432" marB="27432"/>
                </a:tc>
                <a:extLst>
                  <a:ext uri="{0D108BD9-81ED-4DB2-BD59-A6C34878D82A}">
                    <a16:rowId xmlns:a16="http://schemas.microsoft.com/office/drawing/2014/main" val="10004"/>
                  </a:ext>
                </a:extLst>
              </a:tr>
              <a:tr h="408432">
                <a:tc>
                  <a:txBody>
                    <a:bodyPr/>
                    <a:lstStyle/>
                    <a:p>
                      <a:r>
                        <a:rPr sz="1100" b="1"/>
                        <a:t>Relevance</a:t>
                      </a:r>
                    </a:p>
                  </a:txBody>
                  <a:tcPr marL="54864" marR="54864" marT="27432" marB="27432"/>
                </a:tc>
                <a:tc>
                  <a:txBody>
                    <a:bodyPr/>
                    <a:lstStyle/>
                    <a:p>
                      <a:r>
                        <a:rPr sz="1100"/>
                        <a:t>Quantifies the “so what” of the problem statement: cost scales with time to identify and respond, so a classifier that tells responders whether an adversary is an autonomous agent can shape containment speed and priority.</a:t>
                      </a:r>
                    </a:p>
                  </a:txBody>
                  <a:tcPr marL="54864" marR="54864" marT="27432" marB="27432"/>
                </a:tc>
                <a:tc>
                  <a:txBody>
                    <a:bodyPr/>
                    <a:lstStyle/>
                    <a:p>
                      <a:pPr algn="ctr"/>
                      <a:r>
                        <a:rPr sz="1100"/>
                        <a:t>35</a:t>
                      </a:r>
                    </a:p>
                  </a:txBody>
                  <a:tcPr marL="54864" marR="54864" marT="27432" marB="27432"/>
                </a:tc>
                <a:extLst>
                  <a:ext uri="{0D108BD9-81ED-4DB2-BD59-A6C34878D82A}">
                    <a16:rowId xmlns:a16="http://schemas.microsoft.com/office/drawing/2014/main" val="10005"/>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45720"/>
            <a:ext cx="7772400" cy="502920"/>
          </a:xfrm>
        </p:spPr>
        <p:txBody>
          <a:bodyPr wrap="square"/>
          <a:lstStyle/>
          <a:p>
            <a:r>
              <a:rPr sz="1800" b="1">
                <a:solidFill>
                  <a:srgbClr val="404040"/>
                </a:solidFill>
              </a:rPr>
              <a:t>Research Matrix 1/2</a:t>
            </a:r>
          </a:p>
        </p:txBody>
      </p:sp>
      <p:graphicFrame>
        <p:nvGraphicFramePr>
          <p:cNvPr id="4" name="Table 3"/>
          <p:cNvGraphicFramePr>
            <a:graphicFrameLocks noGrp="1"/>
          </p:cNvGraphicFramePr>
          <p:nvPr/>
        </p:nvGraphicFramePr>
        <p:xfrm>
          <a:off x="164592" y="566928"/>
          <a:ext cx="8814815" cy="3986783"/>
        </p:xfrm>
        <a:graphic>
          <a:graphicData uri="http://schemas.openxmlformats.org/drawingml/2006/table">
            <a:tbl>
              <a:tblPr firstRow="1" bandRow="1">
                <a:tableStyleId>{5C22544A-7EE6-4342-B048-85BDC9FD1C3A}</a:tableStyleId>
              </a:tblPr>
              <a:tblGrid>
                <a:gridCol w="1606867">
                  <a:extLst>
                    <a:ext uri="{9D8B030D-6E8A-4147-A177-3AD203B41FA5}">
                      <a16:colId xmlns:a16="http://schemas.microsoft.com/office/drawing/2014/main" val="20000"/>
                    </a:ext>
                  </a:extLst>
                </a:gridCol>
                <a:gridCol w="1193673">
                  <a:extLst>
                    <a:ext uri="{9D8B030D-6E8A-4147-A177-3AD203B41FA5}">
                      <a16:colId xmlns:a16="http://schemas.microsoft.com/office/drawing/2014/main" val="20001"/>
                    </a:ext>
                  </a:extLst>
                </a:gridCol>
                <a:gridCol w="2662809">
                  <a:extLst>
                    <a:ext uri="{9D8B030D-6E8A-4147-A177-3AD203B41FA5}">
                      <a16:colId xmlns:a16="http://schemas.microsoft.com/office/drawing/2014/main" val="20002"/>
                    </a:ext>
                  </a:extLst>
                </a:gridCol>
                <a:gridCol w="1606867">
                  <a:extLst>
                    <a:ext uri="{9D8B030D-6E8A-4147-A177-3AD203B41FA5}">
                      <a16:colId xmlns:a16="http://schemas.microsoft.com/office/drawing/2014/main" val="20003"/>
                    </a:ext>
                  </a:extLst>
                </a:gridCol>
                <a:gridCol w="1744599">
                  <a:extLst>
                    <a:ext uri="{9D8B030D-6E8A-4147-A177-3AD203B41FA5}">
                      <a16:colId xmlns:a16="http://schemas.microsoft.com/office/drawing/2014/main" val="20004"/>
                    </a:ext>
                  </a:extLst>
                </a:gridCol>
              </a:tblGrid>
              <a:tr h="225551">
                <a:tc>
                  <a:txBody>
                    <a:bodyPr/>
                    <a:lstStyle/>
                    <a:p>
                      <a:r>
                        <a:rPr sz="1000" b="1"/>
                        <a:t>Title</a:t>
                      </a:r>
                    </a:p>
                  </a:txBody>
                  <a:tcPr marL="54864" marR="54864" marT="27432" marB="27432" anchor="ctr"/>
                </a:tc>
                <a:tc>
                  <a:txBody>
                    <a:bodyPr/>
                    <a:lstStyle/>
                    <a:p>
                      <a:pPr algn="ctr"/>
                      <a:r>
                        <a:rPr sz="1000" b="1"/>
                        <a:t>Link</a:t>
                      </a:r>
                    </a:p>
                  </a:txBody>
                  <a:tcPr marL="54864" marR="54864" marT="27432" marB="27432" anchor="ctr"/>
                </a:tc>
                <a:tc>
                  <a:txBody>
                    <a:bodyPr/>
                    <a:lstStyle/>
                    <a:p>
                      <a:pPr algn="ctr"/>
                      <a:r>
                        <a:rPr sz="1000" b="1"/>
                        <a:t>Summary</a:t>
                      </a:r>
                    </a:p>
                  </a:txBody>
                  <a:tcPr marL="54864" marR="54864" marT="27432" marB="27432" anchor="ctr"/>
                </a:tc>
                <a:tc>
                  <a:txBody>
                    <a:bodyPr/>
                    <a:lstStyle/>
                    <a:p>
                      <a:pPr algn="ctr"/>
                      <a:r>
                        <a:rPr sz="1000" b="1"/>
                        <a:t>Models + Metrics</a:t>
                      </a:r>
                    </a:p>
                  </a:txBody>
                  <a:tcPr marL="54864" marR="54864" marT="27432" marB="27432" anchor="ctr"/>
                </a:tc>
                <a:tc>
                  <a:txBody>
                    <a:bodyPr/>
                    <a:lstStyle/>
                    <a:p>
                      <a:pPr algn="ctr"/>
                      <a:r>
                        <a:rPr sz="1000" b="1"/>
                        <a:t>Dataset + Modifications</a:t>
                      </a:r>
                    </a:p>
                  </a:txBody>
                  <a:tcPr marL="54864" marR="54864" marT="27432" marB="27432" anchor="ctr"/>
                </a:tc>
                <a:extLst>
                  <a:ext uri="{0D108BD9-81ED-4DB2-BD59-A6C34878D82A}">
                    <a16:rowId xmlns:a16="http://schemas.microsoft.com/office/drawing/2014/main" val="10000"/>
                  </a:ext>
                </a:extLst>
              </a:tr>
              <a:tr h="987552">
                <a:tc>
                  <a:txBody>
                    <a:bodyPr/>
                    <a:lstStyle/>
                    <a:p>
                      <a:r>
                        <a:rPr sz="1000"/>
                        <a:t>Beyond Anomaly Detection: Classifying Attacker Automation Level from SSH Honeypot Behavioral Signatures (2026)</a:t>
                      </a:r>
                    </a:p>
                  </a:txBody>
                  <a:tcPr marL="54864" marR="54864" marT="27432" marB="27432"/>
                </a:tc>
                <a:tc>
                  <a:txBody>
                    <a:bodyPr/>
                    <a:lstStyle/>
                    <a:p>
                      <a:r>
                        <a:rPr sz="1000"/>
                        <a:t>RIT M.S. thesis, Alt (April 2026)</a:t>
                      </a:r>
                    </a:p>
                  </a:txBody>
                  <a:tcPr marL="54864" marR="54864" marT="27432" marB="27432"/>
                </a:tc>
                <a:tc>
                  <a:txBody>
                    <a:bodyPr/>
                    <a:lstStyle/>
                    <a:p>
                      <a:r>
                        <a:rPr sz="1000"/>
                        <a:t>Problem: honeypot logs are used to detect attacks, not to tell what kind of attacker is present. Hypothesis: human, automated and AI-assisted attackers leave separable session-level signatures. Research: can ML classify automation level from Cowrie sessions?</a:t>
                      </a:r>
                    </a:p>
                  </a:txBody>
                  <a:tcPr marL="54864" marR="54864" marT="27432" marB="27432"/>
                </a:tc>
                <a:tc>
                  <a:txBody>
                    <a:bodyPr/>
                    <a:lstStyle/>
                    <a:p>
                      <a:r>
                        <a:rPr sz="1000"/>
                        <a:t>GB and RF macro-F1 0.809; AI-assisted F1 &gt; 0.888; human precision 1.000, best human LOO F1 0.732 (KNN)</a:t>
                      </a:r>
                    </a:p>
                  </a:txBody>
                  <a:tcPr marL="54864" marR="54864" marT="27432" marB="27432"/>
                </a:tc>
                <a:tc>
                  <a:txBody>
                    <a:bodyPr/>
                    <a:lstStyle/>
                    <a:p>
                      <a:r>
                        <a:rPr sz="1000"/>
                        <a:t>281,621 Cowrie sessions (Feb–Mar 2026), 24 features; undersampling + in-fold SMOTE; single host, one human operator, no network features</a:t>
                      </a:r>
                    </a:p>
                  </a:txBody>
                  <a:tcPr marL="54864" marR="54864" marT="27432" marB="27432"/>
                </a:tc>
                <a:extLst>
                  <a:ext uri="{0D108BD9-81ED-4DB2-BD59-A6C34878D82A}">
                    <a16:rowId xmlns:a16="http://schemas.microsoft.com/office/drawing/2014/main" val="10001"/>
                  </a:ext>
                </a:extLst>
              </a:tr>
              <a:tr h="835152">
                <a:tc>
                  <a:txBody>
                    <a:bodyPr/>
                    <a:lstStyle/>
                    <a:p>
                      <a:r>
                        <a:rPr sz="1000"/>
                        <a:t>LLM Agent Honeypot: Monitoring AI Hacking Agents in the Wild (2025)</a:t>
                      </a:r>
                    </a:p>
                  </a:txBody>
                  <a:tcPr marL="54864" marR="54864" marT="27432" marB="27432"/>
                </a:tc>
                <a:tc>
                  <a:txBody>
                    <a:bodyPr/>
                    <a:lstStyle/>
                    <a:p>
                      <a:r>
                        <a:rPr sz="1000" u="sng">
                          <a:solidFill>
                            <a:srgbClr val="0563C1"/>
                          </a:solidFill>
                          <a:hlinkClick r:id="rId2"/>
                        </a:rPr>
                        <a:t>arXiv:2410.13919</a:t>
                      </a:r>
                    </a:p>
                  </a:txBody>
                  <a:tcPr marL="54864" marR="54864" marT="27432" marB="27432"/>
                </a:tc>
                <a:tc>
                  <a:txBody>
                    <a:bodyPr/>
                    <a:lstStyle/>
                    <a:p>
                      <a:r>
                        <a:rPr sz="1000"/>
                        <a:t>Problem: no empirical data on LLM agents attacking real systems. Hypothesis: prompt injection plus response timing separates LLM agents from bots and humans. Research: how prevalent are autonomous AI attackers in the wild?</a:t>
                      </a:r>
                    </a:p>
                  </a:txBody>
                  <a:tcPr marL="54864" marR="54864" marT="27432" marB="27432"/>
                </a:tc>
                <a:tc>
                  <a:txBody>
                    <a:bodyPr/>
                    <a:lstStyle/>
                    <a:p>
                      <a:r>
                        <a:rPr sz="1000"/>
                        <a:t>Rule-based detector; agents respond in about 1.7 s or less (median 1.06 s internally); “Important Message” hijack 100% success</a:t>
                      </a:r>
                    </a:p>
                  </a:txBody>
                  <a:tcPr marL="54864" marR="54864" marT="27432" marB="27432"/>
                </a:tc>
                <a:tc>
                  <a:txBody>
                    <a:bodyPr/>
                    <a:lstStyle/>
                    <a:p>
                      <a:r>
                        <a:rPr sz="1000"/>
                        <a:t>8,130,731 SSH interactions over about 3 months on 10 IPs; 8 potential AI agents; public dashboard; not replicable as a labeled corpus</a:t>
                      </a:r>
                    </a:p>
                  </a:txBody>
                  <a:tcPr marL="54864" marR="54864" marT="27432" marB="27432"/>
                </a:tc>
                <a:extLst>
                  <a:ext uri="{0D108BD9-81ED-4DB2-BD59-A6C34878D82A}">
                    <a16:rowId xmlns:a16="http://schemas.microsoft.com/office/drawing/2014/main" val="10002"/>
                  </a:ext>
                </a:extLst>
              </a:tr>
              <a:tr h="835152">
                <a:tc>
                  <a:txBody>
                    <a:bodyPr/>
                    <a:lstStyle/>
                    <a:p>
                      <a:r>
                        <a:rPr sz="1000"/>
                        <a:t>Comparing AI Agents to Cybersecurity Professionals in Real-World Penetration Testing (2026)</a:t>
                      </a:r>
                    </a:p>
                  </a:txBody>
                  <a:tcPr marL="54864" marR="54864" marT="27432" marB="27432"/>
                </a:tc>
                <a:tc>
                  <a:txBody>
                    <a:bodyPr/>
                    <a:lstStyle/>
                    <a:p>
                      <a:r>
                        <a:rPr sz="1000" u="sng">
                          <a:solidFill>
                            <a:srgbClr val="0563C1"/>
                          </a:solidFill>
                          <a:hlinkClick r:id="rId3"/>
                        </a:rPr>
                        <a:t>arXiv:2512.09882</a:t>
                      </a:r>
                    </a:p>
                  </a:txBody>
                  <a:tcPr marL="54864" marR="54864" marT="27432" marB="27432"/>
                </a:tc>
                <a:tc>
                  <a:txBody>
                    <a:bodyPr/>
                    <a:lstStyle/>
                    <a:p>
                      <a:r>
                        <a:rPr sz="1000"/>
                        <a:t>Problem: benchmarks omit the realism of live networks. Hypothesis: a multi-agent scaffold (ARTEMIS) can match professionals. Research: how do agents and humans compare on a live enterprise network?</a:t>
                      </a:r>
                    </a:p>
                  </a:txBody>
                  <a:tcPr marL="54864" marR="54864" marT="27432" marB="27432"/>
                </a:tc>
                <a:tc>
                  <a:txBody>
                    <a:bodyPr/>
                    <a:lstStyle/>
                    <a:p>
                      <a:r>
                        <a:rPr sz="1000"/>
                        <a:t>Scoring by complexity + criticality; ARTEMIS 2nd of 15 entrants (9 valid findings, 82% valid rate); $18–59/hr vs $60/hr</a:t>
                      </a:r>
                    </a:p>
                  </a:txBody>
                  <a:tcPr marL="54864" marR="54864" marT="27432" marB="27432"/>
                </a:tc>
                <a:tc>
                  <a:txBody>
                    <a:bodyPr/>
                    <a:lstStyle/>
                    <a:p>
                      <a:r>
                        <a:rPr sz="1000"/>
                        <a:t>Live university network, about 8,000 hosts / 12 subnets; 10 professionals, 6 scaffolds + ARTEMIS; operator-side screen and terminal logs; not resettable</a:t>
                      </a:r>
                    </a:p>
                  </a:txBody>
                  <a:tcPr marL="54864" marR="54864" marT="27432" marB="27432"/>
                </a:tc>
                <a:extLst>
                  <a:ext uri="{0D108BD9-81ED-4DB2-BD59-A6C34878D82A}">
                    <a16:rowId xmlns:a16="http://schemas.microsoft.com/office/drawing/2014/main" val="10003"/>
                  </a:ext>
                </a:extLst>
              </a:tr>
              <a:tr h="835152">
                <a:tc>
                  <a:txBody>
                    <a:bodyPr/>
                    <a:lstStyle/>
                    <a:p>
                      <a:r>
                        <a:rPr sz="1000"/>
                        <a:t>Disrupting the First Reported AI-Orchestrated Cyber Espionage Campaign (2025)</a:t>
                      </a:r>
                    </a:p>
                  </a:txBody>
                  <a:tcPr marL="54864" marR="54864" marT="27432" marB="27432"/>
                </a:tc>
                <a:tc>
                  <a:txBody>
                    <a:bodyPr/>
                    <a:lstStyle/>
                    <a:p>
                      <a:r>
                        <a:rPr sz="1000" u="sng">
                          <a:solidFill>
                            <a:srgbClr val="0563C1"/>
                          </a:solidFill>
                          <a:hlinkClick r:id="rId4"/>
                        </a:rPr>
                        <a:t>Anthropic threat report, Nov 2025</a:t>
                      </a:r>
                    </a:p>
                  </a:txBody>
                  <a:tcPr marL="54864" marR="54864" marT="27432" marB="27432"/>
                </a:tc>
                <a:tc>
                  <a:txBody>
                    <a:bodyPr/>
                    <a:lstStyle/>
                    <a:p>
                      <a:r>
                        <a:rPr sz="1000"/>
                        <a:t>Problem: agentic AI can run intrusion campaigns with minimal oversight. Finding: GTG-1002 automated 80–90% of tactical work against about 30 targets. Research: how were the operations structured and detected?</a:t>
                      </a:r>
                    </a:p>
                  </a:txBody>
                  <a:tcPr marL="54864" marR="54864" marT="27432" marB="27432"/>
                </a:tc>
                <a:tc>
                  <a:txBody>
                    <a:bodyPr/>
                    <a:lstStyle/>
                    <a:p>
                      <a:r>
                        <a:rPr sz="1000"/>
                        <a:t>No ML model; incident investigation; detection triggered by sustained activity volume</a:t>
                      </a:r>
                    </a:p>
                  </a:txBody>
                  <a:tcPr marL="54864" marR="54864" marT="27432" marB="27432"/>
                </a:tc>
                <a:tc>
                  <a:txBody>
                    <a:bodyPr/>
                    <a:lstStyle/>
                    <a:p>
                      <a:r>
                        <a:rPr sz="1000"/>
                        <a:t>Vendor platform telemetry only; open-source pentest tools driven through MCP automation; humans at a few strategic decision points</a:t>
                      </a:r>
                    </a:p>
                  </a:txBody>
                  <a:tcPr marL="54864" marR="54864" marT="27432" marB="27432"/>
                </a:tc>
                <a:extLst>
                  <a:ext uri="{0D108BD9-81ED-4DB2-BD59-A6C34878D82A}">
                    <a16:rowId xmlns:a16="http://schemas.microsoft.com/office/drawing/2014/main" val="10004"/>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45720"/>
            <a:ext cx="7772400" cy="502920"/>
          </a:xfrm>
        </p:spPr>
        <p:txBody>
          <a:bodyPr wrap="square"/>
          <a:lstStyle/>
          <a:p>
            <a:r>
              <a:rPr sz="1800" b="1">
                <a:solidFill>
                  <a:srgbClr val="404040"/>
                </a:solidFill>
              </a:rPr>
              <a:t>Research Matrix 2/2</a:t>
            </a:r>
          </a:p>
        </p:txBody>
      </p:sp>
      <p:graphicFrame>
        <p:nvGraphicFramePr>
          <p:cNvPr id="4" name="Table 3"/>
          <p:cNvGraphicFramePr>
            <a:graphicFrameLocks noGrp="1"/>
          </p:cNvGraphicFramePr>
          <p:nvPr/>
        </p:nvGraphicFramePr>
        <p:xfrm>
          <a:off x="164592" y="566928"/>
          <a:ext cx="8814815" cy="3017519"/>
        </p:xfrm>
        <a:graphic>
          <a:graphicData uri="http://schemas.openxmlformats.org/drawingml/2006/table">
            <a:tbl>
              <a:tblPr firstRow="1" bandRow="1">
                <a:tableStyleId>{5C22544A-7EE6-4342-B048-85BDC9FD1C3A}</a:tableStyleId>
              </a:tblPr>
              <a:tblGrid>
                <a:gridCol w="1606867">
                  <a:extLst>
                    <a:ext uri="{9D8B030D-6E8A-4147-A177-3AD203B41FA5}">
                      <a16:colId xmlns:a16="http://schemas.microsoft.com/office/drawing/2014/main" val="20000"/>
                    </a:ext>
                  </a:extLst>
                </a:gridCol>
                <a:gridCol w="1193673">
                  <a:extLst>
                    <a:ext uri="{9D8B030D-6E8A-4147-A177-3AD203B41FA5}">
                      <a16:colId xmlns:a16="http://schemas.microsoft.com/office/drawing/2014/main" val="20001"/>
                    </a:ext>
                  </a:extLst>
                </a:gridCol>
                <a:gridCol w="2662809">
                  <a:extLst>
                    <a:ext uri="{9D8B030D-6E8A-4147-A177-3AD203B41FA5}">
                      <a16:colId xmlns:a16="http://schemas.microsoft.com/office/drawing/2014/main" val="20002"/>
                    </a:ext>
                  </a:extLst>
                </a:gridCol>
                <a:gridCol w="1606867">
                  <a:extLst>
                    <a:ext uri="{9D8B030D-6E8A-4147-A177-3AD203B41FA5}">
                      <a16:colId xmlns:a16="http://schemas.microsoft.com/office/drawing/2014/main" val="20003"/>
                    </a:ext>
                  </a:extLst>
                </a:gridCol>
                <a:gridCol w="1744599">
                  <a:extLst>
                    <a:ext uri="{9D8B030D-6E8A-4147-A177-3AD203B41FA5}">
                      <a16:colId xmlns:a16="http://schemas.microsoft.com/office/drawing/2014/main" val="20004"/>
                    </a:ext>
                  </a:extLst>
                </a:gridCol>
              </a:tblGrid>
              <a:tr h="225551">
                <a:tc>
                  <a:txBody>
                    <a:bodyPr/>
                    <a:lstStyle/>
                    <a:p>
                      <a:r>
                        <a:rPr sz="1000" b="1"/>
                        <a:t>Title</a:t>
                      </a:r>
                    </a:p>
                  </a:txBody>
                  <a:tcPr marL="54864" marR="54864" marT="27432" marB="27432" anchor="ctr"/>
                </a:tc>
                <a:tc>
                  <a:txBody>
                    <a:bodyPr/>
                    <a:lstStyle/>
                    <a:p>
                      <a:pPr algn="ctr"/>
                      <a:r>
                        <a:rPr sz="1000" b="1"/>
                        <a:t>Link</a:t>
                      </a:r>
                    </a:p>
                  </a:txBody>
                  <a:tcPr marL="54864" marR="54864" marT="27432" marB="27432" anchor="ctr"/>
                </a:tc>
                <a:tc>
                  <a:txBody>
                    <a:bodyPr/>
                    <a:lstStyle/>
                    <a:p>
                      <a:pPr algn="ctr"/>
                      <a:r>
                        <a:rPr sz="1000" b="1"/>
                        <a:t>Summary</a:t>
                      </a:r>
                    </a:p>
                  </a:txBody>
                  <a:tcPr marL="54864" marR="54864" marT="27432" marB="27432" anchor="ctr"/>
                </a:tc>
                <a:tc>
                  <a:txBody>
                    <a:bodyPr/>
                    <a:lstStyle/>
                    <a:p>
                      <a:pPr algn="ctr"/>
                      <a:r>
                        <a:rPr sz="1000" b="1"/>
                        <a:t>Models + Metrics</a:t>
                      </a:r>
                    </a:p>
                  </a:txBody>
                  <a:tcPr marL="54864" marR="54864" marT="27432" marB="27432" anchor="ctr"/>
                </a:tc>
                <a:tc>
                  <a:txBody>
                    <a:bodyPr/>
                    <a:lstStyle/>
                    <a:p>
                      <a:pPr algn="ctr"/>
                      <a:r>
                        <a:rPr sz="1000" b="1"/>
                        <a:t>Dataset + Modifications</a:t>
                      </a:r>
                    </a:p>
                  </a:txBody>
                  <a:tcPr marL="54864" marR="54864" marT="27432" marB="27432" anchor="ctr"/>
                </a:tc>
                <a:extLst>
                  <a:ext uri="{0D108BD9-81ED-4DB2-BD59-A6C34878D82A}">
                    <a16:rowId xmlns:a16="http://schemas.microsoft.com/office/drawing/2014/main" val="10000"/>
                  </a:ext>
                </a:extLst>
              </a:tr>
              <a:tr h="835152">
                <a:tc>
                  <a:txBody>
                    <a:bodyPr/>
                    <a:lstStyle/>
                    <a:p>
                      <a:r>
                        <a:rPr sz="1000"/>
                        <a:t>PentestGPT: Evaluating and Harnessing Large Language Models for Automated Penetration Testing (2024)</a:t>
                      </a:r>
                    </a:p>
                  </a:txBody>
                  <a:tcPr marL="54864" marR="54864" marT="27432" marB="27432"/>
                </a:tc>
                <a:tc>
                  <a:txBody>
                    <a:bodyPr/>
                    <a:lstStyle/>
                    <a:p>
                      <a:r>
                        <a:rPr sz="1000" u="sng">
                          <a:solidFill>
                            <a:srgbClr val="0563C1"/>
                          </a:solidFill>
                          <a:hlinkClick r:id="rId2"/>
                        </a:rPr>
                        <a:t>USENIX Security 2024; arXiv:2308.06782</a:t>
                      </a:r>
                    </a:p>
                  </a:txBody>
                  <a:tcPr marL="54864" marR="54864" marT="27432" marB="27432"/>
                </a:tc>
                <a:tc>
                  <a:txBody>
                    <a:bodyPr/>
                    <a:lstStyle/>
                    <a:p>
                      <a:r>
                        <a:rPr sz="1000"/>
                        <a:t>Problem: LLMs lose context across long penetration tests. Hypothesis: separating reasoning, generation and parsing modules improves completion. Research: can an LLM tool automate end-to-end testing?</a:t>
                      </a:r>
                    </a:p>
                  </a:txBody>
                  <a:tcPr marL="54864" marR="54864" marT="27432" marB="27432"/>
                </a:tc>
                <a:tc>
                  <a:txBody>
                    <a:bodyPr/>
                    <a:lstStyle/>
                    <a:p>
                      <a:r>
                        <a:rPr sz="1000"/>
                        <a:t>GPT-4-based PentestGPT; 228.6% task-completion increase over GPT-3.5 on the authors’ benchmark</a:t>
                      </a:r>
                    </a:p>
                  </a:txBody>
                  <a:tcPr marL="54864" marR="54864" marT="27432" marB="27432"/>
                </a:tc>
                <a:tc>
                  <a:txBody>
                    <a:bodyPr/>
                    <a:lstStyle/>
                    <a:p>
                      <a:r>
                        <a:rPr sz="1000"/>
                        <a:t>Benchmark of HackTheBox and VulnHub machines (13 targets, 182 sub-tasks); this is the AI-assisted tool behind Alt (2026)</a:t>
                      </a:r>
                    </a:p>
                  </a:txBody>
                  <a:tcPr marL="54864" marR="54864" marT="27432" marB="27432"/>
                </a:tc>
                <a:extLst>
                  <a:ext uri="{0D108BD9-81ED-4DB2-BD59-A6C34878D82A}">
                    <a16:rowId xmlns:a16="http://schemas.microsoft.com/office/drawing/2014/main" val="10001"/>
                  </a:ext>
                </a:extLst>
              </a:tr>
              <a:tr h="1139952">
                <a:tc>
                  <a:txBody>
                    <a:bodyPr/>
                    <a:lstStyle/>
                    <a:p>
                      <a:r>
                        <a:rPr sz="1000"/>
                        <a:t>Splunk Attack Range (Splunk, n.d.)</a:t>
                      </a:r>
                    </a:p>
                  </a:txBody>
                  <a:tcPr marL="54864" marR="54864" marT="27432" marB="27432"/>
                </a:tc>
                <a:tc>
                  <a:txBody>
                    <a:bodyPr/>
                    <a:lstStyle/>
                    <a:p>
                      <a:r>
                        <a:rPr sz="1000" u="sng">
                          <a:solidFill>
                            <a:srgbClr val="0563C1"/>
                          </a:solidFill>
                          <a:hlinkClick r:id="rId3"/>
                        </a:rPr>
                        <a:t>github.com/splunk/attack_range</a:t>
                      </a:r>
                    </a:p>
                  </a:txBody>
                  <a:tcPr marL="54864" marR="54864" marT="27432" marB="27432"/>
                </a:tc>
                <a:tc>
                  <a:txBody>
                    <a:bodyPr/>
                    <a:lstStyle/>
                    <a:p>
                      <a:r>
                        <a:rPr sz="1000"/>
                        <a:t>Instrumented cloud lab for repeatable attack simulation and telemetry collection. Candidate AWS baseline for matched human and autonomous-AI trials.</a:t>
                      </a:r>
                    </a:p>
                  </a:txBody>
                  <a:tcPr marL="54864" marR="54864" marT="27432" marB="27432"/>
                </a:tc>
                <a:tc>
                  <a:txBody>
                    <a:bodyPr/>
                    <a:lstStyle/>
                    <a:p>
                      <a:r>
                        <a:rPr sz="1000"/>
                        <a:t>Infrastructure and telemetry platform; no classifier accuracy claim.</a:t>
                      </a:r>
                    </a:p>
                  </a:txBody>
                  <a:tcPr marL="54864" marR="54864" marT="27432" marB="27432"/>
                </a:tc>
                <a:tc>
                  <a:txBody>
                    <a:bodyPr/>
                    <a:lstStyle/>
                    <a:p>
                      <a:r>
                        <a:rPr sz="1000"/>
                        <a:t>Terraform/Ansible deployment, Windows/Linux targets and optional network sensors. Pin template, commit, images and sensor settings. Project deployment is pending.</a:t>
                      </a:r>
                    </a:p>
                  </a:txBody>
                  <a:tcPr marL="54864" marR="54864" marT="27432" marB="27432"/>
                </a:tc>
                <a:extLst>
                  <a:ext uri="{0D108BD9-81ED-4DB2-BD59-A6C34878D82A}">
                    <a16:rowId xmlns:a16="http://schemas.microsoft.com/office/drawing/2014/main" val="10002"/>
                  </a:ext>
                </a:extLst>
              </a:tr>
              <a:tr h="682751">
                <a:tc>
                  <a:txBody>
                    <a:bodyPr/>
                    <a:lstStyle/>
                    <a:p>
                      <a:r>
                        <a:rPr sz="1000"/>
                        <a:t>Cost of a Data Breach Report 2025 (IBM / Ponemon)</a:t>
                      </a:r>
                    </a:p>
                  </a:txBody>
                  <a:tcPr marL="54864" marR="54864" marT="27432" marB="27432"/>
                </a:tc>
                <a:tc>
                  <a:txBody>
                    <a:bodyPr/>
                    <a:lstStyle/>
                    <a:p>
                      <a:r>
                        <a:rPr sz="1000" u="sng">
                          <a:solidFill>
                            <a:srgbClr val="0563C1"/>
                          </a:solidFill>
                          <a:hlinkClick r:id="rId4"/>
                        </a:rPr>
                        <a:t>ibm.com/reports/data-breach</a:t>
                      </a:r>
                    </a:p>
                  </a:txBody>
                  <a:tcPr marL="54864" marR="54864" marT="27432" marB="27432"/>
                </a:tc>
                <a:tc>
                  <a:txBody>
                    <a:bodyPr/>
                    <a:lstStyle/>
                    <a:p>
                      <a:r>
                        <a:rPr sz="1000"/>
                        <a:t>Problem: quantify the financial impact of breaches and the effect of response speed. Finding: $4.44M global and $10.22M U.S. average; 241 days to identify and contain.</a:t>
                      </a:r>
                    </a:p>
                  </a:txBody>
                  <a:tcPr marL="54864" marR="54864" marT="27432" marB="27432"/>
                </a:tc>
                <a:tc>
                  <a:txBody>
                    <a:bodyPr/>
                    <a:lstStyle/>
                    <a:p>
                      <a:r>
                        <a:rPr sz="1000"/>
                        <a:t>Survey with activity-based costing; no predictive model</a:t>
                      </a:r>
                    </a:p>
                  </a:txBody>
                  <a:tcPr marL="54864" marR="54864" marT="27432" marB="27432"/>
                </a:tc>
                <a:tc>
                  <a:txBody>
                    <a:bodyPr/>
                    <a:lstStyle/>
                    <a:p>
                      <a:r>
                        <a:rPr sz="1000"/>
                        <a:t>About 600 breached organizations, 16 countries/regions, 17 industries; context for the “so what”, not a modeling dataset</a:t>
                      </a:r>
                    </a:p>
                  </a:txBody>
                  <a:tcPr marL="54864" marR="54864" marT="27432" marB="27432"/>
                </a:tc>
                <a:extLst>
                  <a:ext uri="{0D108BD9-81ED-4DB2-BD59-A6C34878D82A}">
                    <a16:rowId xmlns:a16="http://schemas.microsoft.com/office/drawing/2014/main" val="10003"/>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40080" y="411480"/>
            <a:ext cx="7772400" cy="640080"/>
          </a:xfrm>
        </p:spPr>
        <p:txBody>
          <a:bodyPr wrap="square"/>
          <a:lstStyle/>
          <a:p>
            <a:r>
              <a:rPr sz="2800" b="1"/>
              <a:t>Glossary of Terms</a:t>
            </a:r>
          </a:p>
        </p:txBody>
      </p:sp>
      <p:graphicFrame>
        <p:nvGraphicFramePr>
          <p:cNvPr id="4" name="Table 3"/>
          <p:cNvGraphicFramePr>
            <a:graphicFrameLocks noGrp="1"/>
          </p:cNvGraphicFramePr>
          <p:nvPr/>
        </p:nvGraphicFramePr>
        <p:xfrm>
          <a:off x="164592" y="960120"/>
          <a:ext cx="8814816" cy="4343400"/>
        </p:xfrm>
        <a:graphic>
          <a:graphicData uri="http://schemas.openxmlformats.org/drawingml/2006/table">
            <a:tbl>
              <a:tblPr firstRow="1" bandRow="1">
                <a:tableStyleId>{5C22544A-7EE6-4342-B048-85BDC9FD1C3A}</a:tableStyleId>
              </a:tblPr>
              <a:tblGrid>
                <a:gridCol w="1836420">
                  <a:extLst>
                    <a:ext uri="{9D8B030D-6E8A-4147-A177-3AD203B41FA5}">
                      <a16:colId xmlns:a16="http://schemas.microsoft.com/office/drawing/2014/main" val="20000"/>
                    </a:ext>
                  </a:extLst>
                </a:gridCol>
                <a:gridCol w="6978396">
                  <a:extLst>
                    <a:ext uri="{9D8B030D-6E8A-4147-A177-3AD203B41FA5}">
                      <a16:colId xmlns:a16="http://schemas.microsoft.com/office/drawing/2014/main" val="20001"/>
                    </a:ext>
                  </a:extLst>
                </a:gridCol>
              </a:tblGrid>
              <a:tr h="201168">
                <a:tc>
                  <a:txBody>
                    <a:bodyPr/>
                    <a:lstStyle/>
                    <a:p>
                      <a:r>
                        <a:rPr sz="950" b="1"/>
                        <a:t>Term</a:t>
                      </a:r>
                    </a:p>
                  </a:txBody>
                  <a:tcPr marL="54864" marR="54864" marT="18288" marB="18288" anchor="ctr"/>
                </a:tc>
                <a:tc>
                  <a:txBody>
                    <a:bodyPr/>
                    <a:lstStyle/>
                    <a:p>
                      <a:pPr algn="ctr"/>
                      <a:r>
                        <a:rPr sz="950" b="1"/>
                        <a:t>Definition</a:t>
                      </a:r>
                    </a:p>
                  </a:txBody>
                  <a:tcPr marL="54864" marR="54864" marT="18288" marB="18288" anchor="ctr"/>
                </a:tc>
                <a:extLst>
                  <a:ext uri="{0D108BD9-81ED-4DB2-BD59-A6C34878D82A}">
                    <a16:rowId xmlns:a16="http://schemas.microsoft.com/office/drawing/2014/main" val="10000"/>
                  </a:ext>
                </a:extLst>
              </a:tr>
              <a:tr h="320040">
                <a:tc>
                  <a:txBody>
                    <a:bodyPr/>
                    <a:lstStyle/>
                    <a:p>
                      <a:r>
                        <a:rPr sz="950" b="1"/>
                        <a:t>APT emulation</a:t>
                      </a:r>
                    </a:p>
                  </a:txBody>
                  <a:tcPr marL="54864" marR="54864" marT="18288" marB="18288"/>
                </a:tc>
                <a:tc>
                  <a:txBody>
                    <a:bodyPr/>
                    <a:lstStyle/>
                    <a:p>
                      <a:r>
                        <a:rPr sz="950"/>
                        <a:t>A multi-stage intrusion following advanced persistent threat tradecraft (discovery, credential access, lateral movement, objective access) run against the AWS range by either arm.</a:t>
                      </a:r>
                    </a:p>
                  </a:txBody>
                  <a:tcPr marL="54864" marR="54864" marT="18288" marB="18288"/>
                </a:tc>
                <a:extLst>
                  <a:ext uri="{0D108BD9-81ED-4DB2-BD59-A6C34878D82A}">
                    <a16:rowId xmlns:a16="http://schemas.microsoft.com/office/drawing/2014/main" val="20002"/>
                  </a:ext>
                </a:extLst>
              </a:tr>
              <a:tr h="201168">
                <a:tc>
                  <a:txBody>
                    <a:bodyPr/>
                    <a:lstStyle/>
                    <a:p>
                      <a:r>
                        <a:rPr sz="950" b="1"/>
                        <a:t>Trial</a:t>
                      </a:r>
                    </a:p>
                  </a:txBody>
                  <a:tcPr marL="54864" marR="54864" marT="18288" marB="18288"/>
                </a:tc>
                <a:tc>
                  <a:txBody>
                    <a:bodyPr/>
                    <a:lstStyle/>
                    <a:p>
                      <a:r>
                        <a:rPr sz="950"/>
                        <a:t>One operator’s APT emulation attempt at the objective, from a verified clean reset to window close; the independent unit for every metric and split.</a:t>
                      </a:r>
                    </a:p>
                  </a:txBody>
                  <a:tcPr marL="54864" marR="54864" marT="18288" marB="18288"/>
                </a:tc>
                <a:extLst>
                  <a:ext uri="{0D108BD9-81ED-4DB2-BD59-A6C34878D82A}">
                    <a16:rowId xmlns:a16="http://schemas.microsoft.com/office/drawing/2014/main" val="10001"/>
                  </a:ext>
                </a:extLst>
              </a:tr>
              <a:tr h="320040">
                <a:tc>
                  <a:txBody>
                    <a:bodyPr/>
                    <a:lstStyle/>
                    <a:p>
                      <a:r>
                        <a:rPr sz="950" b="1"/>
                        <a:t>Arm</a:t>
                      </a:r>
                    </a:p>
                  </a:txBody>
                  <a:tcPr marL="54864" marR="54864" marT="18288" marB="18288"/>
                </a:tc>
                <a:tc>
                  <a:txBody>
                    <a:bodyPr/>
                    <a:lstStyle/>
                    <a:p>
                      <a:r>
                        <a:rPr sz="950"/>
                        <a:t>The operator class under test: human penetration tester or fully autonomous AI. Scripted replay is a telemetry control and benign baselines are never labeled as an arm.</a:t>
                      </a:r>
                    </a:p>
                  </a:txBody>
                  <a:tcPr marL="54864" marR="54864" marT="18288" marB="18288"/>
                </a:tc>
                <a:extLst>
                  <a:ext uri="{0D108BD9-81ED-4DB2-BD59-A6C34878D82A}">
                    <a16:rowId xmlns:a16="http://schemas.microsoft.com/office/drawing/2014/main" val="10002"/>
                  </a:ext>
                </a:extLst>
              </a:tr>
              <a:tr h="320040">
                <a:tc>
                  <a:txBody>
                    <a:bodyPr/>
                    <a:lstStyle/>
                    <a:p>
                      <a:r>
                        <a:rPr sz="950" b="1"/>
                        <a:t>Autonomous AI operator</a:t>
                      </a:r>
                    </a:p>
                  </a:txBody>
                  <a:tcPr marL="54864" marR="54864" marT="18288" marB="18288"/>
                </a:tc>
                <a:tc>
                  <a:txBody>
                    <a:bodyPr/>
                    <a:lstStyle/>
                    <a:p>
                      <a:r>
                        <a:rPr sz="950"/>
                        <a:t>A scaffold (e.g., ARTEMIS) driving a model that chooses its own actions after the brief; safety supervision allowed, any tactical intervention logged.</a:t>
                      </a:r>
                    </a:p>
                  </a:txBody>
                  <a:tcPr marL="54864" marR="54864" marT="18288" marB="18288"/>
                </a:tc>
                <a:extLst>
                  <a:ext uri="{0D108BD9-81ED-4DB2-BD59-A6C34878D82A}">
                    <a16:rowId xmlns:a16="http://schemas.microsoft.com/office/drawing/2014/main" val="10003"/>
                  </a:ext>
                </a:extLst>
              </a:tr>
              <a:tr h="320040">
                <a:tc>
                  <a:txBody>
                    <a:bodyPr/>
                    <a:lstStyle/>
                    <a:p>
                      <a:r>
                        <a:rPr sz="950" b="1"/>
                        <a:t>Target-side telemetry</a:t>
                      </a:r>
                    </a:p>
                  </a:txBody>
                  <a:tcPr marL="54864" marR="54864" marT="18288" marB="18288"/>
                </a:tc>
                <a:tc>
                  <a:txBody>
                    <a:bodyPr/>
                    <a:lstStyle/>
                    <a:p>
                      <a:r>
                        <a:rPr sz="950"/>
                        <a:t>Evidence recorded on the foothold, domain targets and network sensor; operator-side logs (prompts, terminal I/O) are ground truth only, never features.</a:t>
                      </a:r>
                    </a:p>
                  </a:txBody>
                  <a:tcPr marL="54864" marR="54864" marT="18288" marB="18288"/>
                </a:tc>
                <a:extLst>
                  <a:ext uri="{0D108BD9-81ED-4DB2-BD59-A6C34878D82A}">
                    <a16:rowId xmlns:a16="http://schemas.microsoft.com/office/drawing/2014/main" val="10004"/>
                  </a:ext>
                </a:extLst>
              </a:tr>
              <a:tr h="201168">
                <a:tc>
                  <a:txBody>
                    <a:bodyPr/>
                    <a:lstStyle/>
                    <a:p>
                      <a:r>
                        <a:rPr sz="950" b="1"/>
                        <a:t>Matched conditions</a:t>
                      </a:r>
                    </a:p>
                  </a:txBody>
                  <a:tcPr marL="54864" marR="54864" marT="18288" marB="18288"/>
                </a:tc>
                <a:tc>
                  <a:txBody>
                    <a:bodyPr/>
                    <a:lstStyle/>
                    <a:p>
                      <a:r>
                        <a:rPr sz="950"/>
                        <a:t>Same objective, foothold, OS, tool manifest, offline corpus, access window and rules of engagement for both arms.</a:t>
                      </a:r>
                    </a:p>
                  </a:txBody>
                  <a:tcPr marL="54864" marR="54864" marT="18288" marB="18288"/>
                </a:tc>
                <a:extLst>
                  <a:ext uri="{0D108BD9-81ED-4DB2-BD59-A6C34878D82A}">
                    <a16:rowId xmlns:a16="http://schemas.microsoft.com/office/drawing/2014/main" val="10005"/>
                  </a:ext>
                </a:extLst>
              </a:tr>
              <a:tr h="201168">
                <a:tc>
                  <a:txBody>
                    <a:bodyPr/>
                    <a:lstStyle/>
                    <a:p>
                      <a:r>
                        <a:rPr sz="950" b="1"/>
                        <a:t>Foothold</a:t>
                      </a:r>
                    </a:p>
                  </a:txBody>
                  <a:tcPr marL="54864" marR="54864" marT="18288" marB="18288"/>
                </a:tc>
                <a:tc>
                  <a:txBody>
                    <a:bodyPr/>
                    <a:lstStyle/>
                    <a:p>
                      <a:r>
                        <a:rPr sz="950"/>
                        <a:t>The domain-joined host inside the lab where every trial starts, with command-line and script-block logging enabled.</a:t>
                      </a:r>
                    </a:p>
                  </a:txBody>
                  <a:tcPr marL="54864" marR="54864" marT="18288" marB="18288"/>
                </a:tc>
                <a:extLst>
                  <a:ext uri="{0D108BD9-81ED-4DB2-BD59-A6C34878D82A}">
                    <a16:rowId xmlns:a16="http://schemas.microsoft.com/office/drawing/2014/main" val="10006"/>
                  </a:ext>
                </a:extLst>
              </a:tr>
              <a:tr h="320040">
                <a:tc>
                  <a:txBody>
                    <a:bodyPr/>
                    <a:lstStyle/>
                    <a:p>
                      <a:r>
                        <a:rPr sz="950" b="1"/>
                        <a:t>Access window</a:t>
                      </a:r>
                    </a:p>
                  </a:txBody>
                  <a:tcPr marL="54864" marR="54864" marT="18288" marB="18288"/>
                </a:tc>
                <a:tc>
                  <a:txBody>
                    <a:bodyPr/>
                    <a:lstStyle/>
                    <a:p>
                      <a:r>
                        <a:rPr sz="950"/>
                        <a:t>The fixed time both arms receive, sized from a dry run at several times the human median; runs continue past the objective until the window closes.</a:t>
                      </a:r>
                    </a:p>
                  </a:txBody>
                  <a:tcPr marL="54864" marR="54864" marT="18288" marB="18288"/>
                </a:tc>
                <a:extLst>
                  <a:ext uri="{0D108BD9-81ED-4DB2-BD59-A6C34878D82A}">
                    <a16:rowId xmlns:a16="http://schemas.microsoft.com/office/drawing/2014/main" val="10007"/>
                  </a:ext>
                </a:extLst>
              </a:tr>
              <a:tr h="320040">
                <a:tc>
                  <a:txBody>
                    <a:bodyPr/>
                    <a:lstStyle/>
                    <a:p>
                      <a:r>
                        <a:rPr sz="950" b="1"/>
                        <a:t>Knowledge condition</a:t>
                      </a:r>
                    </a:p>
                  </a:txBody>
                  <a:tcPr marL="54864" marR="54864" marT="18288" marB="18288"/>
                </a:tc>
                <a:tc>
                  <a:txBody>
                    <a:bodyPr/>
                    <a:lstStyle/>
                    <a:p>
                      <a:r>
                        <a:rPr sz="950"/>
                        <a:t>Black-box (objective, scope, foothold identity only), white-box (adds topology and configuration), walkthrough (rule development and stress test).</a:t>
                      </a:r>
                    </a:p>
                  </a:txBody>
                  <a:tcPr marL="54864" marR="54864" marT="18288" marB="18288"/>
                </a:tc>
                <a:extLst>
                  <a:ext uri="{0D108BD9-81ED-4DB2-BD59-A6C34878D82A}">
                    <a16:rowId xmlns:a16="http://schemas.microsoft.com/office/drawing/2014/main" val="10008"/>
                  </a:ext>
                </a:extLst>
              </a:tr>
              <a:tr h="201168">
                <a:tc>
                  <a:txBody>
                    <a:bodyPr/>
                    <a:lstStyle/>
                    <a:p>
                      <a:r>
                        <a:rPr sz="950" b="1"/>
                        <a:t>Data quality checks</a:t>
                      </a:r>
                    </a:p>
                  </a:txBody>
                  <a:tcPr marL="54864" marR="54864" marT="18288" marB="18288"/>
                </a:tc>
                <a:tc>
                  <a:txBody>
                    <a:bodyPr/>
                    <a:lstStyle/>
                    <a:p>
                      <a:r>
                        <a:rPr sz="950"/>
                        <a:t>Per-trial canary, clock, hash and reset checks; a trial that fails one is remediated and rerun.</a:t>
                      </a:r>
                    </a:p>
                  </a:txBody>
                  <a:tcPr marL="54864" marR="54864" marT="18288" marB="18288"/>
                </a:tc>
                <a:extLst>
                  <a:ext uri="{0D108BD9-81ED-4DB2-BD59-A6C34878D82A}">
                    <a16:rowId xmlns:a16="http://schemas.microsoft.com/office/drawing/2014/main" val="10009"/>
                  </a:ext>
                </a:extLst>
              </a:tr>
              <a:tr h="320040">
                <a:tc>
                  <a:txBody>
                    <a:bodyPr/>
                    <a:lstStyle/>
                    <a:p>
                      <a:r>
                        <a:rPr sz="950" b="1"/>
                        <a:t>Deny-list</a:t>
                      </a:r>
                    </a:p>
                  </a:txBody>
                  <a:tcPr marL="54864" marR="54864" marT="18288" marB="18288"/>
                </a:tc>
                <a:tc>
                  <a:txBody>
                    <a:bodyPr/>
                    <a:lstStyle/>
                    <a:p>
                      <a:r>
                        <a:rPr sz="950"/>
                        <a:t>Fields removed from model inputs because they reveal setup rather than behavior: IPs, hostnames, account IDs, credential, banners, parent process, runner artifacts, experimenter-set hours.</a:t>
                      </a:r>
                    </a:p>
                  </a:txBody>
                  <a:tcPr marL="54864" marR="54864" marT="18288" marB="18288"/>
                </a:tc>
                <a:extLst>
                  <a:ext uri="{0D108BD9-81ED-4DB2-BD59-A6C34878D82A}">
                    <a16:rowId xmlns:a16="http://schemas.microsoft.com/office/drawing/2014/main" val="10010"/>
                  </a:ext>
                </a:extLst>
              </a:tr>
              <a:tr h="201168">
                <a:tc>
                  <a:txBody>
                    <a:bodyPr/>
                    <a:lstStyle/>
                    <a:p>
                      <a:r>
                        <a:rPr sz="950" b="1"/>
                        <a:t>Metadata-only baseline</a:t>
                      </a:r>
                    </a:p>
                  </a:txBody>
                  <a:tcPr marL="54864" marR="54864" marT="18288" marB="18288"/>
                </a:tc>
                <a:tc>
                  <a:txBody>
                    <a:bodyPr/>
                    <a:lstStyle/>
                    <a:p>
                      <a:r>
                        <a:rPr sz="950"/>
                        <a:t>A model that sees only setup metadata; it should fail if leakage is controlled and is the bar the behavioral model must beat (H1).</a:t>
                      </a:r>
                    </a:p>
                  </a:txBody>
                  <a:tcPr marL="54864" marR="54864" marT="18288" marB="18288"/>
                </a:tc>
                <a:extLst>
                  <a:ext uri="{0D108BD9-81ED-4DB2-BD59-A6C34878D82A}">
                    <a16:rowId xmlns:a16="http://schemas.microsoft.com/office/drawing/2014/main" val="10011"/>
                  </a:ext>
                </a:extLst>
              </a:tr>
              <a:tr h="320040">
                <a:tc>
                  <a:txBody>
                    <a:bodyPr/>
                    <a:lstStyle/>
                    <a:p>
                      <a:r>
                        <a:rPr sz="950" b="1"/>
                        <a:t>Grouped split</a:t>
                      </a:r>
                    </a:p>
                  </a:txBody>
                  <a:tcPr marL="54864" marR="54864" marT="18288" marB="18288"/>
                </a:tc>
                <a:tc>
                  <a:txBody>
                    <a:bodyPr/>
                    <a:lstStyle/>
                    <a:p>
                      <a:r>
                        <a:rPr sz="950"/>
                        <a:t>Train/validation/test partitions assigned by trial (and by operator or AI configuration for generalization tests); all windows from one trial stay on one side.</a:t>
                      </a:r>
                    </a:p>
                  </a:txBody>
                  <a:tcPr marL="54864" marR="54864" marT="18288" marB="18288"/>
                </a:tc>
                <a:extLst>
                  <a:ext uri="{0D108BD9-81ED-4DB2-BD59-A6C34878D82A}">
                    <a16:rowId xmlns:a16="http://schemas.microsoft.com/office/drawing/2014/main" val="10012"/>
                  </a:ext>
                </a:extLst>
              </a:tr>
              <a:tr h="201168">
                <a:tc>
                  <a:txBody>
                    <a:bodyPr/>
                    <a:lstStyle/>
                    <a:p>
                      <a:r>
                        <a:rPr sz="950" b="1"/>
                        <a:t>Exploratory data analysis (EDA)</a:t>
                      </a:r>
                    </a:p>
                  </a:txBody>
                  <a:tcPr marL="54864" marR="54864" marT="18288" marB="18288"/>
                </a:tc>
                <a:tc>
                  <a:txBody>
                    <a:bodyPr/>
                    <a:lstStyle/>
                    <a:p>
                      <a:r>
                        <a:rPr sz="950"/>
                        <a:t>Profiling the training trials before modeling: class balance, feature distributions by arm, correlations and a ranked list of top features.</a:t>
                      </a:r>
                    </a:p>
                  </a:txBody>
                  <a:tcPr marL="54864" marR="54864" marT="18288" marB="18288"/>
                </a:tc>
                <a:extLst>
                  <a:ext uri="{0D108BD9-81ED-4DB2-BD59-A6C34878D82A}">
                    <a16:rowId xmlns:a16="http://schemas.microsoft.com/office/drawing/2014/main" val="20003"/>
                  </a:ext>
                </a:extLst>
              </a:tr>
              <a:tr h="201168">
                <a:tc>
                  <a:txBody>
                    <a:bodyPr/>
                    <a:lstStyle/>
                    <a:p>
                      <a:r>
                        <a:rPr sz="950" b="1"/>
                        <a:t>Censored time-to-objective</a:t>
                      </a:r>
                    </a:p>
                  </a:txBody>
                  <a:tcPr marL="54864" marR="54864" marT="18288" marB="18288"/>
                </a:tc>
                <a:tc>
                  <a:txBody>
                    <a:bodyPr/>
                    <a:lstStyle/>
                    <a:p>
                      <a:r>
                        <a:rPr sz="950"/>
                        <a:t>Time to reach the marker file; trials that end at window close without success are recorded as censored rather than discarded.</a:t>
                      </a:r>
                    </a:p>
                  </a:txBody>
                  <a:tcPr marL="54864" marR="54864" marT="18288" marB="18288"/>
                </a:tc>
                <a:extLst>
                  <a:ext uri="{0D108BD9-81ED-4DB2-BD59-A6C34878D82A}">
                    <a16:rowId xmlns:a16="http://schemas.microsoft.com/office/drawing/2014/main" val="10013"/>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40080" y="411480"/>
            <a:ext cx="7772400" cy="640080"/>
          </a:xfrm>
        </p:spPr>
        <p:txBody>
          <a:bodyPr wrap="square"/>
          <a:lstStyle/>
          <a:p>
            <a:r>
              <a:rPr sz="2800" b="1"/>
              <a:t>Acronyms</a:t>
            </a:r>
          </a:p>
        </p:txBody>
      </p:sp>
      <p:graphicFrame>
        <p:nvGraphicFramePr>
          <p:cNvPr id="4" name="Table 3"/>
          <p:cNvGraphicFramePr>
            <a:graphicFrameLocks noGrp="1"/>
          </p:cNvGraphicFramePr>
          <p:nvPr/>
        </p:nvGraphicFramePr>
        <p:xfrm>
          <a:off x="164592" y="960120"/>
          <a:ext cx="8814816" cy="4319016"/>
        </p:xfrm>
        <a:graphic>
          <a:graphicData uri="http://schemas.openxmlformats.org/drawingml/2006/table">
            <a:tbl>
              <a:tblPr firstRow="1" bandRow="1">
                <a:tableStyleId>{5C22544A-7EE6-4342-B048-85BDC9FD1C3A}</a:tableStyleId>
              </a:tblPr>
              <a:tblGrid>
                <a:gridCol w="2387346">
                  <a:extLst>
                    <a:ext uri="{9D8B030D-6E8A-4147-A177-3AD203B41FA5}">
                      <a16:colId xmlns:a16="http://schemas.microsoft.com/office/drawing/2014/main" val="20000"/>
                    </a:ext>
                  </a:extLst>
                </a:gridCol>
                <a:gridCol w="6427470">
                  <a:extLst>
                    <a:ext uri="{9D8B030D-6E8A-4147-A177-3AD203B41FA5}">
                      <a16:colId xmlns:a16="http://schemas.microsoft.com/office/drawing/2014/main" val="20001"/>
                    </a:ext>
                  </a:extLst>
                </a:gridCol>
              </a:tblGrid>
              <a:tr h="173736">
                <a:tc>
                  <a:txBody>
                    <a:bodyPr/>
                    <a:lstStyle/>
                    <a:p>
                      <a:r>
                        <a:rPr sz="1000" b="1"/>
                        <a:t>Acronym</a:t>
                      </a:r>
                    </a:p>
                  </a:txBody>
                  <a:tcPr marL="54864" marR="54864" marT="9144" marB="9144" anchor="ctr"/>
                </a:tc>
                <a:tc>
                  <a:txBody>
                    <a:bodyPr/>
                    <a:lstStyle/>
                    <a:p>
                      <a:pPr algn="ctr"/>
                      <a:r>
                        <a:rPr sz="1000" b="1"/>
                        <a:t>Definition</a:t>
                      </a:r>
                    </a:p>
                  </a:txBody>
                  <a:tcPr marL="54864" marR="54864" marT="9144" marB="9144" anchor="ctr"/>
                </a:tc>
                <a:extLst>
                  <a:ext uri="{0D108BD9-81ED-4DB2-BD59-A6C34878D82A}">
                    <a16:rowId xmlns:a16="http://schemas.microsoft.com/office/drawing/2014/main" val="10000"/>
                  </a:ext>
                </a:extLst>
              </a:tr>
              <a:tr h="173736">
                <a:tc>
                  <a:txBody>
                    <a:bodyPr/>
                    <a:lstStyle/>
                    <a:p>
                      <a:r>
                        <a:rPr sz="1000" b="1"/>
                        <a:t>AD</a:t>
                      </a:r>
                    </a:p>
                  </a:txBody>
                  <a:tcPr marL="54864" marR="54864" marT="9144" marB="9144"/>
                </a:tc>
                <a:tc>
                  <a:txBody>
                    <a:bodyPr/>
                    <a:lstStyle/>
                    <a:p>
                      <a:r>
                        <a:rPr sz="1000"/>
                        <a:t>Active Directory</a:t>
                      </a:r>
                    </a:p>
                  </a:txBody>
                  <a:tcPr marL="54864" marR="54864" marT="9144" marB="9144"/>
                </a:tc>
                <a:extLst>
                  <a:ext uri="{0D108BD9-81ED-4DB2-BD59-A6C34878D82A}">
                    <a16:rowId xmlns:a16="http://schemas.microsoft.com/office/drawing/2014/main" val="10001"/>
                  </a:ext>
                </a:extLst>
              </a:tr>
              <a:tr h="173736">
                <a:tc>
                  <a:txBody>
                    <a:bodyPr/>
                    <a:lstStyle/>
                    <a:p>
                      <a:r>
                        <a:rPr sz="1000" b="1"/>
                        <a:t>APT</a:t>
                      </a:r>
                    </a:p>
                  </a:txBody>
                  <a:tcPr marL="54864" marR="54864" marT="9144" marB="9144"/>
                </a:tc>
                <a:tc>
                  <a:txBody>
                    <a:bodyPr/>
                    <a:lstStyle/>
                    <a:p>
                      <a:r>
                        <a:rPr sz="1000"/>
                        <a:t>Advanced Persistent Threat</a:t>
                      </a:r>
                    </a:p>
                  </a:txBody>
                  <a:tcPr marL="54864" marR="54864" marT="9144" marB="9144"/>
                </a:tc>
                <a:extLst>
                  <a:ext uri="{0D108BD9-81ED-4DB2-BD59-A6C34878D82A}">
                    <a16:rowId xmlns:a16="http://schemas.microsoft.com/office/drawing/2014/main" val="20004"/>
                  </a:ext>
                </a:extLst>
              </a:tr>
              <a:tr h="173736">
                <a:tc>
                  <a:txBody>
                    <a:bodyPr/>
                    <a:lstStyle/>
                    <a:p>
                      <a:r>
                        <a:rPr sz="1000" b="1"/>
                        <a:t>ARTEMIS</a:t>
                      </a:r>
                    </a:p>
                  </a:txBody>
                  <a:tcPr marL="54864" marR="54864" marT="9144" marB="9144"/>
                </a:tc>
                <a:tc>
                  <a:txBody>
                    <a:bodyPr/>
                    <a:lstStyle/>
                    <a:p>
                      <a:r>
                        <a:rPr sz="1000"/>
                        <a:t>Stanford multi-agent autonomous penetration-testing scaffold (Lin et al., 2026)</a:t>
                      </a:r>
                    </a:p>
                  </a:txBody>
                  <a:tcPr marL="54864" marR="54864" marT="9144" marB="9144"/>
                </a:tc>
                <a:extLst>
                  <a:ext uri="{0D108BD9-81ED-4DB2-BD59-A6C34878D82A}">
                    <a16:rowId xmlns:a16="http://schemas.microsoft.com/office/drawing/2014/main" val="10002"/>
                  </a:ext>
                </a:extLst>
              </a:tr>
              <a:tr h="173736">
                <a:tc>
                  <a:txBody>
                    <a:bodyPr/>
                    <a:lstStyle/>
                    <a:p>
                      <a:r>
                        <a:rPr sz="1000" b="1"/>
                        <a:t>ATT&amp;CK</a:t>
                      </a:r>
                    </a:p>
                  </a:txBody>
                  <a:tcPr marL="54864" marR="54864" marT="9144" marB="9144"/>
                </a:tc>
                <a:tc>
                  <a:txBody>
                    <a:bodyPr/>
                    <a:lstStyle/>
                    <a:p>
                      <a:r>
                        <a:rPr sz="1000"/>
                        <a:t>MITRE Adversarial Tactics, Techniques and Common Knowledge</a:t>
                      </a:r>
                    </a:p>
                  </a:txBody>
                  <a:tcPr marL="54864" marR="54864" marT="9144" marB="9144"/>
                </a:tc>
                <a:extLst>
                  <a:ext uri="{0D108BD9-81ED-4DB2-BD59-A6C34878D82A}">
                    <a16:rowId xmlns:a16="http://schemas.microsoft.com/office/drawing/2014/main" val="10003"/>
                  </a:ext>
                </a:extLst>
              </a:tr>
              <a:tr h="173736">
                <a:tc>
                  <a:txBody>
                    <a:bodyPr/>
                    <a:lstStyle/>
                    <a:p>
                      <a:r>
                        <a:rPr sz="1000" b="1"/>
                        <a:t>AWS / VPC / S3 / IAM</a:t>
                      </a:r>
                    </a:p>
                  </a:txBody>
                  <a:tcPr marL="54864" marR="54864" marT="9144" marB="9144"/>
                </a:tc>
                <a:tc>
                  <a:txBody>
                    <a:bodyPr/>
                    <a:lstStyle/>
                    <a:p>
                      <a:r>
                        <a:rPr sz="1000"/>
                        <a:t>Amazon Web Services / Virtual Private Cloud / Simple Storage Service / Identity and Access Management</a:t>
                      </a:r>
                    </a:p>
                  </a:txBody>
                  <a:tcPr marL="54864" marR="54864" marT="9144" marB="9144"/>
                </a:tc>
                <a:extLst>
                  <a:ext uri="{0D108BD9-81ED-4DB2-BD59-A6C34878D82A}">
                    <a16:rowId xmlns:a16="http://schemas.microsoft.com/office/drawing/2014/main" val="10004"/>
                  </a:ext>
                </a:extLst>
              </a:tr>
              <a:tr h="173736">
                <a:tc>
                  <a:txBody>
                    <a:bodyPr/>
                    <a:lstStyle/>
                    <a:p>
                      <a:r>
                        <a:rPr sz="1000" b="1"/>
                        <a:t>DC</a:t>
                      </a:r>
                    </a:p>
                  </a:txBody>
                  <a:tcPr marL="54864" marR="54864" marT="9144" marB="9144"/>
                </a:tc>
                <a:tc>
                  <a:txBody>
                    <a:bodyPr/>
                    <a:lstStyle/>
                    <a:p>
                      <a:r>
                        <a:rPr sz="1000"/>
                        <a:t>Domain Controller</a:t>
                      </a:r>
                    </a:p>
                  </a:txBody>
                  <a:tcPr marL="54864" marR="54864" marT="9144" marB="9144"/>
                </a:tc>
                <a:extLst>
                  <a:ext uri="{0D108BD9-81ED-4DB2-BD59-A6C34878D82A}">
                    <a16:rowId xmlns:a16="http://schemas.microsoft.com/office/drawing/2014/main" val="10005"/>
                  </a:ext>
                </a:extLst>
              </a:tr>
              <a:tr h="173736">
                <a:tc>
                  <a:txBody>
                    <a:bodyPr/>
                    <a:lstStyle/>
                    <a:p>
                      <a:r>
                        <a:rPr sz="1000" b="1"/>
                        <a:t>DGX Spark</a:t>
                      </a:r>
                    </a:p>
                  </a:txBody>
                  <a:tcPr marL="54864" marR="54864" marT="9144" marB="9144"/>
                </a:tc>
                <a:tc>
                  <a:txBody>
                    <a:bodyPr/>
                    <a:lstStyle/>
                    <a:p>
                      <a:r>
                        <a:rPr sz="1000"/>
                        <a:t>NVIDIA desktop AI system hosting the local model for the autonomous arm</a:t>
                      </a:r>
                    </a:p>
                  </a:txBody>
                  <a:tcPr marL="54864" marR="54864" marT="9144" marB="9144"/>
                </a:tc>
                <a:extLst>
                  <a:ext uri="{0D108BD9-81ED-4DB2-BD59-A6C34878D82A}">
                    <a16:rowId xmlns:a16="http://schemas.microsoft.com/office/drawing/2014/main" val="10006"/>
                  </a:ext>
                </a:extLst>
              </a:tr>
              <a:tr h="173736">
                <a:tc>
                  <a:txBody>
                    <a:bodyPr/>
                    <a:lstStyle/>
                    <a:p>
                      <a:r>
                        <a:rPr sz="1000" b="1"/>
                        <a:t>EDA</a:t>
                      </a:r>
                    </a:p>
                  </a:txBody>
                  <a:tcPr marL="54864" marR="54864" marT="9144" marB="9144"/>
                </a:tc>
                <a:tc>
                  <a:txBody>
                    <a:bodyPr/>
                    <a:lstStyle/>
                    <a:p>
                      <a:r>
                        <a:rPr sz="1000"/>
                        <a:t>Exploratory Data Analysis</a:t>
                      </a:r>
                    </a:p>
                  </a:txBody>
                  <a:tcPr marL="54864" marR="54864" marT="9144" marB="9144"/>
                </a:tc>
                <a:extLst>
                  <a:ext uri="{0D108BD9-81ED-4DB2-BD59-A6C34878D82A}">
                    <a16:rowId xmlns:a16="http://schemas.microsoft.com/office/drawing/2014/main" val="20005"/>
                  </a:ext>
                </a:extLst>
              </a:tr>
              <a:tr h="173736">
                <a:tc>
                  <a:txBody>
                    <a:bodyPr/>
                    <a:lstStyle/>
                    <a:p>
                      <a:r>
                        <a:rPr sz="1000" b="1"/>
                        <a:t>EVTX</a:t>
                      </a:r>
                    </a:p>
                  </a:txBody>
                  <a:tcPr marL="54864" marR="54864" marT="9144" marB="9144"/>
                </a:tc>
                <a:tc>
                  <a:txBody>
                    <a:bodyPr/>
                    <a:lstStyle/>
                    <a:p>
                      <a:r>
                        <a:rPr sz="1000"/>
                        <a:t>Windows Event Log native file format</a:t>
                      </a:r>
                    </a:p>
                  </a:txBody>
                  <a:tcPr marL="54864" marR="54864" marT="9144" marB="9144"/>
                </a:tc>
                <a:extLst>
                  <a:ext uri="{0D108BD9-81ED-4DB2-BD59-A6C34878D82A}">
                    <a16:rowId xmlns:a16="http://schemas.microsoft.com/office/drawing/2014/main" val="10007"/>
                  </a:ext>
                </a:extLst>
              </a:tr>
              <a:tr h="173736">
                <a:tc>
                  <a:txBody>
                    <a:bodyPr/>
                    <a:lstStyle/>
                    <a:p>
                      <a:r>
                        <a:rPr sz="1000" b="1"/>
                        <a:t>Attack Range</a:t>
                      </a:r>
                    </a:p>
                  </a:txBody>
                  <a:tcPr marL="54864" marR="54864" marT="9144" marB="9144"/>
                </a:tc>
                <a:tc>
                  <a:txBody>
                    <a:bodyPr/>
                    <a:lstStyle/>
                    <a:p>
                      <a:r>
                        <a:rPr sz="1000"/>
                        <a:t>Splunk instrumented cloud lab (proposed AWS baseline)</a:t>
                      </a:r>
                    </a:p>
                  </a:txBody>
                  <a:tcPr marL="54864" marR="54864" marT="9144" marB="9144"/>
                </a:tc>
                <a:extLst>
                  <a:ext uri="{0D108BD9-81ED-4DB2-BD59-A6C34878D82A}">
                    <a16:rowId xmlns:a16="http://schemas.microsoft.com/office/drawing/2014/main" val="10008"/>
                  </a:ext>
                </a:extLst>
              </a:tr>
              <a:tr h="173736">
                <a:tc>
                  <a:txBody>
                    <a:bodyPr/>
                    <a:lstStyle/>
                    <a:p>
                      <a:r>
                        <a:rPr sz="1000" b="1"/>
                        <a:t>LDAP / SMB / RDP</a:t>
                      </a:r>
                    </a:p>
                  </a:txBody>
                  <a:tcPr marL="54864" marR="54864" marT="9144" marB="9144"/>
                </a:tc>
                <a:tc>
                  <a:txBody>
                    <a:bodyPr/>
                    <a:lstStyle/>
                    <a:p>
                      <a:r>
                        <a:rPr sz="1000"/>
                        <a:t>Lightweight Directory Access Protocol / Server Message Block / Remote Desktop Protocol</a:t>
                      </a:r>
                    </a:p>
                  </a:txBody>
                  <a:tcPr marL="54864" marR="54864" marT="9144" marB="9144"/>
                </a:tc>
                <a:extLst>
                  <a:ext uri="{0D108BD9-81ED-4DB2-BD59-A6C34878D82A}">
                    <a16:rowId xmlns:a16="http://schemas.microsoft.com/office/drawing/2014/main" val="10009"/>
                  </a:ext>
                </a:extLst>
              </a:tr>
              <a:tr h="173736">
                <a:tc>
                  <a:txBody>
                    <a:bodyPr/>
                    <a:lstStyle/>
                    <a:p>
                      <a:r>
                        <a:rPr sz="1000" b="1"/>
                        <a:t>LLM</a:t>
                      </a:r>
                    </a:p>
                  </a:txBody>
                  <a:tcPr marL="54864" marR="54864" marT="9144" marB="9144"/>
                </a:tc>
                <a:tc>
                  <a:txBody>
                    <a:bodyPr/>
                    <a:lstStyle/>
                    <a:p>
                      <a:r>
                        <a:rPr sz="1000"/>
                        <a:t>Large Language Model</a:t>
                      </a:r>
                    </a:p>
                  </a:txBody>
                  <a:tcPr marL="54864" marR="54864" marT="9144" marB="9144"/>
                </a:tc>
                <a:extLst>
                  <a:ext uri="{0D108BD9-81ED-4DB2-BD59-A6C34878D82A}">
                    <a16:rowId xmlns:a16="http://schemas.microsoft.com/office/drawing/2014/main" val="10010"/>
                  </a:ext>
                </a:extLst>
              </a:tr>
              <a:tr h="173736">
                <a:tc>
                  <a:txBody>
                    <a:bodyPr/>
                    <a:lstStyle/>
                    <a:p>
                      <a:r>
                        <a:rPr sz="1000" b="1"/>
                        <a:t>LLMNR / NBT-NS</a:t>
                      </a:r>
                    </a:p>
                  </a:txBody>
                  <a:tcPr marL="54864" marR="54864" marT="9144" marB="9144"/>
                </a:tc>
                <a:tc>
                  <a:txBody>
                    <a:bodyPr/>
                    <a:lstStyle/>
                    <a:p>
                      <a:r>
                        <a:rPr sz="1000"/>
                        <a:t>Link-Local Multicast Name Resolution / NetBIOS Name Service</a:t>
                      </a:r>
                    </a:p>
                  </a:txBody>
                  <a:tcPr marL="54864" marR="54864" marT="9144" marB="9144"/>
                </a:tc>
                <a:extLst>
                  <a:ext uri="{0D108BD9-81ED-4DB2-BD59-A6C34878D82A}">
                    <a16:rowId xmlns:a16="http://schemas.microsoft.com/office/drawing/2014/main" val="10011"/>
                  </a:ext>
                </a:extLst>
              </a:tr>
              <a:tr h="173736">
                <a:tc>
                  <a:txBody>
                    <a:bodyPr/>
                    <a:lstStyle/>
                    <a:p>
                      <a:r>
                        <a:rPr sz="1000" b="1"/>
                        <a:t>LOO</a:t>
                      </a:r>
                    </a:p>
                  </a:txBody>
                  <a:tcPr marL="54864" marR="54864" marT="9144" marB="9144"/>
                </a:tc>
                <a:tc>
                  <a:txBody>
                    <a:bodyPr/>
                    <a:lstStyle/>
                    <a:p>
                      <a:r>
                        <a:rPr sz="1000"/>
                        <a:t>Leave-One-Out cross-validation</a:t>
                      </a:r>
                    </a:p>
                  </a:txBody>
                  <a:tcPr marL="54864" marR="54864" marT="9144" marB="9144"/>
                </a:tc>
                <a:extLst>
                  <a:ext uri="{0D108BD9-81ED-4DB2-BD59-A6C34878D82A}">
                    <a16:rowId xmlns:a16="http://schemas.microsoft.com/office/drawing/2014/main" val="10012"/>
                  </a:ext>
                </a:extLst>
              </a:tr>
              <a:tr h="173736">
                <a:tc>
                  <a:txBody>
                    <a:bodyPr/>
                    <a:lstStyle/>
                    <a:p>
                      <a:r>
                        <a:rPr sz="1000" b="1"/>
                        <a:t>MCP</a:t>
                      </a:r>
                    </a:p>
                  </a:txBody>
                  <a:tcPr marL="54864" marR="54864" marT="9144" marB="9144"/>
                </a:tc>
                <a:tc>
                  <a:txBody>
                    <a:bodyPr/>
                    <a:lstStyle/>
                    <a:p>
                      <a:r>
                        <a:rPr sz="1000"/>
                        <a:t>Model Context Protocol</a:t>
                      </a:r>
                    </a:p>
                  </a:txBody>
                  <a:tcPr marL="54864" marR="54864" marT="9144" marB="9144"/>
                </a:tc>
                <a:extLst>
                  <a:ext uri="{0D108BD9-81ED-4DB2-BD59-A6C34878D82A}">
                    <a16:rowId xmlns:a16="http://schemas.microsoft.com/office/drawing/2014/main" val="10013"/>
                  </a:ext>
                </a:extLst>
              </a:tr>
              <a:tr h="173736">
                <a:tc>
                  <a:txBody>
                    <a:bodyPr/>
                    <a:lstStyle/>
                    <a:p>
                      <a:r>
                        <a:rPr sz="1000" b="1"/>
                        <a:t>PCA / t-SNE</a:t>
                      </a:r>
                    </a:p>
                  </a:txBody>
                  <a:tcPr marL="54864" marR="54864" marT="9144" marB="9144"/>
                </a:tc>
                <a:tc>
                  <a:txBody>
                    <a:bodyPr/>
                    <a:lstStyle/>
                    <a:p>
                      <a:r>
                        <a:rPr sz="1000"/>
                        <a:t>Principal Component Analysis / t-distributed Stochastic Neighbor Embedding</a:t>
                      </a:r>
                    </a:p>
                  </a:txBody>
                  <a:tcPr marL="54864" marR="54864" marT="9144" marB="9144"/>
                </a:tc>
                <a:extLst>
                  <a:ext uri="{0D108BD9-81ED-4DB2-BD59-A6C34878D82A}">
                    <a16:rowId xmlns:a16="http://schemas.microsoft.com/office/drawing/2014/main" val="20006"/>
                  </a:ext>
                </a:extLst>
              </a:tr>
              <a:tr h="173736">
                <a:tc>
                  <a:txBody>
                    <a:bodyPr/>
                    <a:lstStyle/>
                    <a:p>
                      <a:r>
                        <a:rPr sz="1000" b="1"/>
                        <a:t>PCAP</a:t>
                      </a:r>
                    </a:p>
                  </a:txBody>
                  <a:tcPr marL="54864" marR="54864" marT="9144" marB="9144"/>
                </a:tc>
                <a:tc>
                  <a:txBody>
                    <a:bodyPr/>
                    <a:lstStyle/>
                    <a:p>
                      <a:r>
                        <a:rPr sz="1000"/>
                        <a:t>Packet capture</a:t>
                      </a:r>
                    </a:p>
                  </a:txBody>
                  <a:tcPr marL="54864" marR="54864" marT="9144" marB="9144"/>
                </a:tc>
                <a:extLst>
                  <a:ext uri="{0D108BD9-81ED-4DB2-BD59-A6C34878D82A}">
                    <a16:rowId xmlns:a16="http://schemas.microsoft.com/office/drawing/2014/main" val="10014"/>
                  </a:ext>
                </a:extLst>
              </a:tr>
              <a:tr h="173736">
                <a:tc>
                  <a:txBody>
                    <a:bodyPr/>
                    <a:lstStyle/>
                    <a:p>
                      <a:r>
                        <a:rPr sz="1000" b="1"/>
                        <a:t>RF / GB / XGB / DT / LR / SVM / NB / KNN</a:t>
                      </a:r>
                    </a:p>
                  </a:txBody>
                  <a:tcPr marL="54864" marR="54864" marT="9144" marB="9144"/>
                </a:tc>
                <a:tc>
                  <a:txBody>
                    <a:bodyPr/>
                    <a:lstStyle/>
                    <a:p>
                      <a:r>
                        <a:rPr sz="1000"/>
                        <a:t>Random Forest / Gradient Boosting / XGBoost / Decision Tree / Logistic Regression / Support Vector Machine / Naïve Bayes / K-Nearest Neighbors</a:t>
                      </a:r>
                    </a:p>
                  </a:txBody>
                  <a:tcPr marL="54864" marR="54864" marT="9144" marB="9144"/>
                </a:tc>
                <a:extLst>
                  <a:ext uri="{0D108BD9-81ED-4DB2-BD59-A6C34878D82A}">
                    <a16:rowId xmlns:a16="http://schemas.microsoft.com/office/drawing/2014/main" val="10015"/>
                  </a:ext>
                </a:extLst>
              </a:tr>
              <a:tr h="173736">
                <a:tc>
                  <a:txBody>
                    <a:bodyPr/>
                    <a:lstStyle/>
                    <a:p>
                      <a:r>
                        <a:rPr sz="1000" b="1"/>
                        <a:t>ROC-AUC</a:t>
                      </a:r>
                    </a:p>
                  </a:txBody>
                  <a:tcPr marL="54864" marR="54864" marT="9144" marB="9144"/>
                </a:tc>
                <a:tc>
                  <a:txBody>
                    <a:bodyPr/>
                    <a:lstStyle/>
                    <a:p>
                      <a:r>
                        <a:rPr sz="1000"/>
                        <a:t>Area Under the Receiver Operating Characteristic Curve</a:t>
                      </a:r>
                    </a:p>
                  </a:txBody>
                  <a:tcPr marL="54864" marR="54864" marT="9144" marB="9144"/>
                </a:tc>
                <a:extLst>
                  <a:ext uri="{0D108BD9-81ED-4DB2-BD59-A6C34878D82A}">
                    <a16:rowId xmlns:a16="http://schemas.microsoft.com/office/drawing/2014/main" val="20007"/>
                  </a:ext>
                </a:extLst>
              </a:tr>
              <a:tr h="173736">
                <a:tc>
                  <a:txBody>
                    <a:bodyPr/>
                    <a:lstStyle/>
                    <a:p>
                      <a:r>
                        <a:rPr sz="1000" b="1"/>
                        <a:t>ROE</a:t>
                      </a:r>
                    </a:p>
                  </a:txBody>
                  <a:tcPr marL="54864" marR="54864" marT="9144" marB="9144"/>
                </a:tc>
                <a:tc>
                  <a:txBody>
                    <a:bodyPr/>
                    <a:lstStyle/>
                    <a:p>
                      <a:r>
                        <a:rPr sz="1000"/>
                        <a:t>Rules of Engagement</a:t>
                      </a:r>
                    </a:p>
                  </a:txBody>
                  <a:tcPr marL="54864" marR="54864" marT="9144" marB="9144"/>
                </a:tc>
                <a:extLst>
                  <a:ext uri="{0D108BD9-81ED-4DB2-BD59-A6C34878D82A}">
                    <a16:rowId xmlns:a16="http://schemas.microsoft.com/office/drawing/2014/main" val="10016"/>
                  </a:ext>
                </a:extLst>
              </a:tr>
              <a:tr h="173736">
                <a:tc>
                  <a:txBody>
                    <a:bodyPr/>
                    <a:lstStyle/>
                    <a:p>
                      <a:r>
                        <a:rPr sz="1000" b="1"/>
                        <a:t>SHA-256</a:t>
                      </a:r>
                    </a:p>
                  </a:txBody>
                  <a:tcPr marL="54864" marR="54864" marT="9144" marB="9144"/>
                </a:tc>
                <a:tc>
                  <a:txBody>
                    <a:bodyPr/>
                    <a:lstStyle/>
                    <a:p>
                      <a:r>
                        <a:rPr sz="1000"/>
                        <a:t>Secure Hash Algorithm, 256-bit (evidence manifests)</a:t>
                      </a:r>
                    </a:p>
                  </a:txBody>
                  <a:tcPr marL="54864" marR="54864" marT="9144" marB="9144"/>
                </a:tc>
                <a:extLst>
                  <a:ext uri="{0D108BD9-81ED-4DB2-BD59-A6C34878D82A}">
                    <a16:rowId xmlns:a16="http://schemas.microsoft.com/office/drawing/2014/main" val="10017"/>
                  </a:ext>
                </a:extLst>
              </a:tr>
              <a:tr h="173736">
                <a:tc>
                  <a:txBody>
                    <a:bodyPr/>
                    <a:lstStyle/>
                    <a:p>
                      <a:r>
                        <a:rPr sz="1000" b="1"/>
                        <a:t>SHAP</a:t>
                      </a:r>
                    </a:p>
                  </a:txBody>
                  <a:tcPr marL="54864" marR="54864" marT="9144" marB="9144"/>
                </a:tc>
                <a:tc>
                  <a:txBody>
                    <a:bodyPr/>
                    <a:lstStyle/>
                    <a:p>
                      <a:r>
                        <a:rPr sz="1000"/>
                        <a:t>SHapley Additive exPlanations (feature attribution)</a:t>
                      </a:r>
                    </a:p>
                  </a:txBody>
                  <a:tcPr marL="54864" marR="54864" marT="9144" marB="9144"/>
                </a:tc>
                <a:extLst>
                  <a:ext uri="{0D108BD9-81ED-4DB2-BD59-A6C34878D82A}">
                    <a16:rowId xmlns:a16="http://schemas.microsoft.com/office/drawing/2014/main" val="20008"/>
                  </a:ext>
                </a:extLst>
              </a:tr>
              <a:tr h="173736">
                <a:tc>
                  <a:txBody>
                    <a:bodyPr/>
                    <a:lstStyle/>
                    <a:p>
                      <a:r>
                        <a:rPr sz="1000" b="1"/>
                        <a:t>SMOTE</a:t>
                      </a:r>
                    </a:p>
                  </a:txBody>
                  <a:tcPr marL="54864" marR="54864" marT="9144" marB="9144"/>
                </a:tc>
                <a:tc>
                  <a:txBody>
                    <a:bodyPr/>
                    <a:lstStyle/>
                    <a:p>
                      <a:r>
                        <a:rPr sz="1000"/>
                        <a:t>Synthetic Minority Over-sampling Technique</a:t>
                      </a:r>
                    </a:p>
                  </a:txBody>
                  <a:tcPr marL="54864" marR="54864" marT="9144" marB="9144"/>
                </a:tc>
                <a:extLst>
                  <a:ext uri="{0D108BD9-81ED-4DB2-BD59-A6C34878D82A}">
                    <a16:rowId xmlns:a16="http://schemas.microsoft.com/office/drawing/2014/main" val="10018"/>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74320" y="0"/>
            <a:ext cx="8595360" cy="640080"/>
          </a:xfrm>
        </p:spPr>
        <p:txBody>
          <a:bodyPr wrap="square"/>
          <a:lstStyle/>
          <a:p>
            <a:pPr algn="ctr"/>
            <a:r>
              <a:rPr sz="1500" b="1">
                <a:solidFill>
                  <a:srgbClr val="404040"/>
                </a:solidFill>
              </a:rPr>
              <a:t>Block Diagram (start on this page and continues in subsequent pages)</a:t>
            </a:r>
          </a:p>
          <a:p>
            <a:pPr algn="ctr"/>
            <a:r>
              <a:rPr sz="1500" b="1">
                <a:solidFill>
                  <a:srgbClr val="404040"/>
                </a:solidFill>
              </a:rPr>
              <a:t>Level 1</a:t>
            </a:r>
          </a:p>
        </p:txBody>
      </p:sp>
      <p:sp>
        <p:nvSpPr>
          <p:cNvPr id="4" name="Rectangle 3"/>
          <p:cNvSpPr/>
          <p:nvPr/>
        </p:nvSpPr>
        <p:spPr>
          <a:xfrm>
            <a:off x="342900" y="731520"/>
            <a:ext cx="2514600" cy="914400"/>
          </a:xfrm>
          <a:prstGeom prst="rect">
            <a:avLst/>
          </a:prstGeom>
          <a:solidFill>
            <a:srgbClr val="DAEBF7"/>
          </a:solidFill>
          <a:ln w="12700">
            <a:solidFill>
              <a:srgbClr val="4F81BD"/>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050" b="1">
                <a:solidFill>
                  <a:srgbClr val="000000"/>
                </a:solidFill>
              </a:rPr>
              <a:t>1. Build the APT emulation range</a:t>
            </a:r>
          </a:p>
          <a:p>
            <a:pPr algn="l"/>
            <a:r>
              <a:rPr sz="950" b="0">
                <a:solidFill>
                  <a:srgbClr val="000000"/>
                </a:solidFill>
              </a:rPr>
              <a:t>Provision the proposed AWS range at a pinned revision with host auditing, network sensors and a separate evidence account.</a:t>
            </a:r>
          </a:p>
        </p:txBody>
      </p:sp>
      <p:sp>
        <p:nvSpPr>
          <p:cNvPr id="5" name="Rectangle 4"/>
          <p:cNvSpPr/>
          <p:nvPr/>
        </p:nvSpPr>
        <p:spPr>
          <a:xfrm>
            <a:off x="3314700" y="731520"/>
            <a:ext cx="2514600" cy="914400"/>
          </a:xfrm>
          <a:prstGeom prst="rect">
            <a:avLst/>
          </a:prstGeom>
          <a:solidFill>
            <a:srgbClr val="DAEBF7"/>
          </a:solidFill>
          <a:ln w="12700">
            <a:solidFill>
              <a:srgbClr val="4F81BD"/>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050" b="1">
                <a:solidFill>
                  <a:srgbClr val="000000"/>
                </a:solidFill>
              </a:rPr>
              <a:t>2. Define the APT campaign and preregister</a:t>
            </a:r>
          </a:p>
          <a:p>
            <a:pPr algn="l"/>
            <a:r>
              <a:rPr sz="950" b="0">
                <a:solidFill>
                  <a:srgbClr val="000000"/>
                </a:solidFill>
              </a:rPr>
              <a:t>Fix the APT objective, rules of engagement, access window, hypotheses, classifier set and split plan.</a:t>
            </a:r>
          </a:p>
        </p:txBody>
      </p:sp>
      <p:sp>
        <p:nvSpPr>
          <p:cNvPr id="6" name="Rectangle 5"/>
          <p:cNvSpPr/>
          <p:nvPr/>
        </p:nvSpPr>
        <p:spPr>
          <a:xfrm>
            <a:off x="6286500" y="731520"/>
            <a:ext cx="2514600" cy="914400"/>
          </a:xfrm>
          <a:prstGeom prst="rect">
            <a:avLst/>
          </a:prstGeom>
          <a:solidFill>
            <a:srgbClr val="DAEBF7"/>
          </a:solidFill>
          <a:ln w="12700">
            <a:solidFill>
              <a:srgbClr val="4F81BD"/>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050" b="1">
                <a:solidFill>
                  <a:srgbClr val="000000"/>
                </a:solidFill>
              </a:rPr>
              <a:t>3. Prepare both operator arms</a:t>
            </a:r>
          </a:p>
          <a:p>
            <a:pPr algn="l"/>
            <a:r>
              <a:rPr sz="950" b="0">
                <a:solidFill>
                  <a:srgbClr val="000000"/>
                </a:solidFill>
              </a:rPr>
              <a:t>Brief the human testers, configure the autonomous AI agent and give both arms an identical foothold.</a:t>
            </a:r>
          </a:p>
        </p:txBody>
      </p:sp>
      <p:sp>
        <p:nvSpPr>
          <p:cNvPr id="7" name="Rectangle 6"/>
          <p:cNvSpPr/>
          <p:nvPr/>
        </p:nvSpPr>
        <p:spPr>
          <a:xfrm>
            <a:off x="342900" y="1920240"/>
            <a:ext cx="2514600" cy="914400"/>
          </a:xfrm>
          <a:prstGeom prst="rect">
            <a:avLst/>
          </a:prstGeom>
          <a:solidFill>
            <a:srgbClr val="DAEBF7"/>
          </a:solidFill>
          <a:ln w="12700">
            <a:solidFill>
              <a:srgbClr val="4F81BD"/>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050" b="1">
                <a:solidFill>
                  <a:srgbClr val="000000"/>
                </a:solidFill>
              </a:rPr>
              <a:t>4. Generate the dataset: run matched APT trials</a:t>
            </a:r>
          </a:p>
          <a:p>
            <a:pPr algn="l"/>
            <a:r>
              <a:rPr sz="950" b="0">
                <a:solidFill>
                  <a:srgbClr val="000000"/>
                </a:solidFill>
              </a:rPr>
              <a:t>Black-box and white-box trials per arm from verified resets, with per-trial data quality checks.</a:t>
            </a:r>
          </a:p>
        </p:txBody>
      </p:sp>
      <p:sp>
        <p:nvSpPr>
          <p:cNvPr id="8" name="Rectangle 7"/>
          <p:cNvSpPr/>
          <p:nvPr/>
        </p:nvSpPr>
        <p:spPr>
          <a:xfrm>
            <a:off x="3314700" y="1920240"/>
            <a:ext cx="2514600" cy="914400"/>
          </a:xfrm>
          <a:prstGeom prst="rect">
            <a:avLst/>
          </a:prstGeom>
          <a:solidFill>
            <a:srgbClr val="DAEBF7"/>
          </a:solidFill>
          <a:ln w="12700">
            <a:solidFill>
              <a:srgbClr val="4F81BD"/>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050" b="1">
                <a:solidFill>
                  <a:srgbClr val="000000"/>
                </a:solidFill>
              </a:rPr>
              <a:t>5. Archive and assemble the labeled dataset</a:t>
            </a:r>
          </a:p>
          <a:p>
            <a:pPr algn="l"/>
            <a:r>
              <a:rPr sz="950" b="0">
                <a:solidFill>
                  <a:srgbClr val="000000"/>
                </a:solidFill>
              </a:rPr>
              <a:t>Native logs with hash manifests plus ground-truth labels, released as a versioned per-trial dataset.</a:t>
            </a:r>
          </a:p>
        </p:txBody>
      </p:sp>
      <p:sp>
        <p:nvSpPr>
          <p:cNvPr id="9" name="Rectangle 8"/>
          <p:cNvSpPr/>
          <p:nvPr/>
        </p:nvSpPr>
        <p:spPr>
          <a:xfrm>
            <a:off x="6286500" y="1920240"/>
            <a:ext cx="2514600" cy="914400"/>
          </a:xfrm>
          <a:prstGeom prst="rect">
            <a:avLst/>
          </a:prstGeom>
          <a:solidFill>
            <a:srgbClr val="E5E0EC"/>
          </a:solidFill>
          <a:ln w="12700">
            <a:solidFill>
              <a:srgbClr val="8064A2"/>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050" b="1">
                <a:solidFill>
                  <a:srgbClr val="000000"/>
                </a:solidFill>
              </a:rPr>
              <a:t>6. Engineer target-side features</a:t>
            </a:r>
          </a:p>
          <a:p>
            <a:pPr algn="l"/>
            <a:r>
              <a:rPr sz="950" b="0">
                <a:solidFill>
                  <a:srgbClr val="000000"/>
                </a:solidFill>
              </a:rPr>
              <a:t>Turn host and network evidence into pre-declared behavioral feature families behind a leakage deny-list.</a:t>
            </a:r>
          </a:p>
        </p:txBody>
      </p:sp>
      <p:sp>
        <p:nvSpPr>
          <p:cNvPr id="10" name="Rectangle 9"/>
          <p:cNvSpPr/>
          <p:nvPr/>
        </p:nvSpPr>
        <p:spPr>
          <a:xfrm>
            <a:off x="342900" y="3108960"/>
            <a:ext cx="2514600" cy="914400"/>
          </a:xfrm>
          <a:prstGeom prst="rect">
            <a:avLst/>
          </a:prstGeom>
          <a:solidFill>
            <a:srgbClr val="E5E0EC"/>
          </a:solidFill>
          <a:ln w="12700">
            <a:solidFill>
              <a:srgbClr val="8064A2"/>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050" b="1">
                <a:solidFill>
                  <a:srgbClr val="000000"/>
                </a:solidFill>
              </a:rPr>
              <a:t>7. Exploratory data analysis (EDA)</a:t>
            </a:r>
          </a:p>
          <a:p>
            <a:pPr algn="l"/>
            <a:r>
              <a:rPr sz="950" b="0">
                <a:solidFill>
                  <a:srgbClr val="000000"/>
                </a:solidFill>
              </a:rPr>
              <a:t>Profile the training trials: class balance, distributions by arm, correlations and top-ranked features.</a:t>
            </a:r>
          </a:p>
        </p:txBody>
      </p:sp>
      <p:sp>
        <p:nvSpPr>
          <p:cNvPr id="11" name="Rectangle 10"/>
          <p:cNvSpPr/>
          <p:nvPr/>
        </p:nvSpPr>
        <p:spPr>
          <a:xfrm>
            <a:off x="3314700" y="3108960"/>
            <a:ext cx="2514600" cy="914400"/>
          </a:xfrm>
          <a:prstGeom prst="rect">
            <a:avLst/>
          </a:prstGeom>
          <a:solidFill>
            <a:srgbClr val="E5E0EC"/>
          </a:solidFill>
          <a:ln w="12700">
            <a:solidFill>
              <a:srgbClr val="8064A2"/>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050" b="1">
                <a:solidFill>
                  <a:srgbClr val="000000"/>
                </a:solidFill>
              </a:rPr>
              <a:t>8. Train and tune eight classifiers</a:t>
            </a:r>
          </a:p>
          <a:p>
            <a:pPr algn="l"/>
            <a:r>
              <a:rPr sz="950" b="0">
                <a:solidFill>
                  <a:srgbClr val="000000"/>
                </a:solidFill>
              </a:rPr>
              <a:t>GB, RF, XGBoost, DT, LR, linear SVM, NB and KNN on identical grouped folds with equal tuning budgets.</a:t>
            </a:r>
          </a:p>
        </p:txBody>
      </p:sp>
      <p:sp>
        <p:nvSpPr>
          <p:cNvPr id="12" name="Rectangle 11"/>
          <p:cNvSpPr/>
          <p:nvPr/>
        </p:nvSpPr>
        <p:spPr>
          <a:xfrm>
            <a:off x="6286500" y="3108960"/>
            <a:ext cx="2514600" cy="914400"/>
          </a:xfrm>
          <a:prstGeom prst="rect">
            <a:avLst/>
          </a:prstGeom>
          <a:solidFill>
            <a:srgbClr val="E5E0EC"/>
          </a:solidFill>
          <a:ln w="12700">
            <a:solidFill>
              <a:srgbClr val="8064A2"/>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050" b="1" dirty="0">
                <a:solidFill>
                  <a:srgbClr val="000000"/>
                </a:solidFill>
              </a:rPr>
              <a:t>9. Evaluate, compare and interpret</a:t>
            </a:r>
          </a:p>
          <a:p>
            <a:pPr algn="l"/>
            <a:r>
              <a:rPr sz="950" b="0" dirty="0">
                <a:solidFill>
                  <a:srgbClr val="000000"/>
                </a:solidFill>
              </a:rPr>
              <a:t>Rank classifiers on locked test trials</a:t>
            </a:r>
            <a:r>
              <a:rPr lang="en-US" sz="950" b="0" dirty="0">
                <a:solidFill>
                  <a:srgbClr val="000000"/>
                </a:solidFill>
              </a:rPr>
              <a:t>, </a:t>
            </a:r>
            <a:r>
              <a:rPr sz="950" b="0" dirty="0">
                <a:solidFill>
                  <a:srgbClr val="000000"/>
                </a:solidFill>
              </a:rPr>
              <a:t>compare with baselines and ablate feature families.</a:t>
            </a:r>
          </a:p>
        </p:txBody>
      </p:sp>
      <p:sp>
        <p:nvSpPr>
          <p:cNvPr id="13" name="Rectangle 12"/>
          <p:cNvSpPr/>
          <p:nvPr/>
        </p:nvSpPr>
        <p:spPr>
          <a:xfrm>
            <a:off x="342900" y="4297680"/>
            <a:ext cx="2514600" cy="914400"/>
          </a:xfrm>
          <a:prstGeom prst="rect">
            <a:avLst/>
          </a:prstGeom>
          <a:solidFill>
            <a:srgbClr val="F2F2F2"/>
          </a:solidFill>
          <a:ln w="12700">
            <a:solidFill>
              <a:srgbClr val="7F7F7F"/>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050" b="1">
                <a:solidFill>
                  <a:srgbClr val="000000"/>
                </a:solidFill>
              </a:rPr>
              <a:t>10. Phase 2 extension and defense</a:t>
            </a:r>
          </a:p>
          <a:p>
            <a:pPr algn="l"/>
            <a:r>
              <a:rPr sz="950" b="0">
                <a:solidFill>
                  <a:srgbClr val="000000"/>
                </a:solidFill>
              </a:rPr>
              <a:t>Held-out operators, evasion arm, reproducibility package, write-up and praxis defense.</a:t>
            </a:r>
          </a:p>
        </p:txBody>
      </p:sp>
      <p:cxnSp>
        <p:nvCxnSpPr>
          <p:cNvPr id="14" name="Connector 13"/>
          <p:cNvCxnSpPr/>
          <p:nvPr/>
        </p:nvCxnSpPr>
        <p:spPr>
          <a:xfrm>
            <a:off x="2857500" y="1188720"/>
            <a:ext cx="45720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5829300" y="1188720"/>
            <a:ext cx="45720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7543800" y="1645920"/>
            <a:ext cx="0" cy="13716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1600200" y="1783080"/>
            <a:ext cx="5943600" cy="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600200" y="1783080"/>
            <a:ext cx="0" cy="13716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2857500" y="2377440"/>
            <a:ext cx="45720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5829300" y="2377440"/>
            <a:ext cx="45720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7543800" y="2834640"/>
            <a:ext cx="0" cy="13716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1600200" y="2971800"/>
            <a:ext cx="5943600" cy="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600200" y="2971800"/>
            <a:ext cx="0" cy="13716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2857500" y="3566160"/>
            <a:ext cx="45720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5829300" y="3566160"/>
            <a:ext cx="45720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7543800" y="4023360"/>
            <a:ext cx="0" cy="13716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1600200" y="4160520"/>
            <a:ext cx="5943600" cy="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600200" y="4160520"/>
            <a:ext cx="0" cy="13716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Legend Title"/>
          <p:cNvSpPr txBox="1"/>
          <p:nvPr/>
        </p:nvSpPr>
        <p:spPr>
          <a:xfrm>
            <a:off x="3429000" y="4326636"/>
            <a:ext cx="4800600" cy="201168"/>
          </a:xfrm>
          <a:prstGeom prst="rect">
            <a:avLst/>
          </a:prstGeom>
          <a:noFill/>
        </p:spPr>
        <p:txBody>
          <a:bodyPr wrap="square" lIns="0" tIns="0" rIns="0" bIns="0" anchor="ctr"/>
          <a:lstStyle/>
          <a:p>
            <a:r>
              <a:rPr lang="en-US" sz="1000" b="1" dirty="0">
                <a:solidFill>
                  <a:srgbClr val="000000"/>
                </a:solidFill>
              </a:rPr>
              <a:t>Phases</a:t>
            </a:r>
          </a:p>
        </p:txBody>
      </p:sp>
      <p:sp>
        <p:nvSpPr>
          <p:cNvPr id="30" name="Legend Swatch 1"/>
          <p:cNvSpPr/>
          <p:nvPr/>
        </p:nvSpPr>
        <p:spPr>
          <a:xfrm>
            <a:off x="3429000" y="4546092"/>
            <a:ext cx="320040" cy="164592"/>
          </a:xfrm>
          <a:prstGeom prst="rect">
            <a:avLst/>
          </a:prstGeom>
          <a:solidFill>
            <a:srgbClr val="DAEBF7"/>
          </a:solidFill>
          <a:ln w="12700">
            <a:solidFill>
              <a:srgbClr val="4F81BD"/>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endParaRPr/>
          </a:p>
        </p:txBody>
      </p:sp>
      <p:sp>
        <p:nvSpPr>
          <p:cNvPr id="31" name="Legend Label 1"/>
          <p:cNvSpPr txBox="1"/>
          <p:nvPr/>
        </p:nvSpPr>
        <p:spPr>
          <a:xfrm>
            <a:off x="3840480" y="4527804"/>
            <a:ext cx="4892040" cy="201168"/>
          </a:xfrm>
          <a:prstGeom prst="rect">
            <a:avLst/>
          </a:prstGeom>
          <a:noFill/>
        </p:spPr>
        <p:txBody>
          <a:bodyPr wrap="square" lIns="0" tIns="0" rIns="0" bIns="0" anchor="ctr"/>
          <a:lstStyle/>
          <a:p>
            <a:r>
              <a:rPr lang="en-US" sz="1000" dirty="0">
                <a:solidFill>
                  <a:srgbClr val="000000"/>
                </a:solidFill>
              </a:rPr>
              <a:t>Steps 1–5: Generate the labeled APT dataset</a:t>
            </a:r>
          </a:p>
        </p:txBody>
      </p:sp>
      <p:sp>
        <p:nvSpPr>
          <p:cNvPr id="32" name="Legend Swatch 2"/>
          <p:cNvSpPr/>
          <p:nvPr/>
        </p:nvSpPr>
        <p:spPr>
          <a:xfrm>
            <a:off x="3429000" y="4829556"/>
            <a:ext cx="320040" cy="164592"/>
          </a:xfrm>
          <a:prstGeom prst="rect">
            <a:avLst/>
          </a:prstGeom>
          <a:solidFill>
            <a:srgbClr val="E5E0EC"/>
          </a:solidFill>
          <a:ln w="12700">
            <a:solidFill>
              <a:srgbClr val="8064A2"/>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endParaRPr/>
          </a:p>
        </p:txBody>
      </p:sp>
      <p:sp>
        <p:nvSpPr>
          <p:cNvPr id="33" name="Legend Label 2"/>
          <p:cNvSpPr txBox="1"/>
          <p:nvPr/>
        </p:nvSpPr>
        <p:spPr>
          <a:xfrm>
            <a:off x="3840480" y="4811268"/>
            <a:ext cx="4892040" cy="201168"/>
          </a:xfrm>
          <a:prstGeom prst="rect">
            <a:avLst/>
          </a:prstGeom>
          <a:noFill/>
        </p:spPr>
        <p:txBody>
          <a:bodyPr wrap="square" lIns="0" tIns="0" rIns="0" bIns="0" anchor="ctr"/>
          <a:lstStyle/>
          <a:p>
            <a:r>
              <a:rPr lang="en-US" sz="1000" dirty="0">
                <a:solidFill>
                  <a:srgbClr val="000000"/>
                </a:solidFill>
              </a:rPr>
              <a:t>Steps 6–9: Feature engineering, EDA and eight-classifier comparison</a:t>
            </a:r>
          </a:p>
        </p:txBody>
      </p:sp>
      <p:sp>
        <p:nvSpPr>
          <p:cNvPr id="34" name="Legend Swatch 3"/>
          <p:cNvSpPr/>
          <p:nvPr/>
        </p:nvSpPr>
        <p:spPr>
          <a:xfrm>
            <a:off x="3429000" y="5113020"/>
            <a:ext cx="320040" cy="164592"/>
          </a:xfrm>
          <a:prstGeom prst="rect">
            <a:avLst/>
          </a:prstGeom>
          <a:solidFill>
            <a:srgbClr val="F2F2F2"/>
          </a:solidFill>
          <a:ln w="12700">
            <a:solidFill>
              <a:srgbClr val="7F7F7F"/>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endParaRPr/>
          </a:p>
        </p:txBody>
      </p:sp>
      <p:sp>
        <p:nvSpPr>
          <p:cNvPr id="35" name="Legend Label 3"/>
          <p:cNvSpPr txBox="1"/>
          <p:nvPr/>
        </p:nvSpPr>
        <p:spPr>
          <a:xfrm>
            <a:off x="3840480" y="5094732"/>
            <a:ext cx="4892040" cy="201168"/>
          </a:xfrm>
          <a:prstGeom prst="rect">
            <a:avLst/>
          </a:prstGeom>
          <a:noFill/>
        </p:spPr>
        <p:txBody>
          <a:bodyPr wrap="square" lIns="0" tIns="0" rIns="0" bIns="0" anchor="ctr"/>
          <a:lstStyle/>
          <a:p>
            <a:r>
              <a:rPr lang="en-US" sz="1000" dirty="0">
                <a:solidFill>
                  <a:srgbClr val="000000"/>
                </a:solidFill>
              </a:rPr>
              <a:t>Step 10: Phase 2 extension and defense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40080" y="411480"/>
            <a:ext cx="7772400" cy="640080"/>
          </a:xfrm>
        </p:spPr>
        <p:txBody>
          <a:bodyPr wrap="square"/>
          <a:lstStyle/>
          <a:p>
            <a:r>
              <a:rPr sz="2800" b="1"/>
              <a:t>Methodology Steps – Second Level</a:t>
            </a:r>
          </a:p>
        </p:txBody>
      </p:sp>
      <p:sp>
        <p:nvSpPr>
          <p:cNvPr id="4" name="Rectangle 3"/>
          <p:cNvSpPr/>
          <p:nvPr/>
        </p:nvSpPr>
        <p:spPr>
          <a:xfrm>
            <a:off x="182880" y="1325880"/>
            <a:ext cx="2468880" cy="1554480"/>
          </a:xfrm>
          <a:prstGeom prst="rect">
            <a:avLst/>
          </a:prstGeom>
          <a:solidFill>
            <a:srgbClr val="DAEBF7"/>
          </a:solidFill>
          <a:ln w="12700">
            <a:solidFill>
              <a:srgbClr val="4F81BD"/>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200" b="1">
                <a:solidFill>
                  <a:srgbClr val="000000"/>
                </a:solidFill>
              </a:rPr>
              <a:t>1. Build the APT emulation range</a:t>
            </a:r>
          </a:p>
          <a:p>
            <a:pPr algn="l"/>
            <a:r>
              <a:rPr sz="1100" b="0">
                <a:solidFill>
                  <a:srgbClr val="000000"/>
                </a:solidFill>
              </a:rPr>
              <a:t>Provision the proposed AWS range at a pinned revision with host auditing, network sensors and a separate evidence account.</a:t>
            </a:r>
          </a:p>
        </p:txBody>
      </p:sp>
      <p:cxnSp>
        <p:nvCxnSpPr>
          <p:cNvPr id="5" name="Connector 4"/>
          <p:cNvCxnSpPr/>
          <p:nvPr/>
        </p:nvCxnSpPr>
        <p:spPr>
          <a:xfrm>
            <a:off x="2651760" y="2103120"/>
            <a:ext cx="502920" cy="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154680" y="1645920"/>
            <a:ext cx="0" cy="265176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566160" y="118872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1.1 Provision the AWS range</a:t>
            </a:r>
          </a:p>
          <a:p>
            <a:pPr algn="l"/>
            <a:r>
              <a:rPr sz="1000" b="0">
                <a:solidFill>
                  <a:srgbClr val="000000"/>
                </a:solidFill>
              </a:rPr>
              <a:t>Pinned revision in us-east-1 as an enterprise Active Directory APT target, with disposable targets and a separate persistent evidence account (private S3 plus CloudWatch Logs for search).</a:t>
            </a:r>
          </a:p>
        </p:txBody>
      </p:sp>
      <p:cxnSp>
        <p:nvCxnSpPr>
          <p:cNvPr id="8" name="Connector 7"/>
          <p:cNvCxnSpPr/>
          <p:nvPr/>
        </p:nvCxnSpPr>
        <p:spPr>
          <a:xfrm>
            <a:off x="3154680" y="164592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8183879" y="1371600"/>
            <a:ext cx="274320" cy="274320"/>
          </a:xfrm>
          <a:prstGeom prst="ellipse">
            <a:avLst/>
          </a:prstGeom>
          <a:solidFill>
            <a:srgbClr val="FFC000"/>
          </a:solidFill>
          <a:ln w="15875">
            <a:solidFill>
              <a:srgbClr val="FFC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909559" y="1664208"/>
            <a:ext cx="822959" cy="201168"/>
          </a:xfrm>
          <a:prstGeom prst="rect">
            <a:avLst/>
          </a:prstGeom>
          <a:noFill/>
        </p:spPr>
        <p:txBody>
          <a:bodyPr wrap="square" lIns="27432" tIns="27432" rIns="27432" bIns="27432" anchor="t">
            <a:spAutoFit/>
          </a:bodyPr>
          <a:lstStyle/>
          <a:p>
            <a:pPr algn="ctr"/>
            <a:r>
              <a:rPr sz="800">
                <a:solidFill>
                  <a:srgbClr val="595959"/>
                </a:solidFill>
              </a:rPr>
              <a:t>in progress</a:t>
            </a:r>
          </a:p>
        </p:txBody>
      </p:sp>
      <p:sp>
        <p:nvSpPr>
          <p:cNvPr id="11" name="Rounded Rectangle 10"/>
          <p:cNvSpPr/>
          <p:nvPr/>
        </p:nvSpPr>
        <p:spPr>
          <a:xfrm>
            <a:off x="3566160" y="251460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1.2 Enable host auditing</a:t>
            </a:r>
          </a:p>
          <a:p>
            <a:pPr algn="l"/>
            <a:r>
              <a:rPr sz="1000" b="0">
                <a:solidFill>
                  <a:srgbClr val="000000"/>
                </a:solidFill>
              </a:rPr>
              <a:t>Sysmon or Security 4688 with command lines, PowerShell 4104, AD object audit and DNS logging on the selected Windows targets.</a:t>
            </a:r>
          </a:p>
        </p:txBody>
      </p:sp>
      <p:cxnSp>
        <p:nvCxnSpPr>
          <p:cNvPr id="12" name="Connector 11"/>
          <p:cNvCxnSpPr/>
          <p:nvPr/>
        </p:nvCxnSpPr>
        <p:spPr>
          <a:xfrm>
            <a:off x="3154680" y="297180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8183879" y="2697480"/>
            <a:ext cx="274320" cy="274320"/>
          </a:xfrm>
          <a:prstGeom prst="ellipse">
            <a:avLst/>
          </a:prstGeom>
          <a:solidFill>
            <a:srgbClr val="FFC000"/>
          </a:solidFill>
          <a:ln w="15875">
            <a:solidFill>
              <a:srgbClr val="FFC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909559" y="2990088"/>
            <a:ext cx="822959" cy="201168"/>
          </a:xfrm>
          <a:prstGeom prst="rect">
            <a:avLst/>
          </a:prstGeom>
          <a:noFill/>
        </p:spPr>
        <p:txBody>
          <a:bodyPr wrap="square" lIns="27432" tIns="27432" rIns="27432" bIns="27432" anchor="t">
            <a:spAutoFit/>
          </a:bodyPr>
          <a:lstStyle/>
          <a:p>
            <a:pPr algn="ctr"/>
            <a:r>
              <a:rPr sz="800">
                <a:solidFill>
                  <a:srgbClr val="595959"/>
                </a:solidFill>
              </a:rPr>
              <a:t>in progress</a:t>
            </a:r>
          </a:p>
        </p:txBody>
      </p:sp>
      <p:sp>
        <p:nvSpPr>
          <p:cNvPr id="15" name="Rounded Rectangle 14"/>
          <p:cNvSpPr/>
          <p:nvPr/>
        </p:nvSpPr>
        <p:spPr>
          <a:xfrm>
            <a:off x="3566160" y="384048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1.3 Add the network sensor</a:t>
            </a:r>
          </a:p>
          <a:p>
            <a:pPr algn="l"/>
            <a:r>
              <a:rPr sz="1000" b="0">
                <a:solidFill>
                  <a:srgbClr val="000000"/>
                </a:solidFill>
              </a:rPr>
              <a:t>VPC traffic mirror of the DC and member-server interfaces into Zeek/Suricata with capped PCAP; confirm instance-type support and add the cost to the estimate.</a:t>
            </a:r>
          </a:p>
        </p:txBody>
      </p:sp>
      <p:cxnSp>
        <p:nvCxnSpPr>
          <p:cNvPr id="16" name="Connector 15"/>
          <p:cNvCxnSpPr/>
          <p:nvPr/>
        </p:nvCxnSpPr>
        <p:spPr>
          <a:xfrm>
            <a:off x="3154680" y="429768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8183879" y="4023360"/>
            <a:ext cx="274320" cy="274320"/>
          </a:xfrm>
          <a:prstGeom prst="ellipse">
            <a:avLst/>
          </a:prstGeom>
          <a:solidFill>
            <a:srgbClr val="FFC000"/>
          </a:solidFill>
          <a:ln w="15875">
            <a:solidFill>
              <a:srgbClr val="FFC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909559" y="4315968"/>
            <a:ext cx="822959" cy="201168"/>
          </a:xfrm>
          <a:prstGeom prst="rect">
            <a:avLst/>
          </a:prstGeom>
          <a:noFill/>
        </p:spPr>
        <p:txBody>
          <a:bodyPr wrap="square" lIns="27432" tIns="27432" rIns="27432" bIns="27432" anchor="t">
            <a:spAutoFit/>
          </a:bodyPr>
          <a:lstStyle/>
          <a:p>
            <a:pPr algn="ctr"/>
            <a:r>
              <a:rPr sz="800">
                <a:solidFill>
                  <a:srgbClr val="595959"/>
                </a:solidFill>
              </a:rPr>
              <a:t>in progress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40080" y="411480"/>
            <a:ext cx="7772400" cy="640080"/>
          </a:xfrm>
        </p:spPr>
        <p:txBody>
          <a:bodyPr wrap="square"/>
          <a:lstStyle/>
          <a:p>
            <a:r>
              <a:rPr sz="2800" b="1"/>
              <a:t>Methodology Steps – Second Level</a:t>
            </a:r>
          </a:p>
        </p:txBody>
      </p:sp>
      <p:sp>
        <p:nvSpPr>
          <p:cNvPr id="4" name="Rectangle 3"/>
          <p:cNvSpPr/>
          <p:nvPr/>
        </p:nvSpPr>
        <p:spPr>
          <a:xfrm>
            <a:off x="182880" y="1325880"/>
            <a:ext cx="2468880" cy="1554480"/>
          </a:xfrm>
          <a:prstGeom prst="rect">
            <a:avLst/>
          </a:prstGeom>
          <a:solidFill>
            <a:srgbClr val="DAEBF7"/>
          </a:solidFill>
          <a:ln w="12700">
            <a:solidFill>
              <a:srgbClr val="4F81BD"/>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200" b="1">
                <a:solidFill>
                  <a:srgbClr val="000000"/>
                </a:solidFill>
              </a:rPr>
              <a:t>2. Define the APT campaign and preregister</a:t>
            </a:r>
          </a:p>
          <a:p>
            <a:pPr algn="l"/>
            <a:r>
              <a:rPr sz="1100" b="0">
                <a:solidFill>
                  <a:srgbClr val="000000"/>
                </a:solidFill>
              </a:rPr>
              <a:t>Fix the APT objective, rules of engagement, access window, hypotheses, classifier set and split plan.</a:t>
            </a:r>
          </a:p>
        </p:txBody>
      </p:sp>
      <p:cxnSp>
        <p:nvCxnSpPr>
          <p:cNvPr id="5" name="Connector 4"/>
          <p:cNvCxnSpPr/>
          <p:nvPr/>
        </p:nvCxnSpPr>
        <p:spPr>
          <a:xfrm>
            <a:off x="2651760" y="2103120"/>
            <a:ext cx="502920" cy="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154680" y="1645920"/>
            <a:ext cx="0" cy="265176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566160" y="118872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2.1 Fix the APT objective and ROE</a:t>
            </a:r>
          </a:p>
          <a:p>
            <a:pPr algn="l"/>
            <a:r>
              <a:rPr sz="1000" b="0">
                <a:solidFill>
                  <a:srgbClr val="000000"/>
                </a:solidFill>
              </a:rPr>
              <a:t>From a low-privilege domain foothold, run an APT-style chain (discovery, credential access, lateral movement) to read one synthetic marker file through one predefined weakness; one ROE for both arms.</a:t>
            </a:r>
          </a:p>
        </p:txBody>
      </p:sp>
      <p:cxnSp>
        <p:nvCxnSpPr>
          <p:cNvPr id="8" name="Connector 7"/>
          <p:cNvCxnSpPr/>
          <p:nvPr/>
        </p:nvCxnSpPr>
        <p:spPr>
          <a:xfrm>
            <a:off x="3154680" y="164592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8183879" y="1371600"/>
            <a:ext cx="274320" cy="274320"/>
          </a:xfrm>
          <a:prstGeom prst="ellipse">
            <a:avLst/>
          </a:prstGeom>
          <a:solidFill>
            <a:srgbClr val="FFC000"/>
          </a:solidFill>
          <a:ln w="15875">
            <a:solidFill>
              <a:srgbClr val="FFC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909559" y="1664208"/>
            <a:ext cx="822959" cy="201168"/>
          </a:xfrm>
          <a:prstGeom prst="rect">
            <a:avLst/>
          </a:prstGeom>
          <a:noFill/>
        </p:spPr>
        <p:txBody>
          <a:bodyPr wrap="square" lIns="27432" tIns="27432" rIns="27432" bIns="27432" anchor="t">
            <a:spAutoFit/>
          </a:bodyPr>
          <a:lstStyle/>
          <a:p>
            <a:pPr algn="ctr"/>
            <a:r>
              <a:rPr sz="800">
                <a:solidFill>
                  <a:srgbClr val="595959"/>
                </a:solidFill>
              </a:rPr>
              <a:t>in progress</a:t>
            </a:r>
          </a:p>
        </p:txBody>
      </p:sp>
      <p:sp>
        <p:nvSpPr>
          <p:cNvPr id="11" name="Rounded Rectangle 10"/>
          <p:cNvSpPr/>
          <p:nvPr/>
        </p:nvSpPr>
        <p:spPr>
          <a:xfrm>
            <a:off x="3566160" y="251460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2.2 Size the access window</a:t>
            </a:r>
          </a:p>
          <a:p>
            <a:pPr algn="l"/>
            <a:r>
              <a:rPr sz="1000" b="0">
                <a:solidFill>
                  <a:srgbClr val="000000"/>
                </a:solidFill>
              </a:rPr>
              <a:t>Dry run sets the window at several times the human median; define the stop rule; runs continue past the objective until the window closes.</a:t>
            </a:r>
          </a:p>
        </p:txBody>
      </p:sp>
      <p:cxnSp>
        <p:nvCxnSpPr>
          <p:cNvPr id="12" name="Connector 11"/>
          <p:cNvCxnSpPr/>
          <p:nvPr/>
        </p:nvCxnSpPr>
        <p:spPr>
          <a:xfrm>
            <a:off x="3154680" y="297180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8183879" y="2697480"/>
            <a:ext cx="274320" cy="274320"/>
          </a:xfrm>
          <a:prstGeom prst="ellipse">
            <a:avLst/>
          </a:prstGeom>
          <a:solidFill>
            <a:srgbClr val="FFC000"/>
          </a:solidFill>
          <a:ln w="15875">
            <a:solidFill>
              <a:srgbClr val="FFC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909559" y="2990088"/>
            <a:ext cx="822959" cy="201168"/>
          </a:xfrm>
          <a:prstGeom prst="rect">
            <a:avLst/>
          </a:prstGeom>
          <a:noFill/>
        </p:spPr>
        <p:txBody>
          <a:bodyPr wrap="square" lIns="27432" tIns="27432" rIns="27432" bIns="27432" anchor="t">
            <a:spAutoFit/>
          </a:bodyPr>
          <a:lstStyle/>
          <a:p>
            <a:pPr algn="ctr"/>
            <a:r>
              <a:rPr sz="800">
                <a:solidFill>
                  <a:srgbClr val="595959"/>
                </a:solidFill>
              </a:rPr>
              <a:t>in progress</a:t>
            </a:r>
          </a:p>
        </p:txBody>
      </p:sp>
      <p:sp>
        <p:nvSpPr>
          <p:cNvPr id="15" name="Rounded Rectangle 14"/>
          <p:cNvSpPr/>
          <p:nvPr/>
        </p:nvSpPr>
        <p:spPr>
          <a:xfrm>
            <a:off x="3566160" y="384048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2.3 Preregister</a:t>
            </a:r>
          </a:p>
          <a:p>
            <a:pPr algn="l"/>
            <a:r>
              <a:rPr sz="1000" b="0">
                <a:solidFill>
                  <a:srgbClr val="000000"/>
                </a:solidFill>
              </a:rPr>
              <a:t>Freeze H1–H4, the eight classifiers and their tuning budget, the metadata-only and timing-threshold baselines, the trial roll-up rule and the grouped split manifest before scored runs.</a:t>
            </a:r>
          </a:p>
        </p:txBody>
      </p:sp>
      <p:cxnSp>
        <p:nvCxnSpPr>
          <p:cNvPr id="16" name="Connector 15"/>
          <p:cNvCxnSpPr/>
          <p:nvPr/>
        </p:nvCxnSpPr>
        <p:spPr>
          <a:xfrm>
            <a:off x="3154680" y="429768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8183879" y="4023360"/>
            <a:ext cx="274320" cy="274320"/>
          </a:xfrm>
          <a:prstGeom prst="ellipse">
            <a:avLst/>
          </a:prstGeom>
          <a:solidFill>
            <a:srgbClr val="FFC000"/>
          </a:solidFill>
          <a:ln w="15875">
            <a:solidFill>
              <a:srgbClr val="FFC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909559" y="4315968"/>
            <a:ext cx="822959" cy="201168"/>
          </a:xfrm>
          <a:prstGeom prst="rect">
            <a:avLst/>
          </a:prstGeom>
          <a:noFill/>
        </p:spPr>
        <p:txBody>
          <a:bodyPr wrap="square" lIns="27432" tIns="27432" rIns="27432" bIns="27432" anchor="t">
            <a:spAutoFit/>
          </a:bodyPr>
          <a:lstStyle/>
          <a:p>
            <a:pPr algn="ctr"/>
            <a:r>
              <a:rPr sz="800">
                <a:solidFill>
                  <a:srgbClr val="595959"/>
                </a:solidFill>
              </a:rPr>
              <a:t>in progress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40080" y="411480"/>
            <a:ext cx="7772400" cy="640080"/>
          </a:xfrm>
        </p:spPr>
        <p:txBody>
          <a:bodyPr wrap="square"/>
          <a:lstStyle/>
          <a:p>
            <a:r>
              <a:rPr sz="2800" b="1"/>
              <a:t>Methodology Steps – Second Level</a:t>
            </a:r>
          </a:p>
        </p:txBody>
      </p:sp>
      <p:sp>
        <p:nvSpPr>
          <p:cNvPr id="4" name="Rectangle 3"/>
          <p:cNvSpPr/>
          <p:nvPr/>
        </p:nvSpPr>
        <p:spPr>
          <a:xfrm>
            <a:off x="182880" y="1325880"/>
            <a:ext cx="2468880" cy="1554480"/>
          </a:xfrm>
          <a:prstGeom prst="rect">
            <a:avLst/>
          </a:prstGeom>
          <a:solidFill>
            <a:srgbClr val="DAEBF7"/>
          </a:solidFill>
          <a:ln w="12700">
            <a:solidFill>
              <a:srgbClr val="4F81BD"/>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200" b="1">
                <a:solidFill>
                  <a:srgbClr val="000000"/>
                </a:solidFill>
              </a:rPr>
              <a:t>3. Prepare both operator arms</a:t>
            </a:r>
          </a:p>
          <a:p>
            <a:pPr algn="l"/>
            <a:r>
              <a:rPr sz="1100" b="0">
                <a:solidFill>
                  <a:srgbClr val="000000"/>
                </a:solidFill>
              </a:rPr>
              <a:t>Brief the human testers, configure the autonomous AI agent and give both arms an identical foothold.</a:t>
            </a:r>
          </a:p>
        </p:txBody>
      </p:sp>
      <p:cxnSp>
        <p:nvCxnSpPr>
          <p:cNvPr id="5" name="Connector 4"/>
          <p:cNvCxnSpPr/>
          <p:nvPr/>
        </p:nvCxnSpPr>
        <p:spPr>
          <a:xfrm>
            <a:off x="2651760" y="2103120"/>
            <a:ext cx="502920" cy="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154680" y="1645920"/>
            <a:ext cx="0" cy="265176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566160" y="118872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3.1 Recruit and brief testers</a:t>
            </a:r>
          </a:p>
          <a:p>
            <a:pPr algn="l"/>
            <a:r>
              <a:rPr sz="1000" b="0">
                <a:solidFill>
                  <a:srgbClr val="000000"/>
                </a:solidFill>
              </a:rPr>
              <a:t>Two certified penetration testers for Phase 1; prior range-exposure declarations; consent covering retention and publication use.</a:t>
            </a:r>
          </a:p>
        </p:txBody>
      </p:sp>
      <p:cxnSp>
        <p:nvCxnSpPr>
          <p:cNvPr id="8" name="Connector 7"/>
          <p:cNvCxnSpPr/>
          <p:nvPr/>
        </p:nvCxnSpPr>
        <p:spPr>
          <a:xfrm>
            <a:off x="3154680" y="164592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8183879" y="137160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909559" y="166420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
        <p:nvSpPr>
          <p:cNvPr id="11" name="Rounded Rectangle 10"/>
          <p:cNvSpPr/>
          <p:nvPr/>
        </p:nvSpPr>
        <p:spPr>
          <a:xfrm>
            <a:off x="3566160" y="251460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3.2 Configure the AI arm</a:t>
            </a:r>
          </a:p>
          <a:p>
            <a:pPr algn="l"/>
            <a:r>
              <a:rPr sz="1000" b="0">
                <a:solidFill>
                  <a:srgbClr val="000000"/>
                </a:solidFill>
              </a:rPr>
              <a:t>ARTEMIS driving the DGX Spark-hosted model with autonomy, per-step latency and provenance logged; the in-house agent loop or a hosted model is the backup within the spending cap.</a:t>
            </a:r>
          </a:p>
        </p:txBody>
      </p:sp>
      <p:cxnSp>
        <p:nvCxnSpPr>
          <p:cNvPr id="12" name="Connector 11"/>
          <p:cNvCxnSpPr/>
          <p:nvPr/>
        </p:nvCxnSpPr>
        <p:spPr>
          <a:xfrm>
            <a:off x="3154680" y="297180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8183879" y="269748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909559" y="299008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
        <p:nvSpPr>
          <p:cNvPr id="15" name="Rounded Rectangle 14"/>
          <p:cNvSpPr/>
          <p:nvPr/>
        </p:nvSpPr>
        <p:spPr>
          <a:xfrm>
            <a:off x="3566160" y="384048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3.3 Equalize the foothold</a:t>
            </a:r>
          </a:p>
          <a:p>
            <a:pPr algn="l"/>
            <a:r>
              <a:rPr sz="1000" b="0">
                <a:solidFill>
                  <a:srgbClr val="000000"/>
                </a:solidFill>
              </a:rPr>
              <a:t>Same OS, tool manifest, offline reference corpus and interactive terminal session for both arms so logons and parent processes do not reveal the arm.</a:t>
            </a:r>
          </a:p>
        </p:txBody>
      </p:sp>
      <p:cxnSp>
        <p:nvCxnSpPr>
          <p:cNvPr id="16" name="Connector 15"/>
          <p:cNvCxnSpPr/>
          <p:nvPr/>
        </p:nvCxnSpPr>
        <p:spPr>
          <a:xfrm>
            <a:off x="3154680" y="429768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8183879" y="402336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909559" y="431596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40080" y="411480"/>
            <a:ext cx="7772400" cy="640080"/>
          </a:xfrm>
        </p:spPr>
        <p:txBody>
          <a:bodyPr wrap="square"/>
          <a:lstStyle/>
          <a:p>
            <a:r>
              <a:rPr sz="2800" b="1"/>
              <a:t>Methodology Steps – Second Level</a:t>
            </a:r>
          </a:p>
        </p:txBody>
      </p:sp>
      <p:sp>
        <p:nvSpPr>
          <p:cNvPr id="4" name="Rectangle 3"/>
          <p:cNvSpPr/>
          <p:nvPr/>
        </p:nvSpPr>
        <p:spPr>
          <a:xfrm>
            <a:off x="182880" y="1325880"/>
            <a:ext cx="2468880" cy="1554480"/>
          </a:xfrm>
          <a:prstGeom prst="rect">
            <a:avLst/>
          </a:prstGeom>
          <a:solidFill>
            <a:srgbClr val="DAEBF7"/>
          </a:solidFill>
          <a:ln w="12700">
            <a:solidFill>
              <a:srgbClr val="4F81BD"/>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200" b="1">
                <a:solidFill>
                  <a:srgbClr val="000000"/>
                </a:solidFill>
              </a:rPr>
              <a:t>4. Generate the dataset: run matched APT trials</a:t>
            </a:r>
          </a:p>
          <a:p>
            <a:pPr algn="l"/>
            <a:r>
              <a:rPr sz="1100" b="0">
                <a:solidFill>
                  <a:srgbClr val="000000"/>
                </a:solidFill>
              </a:rPr>
              <a:t>Black-box and white-box trials per arm from verified resets, with per-trial data quality checks.</a:t>
            </a:r>
          </a:p>
        </p:txBody>
      </p:sp>
      <p:cxnSp>
        <p:nvCxnSpPr>
          <p:cNvPr id="5" name="Connector 4"/>
          <p:cNvCxnSpPr/>
          <p:nvPr/>
        </p:nvCxnSpPr>
        <p:spPr>
          <a:xfrm>
            <a:off x="2651760" y="2103120"/>
            <a:ext cx="502920" cy="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154680" y="1645920"/>
            <a:ext cx="0" cy="265176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566160" y="118872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4.1 Reset and verify telemetry</a:t>
            </a:r>
          </a:p>
          <a:p>
            <a:pPr algn="l"/>
            <a:r>
              <a:rPr sz="1000" b="0">
                <a:solidFill>
                  <a:srgbClr val="000000"/>
                </a:solidFill>
              </a:rPr>
              <a:t>Rebuild from images and attest the clean state; canaries on every source, UTC offset ≤ 1 s and SHA-256 manifests; a failed check means remediate and rerun that trial.</a:t>
            </a:r>
          </a:p>
        </p:txBody>
      </p:sp>
      <p:cxnSp>
        <p:nvCxnSpPr>
          <p:cNvPr id="8" name="Connector 7"/>
          <p:cNvCxnSpPr/>
          <p:nvPr/>
        </p:nvCxnSpPr>
        <p:spPr>
          <a:xfrm>
            <a:off x="3154680" y="164592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8183879" y="137160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909559" y="166420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
        <p:nvSpPr>
          <p:cNvPr id="11" name="Rounded Rectangle 10"/>
          <p:cNvSpPr/>
          <p:nvPr/>
        </p:nvSpPr>
        <p:spPr>
          <a:xfrm>
            <a:off x="3566160" y="251460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4.2 Run scored APT trials</a:t>
            </a:r>
          </a:p>
          <a:p>
            <a:pPr algn="l"/>
            <a:r>
              <a:rPr sz="1000" b="0">
                <a:solidFill>
                  <a:srgbClr val="000000"/>
                </a:solidFill>
              </a:rPr>
              <a:t>Black-box (primary) and white-box trials per arm, counterbalancing replica, day and address; walkthrough runs, scripted replay (never labeled AI) and benign baselines as controls.</a:t>
            </a:r>
          </a:p>
        </p:txBody>
      </p:sp>
      <p:cxnSp>
        <p:nvCxnSpPr>
          <p:cNvPr id="12" name="Connector 11"/>
          <p:cNvCxnSpPr/>
          <p:nvPr/>
        </p:nvCxnSpPr>
        <p:spPr>
          <a:xfrm>
            <a:off x="3154680" y="297180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8183879" y="269748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909559" y="299008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
        <p:nvSpPr>
          <p:cNvPr id="15" name="Rounded Rectangle 14"/>
          <p:cNvSpPr/>
          <p:nvPr/>
        </p:nvSpPr>
        <p:spPr>
          <a:xfrm>
            <a:off x="3566160" y="384048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4.3 Record outcomes</a:t>
            </a:r>
          </a:p>
          <a:p>
            <a:pPr algn="l"/>
            <a:r>
              <a:rPr sz="1000" b="0">
                <a:solidFill>
                  <a:srgbClr val="000000"/>
                </a:solidFill>
              </a:rPr>
              <a:t>Time-to-objective (censored at window close), interventions and deviations; aborted and failed runs stay in the registry with the reason.</a:t>
            </a:r>
          </a:p>
        </p:txBody>
      </p:sp>
      <p:cxnSp>
        <p:nvCxnSpPr>
          <p:cNvPr id="16" name="Connector 15"/>
          <p:cNvCxnSpPr/>
          <p:nvPr/>
        </p:nvCxnSpPr>
        <p:spPr>
          <a:xfrm>
            <a:off x="3154680" y="429768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8183879" y="402336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909559" y="431596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40080" y="411480"/>
            <a:ext cx="7772400" cy="640080"/>
          </a:xfrm>
        </p:spPr>
        <p:txBody>
          <a:bodyPr wrap="square"/>
          <a:lstStyle/>
          <a:p>
            <a:r>
              <a:rPr sz="2800" b="1"/>
              <a:t>Methodology Steps – Second Level</a:t>
            </a:r>
          </a:p>
        </p:txBody>
      </p:sp>
      <p:sp>
        <p:nvSpPr>
          <p:cNvPr id="4" name="Rectangle 3"/>
          <p:cNvSpPr/>
          <p:nvPr/>
        </p:nvSpPr>
        <p:spPr>
          <a:xfrm>
            <a:off x="182880" y="1325880"/>
            <a:ext cx="2468880" cy="1554480"/>
          </a:xfrm>
          <a:prstGeom prst="rect">
            <a:avLst/>
          </a:prstGeom>
          <a:solidFill>
            <a:srgbClr val="DAEBF7"/>
          </a:solidFill>
          <a:ln w="12700">
            <a:solidFill>
              <a:srgbClr val="4F81BD"/>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200" b="1">
                <a:solidFill>
                  <a:srgbClr val="000000"/>
                </a:solidFill>
              </a:rPr>
              <a:t>5. Archive and assemble the labeled dataset</a:t>
            </a:r>
          </a:p>
          <a:p>
            <a:pPr algn="l"/>
            <a:r>
              <a:rPr sz="1100" b="0">
                <a:solidFill>
                  <a:srgbClr val="000000"/>
                </a:solidFill>
              </a:rPr>
              <a:t>Native logs with hash manifests plus ground-truth labels, released as a versioned per-trial dataset.</a:t>
            </a:r>
          </a:p>
        </p:txBody>
      </p:sp>
      <p:cxnSp>
        <p:nvCxnSpPr>
          <p:cNvPr id="5" name="Connector 4"/>
          <p:cNvCxnSpPr/>
          <p:nvPr/>
        </p:nvCxnSpPr>
        <p:spPr>
          <a:xfrm>
            <a:off x="2651760" y="2103120"/>
            <a:ext cx="502920" cy="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154680" y="1645920"/>
            <a:ext cx="0" cy="265176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566160" y="118872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5.1 Export native logs per trial</a:t>
            </a:r>
          </a:p>
          <a:p>
            <a:pPr algn="l"/>
            <a:r>
              <a:rPr sz="1000" b="0">
                <a:solidFill>
                  <a:srgbClr val="000000"/>
                </a:solidFill>
              </a:rPr>
              <a:t>EVTX, Sysmon, PowerShell, Zeek/Suricata, capped PCAP and Flow Logs with SHA-256 manifests; an evidence steward separate from the builder spot-checks hashes.</a:t>
            </a:r>
          </a:p>
        </p:txBody>
      </p:sp>
      <p:cxnSp>
        <p:nvCxnSpPr>
          <p:cNvPr id="8" name="Connector 7"/>
          <p:cNvCxnSpPr/>
          <p:nvPr/>
        </p:nvCxnSpPr>
        <p:spPr>
          <a:xfrm>
            <a:off x="3154680" y="164592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8183879" y="137160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909559" y="166420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
        <p:nvSpPr>
          <p:cNvPr id="11" name="Rounded Rectangle 10"/>
          <p:cNvSpPr/>
          <p:nvPr/>
        </p:nvSpPr>
        <p:spPr>
          <a:xfrm>
            <a:off x="3566160" y="251460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5.2 Maintain the trial registry</a:t>
            </a:r>
          </a:p>
          <a:p>
            <a:pPr algn="l"/>
            <a:r>
              <a:rPr sz="1000" b="0">
                <a:solidFill>
                  <a:srgbClr val="000000"/>
                </a:solidFill>
              </a:rPr>
              <a:t>Ground-truth labels (arm, operator or AI configuration, condition), intervention log and partition assignments kept apart from feature directories with restricted access.</a:t>
            </a:r>
          </a:p>
        </p:txBody>
      </p:sp>
      <p:cxnSp>
        <p:nvCxnSpPr>
          <p:cNvPr id="12" name="Connector 11"/>
          <p:cNvCxnSpPr/>
          <p:nvPr/>
        </p:nvCxnSpPr>
        <p:spPr>
          <a:xfrm>
            <a:off x="3154680" y="297180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8183879" y="269748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909559" y="299008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
        <p:nvSpPr>
          <p:cNvPr id="15" name="Rounded Rectangle 14"/>
          <p:cNvSpPr/>
          <p:nvPr/>
        </p:nvSpPr>
        <p:spPr>
          <a:xfrm>
            <a:off x="3566160" y="384048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5.3 Release the analysis dataset</a:t>
            </a:r>
          </a:p>
          <a:p>
            <a:pPr algn="l"/>
            <a:r>
              <a:rPr sz="1000" b="0">
                <a:solidFill>
                  <a:srgbClr val="000000"/>
                </a:solidFill>
              </a:rPr>
              <a:t>Segment each trial by registry UTC bounds, join host and network evidence, publish a data dictionary and freeze dataset v1.0 for feature engineering.</a:t>
            </a:r>
          </a:p>
        </p:txBody>
      </p:sp>
      <p:cxnSp>
        <p:nvCxnSpPr>
          <p:cNvPr id="16" name="Connector 15"/>
          <p:cNvCxnSpPr/>
          <p:nvPr/>
        </p:nvCxnSpPr>
        <p:spPr>
          <a:xfrm>
            <a:off x="3154680" y="429768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8183879" y="402336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909559" y="431596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40080" y="411480"/>
            <a:ext cx="7772400" cy="640080"/>
          </a:xfrm>
        </p:spPr>
        <p:txBody>
          <a:bodyPr wrap="square"/>
          <a:lstStyle/>
          <a:p>
            <a:r>
              <a:rPr sz="2800" b="1"/>
              <a:t>Methodology Steps – Second Level</a:t>
            </a:r>
          </a:p>
        </p:txBody>
      </p:sp>
      <p:sp>
        <p:nvSpPr>
          <p:cNvPr id="4" name="Rectangle 3"/>
          <p:cNvSpPr/>
          <p:nvPr/>
        </p:nvSpPr>
        <p:spPr>
          <a:xfrm>
            <a:off x="182880" y="1325880"/>
            <a:ext cx="2468880" cy="1554480"/>
          </a:xfrm>
          <a:prstGeom prst="rect">
            <a:avLst/>
          </a:prstGeom>
          <a:solidFill>
            <a:srgbClr val="E5E0EC"/>
          </a:solidFill>
          <a:ln w="12700">
            <a:solidFill>
              <a:srgbClr val="8064A2"/>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200" b="1">
                <a:solidFill>
                  <a:srgbClr val="000000"/>
                </a:solidFill>
              </a:rPr>
              <a:t>6. Engineer target-side features</a:t>
            </a:r>
          </a:p>
          <a:p>
            <a:pPr algn="l"/>
            <a:r>
              <a:rPr sz="1100" b="0">
                <a:solidFill>
                  <a:srgbClr val="000000"/>
                </a:solidFill>
              </a:rPr>
              <a:t>Turn host and network evidence into pre-declared behavioral feature families behind a leakage deny-list.</a:t>
            </a:r>
          </a:p>
        </p:txBody>
      </p:sp>
      <p:cxnSp>
        <p:nvCxnSpPr>
          <p:cNvPr id="5" name="Connector 4"/>
          <p:cNvCxnSpPr/>
          <p:nvPr/>
        </p:nvCxnSpPr>
        <p:spPr>
          <a:xfrm>
            <a:off x="2651760" y="2103120"/>
            <a:ext cx="502920" cy="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154680" y="1645920"/>
            <a:ext cx="0" cy="265176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566160" y="118872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6.1 Host features</a:t>
            </a:r>
          </a:p>
          <a:p>
            <a:pPr algn="l"/>
            <a:r>
              <a:rPr sz="1000" b="0">
                <a:solidFill>
                  <a:srgbClr val="000000"/>
                </a:solidFill>
              </a:rPr>
              <a:t>ATT&amp;CK-mapped categories: command diversity, transition entropy, enumeration breadth, Kerberos and LDAP cadence, hosts touched per hour, phase ordering, retries and errors.</a:t>
            </a:r>
          </a:p>
        </p:txBody>
      </p:sp>
      <p:cxnSp>
        <p:nvCxnSpPr>
          <p:cNvPr id="8" name="Connector 7"/>
          <p:cNvCxnSpPr/>
          <p:nvPr/>
        </p:nvCxnSpPr>
        <p:spPr>
          <a:xfrm>
            <a:off x="3154680" y="164592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8183879" y="137160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909559" y="166420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
        <p:nvSpPr>
          <p:cNvPr id="11" name="Rounded Rectangle 10"/>
          <p:cNvSpPr/>
          <p:nvPr/>
        </p:nvSpPr>
        <p:spPr>
          <a:xfrm>
            <a:off x="3566160" y="251460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6.2 Network features</a:t>
            </a:r>
          </a:p>
          <a:p>
            <a:pPr algn="l"/>
            <a:r>
              <a:rPr sz="1000" b="0">
                <a:solidFill>
                  <a:srgbClr val="000000"/>
                </a:solidFill>
              </a:rPr>
              <a:t>Connection concurrency (parallelism), inter-arrival timing, protocol mix and burst structure from Zeek/Suricata; Flow Logs for coverage only.</a:t>
            </a:r>
          </a:p>
        </p:txBody>
      </p:sp>
      <p:cxnSp>
        <p:nvCxnSpPr>
          <p:cNvPr id="12" name="Connector 11"/>
          <p:cNvCxnSpPr/>
          <p:nvPr/>
        </p:nvCxnSpPr>
        <p:spPr>
          <a:xfrm>
            <a:off x="3154680" y="297180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8183879" y="269748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909559" y="299008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
        <p:nvSpPr>
          <p:cNvPr id="15" name="Rounded Rectangle 14"/>
          <p:cNvSpPr/>
          <p:nvPr/>
        </p:nvSpPr>
        <p:spPr>
          <a:xfrm>
            <a:off x="3566160" y="384048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6.3 Deny-list and feature matrix</a:t>
            </a:r>
          </a:p>
          <a:p>
            <a:pPr algn="l"/>
            <a:r>
              <a:rPr sz="1000" b="0">
                <a:solidFill>
                  <a:srgbClr val="000000"/>
                </a:solidFill>
              </a:rPr>
              <a:t>Strip IPs, hostnames, accounts, banners, parent process, runner artifacts and experimenter-set hours; convert counts to rates; output one versioned feature matrix.</a:t>
            </a:r>
          </a:p>
        </p:txBody>
      </p:sp>
      <p:cxnSp>
        <p:nvCxnSpPr>
          <p:cNvPr id="16" name="Connector 15"/>
          <p:cNvCxnSpPr/>
          <p:nvPr/>
        </p:nvCxnSpPr>
        <p:spPr>
          <a:xfrm>
            <a:off x="3154680" y="429768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8183879" y="402336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909559" y="431596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40080" y="411480"/>
            <a:ext cx="7772400" cy="640080"/>
          </a:xfrm>
        </p:spPr>
        <p:txBody>
          <a:bodyPr wrap="square"/>
          <a:lstStyle/>
          <a:p>
            <a:r>
              <a:rPr sz="2800" b="1"/>
              <a:t>Methodology Steps – Second Level</a:t>
            </a:r>
          </a:p>
        </p:txBody>
      </p:sp>
      <p:sp>
        <p:nvSpPr>
          <p:cNvPr id="4" name="Rectangle 3"/>
          <p:cNvSpPr/>
          <p:nvPr/>
        </p:nvSpPr>
        <p:spPr>
          <a:xfrm>
            <a:off x="182880" y="1325880"/>
            <a:ext cx="2468880" cy="1554480"/>
          </a:xfrm>
          <a:prstGeom prst="rect">
            <a:avLst/>
          </a:prstGeom>
          <a:solidFill>
            <a:srgbClr val="E5E0EC"/>
          </a:solidFill>
          <a:ln w="12700">
            <a:solidFill>
              <a:srgbClr val="8064A2"/>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200" b="1">
                <a:solidFill>
                  <a:srgbClr val="000000"/>
                </a:solidFill>
              </a:rPr>
              <a:t>7. Exploratory data analysis (EDA)</a:t>
            </a:r>
          </a:p>
          <a:p>
            <a:pPr algn="l"/>
            <a:r>
              <a:rPr sz="1100" b="0">
                <a:solidFill>
                  <a:srgbClr val="000000"/>
                </a:solidFill>
              </a:rPr>
              <a:t>Profile the training trials: class balance, distributions by arm, correlations and top-ranked features.</a:t>
            </a:r>
          </a:p>
        </p:txBody>
      </p:sp>
      <p:cxnSp>
        <p:nvCxnSpPr>
          <p:cNvPr id="5" name="Connector 4"/>
          <p:cNvCxnSpPr/>
          <p:nvPr/>
        </p:nvCxnSpPr>
        <p:spPr>
          <a:xfrm>
            <a:off x="2651760" y="2103120"/>
            <a:ext cx="502920" cy="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154680" y="1645920"/>
            <a:ext cx="0" cy="265176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566160" y="118872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7.1 Profile the dataset</a:t>
            </a:r>
          </a:p>
          <a:p>
            <a:pPr algn="l"/>
            <a:r>
              <a:rPr sz="1000" b="0">
                <a:solidFill>
                  <a:srgbClr val="000000"/>
                </a:solidFill>
              </a:rPr>
              <a:t>Trial counts per arm and condition, missing values and sensor loss, summary statistics and box plots of every feature by arm; training trials only, test trials stay locked.</a:t>
            </a:r>
          </a:p>
        </p:txBody>
      </p:sp>
      <p:cxnSp>
        <p:nvCxnSpPr>
          <p:cNvPr id="8" name="Connector 7"/>
          <p:cNvCxnSpPr/>
          <p:nvPr/>
        </p:nvCxnSpPr>
        <p:spPr>
          <a:xfrm>
            <a:off x="3154680" y="164592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8183879" y="137160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909559" y="166420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
        <p:nvSpPr>
          <p:cNvPr id="11" name="Rounded Rectangle 10"/>
          <p:cNvSpPr/>
          <p:nvPr/>
        </p:nvSpPr>
        <p:spPr>
          <a:xfrm>
            <a:off x="3566160" y="251460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7.2 Rank the top features</a:t>
            </a:r>
          </a:p>
          <a:p>
            <a:pPr algn="l"/>
            <a:r>
              <a:rPr sz="1000" b="0">
                <a:solidFill>
                  <a:srgbClr val="000000"/>
                </a:solidFill>
              </a:rPr>
              <a:t>Mutual information, effect sizes (Mann-Whitney U, Cliff’s delta) and a preliminary Random Forest importance, combined into a ranked top-feature list by family.</a:t>
            </a:r>
          </a:p>
        </p:txBody>
      </p:sp>
      <p:cxnSp>
        <p:nvCxnSpPr>
          <p:cNvPr id="12" name="Connector 11"/>
          <p:cNvCxnSpPr/>
          <p:nvPr/>
        </p:nvCxnSpPr>
        <p:spPr>
          <a:xfrm>
            <a:off x="3154680" y="297180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8183879" y="269748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909559" y="299008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
        <p:nvSpPr>
          <p:cNvPr id="15" name="Rounded Rectangle 14"/>
          <p:cNvSpPr/>
          <p:nvPr/>
        </p:nvSpPr>
        <p:spPr>
          <a:xfrm>
            <a:off x="3566160" y="384048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7.3 Map structure and redundancy</a:t>
            </a:r>
          </a:p>
          <a:p>
            <a:pPr algn="l"/>
            <a:r>
              <a:rPr sz="1000" b="0">
                <a:solidFill>
                  <a:srgbClr val="000000"/>
                </a:solidFill>
              </a:rPr>
              <a:t>Correlation heatmap and pruning of near-duplicate features (|r| &gt; 0.9); PCA and t-SNE projections showing how human and AI trials separate.</a:t>
            </a:r>
          </a:p>
        </p:txBody>
      </p:sp>
      <p:cxnSp>
        <p:nvCxnSpPr>
          <p:cNvPr id="16" name="Connector 15"/>
          <p:cNvCxnSpPr/>
          <p:nvPr/>
        </p:nvCxnSpPr>
        <p:spPr>
          <a:xfrm>
            <a:off x="3154680" y="429768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8183879" y="402336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909559" y="431596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40080" y="411480"/>
            <a:ext cx="7772400" cy="640080"/>
          </a:xfrm>
        </p:spPr>
        <p:txBody>
          <a:bodyPr wrap="square"/>
          <a:lstStyle/>
          <a:p>
            <a:r>
              <a:rPr sz="2800" b="1"/>
              <a:t>Methodology Steps – Second Level</a:t>
            </a:r>
          </a:p>
        </p:txBody>
      </p:sp>
      <p:sp>
        <p:nvSpPr>
          <p:cNvPr id="4" name="Rectangle 3"/>
          <p:cNvSpPr/>
          <p:nvPr/>
        </p:nvSpPr>
        <p:spPr>
          <a:xfrm>
            <a:off x="182880" y="1325880"/>
            <a:ext cx="2468880" cy="1554480"/>
          </a:xfrm>
          <a:prstGeom prst="rect">
            <a:avLst/>
          </a:prstGeom>
          <a:solidFill>
            <a:srgbClr val="E5E0EC"/>
          </a:solidFill>
          <a:ln w="12700">
            <a:solidFill>
              <a:srgbClr val="8064A2"/>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200" b="1">
                <a:solidFill>
                  <a:srgbClr val="000000"/>
                </a:solidFill>
              </a:rPr>
              <a:t>8. Train and tune eight classifiers</a:t>
            </a:r>
          </a:p>
          <a:p>
            <a:pPr algn="l"/>
            <a:r>
              <a:rPr sz="1100" b="0">
                <a:solidFill>
                  <a:srgbClr val="000000"/>
                </a:solidFill>
              </a:rPr>
              <a:t>GB, RF, XGBoost, DT, LR, linear SVM, NB and KNN on identical grouped folds with equal tuning budgets.</a:t>
            </a:r>
          </a:p>
        </p:txBody>
      </p:sp>
      <p:cxnSp>
        <p:nvCxnSpPr>
          <p:cNvPr id="5" name="Connector 4"/>
          <p:cNvCxnSpPr/>
          <p:nvPr/>
        </p:nvCxnSpPr>
        <p:spPr>
          <a:xfrm>
            <a:off x="2651760" y="2103120"/>
            <a:ext cx="502920" cy="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154680" y="1645920"/>
            <a:ext cx="0" cy="265176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566160" y="118872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8.1 Fit the eight classifiers</a:t>
            </a:r>
          </a:p>
          <a:p>
            <a:pPr algn="l"/>
            <a:r>
              <a:rPr sz="1000" b="0">
                <a:solidFill>
                  <a:srgbClr val="000000"/>
                </a:solidFill>
              </a:rPr>
              <a:t>Gradient Boosting (hypothesized best), Random Forest, XGBoost, Decision Tree, Logistic Regression, SVM (linear kernel after tuning), Naïve Bayes and K-Nearest Neighbors.</a:t>
            </a:r>
          </a:p>
        </p:txBody>
      </p:sp>
      <p:cxnSp>
        <p:nvCxnSpPr>
          <p:cNvPr id="8" name="Connector 7"/>
          <p:cNvCxnSpPr/>
          <p:nvPr/>
        </p:nvCxnSpPr>
        <p:spPr>
          <a:xfrm>
            <a:off x="3154680" y="164592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8183879" y="137160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909559" y="166420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
        <p:nvSpPr>
          <p:cNvPr id="11" name="Rounded Rectangle 10"/>
          <p:cNvSpPr/>
          <p:nvPr/>
        </p:nvSpPr>
        <p:spPr>
          <a:xfrm>
            <a:off x="3566160" y="251460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8.2 Tune on grouped folds</a:t>
            </a:r>
          </a:p>
          <a:p>
            <a:pPr algn="l"/>
            <a:r>
              <a:rPr sz="1000" b="0">
                <a:solidFill>
                  <a:srgbClr val="000000"/>
                </a:solidFill>
              </a:rPr>
              <a:t>Randomized search with the same budget per model; scaling and class balancing fitted inside training folds only; all windows from one trial stay on one side of every split.</a:t>
            </a:r>
          </a:p>
        </p:txBody>
      </p:sp>
      <p:cxnSp>
        <p:nvCxnSpPr>
          <p:cNvPr id="12" name="Connector 11"/>
          <p:cNvCxnSpPr/>
          <p:nvPr/>
        </p:nvCxnSpPr>
        <p:spPr>
          <a:xfrm>
            <a:off x="3154680" y="297180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8183879" y="269748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909559" y="299008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
        <p:nvSpPr>
          <p:cNvPr id="15" name="Rounded Rectangle 14"/>
          <p:cNvSpPr/>
          <p:nvPr/>
        </p:nvSpPr>
        <p:spPr>
          <a:xfrm>
            <a:off x="3566160" y="384048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8.3 Fit the baselines</a:t>
            </a:r>
          </a:p>
          <a:p>
            <a:pPr algn="l"/>
            <a:r>
              <a:rPr sz="1000" b="0">
                <a:solidFill>
                  <a:srgbClr val="000000"/>
                </a:solidFill>
              </a:rPr>
              <a:t>Metadata-only model and Palisade-style timing-threshold rule on the same folds, as the leakage check and the current best-known AI signal every classifier must beat.</a:t>
            </a:r>
          </a:p>
        </p:txBody>
      </p:sp>
      <p:cxnSp>
        <p:nvCxnSpPr>
          <p:cNvPr id="16" name="Connector 15"/>
          <p:cNvCxnSpPr/>
          <p:nvPr/>
        </p:nvCxnSpPr>
        <p:spPr>
          <a:xfrm>
            <a:off x="3154680" y="429768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8183879" y="402336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909559" y="431596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40080" y="411480"/>
            <a:ext cx="7772400" cy="640080"/>
          </a:xfrm>
        </p:spPr>
        <p:txBody>
          <a:bodyPr wrap="square"/>
          <a:lstStyle/>
          <a:p>
            <a:r>
              <a:rPr sz="2800" b="1"/>
              <a:t>Methodology Steps – Second Level</a:t>
            </a:r>
          </a:p>
        </p:txBody>
      </p:sp>
      <p:sp>
        <p:nvSpPr>
          <p:cNvPr id="4" name="Rectangle 3"/>
          <p:cNvSpPr/>
          <p:nvPr/>
        </p:nvSpPr>
        <p:spPr>
          <a:xfrm>
            <a:off x="182880" y="1325880"/>
            <a:ext cx="2468880" cy="1554480"/>
          </a:xfrm>
          <a:prstGeom prst="rect">
            <a:avLst/>
          </a:prstGeom>
          <a:solidFill>
            <a:srgbClr val="E5E0EC"/>
          </a:solidFill>
          <a:ln w="12700">
            <a:solidFill>
              <a:srgbClr val="8064A2"/>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200" b="1">
                <a:solidFill>
                  <a:srgbClr val="000000"/>
                </a:solidFill>
              </a:rPr>
              <a:t>9. Evaluate, compare and interpret</a:t>
            </a:r>
          </a:p>
          <a:p>
            <a:pPr algn="l"/>
            <a:r>
              <a:rPr sz="1100" b="0">
                <a:solidFill>
                  <a:srgbClr val="000000"/>
                </a:solidFill>
              </a:rPr>
              <a:t>Rank classifiers on locked test trials (is GB best?), compare with baselines and ablate feature families.</a:t>
            </a:r>
          </a:p>
        </p:txBody>
      </p:sp>
      <p:cxnSp>
        <p:nvCxnSpPr>
          <p:cNvPr id="5" name="Connector 4"/>
          <p:cNvCxnSpPr/>
          <p:nvPr/>
        </p:nvCxnSpPr>
        <p:spPr>
          <a:xfrm>
            <a:off x="2651760" y="2103120"/>
            <a:ext cx="502920" cy="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154680" y="1645920"/>
            <a:ext cx="0" cy="265176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566160" y="118872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9.1 Locked test and metrics</a:t>
            </a:r>
          </a:p>
          <a:p>
            <a:pPr algn="l"/>
            <a:r>
              <a:rPr sz="1000" b="0">
                <a:solidFill>
                  <a:srgbClr val="000000"/>
                </a:solidFill>
              </a:rPr>
              <a:t>Window scores roll up to trial predictions by the frozen rule; trial-level macro-F1, per-class precision and recall, ROC-AUC and confusion matrix for every classifier.</a:t>
            </a:r>
          </a:p>
        </p:txBody>
      </p:sp>
      <p:cxnSp>
        <p:nvCxnSpPr>
          <p:cNvPr id="8" name="Connector 7"/>
          <p:cNvCxnSpPr/>
          <p:nvPr/>
        </p:nvCxnSpPr>
        <p:spPr>
          <a:xfrm>
            <a:off x="3154680" y="164592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8183879" y="137160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909559" y="166420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
        <p:nvSpPr>
          <p:cNvPr id="11" name="Rounded Rectangle 10"/>
          <p:cNvSpPr/>
          <p:nvPr/>
        </p:nvSpPr>
        <p:spPr>
          <a:xfrm>
            <a:off x="3566160" y="251460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9.2 Compare classifiers (RQ3, H3)</a:t>
            </a:r>
          </a:p>
          <a:p>
            <a:pPr algn="l"/>
            <a:r>
              <a:rPr sz="1000" b="0">
                <a:solidFill>
                  <a:srgbClr val="000000"/>
                </a:solidFill>
              </a:rPr>
              <a:t>Rank all eight by macro-F1; a Friedman test with Nemenyi post-hoc across folds and paired bootstrap intervals on test trials decide whether Gradient Boosting is best.</a:t>
            </a:r>
          </a:p>
        </p:txBody>
      </p:sp>
      <p:cxnSp>
        <p:nvCxnSpPr>
          <p:cNvPr id="12" name="Connector 11"/>
          <p:cNvCxnSpPr/>
          <p:nvPr/>
        </p:nvCxnSpPr>
        <p:spPr>
          <a:xfrm>
            <a:off x="3154680" y="297180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8183879" y="269748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909559" y="299008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
        <p:nvSpPr>
          <p:cNvPr id="15" name="Rounded Rectangle 14"/>
          <p:cNvSpPr/>
          <p:nvPr/>
        </p:nvSpPr>
        <p:spPr>
          <a:xfrm>
            <a:off x="3566160" y="384048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9.3 Interpret and ablate (RQ2, H2)</a:t>
            </a:r>
          </a:p>
          <a:p>
            <a:pPr algn="l"/>
            <a:r>
              <a:rPr sz="1000" b="0">
                <a:solidFill>
                  <a:srgbClr val="000000"/>
                </a:solidFill>
              </a:rPr>
              <a:t>Permutation importance and SHAP by feature family; remove timing, then timing plus tool identifiers, and report the macro-F1 drop on the same folds.</a:t>
            </a:r>
          </a:p>
        </p:txBody>
      </p:sp>
      <p:cxnSp>
        <p:nvCxnSpPr>
          <p:cNvPr id="16" name="Connector 15"/>
          <p:cNvCxnSpPr/>
          <p:nvPr/>
        </p:nvCxnSpPr>
        <p:spPr>
          <a:xfrm>
            <a:off x="3154680" y="429768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8183879" y="402336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909559" y="431596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40080" y="411480"/>
            <a:ext cx="7772400" cy="640080"/>
          </a:xfrm>
        </p:spPr>
        <p:txBody>
          <a:bodyPr wrap="square"/>
          <a:lstStyle/>
          <a:p>
            <a:r>
              <a:rPr sz="2800" b="1"/>
              <a:t>Methodology Steps – Second Level</a:t>
            </a:r>
          </a:p>
        </p:txBody>
      </p:sp>
      <p:sp>
        <p:nvSpPr>
          <p:cNvPr id="4" name="Rectangle 3"/>
          <p:cNvSpPr/>
          <p:nvPr/>
        </p:nvSpPr>
        <p:spPr>
          <a:xfrm>
            <a:off x="182880" y="1325880"/>
            <a:ext cx="2468880" cy="1554480"/>
          </a:xfrm>
          <a:prstGeom prst="rect">
            <a:avLst/>
          </a:prstGeom>
          <a:solidFill>
            <a:srgbClr val="F2F2F2"/>
          </a:solidFill>
          <a:ln w="12700">
            <a:solidFill>
              <a:srgbClr val="7F7F7F"/>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200" b="1">
                <a:solidFill>
                  <a:srgbClr val="000000"/>
                </a:solidFill>
              </a:rPr>
              <a:t>10. Phase 2 extension and defense</a:t>
            </a:r>
          </a:p>
          <a:p>
            <a:pPr algn="l"/>
            <a:r>
              <a:rPr sz="1100" b="0">
                <a:solidFill>
                  <a:srgbClr val="000000"/>
                </a:solidFill>
              </a:rPr>
              <a:t>Held-out operators, evasion arm, reproducibility package, write-up and praxis defense.</a:t>
            </a:r>
          </a:p>
        </p:txBody>
      </p:sp>
      <p:cxnSp>
        <p:nvCxnSpPr>
          <p:cNvPr id="5" name="Connector 4"/>
          <p:cNvCxnSpPr/>
          <p:nvPr/>
        </p:nvCxnSpPr>
        <p:spPr>
          <a:xfrm>
            <a:off x="2651760" y="2103120"/>
            <a:ext cx="502920" cy="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154680" y="1645920"/>
            <a:ext cx="0" cy="265176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566160" y="118872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10.1 Generalize and stress-test (RQ4, RQ5, H4)</a:t>
            </a:r>
          </a:p>
          <a:p>
            <a:pPr algn="l"/>
            <a:r>
              <a:rPr sz="1000" b="0">
                <a:solidFill>
                  <a:srgbClr val="000000"/>
                </a:solidFill>
              </a:rPr>
              <a:t>With recruiting and funding settled: at least 3 testers and 2 AI configurations in multi-day APT campaigns; hold out one of each; add the human-pacing evasion arm.</a:t>
            </a:r>
          </a:p>
        </p:txBody>
      </p:sp>
      <p:cxnSp>
        <p:nvCxnSpPr>
          <p:cNvPr id="8" name="Connector 7"/>
          <p:cNvCxnSpPr/>
          <p:nvPr/>
        </p:nvCxnSpPr>
        <p:spPr>
          <a:xfrm>
            <a:off x="3154680" y="164592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8183879" y="137160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909559" y="166420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
        <p:nvSpPr>
          <p:cNvPr id="11" name="Rounded Rectangle 10"/>
          <p:cNvSpPr/>
          <p:nvPr/>
        </p:nvSpPr>
        <p:spPr>
          <a:xfrm>
            <a:off x="3566160" y="251460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10.2 Reproducibility package</a:t>
            </a:r>
          </a:p>
          <a:p>
            <a:pPr algn="l"/>
            <a:r>
              <a:rPr sz="1000" b="0">
                <a:solidFill>
                  <a:srgbClr val="000000"/>
                </a:solidFill>
              </a:rPr>
              <a:t>Stored logs, frozen splits, versioned feature, EDA and model code, seeds, container image, trained models, raw predictions, protocol and deviation log.</a:t>
            </a:r>
          </a:p>
        </p:txBody>
      </p:sp>
      <p:cxnSp>
        <p:nvCxnSpPr>
          <p:cNvPr id="12" name="Connector 11"/>
          <p:cNvCxnSpPr/>
          <p:nvPr/>
        </p:nvCxnSpPr>
        <p:spPr>
          <a:xfrm>
            <a:off x="3154680" y="297180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8183879" y="269748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909559" y="299008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
        <p:nvSpPr>
          <p:cNvPr id="15" name="Rounded Rectangle 14"/>
          <p:cNvSpPr/>
          <p:nvPr/>
        </p:nvSpPr>
        <p:spPr>
          <a:xfrm>
            <a:off x="3566160" y="384048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10.3 Write up and defend</a:t>
            </a:r>
          </a:p>
          <a:p>
            <a:pPr algn="l"/>
            <a:r>
              <a:rPr sz="1000" b="0">
                <a:solidFill>
                  <a:srgbClr val="000000"/>
                </a:solidFill>
              </a:rPr>
              <a:t>Report every trial, exclusion and all eight classifier results; prepare the praxis defense deck and abstract.</a:t>
            </a:r>
          </a:p>
        </p:txBody>
      </p:sp>
      <p:cxnSp>
        <p:nvCxnSpPr>
          <p:cNvPr id="16" name="Connector 15"/>
          <p:cNvCxnSpPr/>
          <p:nvPr/>
        </p:nvCxnSpPr>
        <p:spPr>
          <a:xfrm>
            <a:off x="3154680" y="429768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8183879" y="402336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909559" y="431596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434840" y="228600"/>
            <a:ext cx="4480560" cy="411480"/>
          </a:xfrm>
          <a:prstGeom prst="rect">
            <a:avLst/>
          </a:prstGeom>
          <a:noFill/>
        </p:spPr>
        <p:txBody>
          <a:bodyPr wrap="square" lIns="27432" tIns="27432" rIns="27432" bIns="27432" anchor="t">
            <a:spAutoFit/>
          </a:bodyPr>
          <a:lstStyle/>
          <a:p>
            <a:r>
              <a:rPr sz="1600" b="1">
                <a:solidFill>
                  <a:srgbClr val="000000"/>
                </a:solidFill>
              </a:rPr>
              <a:t>Dataset Generation Pipeline (Branch 1)</a:t>
            </a:r>
          </a:p>
        </p:txBody>
      </p:sp>
      <p:sp>
        <p:nvSpPr>
          <p:cNvPr id="5" name="TextBox 4"/>
          <p:cNvSpPr txBox="1"/>
          <p:nvPr/>
        </p:nvSpPr>
        <p:spPr>
          <a:xfrm>
            <a:off x="4434840" y="731520"/>
            <a:ext cx="4480560" cy="4572000"/>
          </a:xfrm>
          <a:prstGeom prst="rect">
            <a:avLst/>
          </a:prstGeom>
          <a:noFill/>
        </p:spPr>
        <p:txBody>
          <a:bodyPr wrap="square" lIns="27432" tIns="27432" rIns="27432" bIns="27432" anchor="t">
            <a:spAutoFit/>
          </a:bodyPr>
          <a:lstStyle/>
          <a:p>
            <a:pPr>
              <a:spcAft>
                <a:spcPts val="500"/>
              </a:spcAft>
            </a:pPr>
            <a:r>
              <a:rPr sz="1050" b="1">
                <a:solidFill>
                  <a:srgbClr val="000000"/>
                </a:solidFill>
              </a:rPr>
              <a:t>1. Lab image: </a:t>
            </a:r>
            <a:r>
              <a:rPr sz="1050">
                <a:solidFill>
                  <a:srgbClr val="000000"/>
                </a:solidFill>
              </a:rPr>
              <a:t>Proposed AWS range at a pinned revision, with audit policies, sensors and separate evidence storage</a:t>
            </a:r>
          </a:p>
          <a:p>
            <a:pPr>
              <a:spcAft>
                <a:spcPts val="500"/>
              </a:spcAft>
            </a:pPr>
            <a:r>
              <a:rPr sz="1050" b="1">
                <a:solidFill>
                  <a:srgbClr val="000000"/>
                </a:solidFill>
              </a:rPr>
              <a:t>2. Verified reset: </a:t>
            </a:r>
            <a:r>
              <a:rPr sz="1050">
                <a:solidFill>
                  <a:srgbClr val="000000"/>
                </a:solidFill>
              </a:rPr>
              <a:t>rebuild targets from images; attest clean state; issue run ID</a:t>
            </a:r>
          </a:p>
          <a:p>
            <a:pPr>
              <a:spcAft>
                <a:spcPts val="500"/>
              </a:spcAft>
            </a:pPr>
            <a:r>
              <a:rPr sz="1050" b="1">
                <a:solidFill>
                  <a:srgbClr val="000000"/>
                </a:solidFill>
              </a:rPr>
              <a:t>3. Matched APT trial: </a:t>
            </a:r>
            <a:r>
              <a:rPr sz="1050">
                <a:solidFill>
                  <a:srgbClr val="000000"/>
                </a:solidFill>
              </a:rPr>
              <a:t>human or autonomous-AI arm starts on the same foothold with the same window, tools and ROE</a:t>
            </a:r>
          </a:p>
          <a:p>
            <a:pPr>
              <a:spcAft>
                <a:spcPts val="500"/>
              </a:spcAft>
            </a:pPr>
            <a:r>
              <a:rPr sz="1050" b="1">
                <a:solidFill>
                  <a:srgbClr val="000000"/>
                </a:solidFill>
              </a:rPr>
              <a:t>4. Target-side capture: </a:t>
            </a:r>
            <a:r>
              <a:rPr sz="1050">
                <a:solidFill>
                  <a:srgbClr val="000000"/>
                </a:solidFill>
              </a:rPr>
              <a:t>host events (Sysmon, Security, PowerShell, AD, DNS) and network sensor (Zeek/Suricata, PCAP, Flow Logs)</a:t>
            </a:r>
          </a:p>
          <a:p>
            <a:pPr>
              <a:spcAft>
                <a:spcPts val="500"/>
              </a:spcAft>
            </a:pPr>
            <a:r>
              <a:rPr sz="1050" b="1">
                <a:solidFill>
                  <a:srgbClr val="000000"/>
                </a:solidFill>
              </a:rPr>
              <a:t>5. Evidence archive: </a:t>
            </a:r>
            <a:r>
              <a:rPr sz="1050">
                <a:solidFill>
                  <a:srgbClr val="000000"/>
                </a:solidFill>
              </a:rPr>
              <a:t>native exports to private S3 with SHA-256 manifests; CloudWatch copies for search</a:t>
            </a:r>
          </a:p>
          <a:p>
            <a:pPr>
              <a:spcAft>
                <a:spcPts val="500"/>
              </a:spcAft>
            </a:pPr>
            <a:r>
              <a:rPr sz="1050" b="1">
                <a:solidFill>
                  <a:srgbClr val="000000"/>
                </a:solidFill>
              </a:rPr>
              <a:t>6. Quality checks: </a:t>
            </a:r>
            <a:r>
              <a:rPr sz="1050">
                <a:solidFill>
                  <a:srgbClr val="000000"/>
                </a:solidFill>
              </a:rPr>
              <a:t>canaries present, clocks within 1 s, hashes verified, reset attested; fail = remediate and rerun the trial</a:t>
            </a:r>
          </a:p>
          <a:p>
            <a:pPr>
              <a:spcAft>
                <a:spcPts val="500"/>
              </a:spcAft>
            </a:pPr>
            <a:r>
              <a:rPr sz="1050" b="1">
                <a:solidFill>
                  <a:srgbClr val="000000"/>
                </a:solidFill>
              </a:rPr>
              <a:t>7. Labeled dataset: </a:t>
            </a:r>
            <a:r>
              <a:rPr sz="1050">
                <a:solidFill>
                  <a:srgbClr val="000000"/>
                </a:solidFill>
              </a:rPr>
              <a:t>registry labels (arm, operator/config, condition, partition, outcome, interventions) kept apart from features; trials released as dataset v1.0</a:t>
            </a:r>
          </a:p>
        </p:txBody>
      </p:sp>
      <p:sp>
        <p:nvSpPr>
          <p:cNvPr id="6" name="Magnetic Disk 5"/>
          <p:cNvSpPr/>
          <p:nvPr/>
        </p:nvSpPr>
        <p:spPr>
          <a:xfrm>
            <a:off x="777239" y="320040"/>
            <a:ext cx="2834640" cy="475488"/>
          </a:xfrm>
          <a:prstGeom prst="flowChartMagneticDisk">
            <a:avLst/>
          </a:prstGeom>
          <a:solidFill>
            <a:srgbClr val="7F7F7F"/>
          </a:solidFill>
          <a:ln w="12700">
            <a:solidFill>
              <a:srgbClr val="59595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0">
                <a:solidFill>
                  <a:srgbClr val="FFFFFF"/>
                </a:solidFill>
              </a:rPr>
              <a:t>AWS range image (pinned revision)</a:t>
            </a:r>
          </a:p>
        </p:txBody>
      </p:sp>
      <p:sp>
        <p:nvSpPr>
          <p:cNvPr id="7" name="Process 6"/>
          <p:cNvSpPr/>
          <p:nvPr/>
        </p:nvSpPr>
        <p:spPr>
          <a:xfrm>
            <a:off x="777239" y="1078992"/>
            <a:ext cx="2834640" cy="475488"/>
          </a:xfrm>
          <a:prstGeom prst="flowChartProcess">
            <a:avLst/>
          </a:prstGeom>
          <a:solidFill>
            <a:srgbClr val="4F81BD"/>
          </a:solidFill>
          <a:ln w="12700">
            <a:solidFill>
              <a:srgbClr val="365F91"/>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0">
                <a:solidFill>
                  <a:srgbClr val="FFFFFF"/>
                </a:solidFill>
              </a:rPr>
              <a:t>Verified reset → run ID</a:t>
            </a:r>
          </a:p>
        </p:txBody>
      </p:sp>
      <p:sp>
        <p:nvSpPr>
          <p:cNvPr id="8" name="Data 7"/>
          <p:cNvSpPr/>
          <p:nvPr/>
        </p:nvSpPr>
        <p:spPr>
          <a:xfrm>
            <a:off x="640080" y="1837944"/>
            <a:ext cx="3108960" cy="475488"/>
          </a:xfrm>
          <a:prstGeom prst="flowChartInputOutput">
            <a:avLst/>
          </a:prstGeom>
          <a:solidFill>
            <a:srgbClr val="92D050"/>
          </a:solidFill>
          <a:ln w="12700">
            <a:solidFill>
              <a:srgbClr val="5F7D3A"/>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0">
                <a:solidFill>
                  <a:srgbClr val="000000"/>
                </a:solidFill>
              </a:rPr>
              <a:t>Matched APT trial: human | AI</a:t>
            </a:r>
          </a:p>
          <a:p>
            <a:pPr algn="ctr"/>
            <a:r>
              <a:rPr sz="1000" b="0">
                <a:solidFill>
                  <a:srgbClr val="000000"/>
                </a:solidFill>
              </a:rPr>
              <a:t>(same foothold, window, ROE)</a:t>
            </a:r>
          </a:p>
        </p:txBody>
      </p:sp>
      <p:sp>
        <p:nvSpPr>
          <p:cNvPr id="9" name="Process 8"/>
          <p:cNvSpPr/>
          <p:nvPr/>
        </p:nvSpPr>
        <p:spPr>
          <a:xfrm>
            <a:off x="777239" y="2596896"/>
            <a:ext cx="2834640" cy="475488"/>
          </a:xfrm>
          <a:prstGeom prst="flowChartProcess">
            <a:avLst/>
          </a:prstGeom>
          <a:solidFill>
            <a:srgbClr val="4F81BD"/>
          </a:solidFill>
          <a:ln w="12700">
            <a:solidFill>
              <a:srgbClr val="365F91"/>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0">
                <a:solidFill>
                  <a:srgbClr val="FFFFFF"/>
                </a:solidFill>
              </a:rPr>
              <a:t>Target-side capture</a:t>
            </a:r>
          </a:p>
          <a:p>
            <a:pPr algn="ctr"/>
            <a:r>
              <a:rPr sz="1000" b="0">
                <a:solidFill>
                  <a:srgbClr val="FFFFFF"/>
                </a:solidFill>
              </a:rPr>
              <a:t>host events + network sensor</a:t>
            </a:r>
          </a:p>
        </p:txBody>
      </p:sp>
      <p:sp>
        <p:nvSpPr>
          <p:cNvPr id="10" name="Magnetic Disk 9"/>
          <p:cNvSpPr/>
          <p:nvPr/>
        </p:nvSpPr>
        <p:spPr>
          <a:xfrm>
            <a:off x="777239" y="3355848"/>
            <a:ext cx="2834640" cy="475488"/>
          </a:xfrm>
          <a:prstGeom prst="flowChartMagneticDisk">
            <a:avLst/>
          </a:prstGeom>
          <a:solidFill>
            <a:srgbClr val="4F81BD"/>
          </a:solidFill>
          <a:ln w="12700">
            <a:solidFill>
              <a:srgbClr val="365F91"/>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0">
                <a:solidFill>
                  <a:srgbClr val="FFFFFF"/>
                </a:solidFill>
              </a:rPr>
              <a:t>Evidence archive</a:t>
            </a:r>
          </a:p>
          <a:p>
            <a:pPr algn="ctr"/>
            <a:r>
              <a:rPr sz="1000" b="0">
                <a:solidFill>
                  <a:srgbClr val="FFFFFF"/>
                </a:solidFill>
              </a:rPr>
              <a:t>S3 + SHA-256 manifests</a:t>
            </a:r>
          </a:p>
        </p:txBody>
      </p:sp>
      <p:sp>
        <p:nvSpPr>
          <p:cNvPr id="11" name="Decision 10"/>
          <p:cNvSpPr/>
          <p:nvPr/>
        </p:nvSpPr>
        <p:spPr>
          <a:xfrm>
            <a:off x="640080" y="4014215"/>
            <a:ext cx="3108960" cy="676656"/>
          </a:xfrm>
          <a:prstGeom prst="flowChartDecision">
            <a:avLst/>
          </a:prstGeom>
          <a:solidFill>
            <a:srgbClr val="4F81BD"/>
          </a:solidFill>
          <a:ln w="12700">
            <a:solidFill>
              <a:srgbClr val="365F91"/>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0">
                <a:solidFill>
                  <a:srgbClr val="FFFFFF"/>
                </a:solidFill>
              </a:rPr>
              <a:t>Quality checks pass?</a:t>
            </a:r>
          </a:p>
        </p:txBody>
      </p:sp>
      <p:sp>
        <p:nvSpPr>
          <p:cNvPr id="12" name="Terminator 11"/>
          <p:cNvSpPr/>
          <p:nvPr/>
        </p:nvSpPr>
        <p:spPr>
          <a:xfrm>
            <a:off x="777239" y="4873752"/>
            <a:ext cx="2834640" cy="475488"/>
          </a:xfrm>
          <a:prstGeom prst="flowChartTerminator">
            <a:avLst/>
          </a:prstGeom>
          <a:solidFill>
            <a:srgbClr val="92D050"/>
          </a:solidFill>
          <a:ln w="12700">
            <a:solidFill>
              <a:srgbClr val="5F7D3A"/>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0">
                <a:solidFill>
                  <a:srgbClr val="000000"/>
                </a:solidFill>
              </a:rPr>
              <a:t>Labeled APT dataset v1.0</a:t>
            </a:r>
          </a:p>
          <a:p>
            <a:pPr algn="ctr"/>
            <a:r>
              <a:rPr sz="1000" b="0">
                <a:solidFill>
                  <a:srgbClr val="000000"/>
                </a:solidFill>
              </a:rPr>
              <a:t>(registry labels restricted)</a:t>
            </a:r>
          </a:p>
        </p:txBody>
      </p:sp>
      <p:cxnSp>
        <p:nvCxnSpPr>
          <p:cNvPr id="13" name="Connector 12"/>
          <p:cNvCxnSpPr/>
          <p:nvPr/>
        </p:nvCxnSpPr>
        <p:spPr>
          <a:xfrm>
            <a:off x="2194560" y="795528"/>
            <a:ext cx="0" cy="283464"/>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2194560" y="1554480"/>
            <a:ext cx="0" cy="283464"/>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2194560" y="2313432"/>
            <a:ext cx="0" cy="283464"/>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2194560" y="3072384"/>
            <a:ext cx="0" cy="283464"/>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2194560" y="3831336"/>
            <a:ext cx="0" cy="182879"/>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2194560" y="4690872"/>
            <a:ext cx="0" cy="18288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411480" y="4352544"/>
            <a:ext cx="228600" cy="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411480" y="1316736"/>
            <a:ext cx="0" cy="3035808"/>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11480" y="1316736"/>
            <a:ext cx="365759"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438912" y="4151376"/>
            <a:ext cx="457200" cy="182880"/>
          </a:xfrm>
          <a:prstGeom prst="rect">
            <a:avLst/>
          </a:prstGeom>
          <a:noFill/>
        </p:spPr>
        <p:txBody>
          <a:bodyPr wrap="square" lIns="27432" tIns="27432" rIns="27432" bIns="27432" anchor="t">
            <a:spAutoFit/>
          </a:bodyPr>
          <a:lstStyle/>
          <a:p>
            <a:r>
              <a:rPr sz="800">
                <a:solidFill>
                  <a:srgbClr val="000000"/>
                </a:solidFill>
              </a:rPr>
              <a:t>No</a:t>
            </a:r>
          </a:p>
        </p:txBody>
      </p:sp>
      <p:sp>
        <p:nvSpPr>
          <p:cNvPr id="23" name="TextBox 22"/>
          <p:cNvSpPr txBox="1"/>
          <p:nvPr/>
        </p:nvSpPr>
        <p:spPr>
          <a:xfrm>
            <a:off x="2231136" y="4690872"/>
            <a:ext cx="457200" cy="182880"/>
          </a:xfrm>
          <a:prstGeom prst="rect">
            <a:avLst/>
          </a:prstGeom>
          <a:noFill/>
        </p:spPr>
        <p:txBody>
          <a:bodyPr wrap="square" lIns="27432" tIns="27432" rIns="27432" bIns="27432" anchor="t">
            <a:spAutoFit/>
          </a:bodyPr>
          <a:lstStyle/>
          <a:p>
            <a:r>
              <a:rPr sz="800">
                <a:solidFill>
                  <a:srgbClr val="000000"/>
                </a:solidFill>
              </a:rPr>
              <a:t>Yes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434840" y="228600"/>
            <a:ext cx="4480560" cy="411480"/>
          </a:xfrm>
          <a:prstGeom prst="rect">
            <a:avLst/>
          </a:prstGeom>
          <a:noFill/>
        </p:spPr>
        <p:txBody>
          <a:bodyPr wrap="square" lIns="27432" tIns="27432" rIns="27432" bIns="27432" anchor="t">
            <a:spAutoFit/>
          </a:bodyPr>
          <a:lstStyle/>
          <a:p>
            <a:r>
              <a:rPr sz="1600" b="1">
                <a:solidFill>
                  <a:srgbClr val="000000"/>
                </a:solidFill>
              </a:rPr>
              <a:t>Classification Pipeline (Branch 2)</a:t>
            </a:r>
          </a:p>
        </p:txBody>
      </p:sp>
      <p:sp>
        <p:nvSpPr>
          <p:cNvPr id="5" name="TextBox 4"/>
          <p:cNvSpPr txBox="1"/>
          <p:nvPr/>
        </p:nvSpPr>
        <p:spPr>
          <a:xfrm>
            <a:off x="4434840" y="731520"/>
            <a:ext cx="4480560" cy="3089564"/>
          </a:xfrm>
          <a:prstGeom prst="rect">
            <a:avLst/>
          </a:prstGeom>
          <a:noFill/>
        </p:spPr>
        <p:txBody>
          <a:bodyPr wrap="square" lIns="27432" tIns="27432" rIns="27432" bIns="27432" anchor="t">
            <a:spAutoFit/>
          </a:bodyPr>
          <a:lstStyle/>
          <a:p>
            <a:pPr>
              <a:spcAft>
                <a:spcPts val="500"/>
              </a:spcAft>
            </a:pPr>
            <a:r>
              <a:rPr sz="1050" b="1" dirty="0">
                <a:solidFill>
                  <a:srgbClr val="000000"/>
                </a:solidFill>
              </a:rPr>
              <a:t>1. Labeled dataset: </a:t>
            </a:r>
            <a:r>
              <a:rPr sz="1050" dirty="0">
                <a:solidFill>
                  <a:srgbClr val="000000"/>
                </a:solidFill>
              </a:rPr>
              <a:t>per-trial host and network evidence with ground-truth labels from Branch 1</a:t>
            </a:r>
          </a:p>
          <a:p>
            <a:pPr>
              <a:spcAft>
                <a:spcPts val="500"/>
              </a:spcAft>
            </a:pPr>
            <a:r>
              <a:rPr sz="1050" b="1" dirty="0">
                <a:solidFill>
                  <a:srgbClr val="000000"/>
                </a:solidFill>
              </a:rPr>
              <a:t>2. Feature engineering: </a:t>
            </a:r>
            <a:r>
              <a:rPr sz="1050" dirty="0">
                <a:solidFill>
                  <a:srgbClr val="000000"/>
                </a:solidFill>
              </a:rPr>
              <a:t>ATT&amp;CK mapping, rate normalization, deny-list; versioned code</a:t>
            </a:r>
          </a:p>
          <a:p>
            <a:pPr>
              <a:spcAft>
                <a:spcPts val="500"/>
              </a:spcAft>
            </a:pPr>
            <a:r>
              <a:rPr sz="1050" b="1" dirty="0">
                <a:solidFill>
                  <a:srgbClr val="000000"/>
                </a:solidFill>
              </a:rPr>
              <a:t>3. Frozen grouped split: </a:t>
            </a:r>
            <a:r>
              <a:rPr sz="1050" dirty="0">
                <a:solidFill>
                  <a:srgbClr val="000000"/>
                </a:solidFill>
              </a:rPr>
              <a:t>train / validation / test by trial; manifest fixed before scored runs</a:t>
            </a:r>
          </a:p>
          <a:p>
            <a:pPr>
              <a:spcAft>
                <a:spcPts val="500"/>
              </a:spcAft>
            </a:pPr>
            <a:r>
              <a:rPr sz="1050" b="1" dirty="0">
                <a:solidFill>
                  <a:srgbClr val="000000"/>
                </a:solidFill>
              </a:rPr>
              <a:t>4. EDA (training trials only): </a:t>
            </a:r>
            <a:r>
              <a:rPr sz="1050" dirty="0">
                <a:solidFill>
                  <a:srgbClr val="000000"/>
                </a:solidFill>
              </a:rPr>
              <a:t>class balance, distributions by arm, correlations, ranked top features</a:t>
            </a:r>
          </a:p>
          <a:p>
            <a:pPr>
              <a:spcAft>
                <a:spcPts val="500"/>
              </a:spcAft>
            </a:pPr>
            <a:r>
              <a:rPr sz="1050" b="1" dirty="0">
                <a:solidFill>
                  <a:srgbClr val="000000"/>
                </a:solidFill>
              </a:rPr>
              <a:t>5. Train and tune 8 classifiers: </a:t>
            </a:r>
            <a:r>
              <a:rPr sz="1050" dirty="0">
                <a:solidFill>
                  <a:srgbClr val="000000"/>
                </a:solidFill>
              </a:rPr>
              <a:t>GB, RF, </a:t>
            </a:r>
            <a:r>
              <a:rPr sz="1050" dirty="0" err="1">
                <a:solidFill>
                  <a:srgbClr val="000000"/>
                </a:solidFill>
              </a:rPr>
              <a:t>XGBoost</a:t>
            </a:r>
            <a:r>
              <a:rPr sz="1050" dirty="0">
                <a:solidFill>
                  <a:srgbClr val="000000"/>
                </a:solidFill>
              </a:rPr>
              <a:t>, DT, LR, linear SVM, NB, KNN with equal tuning budgets; window scores roll up to trials</a:t>
            </a:r>
          </a:p>
          <a:p>
            <a:pPr>
              <a:spcAft>
                <a:spcPts val="500"/>
              </a:spcAft>
            </a:pPr>
            <a:r>
              <a:rPr sz="1050" b="1" dirty="0">
                <a:solidFill>
                  <a:srgbClr val="000000"/>
                </a:solidFill>
              </a:rPr>
              <a:t>6. Validation: </a:t>
            </a:r>
            <a:r>
              <a:rPr sz="1050" dirty="0">
                <a:solidFill>
                  <a:srgbClr val="000000"/>
                </a:solidFill>
              </a:rPr>
              <a:t>grouped cross-validation until performance converges; nothing tuned on the test set</a:t>
            </a:r>
          </a:p>
          <a:p>
            <a:pPr>
              <a:spcAft>
                <a:spcPts val="500"/>
              </a:spcAft>
            </a:pPr>
            <a:r>
              <a:rPr sz="1050" b="1" dirty="0">
                <a:solidFill>
                  <a:srgbClr val="000000"/>
                </a:solidFill>
              </a:rPr>
              <a:t>7. Locked test: </a:t>
            </a:r>
            <a:r>
              <a:rPr sz="1050" dirty="0">
                <a:solidFill>
                  <a:srgbClr val="000000"/>
                </a:solidFill>
              </a:rPr>
              <a:t>one evaluation of trial-level predictions on the held-out trials</a:t>
            </a:r>
          </a:p>
          <a:p>
            <a:pPr>
              <a:spcAft>
                <a:spcPts val="500"/>
              </a:spcAft>
            </a:pPr>
            <a:r>
              <a:rPr sz="1050" b="1" dirty="0">
                <a:solidFill>
                  <a:srgbClr val="000000"/>
                </a:solidFill>
              </a:rPr>
              <a:t>8. Compare and report: </a:t>
            </a:r>
            <a:r>
              <a:rPr sz="1050" dirty="0">
                <a:solidFill>
                  <a:srgbClr val="000000"/>
                </a:solidFill>
              </a:rPr>
              <a:t>rank all 8 by macro-F1 with per-class precision/recall, ROC-AUC and confusion matrices vs. metadata-only and timing-threshold baselines</a:t>
            </a:r>
          </a:p>
        </p:txBody>
      </p:sp>
      <p:sp>
        <p:nvSpPr>
          <p:cNvPr id="6" name="Magnetic Disk 5"/>
          <p:cNvSpPr/>
          <p:nvPr/>
        </p:nvSpPr>
        <p:spPr>
          <a:xfrm>
            <a:off x="777239" y="320040"/>
            <a:ext cx="2834640" cy="420624"/>
          </a:xfrm>
          <a:prstGeom prst="flowChartMagneticDisk">
            <a:avLst/>
          </a:prstGeom>
          <a:solidFill>
            <a:srgbClr val="7F7F7F"/>
          </a:solidFill>
          <a:ln w="12700">
            <a:solidFill>
              <a:srgbClr val="59595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0">
                <a:solidFill>
                  <a:srgbClr val="FFFFFF"/>
                </a:solidFill>
              </a:rPr>
              <a:t>Labeled APT dataset (per trial)</a:t>
            </a:r>
          </a:p>
        </p:txBody>
      </p:sp>
      <p:sp>
        <p:nvSpPr>
          <p:cNvPr id="7" name="Process 6"/>
          <p:cNvSpPr/>
          <p:nvPr/>
        </p:nvSpPr>
        <p:spPr>
          <a:xfrm>
            <a:off x="777239" y="954895"/>
            <a:ext cx="2834640" cy="420624"/>
          </a:xfrm>
          <a:prstGeom prst="flowChartProcess">
            <a:avLst/>
          </a:prstGeom>
          <a:solidFill>
            <a:srgbClr val="4F81BD"/>
          </a:solidFill>
          <a:ln w="12700">
            <a:solidFill>
              <a:srgbClr val="365F91"/>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0">
                <a:solidFill>
                  <a:srgbClr val="FFFFFF"/>
                </a:solidFill>
              </a:rPr>
              <a:t>Feature engineering</a:t>
            </a:r>
          </a:p>
          <a:p>
            <a:pPr algn="ctr"/>
            <a:r>
              <a:rPr sz="1000" b="0">
                <a:solidFill>
                  <a:srgbClr val="FFFFFF"/>
                </a:solidFill>
              </a:rPr>
              <a:t>(deny-list, ATT&amp;CK, rates)</a:t>
            </a:r>
          </a:p>
        </p:txBody>
      </p:sp>
      <p:sp>
        <p:nvSpPr>
          <p:cNvPr id="8" name="Data 7"/>
          <p:cNvSpPr/>
          <p:nvPr/>
        </p:nvSpPr>
        <p:spPr>
          <a:xfrm>
            <a:off x="640080" y="1589750"/>
            <a:ext cx="3108960" cy="420624"/>
          </a:xfrm>
          <a:prstGeom prst="flowChartInputOutput">
            <a:avLst/>
          </a:prstGeom>
          <a:solidFill>
            <a:srgbClr val="92D050"/>
          </a:solidFill>
          <a:ln w="12700">
            <a:solidFill>
              <a:srgbClr val="5F7D3A"/>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0">
                <a:solidFill>
                  <a:srgbClr val="000000"/>
                </a:solidFill>
              </a:rPr>
              <a:t>Frozen grouped split</a:t>
            </a:r>
          </a:p>
          <a:p>
            <a:pPr algn="ctr"/>
            <a:r>
              <a:rPr sz="1000" b="0">
                <a:solidFill>
                  <a:srgbClr val="000000"/>
                </a:solidFill>
              </a:rPr>
              <a:t>train / validation / test</a:t>
            </a:r>
          </a:p>
        </p:txBody>
      </p:sp>
      <p:sp>
        <p:nvSpPr>
          <p:cNvPr id="26" name="Process EDA"/>
          <p:cNvSpPr/>
          <p:nvPr/>
        </p:nvSpPr>
        <p:spPr>
          <a:xfrm>
            <a:off x="777239" y="2224605"/>
            <a:ext cx="2834640" cy="420624"/>
          </a:xfrm>
          <a:prstGeom prst="flowChartProcess">
            <a:avLst/>
          </a:prstGeom>
          <a:solidFill>
            <a:srgbClr val="4F81BD"/>
          </a:solidFill>
          <a:ln w="12700">
            <a:solidFill>
              <a:srgbClr val="365F91"/>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0">
                <a:solidFill>
                  <a:srgbClr val="FFFFFF"/>
                </a:solidFill>
              </a:rPr>
              <a:t>EDA on training trials</a:t>
            </a:r>
          </a:p>
          <a:p>
            <a:pPr algn="ctr"/>
            <a:r>
              <a:rPr sz="1000" b="0">
                <a:solidFill>
                  <a:srgbClr val="FFFFFF"/>
                </a:solidFill>
              </a:rPr>
              <a:t>distributions · correlations · top features</a:t>
            </a:r>
          </a:p>
        </p:txBody>
      </p:sp>
      <p:sp>
        <p:nvSpPr>
          <p:cNvPr id="9" name="Process 8"/>
          <p:cNvSpPr/>
          <p:nvPr/>
        </p:nvSpPr>
        <p:spPr>
          <a:xfrm>
            <a:off x="777239" y="2859460"/>
            <a:ext cx="2834640" cy="420624"/>
          </a:xfrm>
          <a:prstGeom prst="flowChartProcess">
            <a:avLst/>
          </a:prstGeom>
          <a:solidFill>
            <a:srgbClr val="4F81BD"/>
          </a:solidFill>
          <a:ln w="12700">
            <a:solidFill>
              <a:srgbClr val="365F91"/>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0">
                <a:solidFill>
                  <a:srgbClr val="FFFFFF"/>
                </a:solidFill>
              </a:rPr>
              <a:t>Train + tune 8 classifiers</a:t>
            </a:r>
          </a:p>
          <a:p>
            <a:pPr algn="ctr"/>
            <a:r>
              <a:rPr sz="900" b="0">
                <a:solidFill>
                  <a:srgbClr val="FFFFFF"/>
                </a:solidFill>
              </a:rPr>
              <a:t>GB · RF · XGB · DT · LR · SVM · NB · KNN</a:t>
            </a:r>
          </a:p>
        </p:txBody>
      </p:sp>
      <p:sp>
        <p:nvSpPr>
          <p:cNvPr id="10" name="Decision 9"/>
          <p:cNvSpPr/>
          <p:nvPr/>
        </p:nvSpPr>
        <p:spPr>
          <a:xfrm>
            <a:off x="640080" y="3494315"/>
            <a:ext cx="3108960" cy="585216"/>
          </a:xfrm>
          <a:prstGeom prst="flowChartDecision">
            <a:avLst/>
          </a:prstGeom>
          <a:solidFill>
            <a:srgbClr val="4F81BD"/>
          </a:solidFill>
          <a:ln w="12700">
            <a:solidFill>
              <a:srgbClr val="365F91"/>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0">
                <a:solidFill>
                  <a:srgbClr val="FFFFFF"/>
                </a:solidFill>
              </a:rPr>
              <a:t>Grouped CV converged?</a:t>
            </a:r>
          </a:p>
        </p:txBody>
      </p:sp>
      <p:sp>
        <p:nvSpPr>
          <p:cNvPr id="11" name="Process 10"/>
          <p:cNvSpPr/>
          <p:nvPr/>
        </p:nvSpPr>
        <p:spPr>
          <a:xfrm>
            <a:off x="777239" y="4293762"/>
            <a:ext cx="2834640" cy="420624"/>
          </a:xfrm>
          <a:prstGeom prst="flowChartProcess">
            <a:avLst/>
          </a:prstGeom>
          <a:solidFill>
            <a:srgbClr val="4F81BD"/>
          </a:solidFill>
          <a:ln w="12700">
            <a:solidFill>
              <a:srgbClr val="365F91"/>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0">
                <a:solidFill>
                  <a:srgbClr val="FFFFFF"/>
                </a:solidFill>
              </a:rPr>
              <a:t>Locked test: trial-level predictions</a:t>
            </a:r>
          </a:p>
        </p:txBody>
      </p:sp>
      <p:sp>
        <p:nvSpPr>
          <p:cNvPr id="12" name="Terminator 11"/>
          <p:cNvSpPr/>
          <p:nvPr/>
        </p:nvSpPr>
        <p:spPr>
          <a:xfrm>
            <a:off x="777239" y="4928617"/>
            <a:ext cx="2834640" cy="420624"/>
          </a:xfrm>
          <a:prstGeom prst="flowChartTerminator">
            <a:avLst/>
          </a:prstGeom>
          <a:solidFill>
            <a:srgbClr val="92D050"/>
          </a:solidFill>
          <a:ln w="12700">
            <a:solidFill>
              <a:srgbClr val="5F7D3A"/>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0">
                <a:solidFill>
                  <a:srgbClr val="000000"/>
                </a:solidFill>
              </a:rPr>
              <a:t>Rank all 8 classifiers: is GB best?</a:t>
            </a:r>
          </a:p>
        </p:txBody>
      </p:sp>
      <p:cxnSp>
        <p:nvCxnSpPr>
          <p:cNvPr id="13" name="Connector 12"/>
          <p:cNvCxnSpPr/>
          <p:nvPr/>
        </p:nvCxnSpPr>
        <p:spPr>
          <a:xfrm>
            <a:off x="2194560" y="740664"/>
            <a:ext cx="0" cy="214231"/>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2194560" y="1375519"/>
            <a:ext cx="0" cy="214231"/>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2194560" y="2010374"/>
            <a:ext cx="0" cy="214231"/>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2194560" y="3280084"/>
            <a:ext cx="0" cy="214231"/>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2194560" y="4079531"/>
            <a:ext cx="0" cy="214231"/>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2194560" y="4714386"/>
            <a:ext cx="0" cy="214231"/>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EDA"/>
          <p:cNvCxnSpPr/>
          <p:nvPr/>
        </p:nvCxnSpPr>
        <p:spPr>
          <a:xfrm>
            <a:off x="2194560" y="2645229"/>
            <a:ext cx="0" cy="214231"/>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411480" y="3786923"/>
            <a:ext cx="228600" cy="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411480" y="3069772"/>
            <a:ext cx="0" cy="717151"/>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11480" y="3069772"/>
            <a:ext cx="365759"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438912" y="3585755"/>
            <a:ext cx="457200" cy="182880"/>
          </a:xfrm>
          <a:prstGeom prst="rect">
            <a:avLst/>
          </a:prstGeom>
          <a:noFill/>
        </p:spPr>
        <p:txBody>
          <a:bodyPr wrap="square" lIns="27432" tIns="27432" rIns="27432" bIns="27432" anchor="t">
            <a:spAutoFit/>
          </a:bodyPr>
          <a:lstStyle/>
          <a:p>
            <a:r>
              <a:rPr sz="800">
                <a:solidFill>
                  <a:srgbClr val="000000"/>
                </a:solidFill>
              </a:rPr>
              <a:t>No</a:t>
            </a:r>
          </a:p>
        </p:txBody>
      </p:sp>
      <p:sp>
        <p:nvSpPr>
          <p:cNvPr id="23" name="TextBox 22"/>
          <p:cNvSpPr txBox="1"/>
          <p:nvPr/>
        </p:nvSpPr>
        <p:spPr>
          <a:xfrm>
            <a:off x="2231136" y="4079531"/>
            <a:ext cx="457200" cy="182880"/>
          </a:xfrm>
          <a:prstGeom prst="rect">
            <a:avLst/>
          </a:prstGeom>
          <a:noFill/>
        </p:spPr>
        <p:txBody>
          <a:bodyPr wrap="square" lIns="27432" tIns="27432" rIns="27432" bIns="27432" anchor="t">
            <a:spAutoFit/>
          </a:bodyPr>
          <a:lstStyle/>
          <a:p>
            <a:r>
              <a:rPr sz="800">
                <a:solidFill>
                  <a:srgbClr val="000000"/>
                </a:solidFill>
              </a:rPr>
              <a:t>Yes</a:t>
            </a:r>
          </a:p>
        </p:txBody>
      </p:sp>
      <p:sp>
        <p:nvSpPr>
          <p:cNvPr id="24" name="Rectangle 23"/>
          <p:cNvSpPr/>
          <p:nvPr/>
        </p:nvSpPr>
        <p:spPr>
          <a:xfrm>
            <a:off x="3840480" y="4882897"/>
            <a:ext cx="914400" cy="512064"/>
          </a:xfrm>
          <a:prstGeom prst="rect">
            <a:avLst/>
          </a:prstGeom>
          <a:solidFill>
            <a:srgbClr val="F2F2F2"/>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27432" tIns="36576" rIns="27432" bIns="36576" rtlCol="0" anchor="ctr"/>
          <a:lstStyle/>
          <a:p>
            <a:pPr algn="ctr"/>
            <a:r>
              <a:rPr sz="800" b="0">
                <a:solidFill>
                  <a:srgbClr val="000000"/>
                </a:solidFill>
              </a:rPr>
              <a:t>Baselines: metadata-only; timing threshold</a:t>
            </a:r>
          </a:p>
        </p:txBody>
      </p:sp>
      <p:cxnSp>
        <p:nvCxnSpPr>
          <p:cNvPr id="25" name="Connector 24"/>
          <p:cNvCxnSpPr/>
          <p:nvPr/>
        </p:nvCxnSpPr>
        <p:spPr>
          <a:xfrm flipH="1">
            <a:off x="3611880" y="5138929"/>
            <a:ext cx="228600" cy="0"/>
          </a:xfrm>
          <a:prstGeom prst="line">
            <a:avLst/>
          </a:prstGeom>
          <a:ln w="1270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64592" y="0"/>
            <a:ext cx="7772400" cy="548640"/>
          </a:xfrm>
        </p:spPr>
        <p:txBody>
          <a:bodyPr wrap="square"/>
          <a:lstStyle/>
          <a:p>
            <a:r>
              <a:rPr sz="1600" b="1" u="sng">
                <a:solidFill>
                  <a:srgbClr val="000000"/>
                </a:solidFill>
              </a:rPr>
              <a:t>Classifier Set (RQ3 / H3)</a:t>
            </a:r>
          </a:p>
        </p:txBody>
      </p:sp>
      <p:graphicFrame>
        <p:nvGraphicFramePr>
          <p:cNvPr id="4" name="Table 3"/>
          <p:cNvGraphicFramePr>
            <a:graphicFrameLocks noGrp="1"/>
          </p:cNvGraphicFramePr>
          <p:nvPr>
            <p:extLst>
              <p:ext uri="{D42A27DB-BD31-4B8C-83A1-F6EECF244321}">
                <p14:modId xmlns:p14="http://schemas.microsoft.com/office/powerpoint/2010/main" val="3394328296"/>
              </p:ext>
            </p:extLst>
          </p:nvPr>
        </p:nvGraphicFramePr>
        <p:xfrm>
          <a:off x="164592" y="566928"/>
          <a:ext cx="8814815" cy="4041647"/>
        </p:xfrm>
        <a:graphic>
          <a:graphicData uri="http://schemas.openxmlformats.org/drawingml/2006/table">
            <a:tbl>
              <a:tblPr firstRow="1" bandRow="1">
                <a:tableStyleId>{5C22544A-7EE6-4342-B048-85BDC9FD1C3A}</a:tableStyleId>
              </a:tblPr>
              <a:tblGrid>
                <a:gridCol w="173736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3236975">
                  <a:extLst>
                    <a:ext uri="{9D8B030D-6E8A-4147-A177-3AD203B41FA5}">
                      <a16:colId xmlns:a16="http://schemas.microsoft.com/office/drawing/2014/main" val="20002"/>
                    </a:ext>
                  </a:extLst>
                </a:gridCol>
              </a:tblGrid>
              <a:tr h="256031">
                <a:tc>
                  <a:txBody>
                    <a:bodyPr/>
                    <a:lstStyle/>
                    <a:p>
                      <a:r>
                        <a:rPr sz="1100" b="1"/>
                        <a:t>Classifier</a:t>
                      </a:r>
                    </a:p>
                  </a:txBody>
                  <a:tcPr marL="54864" marR="54864" marT="27432" marB="27432" anchor="ctr"/>
                </a:tc>
                <a:tc>
                  <a:txBody>
                    <a:bodyPr/>
                    <a:lstStyle/>
                    <a:p>
                      <a:pPr algn="ctr"/>
                      <a:r>
                        <a:rPr sz="1100" b="1"/>
                        <a:t>Family and role in the comparison</a:t>
                      </a:r>
                    </a:p>
                  </a:txBody>
                  <a:tcPr marL="54864" marR="54864" marT="27432" marB="27432" anchor="ctr"/>
                </a:tc>
                <a:tc>
                  <a:txBody>
                    <a:bodyPr/>
                    <a:lstStyle/>
                    <a:p>
                      <a:pPr algn="ctr"/>
                      <a:r>
                        <a:rPr sz="1100" b="1"/>
                        <a:t>Preprocessing and tuned hyperparameters</a:t>
                      </a:r>
                    </a:p>
                  </a:txBody>
                  <a:tcPr marL="54864" marR="54864" marT="27432" marB="27432" anchor="ctr"/>
                </a:tc>
                <a:extLst>
                  <a:ext uri="{0D108BD9-81ED-4DB2-BD59-A6C34878D82A}">
                    <a16:rowId xmlns:a16="http://schemas.microsoft.com/office/drawing/2014/main" val="10000"/>
                  </a:ext>
                </a:extLst>
              </a:tr>
              <a:tr h="420624">
                <a:tc>
                  <a:txBody>
                    <a:bodyPr/>
                    <a:lstStyle/>
                    <a:p>
                      <a:r>
                        <a:rPr sz="1100" b="1"/>
                        <a:t>Gradient Boosting</a:t>
                      </a:r>
                    </a:p>
                  </a:txBody>
                  <a:tcPr marL="54864" marR="54864" marT="27432" marB="27432"/>
                </a:tc>
                <a:tc>
                  <a:txBody>
                    <a:bodyPr/>
                    <a:lstStyle/>
                    <a:p>
                      <a:r>
                        <a:rPr sz="1100"/>
                        <a:t>Boosted tree ensemble; hypothesized best (H3); nominal top macro-F1 (0.809) in Alt (2026)</a:t>
                      </a:r>
                    </a:p>
                  </a:txBody>
                  <a:tcPr marL="54864" marR="54864" marT="27432" marB="27432"/>
                </a:tc>
                <a:tc>
                  <a:txBody>
                    <a:bodyPr/>
                    <a:lstStyle/>
                    <a:p>
                      <a:r>
                        <a:rPr sz="1100"/>
                        <a:t>n_estimators, learning_rate, max_depth, subsample</a:t>
                      </a:r>
                    </a:p>
                  </a:txBody>
                  <a:tcPr marL="54864" marR="54864" marT="27432" marB="27432"/>
                </a:tc>
                <a:extLst>
                  <a:ext uri="{0D108BD9-81ED-4DB2-BD59-A6C34878D82A}">
                    <a16:rowId xmlns:a16="http://schemas.microsoft.com/office/drawing/2014/main" val="10001"/>
                  </a:ext>
                </a:extLst>
              </a:tr>
              <a:tr h="420624">
                <a:tc>
                  <a:txBody>
                    <a:bodyPr/>
                    <a:lstStyle/>
                    <a:p>
                      <a:r>
                        <a:rPr sz="1100" b="1"/>
                        <a:t>Random Forest</a:t>
                      </a:r>
                    </a:p>
                  </a:txBody>
                  <a:tcPr marL="54864" marR="54864" marT="27432" marB="27432"/>
                </a:tc>
                <a:tc>
                  <a:txBody>
                    <a:bodyPr/>
                    <a:lstStyle/>
                    <a:p>
                      <a:r>
                        <a:rPr sz="1100"/>
                        <a:t>Bagged tree ensemble; effectively tied with GB in Alt (2026); robust on small samples</a:t>
                      </a:r>
                    </a:p>
                  </a:txBody>
                  <a:tcPr marL="54864" marR="54864" marT="27432" marB="27432"/>
                </a:tc>
                <a:tc>
                  <a:txBody>
                    <a:bodyPr/>
                    <a:lstStyle/>
                    <a:p>
                      <a:r>
                        <a:rPr sz="1100"/>
                        <a:t>n_estimators, max_depth, max_features, min_samples_leaf</a:t>
                      </a:r>
                    </a:p>
                  </a:txBody>
                  <a:tcPr marL="54864" marR="54864" marT="27432" marB="27432"/>
                </a:tc>
                <a:extLst>
                  <a:ext uri="{0D108BD9-81ED-4DB2-BD59-A6C34878D82A}">
                    <a16:rowId xmlns:a16="http://schemas.microsoft.com/office/drawing/2014/main" val="20016"/>
                  </a:ext>
                </a:extLst>
              </a:tr>
              <a:tr h="420624">
                <a:tc>
                  <a:txBody>
                    <a:bodyPr/>
                    <a:lstStyle/>
                    <a:p>
                      <a:r>
                        <a:rPr sz="1100" b="1"/>
                        <a:t>XGBoost</a:t>
                      </a:r>
                    </a:p>
                  </a:txBody>
                  <a:tcPr marL="54864" marR="54864" marT="27432" marB="27432"/>
                </a:tc>
                <a:tc>
                  <a:txBody>
                    <a:bodyPr/>
                    <a:lstStyle/>
                    <a:p>
                      <a:r>
                        <a:rPr sz="1100"/>
                        <a:t>Regularized gradient boosting; tests whether regularization beats standard GB</a:t>
                      </a:r>
                    </a:p>
                  </a:txBody>
                  <a:tcPr marL="54864" marR="54864" marT="27432" marB="27432"/>
                </a:tc>
                <a:tc>
                  <a:txBody>
                    <a:bodyPr/>
                    <a:lstStyle/>
                    <a:p>
                      <a:r>
                        <a:rPr sz="1100"/>
                        <a:t>n_estimators, learning_rate, max_depth, subsample, colsample_bytree, reg_lambda</a:t>
                      </a:r>
                    </a:p>
                  </a:txBody>
                  <a:tcPr marL="54864" marR="54864" marT="27432" marB="27432"/>
                </a:tc>
                <a:extLst>
                  <a:ext uri="{0D108BD9-81ED-4DB2-BD59-A6C34878D82A}">
                    <a16:rowId xmlns:a16="http://schemas.microsoft.com/office/drawing/2014/main" val="20015"/>
                  </a:ext>
                </a:extLst>
              </a:tr>
              <a:tr h="420624">
                <a:tc>
                  <a:txBody>
                    <a:bodyPr/>
                    <a:lstStyle/>
                    <a:p>
                      <a:r>
                        <a:rPr sz="1100" b="1"/>
                        <a:t>Decision Tree</a:t>
                      </a:r>
                    </a:p>
                  </a:txBody>
                  <a:tcPr marL="54864" marR="54864" marT="27432" marB="27432"/>
                </a:tc>
                <a:tc>
                  <a:txBody>
                    <a:bodyPr/>
                    <a:lstStyle/>
                    <a:p>
                      <a:r>
                        <a:rPr sz="1100"/>
                        <a:t>Single tree; readable rules a defender could turn into detection logic</a:t>
                      </a:r>
                    </a:p>
                  </a:txBody>
                  <a:tcPr marL="54864" marR="54864" marT="27432" marB="27432"/>
                </a:tc>
                <a:tc>
                  <a:txBody>
                    <a:bodyPr/>
                    <a:lstStyle/>
                    <a:p>
                      <a:r>
                        <a:rPr sz="1100"/>
                        <a:t>max_depth, min_samples_leaf, criterion</a:t>
                      </a:r>
                    </a:p>
                  </a:txBody>
                  <a:tcPr marL="54864" marR="54864" marT="27432" marB="27432"/>
                </a:tc>
                <a:extLst>
                  <a:ext uri="{0D108BD9-81ED-4DB2-BD59-A6C34878D82A}">
                    <a16:rowId xmlns:a16="http://schemas.microsoft.com/office/drawing/2014/main" val="20014"/>
                  </a:ext>
                </a:extLst>
              </a:tr>
              <a:tr h="420624">
                <a:tc>
                  <a:txBody>
                    <a:bodyPr/>
                    <a:lstStyle/>
                    <a:p>
                      <a:r>
                        <a:rPr sz="1100" b="1"/>
                        <a:t>Logistic Regression</a:t>
                      </a:r>
                    </a:p>
                  </a:txBody>
                  <a:tcPr marL="54864" marR="54864" marT="27432" marB="27432"/>
                </a:tc>
                <a:tc>
                  <a:txBody>
                    <a:bodyPr/>
                    <a:lstStyle/>
                    <a:p>
                      <a:r>
                        <a:rPr sz="1100"/>
                        <a:t>Linear model; tests whether the arms separate linearly; readable coefficients</a:t>
                      </a:r>
                    </a:p>
                  </a:txBody>
                  <a:tcPr marL="54864" marR="54864" marT="27432" marB="27432"/>
                </a:tc>
                <a:tc>
                  <a:txBody>
                    <a:bodyPr/>
                    <a:lstStyle/>
                    <a:p>
                      <a:r>
                        <a:rPr sz="1100"/>
                        <a:t>C, penalty (L1/L2); standardized features</a:t>
                      </a:r>
                    </a:p>
                  </a:txBody>
                  <a:tcPr marL="54864" marR="54864" marT="27432" marB="27432"/>
                </a:tc>
                <a:extLst>
                  <a:ext uri="{0D108BD9-81ED-4DB2-BD59-A6C34878D82A}">
                    <a16:rowId xmlns:a16="http://schemas.microsoft.com/office/drawing/2014/main" val="20013"/>
                  </a:ext>
                </a:extLst>
              </a:tr>
              <a:tr h="420624">
                <a:tc>
                  <a:txBody>
                    <a:bodyPr/>
                    <a:lstStyle/>
                    <a:p>
                      <a:r>
                        <a:rPr sz="1100" b="1"/>
                        <a:t>SVM (linear kernel after tuning)</a:t>
                      </a:r>
                    </a:p>
                  </a:txBody>
                  <a:tcPr marL="54864" marR="54864" marT="27432" marB="27432"/>
                </a:tc>
                <a:tc>
                  <a:txBody>
                    <a:bodyPr/>
                    <a:lstStyle/>
                    <a:p>
                      <a:r>
                        <a:rPr sz="1100"/>
                        <a:t>Maximum-margin boundary; suited to many features and few trials</a:t>
                      </a:r>
                    </a:p>
                  </a:txBody>
                  <a:tcPr marL="54864" marR="54864" marT="27432" marB="27432"/>
                </a:tc>
                <a:tc>
                  <a:txBody>
                    <a:bodyPr/>
                    <a:lstStyle/>
                    <a:p>
                      <a:r>
                        <a:rPr sz="1100"/>
                        <a:t>C; kernel searched, linear retained; standardized features</a:t>
                      </a:r>
                    </a:p>
                  </a:txBody>
                  <a:tcPr marL="54864" marR="54864" marT="27432" marB="27432"/>
                </a:tc>
                <a:extLst>
                  <a:ext uri="{0D108BD9-81ED-4DB2-BD59-A6C34878D82A}">
                    <a16:rowId xmlns:a16="http://schemas.microsoft.com/office/drawing/2014/main" val="20012"/>
                  </a:ext>
                </a:extLst>
              </a:tr>
              <a:tr h="420624">
                <a:tc>
                  <a:txBody>
                    <a:bodyPr/>
                    <a:lstStyle/>
                    <a:p>
                      <a:r>
                        <a:rPr sz="1100" b="1"/>
                        <a:t>Naïve Bayes</a:t>
                      </a:r>
                    </a:p>
                  </a:txBody>
                  <a:tcPr marL="54864" marR="54864" marT="27432" marB="27432"/>
                </a:tc>
                <a:tc>
                  <a:txBody>
                    <a:bodyPr/>
                    <a:lstStyle/>
                    <a:p>
                      <a:r>
                        <a:rPr sz="1100"/>
                        <a:t>Probabilistic baseline that assumes independent features</a:t>
                      </a:r>
                    </a:p>
                  </a:txBody>
                  <a:tcPr marL="54864" marR="54864" marT="27432" marB="27432"/>
                </a:tc>
                <a:tc>
                  <a:txBody>
                    <a:bodyPr/>
                    <a:lstStyle/>
                    <a:p>
                      <a:r>
                        <a:rPr sz="1100"/>
                        <a:t>var_smoothing (Gaussian)</a:t>
                      </a:r>
                    </a:p>
                  </a:txBody>
                  <a:tcPr marL="54864" marR="54864" marT="27432" marB="27432"/>
                </a:tc>
                <a:extLst>
                  <a:ext uri="{0D108BD9-81ED-4DB2-BD59-A6C34878D82A}">
                    <a16:rowId xmlns:a16="http://schemas.microsoft.com/office/drawing/2014/main" val="20011"/>
                  </a:ext>
                </a:extLst>
              </a:tr>
              <a:tr h="420624">
                <a:tc>
                  <a:txBody>
                    <a:bodyPr/>
                    <a:lstStyle/>
                    <a:p>
                      <a:r>
                        <a:rPr sz="1100" b="1"/>
                        <a:t>K-Nearest Neighbors</a:t>
                      </a:r>
                    </a:p>
                  </a:txBody>
                  <a:tcPr marL="54864" marR="54864" marT="27432" marB="27432"/>
                </a:tc>
                <a:tc>
                  <a:txBody>
                    <a:bodyPr/>
                    <a:lstStyle/>
                    <a:p>
                      <a:r>
                        <a:rPr sz="1100"/>
                        <a:t>Distance-based; tests whether same-arm trials cluster in feature space</a:t>
                      </a:r>
                    </a:p>
                  </a:txBody>
                  <a:tcPr marL="54864" marR="54864" marT="27432" marB="27432"/>
                </a:tc>
                <a:tc>
                  <a:txBody>
                    <a:bodyPr/>
                    <a:lstStyle/>
                    <a:p>
                      <a:r>
                        <a:rPr sz="1100"/>
                        <a:t>k, weights, distance metric; standardized features</a:t>
                      </a:r>
                    </a:p>
                  </a:txBody>
                  <a:tcPr marL="54864" marR="54864" marT="27432" marB="27432"/>
                </a:tc>
                <a:extLst>
                  <a:ext uri="{0D108BD9-81ED-4DB2-BD59-A6C34878D82A}">
                    <a16:rowId xmlns:a16="http://schemas.microsoft.com/office/drawing/2014/main" val="20010"/>
                  </a:ext>
                </a:extLst>
              </a:tr>
              <a:tr h="420624">
                <a:tc>
                  <a:txBody>
                    <a:bodyPr/>
                    <a:lstStyle/>
                    <a:p>
                      <a:r>
                        <a:rPr sz="1100" b="1"/>
                        <a:t>All eight</a:t>
                      </a:r>
                    </a:p>
                  </a:txBody>
                  <a:tcPr marL="54864" marR="54864" marT="27432" marB="27432"/>
                </a:tc>
                <a:tc>
                  <a:txBody>
                    <a:bodyPr/>
                    <a:lstStyle/>
                    <a:p>
                      <a:r>
                        <a:rPr sz="1100"/>
                        <a:t>Same feature matrix, grouped folds and randomized-search budget; ranked by trial-level macro-F1</a:t>
                      </a:r>
                    </a:p>
                  </a:txBody>
                  <a:tcPr marL="54864" marR="54864" marT="27432" marB="27432"/>
                </a:tc>
                <a:tc>
                  <a:txBody>
                    <a:bodyPr/>
                    <a:lstStyle/>
                    <a:p>
                      <a:r>
                        <a:rPr sz="1100"/>
                        <a:t>Scaling and class balancing fitted inside training folds only</a:t>
                      </a:r>
                    </a:p>
                  </a:txBody>
                  <a:tcPr marL="54864" marR="54864" marT="27432" marB="27432"/>
                </a:tc>
                <a:extLst>
                  <a:ext uri="{0D108BD9-81ED-4DB2-BD59-A6C34878D82A}">
                    <a16:rowId xmlns:a16="http://schemas.microsoft.com/office/drawing/2014/main" val="20009"/>
                  </a:ext>
                </a:extLst>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434840" y="228600"/>
            <a:ext cx="4480560" cy="411480"/>
          </a:xfrm>
          <a:prstGeom prst="rect">
            <a:avLst/>
          </a:prstGeom>
          <a:noFill/>
        </p:spPr>
        <p:txBody>
          <a:bodyPr wrap="square" lIns="27432" tIns="27432" rIns="27432" bIns="27432" anchor="t">
            <a:spAutoFit/>
          </a:bodyPr>
          <a:lstStyle/>
          <a:p>
            <a:r>
              <a:rPr sz="1600" b="1">
                <a:solidFill>
                  <a:srgbClr val="000000"/>
                </a:solidFill>
              </a:rPr>
              <a:t>Generalization &amp; Evasion Pipeline (Branch 3)</a:t>
            </a:r>
          </a:p>
        </p:txBody>
      </p:sp>
      <p:sp>
        <p:nvSpPr>
          <p:cNvPr id="5" name="TextBox 4"/>
          <p:cNvSpPr txBox="1"/>
          <p:nvPr/>
        </p:nvSpPr>
        <p:spPr>
          <a:xfrm>
            <a:off x="4434840" y="731520"/>
            <a:ext cx="4480560" cy="4572000"/>
          </a:xfrm>
          <a:prstGeom prst="rect">
            <a:avLst/>
          </a:prstGeom>
          <a:noFill/>
        </p:spPr>
        <p:txBody>
          <a:bodyPr wrap="square" lIns="27432" tIns="27432" rIns="27432" bIns="27432" anchor="t">
            <a:spAutoFit/>
          </a:bodyPr>
          <a:lstStyle/>
          <a:p>
            <a:pPr>
              <a:spcAft>
                <a:spcPts val="500"/>
              </a:spcAft>
            </a:pPr>
            <a:r>
              <a:rPr sz="1050" b="1">
                <a:solidFill>
                  <a:srgbClr val="000000"/>
                </a:solidFill>
              </a:rPr>
              <a:t>1. Start from Branch 2: </a:t>
            </a:r>
            <a:r>
              <a:rPr sz="1050">
                <a:solidFill>
                  <a:srgbClr val="000000"/>
                </a:solidFill>
              </a:rPr>
              <a:t>frozen feature code and the eight tuned classifier configurations from Phase 1</a:t>
            </a:r>
          </a:p>
          <a:p>
            <a:pPr>
              <a:spcAft>
                <a:spcPts val="500"/>
              </a:spcAft>
            </a:pPr>
            <a:r>
              <a:rPr sz="1050" b="1">
                <a:solidFill>
                  <a:srgbClr val="000000"/>
                </a:solidFill>
              </a:rPr>
              <a:t>2. Ablations (H2): </a:t>
            </a:r>
            <a:r>
              <a:rPr sz="1050">
                <a:solidFill>
                  <a:srgbClr val="000000"/>
                </a:solidFill>
              </a:rPr>
              <a:t>drop timing features, then timing plus tool identifiers; measure the macro-F1 change</a:t>
            </a:r>
          </a:p>
          <a:p>
            <a:pPr>
              <a:spcAft>
                <a:spcPts val="500"/>
              </a:spcAft>
            </a:pPr>
            <a:r>
              <a:rPr sz="1050" b="1">
                <a:solidFill>
                  <a:srgbClr val="000000"/>
                </a:solidFill>
              </a:rPr>
              <a:t>3. Held-out groups (H4): </a:t>
            </a:r>
            <a:r>
              <a:rPr sz="1050">
                <a:solidFill>
                  <a:srgbClr val="000000"/>
                </a:solidFill>
              </a:rPr>
              <a:t>exclude one human tester and one AI configuration from training</a:t>
            </a:r>
          </a:p>
          <a:p>
            <a:pPr>
              <a:spcAft>
                <a:spcPts val="500"/>
              </a:spcAft>
            </a:pPr>
            <a:r>
              <a:rPr sz="1050" b="1">
                <a:solidFill>
                  <a:srgbClr val="000000"/>
                </a:solidFill>
              </a:rPr>
              <a:t>4. Evasion arm (RQ5): </a:t>
            </a:r>
            <a:r>
              <a:rPr sz="1050">
                <a:solidFill>
                  <a:srgbClr val="000000"/>
                </a:solidFill>
              </a:rPr>
              <a:t>AI instructed to mimic human pacing; same lab, window and ROE</a:t>
            </a:r>
          </a:p>
          <a:p>
            <a:pPr>
              <a:spcAft>
                <a:spcPts val="500"/>
              </a:spcAft>
            </a:pPr>
            <a:r>
              <a:rPr sz="1050" b="1">
                <a:solidFill>
                  <a:srgbClr val="000000"/>
                </a:solidFill>
              </a:rPr>
              <a:t>5. Single locked evaluation: </a:t>
            </a:r>
            <a:r>
              <a:rPr sz="1050">
                <a:solidFill>
                  <a:srgbClr val="000000"/>
                </a:solidFill>
              </a:rPr>
              <a:t>trial-level metrics on held-out and evasion trials, with grouped uncertainty</a:t>
            </a:r>
          </a:p>
          <a:p>
            <a:pPr>
              <a:spcAft>
                <a:spcPts val="500"/>
              </a:spcAft>
            </a:pPr>
            <a:r>
              <a:rPr sz="1050" b="1">
                <a:solidFill>
                  <a:srgbClr val="000000"/>
                </a:solidFill>
              </a:rPr>
              <a:t>6. Preregistered criteria: </a:t>
            </a:r>
            <a:r>
              <a:rPr sz="1050">
                <a:solidFill>
                  <a:srgbClr val="000000"/>
                </a:solidFill>
              </a:rPr>
              <a:t>beats metadata-only (H1); survives timing removal (H2); GB ranks first (H3); holds on held-out operators (H4)</a:t>
            </a:r>
          </a:p>
          <a:p>
            <a:pPr>
              <a:spcAft>
                <a:spcPts val="500"/>
              </a:spcAft>
            </a:pPr>
            <a:r>
              <a:rPr sz="1050" b="1">
                <a:solidFill>
                  <a:srgbClr val="000000"/>
                </a:solidFill>
              </a:rPr>
              <a:t>7. Report: </a:t>
            </a:r>
            <a:r>
              <a:rPr sz="1050">
                <a:solidFill>
                  <a:srgbClr val="000000"/>
                </a:solidFill>
              </a:rPr>
              <a:t>held-out and evasion results with every trial and exclusion</a:t>
            </a:r>
          </a:p>
        </p:txBody>
      </p:sp>
      <p:sp>
        <p:nvSpPr>
          <p:cNvPr id="6" name="Magnetic Disk 5"/>
          <p:cNvSpPr/>
          <p:nvPr/>
        </p:nvSpPr>
        <p:spPr>
          <a:xfrm>
            <a:off x="777239" y="320040"/>
            <a:ext cx="2834640" cy="475488"/>
          </a:xfrm>
          <a:prstGeom prst="flowChartMagneticDisk">
            <a:avLst/>
          </a:prstGeom>
          <a:solidFill>
            <a:srgbClr val="4F81BD"/>
          </a:solidFill>
          <a:ln w="12700">
            <a:solidFill>
              <a:srgbClr val="365F91"/>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0">
                <a:solidFill>
                  <a:srgbClr val="FFFFFF"/>
                </a:solidFill>
              </a:rPr>
              <a:t>Phase 1 pipeline</a:t>
            </a:r>
          </a:p>
          <a:p>
            <a:pPr algn="ctr"/>
            <a:r>
              <a:rPr sz="1000" b="0">
                <a:solidFill>
                  <a:srgbClr val="FFFFFF"/>
                </a:solidFill>
              </a:rPr>
              <a:t>(frozen code + configs)</a:t>
            </a:r>
          </a:p>
        </p:txBody>
      </p:sp>
      <p:sp>
        <p:nvSpPr>
          <p:cNvPr id="7" name="Process 6"/>
          <p:cNvSpPr/>
          <p:nvPr/>
        </p:nvSpPr>
        <p:spPr>
          <a:xfrm>
            <a:off x="777239" y="1078992"/>
            <a:ext cx="2834640" cy="475488"/>
          </a:xfrm>
          <a:prstGeom prst="flowChartProcess">
            <a:avLst/>
          </a:prstGeom>
          <a:solidFill>
            <a:srgbClr val="4F81BD"/>
          </a:solidFill>
          <a:ln w="12700">
            <a:solidFill>
              <a:srgbClr val="365F91"/>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0">
                <a:solidFill>
                  <a:srgbClr val="FFFFFF"/>
                </a:solidFill>
              </a:rPr>
              <a:t>Ablations: − timing, − tool IDs (H2)</a:t>
            </a:r>
          </a:p>
        </p:txBody>
      </p:sp>
      <p:sp>
        <p:nvSpPr>
          <p:cNvPr id="8" name="Process 7"/>
          <p:cNvSpPr/>
          <p:nvPr/>
        </p:nvSpPr>
        <p:spPr>
          <a:xfrm>
            <a:off x="777239" y="1837944"/>
            <a:ext cx="2834640" cy="475488"/>
          </a:xfrm>
          <a:prstGeom prst="flowChartProcess">
            <a:avLst/>
          </a:prstGeom>
          <a:solidFill>
            <a:srgbClr val="4F81BD"/>
          </a:solidFill>
          <a:ln w="12700">
            <a:solidFill>
              <a:srgbClr val="365F91"/>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0">
                <a:solidFill>
                  <a:srgbClr val="FFFFFF"/>
                </a:solidFill>
              </a:rPr>
              <a:t>Hold out 1 human + 1 AI configuration (H4)</a:t>
            </a:r>
          </a:p>
        </p:txBody>
      </p:sp>
      <p:sp>
        <p:nvSpPr>
          <p:cNvPr id="9" name="Data 8"/>
          <p:cNvSpPr/>
          <p:nvPr/>
        </p:nvSpPr>
        <p:spPr>
          <a:xfrm>
            <a:off x="640080" y="2596896"/>
            <a:ext cx="3108960" cy="475488"/>
          </a:xfrm>
          <a:prstGeom prst="flowChartInputOutput">
            <a:avLst/>
          </a:prstGeom>
          <a:solidFill>
            <a:srgbClr val="92D050"/>
          </a:solidFill>
          <a:ln w="12700">
            <a:solidFill>
              <a:srgbClr val="5F7D3A"/>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0">
                <a:solidFill>
                  <a:srgbClr val="000000"/>
                </a:solidFill>
              </a:rPr>
              <a:t>Evasion arm: AI mimics human pacing (RQ5)</a:t>
            </a:r>
          </a:p>
        </p:txBody>
      </p:sp>
      <p:sp>
        <p:nvSpPr>
          <p:cNvPr id="10" name="Process 9"/>
          <p:cNvSpPr/>
          <p:nvPr/>
        </p:nvSpPr>
        <p:spPr>
          <a:xfrm>
            <a:off x="777239" y="3355848"/>
            <a:ext cx="2834640" cy="475488"/>
          </a:xfrm>
          <a:prstGeom prst="flowChartProcess">
            <a:avLst/>
          </a:prstGeom>
          <a:solidFill>
            <a:srgbClr val="4F81BD"/>
          </a:solidFill>
          <a:ln w="12700">
            <a:solidFill>
              <a:srgbClr val="365F91"/>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0">
                <a:solidFill>
                  <a:srgbClr val="FFFFFF"/>
                </a:solidFill>
              </a:rPr>
              <a:t>Single locked evaluation</a:t>
            </a:r>
          </a:p>
          <a:p>
            <a:pPr algn="ctr"/>
            <a:r>
              <a:rPr sz="1000" b="0">
                <a:solidFill>
                  <a:srgbClr val="FFFFFF"/>
                </a:solidFill>
              </a:rPr>
              <a:t>(grouped uncertainty)</a:t>
            </a:r>
          </a:p>
        </p:txBody>
      </p:sp>
      <p:sp>
        <p:nvSpPr>
          <p:cNvPr id="11" name="Process 10"/>
          <p:cNvSpPr/>
          <p:nvPr/>
        </p:nvSpPr>
        <p:spPr>
          <a:xfrm>
            <a:off x="777239" y="4114800"/>
            <a:ext cx="2834640" cy="475488"/>
          </a:xfrm>
          <a:prstGeom prst="flowChartProcess">
            <a:avLst/>
          </a:prstGeom>
          <a:solidFill>
            <a:srgbClr val="4F81BD"/>
          </a:solidFill>
          <a:ln w="12700">
            <a:solidFill>
              <a:srgbClr val="365F91"/>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0">
                <a:solidFill>
                  <a:srgbClr val="FFFFFF"/>
                </a:solidFill>
              </a:rPr>
              <a:t>Compare with preregistered criteria (H1–H4)</a:t>
            </a:r>
          </a:p>
        </p:txBody>
      </p:sp>
      <p:sp>
        <p:nvSpPr>
          <p:cNvPr id="12" name="Terminator 11"/>
          <p:cNvSpPr/>
          <p:nvPr/>
        </p:nvSpPr>
        <p:spPr>
          <a:xfrm>
            <a:off x="777239" y="4873752"/>
            <a:ext cx="2834640" cy="475488"/>
          </a:xfrm>
          <a:prstGeom prst="flowChartTerminator">
            <a:avLst/>
          </a:prstGeom>
          <a:solidFill>
            <a:srgbClr val="92D050"/>
          </a:solidFill>
          <a:ln w="12700">
            <a:solidFill>
              <a:srgbClr val="5F7D3A"/>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0">
                <a:solidFill>
                  <a:srgbClr val="000000"/>
                </a:solidFill>
              </a:rPr>
              <a:t>Report held-out and evasion performance</a:t>
            </a:r>
          </a:p>
        </p:txBody>
      </p:sp>
      <p:cxnSp>
        <p:nvCxnSpPr>
          <p:cNvPr id="13" name="Connector 12"/>
          <p:cNvCxnSpPr/>
          <p:nvPr/>
        </p:nvCxnSpPr>
        <p:spPr>
          <a:xfrm>
            <a:off x="2194560" y="795528"/>
            <a:ext cx="0" cy="283464"/>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2194560" y="1554480"/>
            <a:ext cx="0" cy="283464"/>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2194560" y="2313432"/>
            <a:ext cx="0" cy="283464"/>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2194560" y="3072384"/>
            <a:ext cx="0" cy="283464"/>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2194560" y="3831336"/>
            <a:ext cx="0" cy="283464"/>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2194560" y="4590288"/>
            <a:ext cx="0" cy="283464"/>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ppendix background"/>
          <p:cNvSpPr/>
          <p:nvPr/>
        </p:nvSpPr>
        <p:spPr>
          <a:xfrm>
            <a:off x="0" y="0"/>
            <a:ext cx="9144000" cy="5559552"/>
          </a:xfrm>
          <a:prstGeom prst="rect">
            <a:avLst/>
          </a:prstGeom>
          <a:solidFill>
            <a:srgbClr val="00A550"/>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ctr"/>
            <a:endParaRPr/>
          </a:p>
        </p:txBody>
      </p:sp>
      <p:sp>
        <p:nvSpPr>
          <p:cNvPr id="3" name="Title 2"/>
          <p:cNvSpPr>
            <a:spLocks noGrp="1"/>
          </p:cNvSpPr>
          <p:nvPr>
            <p:ph type="title"/>
          </p:nvPr>
        </p:nvSpPr>
        <p:spPr>
          <a:xfrm>
            <a:off x="640080" y="2011680"/>
            <a:ext cx="7315200" cy="914400"/>
          </a:xfrm>
        </p:spPr>
        <p:txBody>
          <a:bodyPr wrap="square"/>
          <a:lstStyle/>
          <a:p>
            <a:r>
              <a:rPr sz="4000" b="1">
                <a:solidFill>
                  <a:srgbClr val="FFFFFF"/>
                </a:solidFill>
              </a:rPr>
              <a:t>Appendix</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17" name="Straight Arrow Connector 16">
            <a:extLst>
              <a:ext uri="{FF2B5EF4-FFF2-40B4-BE49-F238E27FC236}">
                <a16:creationId xmlns:a16="http://schemas.microsoft.com/office/drawing/2014/main" id="{5C62B7B4-C8E0-4062-A5C4-30E5E9557E37}"/>
              </a:ext>
            </a:extLst>
          </p:cNvPr>
          <p:cNvCxnSpPr>
            <a:stCxn id="8" idx="3"/>
            <a:endCxn id="9" idx="1"/>
          </p:cNvCxnSpPr>
          <p:nvPr/>
        </p:nvCxnSpPr>
        <p:spPr>
          <a:xfrm>
            <a:off x="5524500" y="4691063"/>
            <a:ext cx="809625" cy="0"/>
          </a:xfrm>
          <a:prstGeom prst="straightConnector1">
            <a:avLst/>
          </a:prstGeom>
          <a:ln w="14288">
            <a:solidFill>
              <a:srgbClr val="4F81BD"/>
            </a:solidFill>
            <a:tailEnd type="triangle" w="sm" len="sm"/>
          </a:ln>
        </p:spPr>
      </p:cxnSp>
      <p:cxnSp>
        <p:nvCxnSpPr>
          <p:cNvPr id="16" name="Straight Arrow Connector 15">
            <a:extLst>
              <a:ext uri="{FF2B5EF4-FFF2-40B4-BE49-F238E27FC236}">
                <a16:creationId xmlns:a16="http://schemas.microsoft.com/office/drawing/2014/main" id="{EF66F0C1-5BCB-4815-9979-CDF813636CA0}"/>
              </a:ext>
            </a:extLst>
          </p:cNvPr>
          <p:cNvCxnSpPr>
            <a:stCxn id="6" idx="2"/>
            <a:endCxn id="8" idx="0"/>
          </p:cNvCxnSpPr>
          <p:nvPr/>
        </p:nvCxnSpPr>
        <p:spPr>
          <a:xfrm>
            <a:off x="4429125" y="3905250"/>
            <a:ext cx="0" cy="523875"/>
          </a:xfrm>
          <a:prstGeom prst="straightConnector1">
            <a:avLst/>
          </a:prstGeom>
          <a:ln w="14288">
            <a:solidFill>
              <a:srgbClr val="4F81BD"/>
            </a:solidFill>
            <a:tailEnd type="triangle" w="sm" len="sm"/>
          </a:ln>
        </p:spPr>
      </p:cxnSp>
      <p:cxnSp>
        <p:nvCxnSpPr>
          <p:cNvPr id="15" name="Straight Arrow Connector 14">
            <a:extLst>
              <a:ext uri="{FF2B5EF4-FFF2-40B4-BE49-F238E27FC236}">
                <a16:creationId xmlns:a16="http://schemas.microsoft.com/office/drawing/2014/main" id="{AD5BAFD7-D37F-40B4-953C-4DA88710CB1F}"/>
              </a:ext>
            </a:extLst>
          </p:cNvPr>
          <p:cNvCxnSpPr>
            <a:stCxn id="7" idx="1"/>
            <a:endCxn id="6" idx="3"/>
          </p:cNvCxnSpPr>
          <p:nvPr/>
        </p:nvCxnSpPr>
        <p:spPr>
          <a:xfrm flipH="1">
            <a:off x="5524500" y="3595688"/>
            <a:ext cx="809625" cy="0"/>
          </a:xfrm>
          <a:prstGeom prst="straightConnector1">
            <a:avLst/>
          </a:prstGeom>
          <a:ln w="14288">
            <a:solidFill>
              <a:srgbClr val="4F81BD"/>
            </a:solidFill>
            <a:tailEnd type="triangle" w="sm" len="sm"/>
          </a:ln>
        </p:spPr>
      </p:cxnSp>
      <p:cxnSp>
        <p:nvCxnSpPr>
          <p:cNvPr id="14" name="Connector: Elbow 13">
            <a:extLst>
              <a:ext uri="{FF2B5EF4-FFF2-40B4-BE49-F238E27FC236}">
                <a16:creationId xmlns:a16="http://schemas.microsoft.com/office/drawing/2014/main" id="{DCAE3748-85F2-4302-9D71-E79040F589F0}"/>
              </a:ext>
            </a:extLst>
          </p:cNvPr>
          <p:cNvCxnSpPr>
            <a:stCxn id="4" idx="2"/>
            <a:endCxn id="6" idx="3"/>
          </p:cNvCxnSpPr>
          <p:nvPr/>
        </p:nvCxnSpPr>
        <p:spPr>
          <a:xfrm flipH="1">
            <a:off x="5524500" y="1666875"/>
            <a:ext cx="2000250" cy="1928813"/>
          </a:xfrm>
          <a:prstGeom prst="bentConnector5">
            <a:avLst>
              <a:gd name="adj1" fmla="val 0"/>
              <a:gd name="adj2" fmla="val 11852"/>
              <a:gd name="adj3" fmla="val 88571"/>
            </a:avLst>
          </a:prstGeom>
          <a:ln w="14288">
            <a:solidFill>
              <a:srgbClr val="4F81BD"/>
            </a:solidFill>
            <a:tailEnd type="triangle" w="sm" len="sm"/>
          </a:ln>
        </p:spPr>
      </p:cxnSp>
      <p:cxnSp>
        <p:nvCxnSpPr>
          <p:cNvPr id="13" name="Straight Arrow Connector 12">
            <a:extLst>
              <a:ext uri="{FF2B5EF4-FFF2-40B4-BE49-F238E27FC236}">
                <a16:creationId xmlns:a16="http://schemas.microsoft.com/office/drawing/2014/main" id="{DCB1232F-730B-4099-AD2D-2C732F8CA5B8}"/>
              </a:ext>
            </a:extLst>
          </p:cNvPr>
          <p:cNvCxnSpPr>
            <a:stCxn id="5" idx="2"/>
            <a:endCxn id="6" idx="0"/>
          </p:cNvCxnSpPr>
          <p:nvPr/>
        </p:nvCxnSpPr>
        <p:spPr>
          <a:xfrm>
            <a:off x="4429125" y="2714625"/>
            <a:ext cx="0" cy="571500"/>
          </a:xfrm>
          <a:prstGeom prst="straightConnector1">
            <a:avLst/>
          </a:prstGeom>
          <a:ln w="14288">
            <a:solidFill>
              <a:srgbClr val="4F81BD"/>
            </a:solidFill>
            <a:tailEnd type="triangle" w="sm" len="sm"/>
          </a:ln>
        </p:spPr>
      </p:cxnSp>
      <p:cxnSp>
        <p:nvCxnSpPr>
          <p:cNvPr id="12" name="Connector: Elbow 11">
            <a:extLst>
              <a:ext uri="{FF2B5EF4-FFF2-40B4-BE49-F238E27FC236}">
                <a16:creationId xmlns:a16="http://schemas.microsoft.com/office/drawing/2014/main" id="{6EF65F19-DDCB-46BE-A412-044F361386C3}"/>
              </a:ext>
            </a:extLst>
          </p:cNvPr>
          <p:cNvCxnSpPr>
            <a:stCxn id="4" idx="2"/>
            <a:endCxn id="5" idx="0"/>
          </p:cNvCxnSpPr>
          <p:nvPr/>
        </p:nvCxnSpPr>
        <p:spPr>
          <a:xfrm flipH="1">
            <a:off x="4429125" y="1666875"/>
            <a:ext cx="3095625" cy="523875"/>
          </a:xfrm>
          <a:prstGeom prst="bentConnector4">
            <a:avLst>
              <a:gd name="adj1" fmla="val 0"/>
              <a:gd name="adj2" fmla="val 50000"/>
            </a:avLst>
          </a:prstGeom>
          <a:ln w="14288">
            <a:solidFill>
              <a:srgbClr val="4F81BD"/>
            </a:solidFill>
            <a:tailEnd type="triangle" w="sm" len="sm"/>
          </a:ln>
        </p:spPr>
      </p:cxnSp>
      <p:cxnSp>
        <p:nvCxnSpPr>
          <p:cNvPr id="11" name="Straight Arrow Connector 10">
            <a:extLst>
              <a:ext uri="{FF2B5EF4-FFF2-40B4-BE49-F238E27FC236}">
                <a16:creationId xmlns:a16="http://schemas.microsoft.com/office/drawing/2014/main" id="{A860A127-FD7A-469E-A5E1-FDDD9CDCB3FD}"/>
              </a:ext>
            </a:extLst>
          </p:cNvPr>
          <p:cNvCxnSpPr>
            <a:stCxn id="3" idx="2"/>
            <a:endCxn id="5" idx="0"/>
          </p:cNvCxnSpPr>
          <p:nvPr/>
        </p:nvCxnSpPr>
        <p:spPr>
          <a:xfrm>
            <a:off x="4429125" y="1666875"/>
            <a:ext cx="0" cy="523875"/>
          </a:xfrm>
          <a:prstGeom prst="straightConnector1">
            <a:avLst/>
          </a:prstGeom>
          <a:ln w="14288">
            <a:solidFill>
              <a:srgbClr val="4F81BD"/>
            </a:solidFill>
            <a:tailEnd type="triangle" w="sm" len="sm"/>
          </a:ln>
        </p:spPr>
      </p:cxnSp>
      <p:cxnSp>
        <p:nvCxnSpPr>
          <p:cNvPr id="10" name="Connector: Elbow 9">
            <a:extLst>
              <a:ext uri="{FF2B5EF4-FFF2-40B4-BE49-F238E27FC236}">
                <a16:creationId xmlns:a16="http://schemas.microsoft.com/office/drawing/2014/main" id="{F5A287A3-29C3-4255-A8DD-5D23C7DFF1EE}"/>
              </a:ext>
            </a:extLst>
          </p:cNvPr>
          <p:cNvCxnSpPr>
            <a:stCxn id="2" idx="2"/>
            <a:endCxn id="5" idx="0"/>
          </p:cNvCxnSpPr>
          <p:nvPr/>
        </p:nvCxnSpPr>
        <p:spPr>
          <a:xfrm>
            <a:off x="1428750" y="1666875"/>
            <a:ext cx="3000375" cy="523875"/>
          </a:xfrm>
          <a:prstGeom prst="bentConnector4">
            <a:avLst>
              <a:gd name="adj1" fmla="val 0"/>
              <a:gd name="adj2" fmla="val 50000"/>
            </a:avLst>
          </a:prstGeom>
          <a:ln w="14288">
            <a:solidFill>
              <a:srgbClr val="4F81BD"/>
            </a:solidFill>
            <a:tailEnd type="triangle" w="sm" len="sm"/>
          </a:ln>
        </p:spPr>
      </p:cxnSp>
      <p:sp>
        <p:nvSpPr>
          <p:cNvPr id="19" name="Rectangle 18">
            <a:extLst>
              <a:ext uri="{FF2B5EF4-FFF2-40B4-BE49-F238E27FC236}">
                <a16:creationId xmlns:a16="http://schemas.microsoft.com/office/drawing/2014/main" id="{8CD6530F-1C1F-4024-9BC9-5AA7BC1019EF}"/>
              </a:ext>
            </a:extLst>
          </p:cNvPr>
          <p:cNvSpPr>
            <a:spLocks noGrp="1"/>
          </p:cNvSpPr>
          <p:nvPr/>
        </p:nvSpPr>
        <p:spPr>
          <a:xfrm>
            <a:off x="381000" y="238125"/>
            <a:ext cx="8382000" cy="523875"/>
          </a:xfrm>
          <a:prstGeom prst="rect">
            <a:avLst/>
          </a:prstGeom>
          <a:noFill/>
          <a:ln w="0">
            <a:noFill/>
          </a:ln>
        </p:spPr>
        <p:txBody>
          <a:bodyPr/>
          <a:lstStyle>
            <a:defPPr>
              <a:defRPr sz="2250" b="1">
                <a:solidFill>
                  <a:srgbClr val="222222"/>
                </a:solidFill>
              </a:defRPr>
            </a:defPPr>
          </a:lstStyle>
          <a:p>
            <a:pPr>
              <a:defRPr sz="2250" b="1">
                <a:solidFill>
                  <a:srgbClr val="222222"/>
                </a:solidFill>
              </a:defRPr>
            </a:pPr>
            <a:r>
              <a:rPr sz="2250" b="1">
                <a:solidFill>
                  <a:srgbClr val="222222"/>
                </a:solidFill>
              </a:rPr>
              <a:t>Graphical Model Representation</a:t>
            </a:r>
          </a:p>
        </p:txBody>
      </p:sp>
      <p:sp>
        <p:nvSpPr>
          <p:cNvPr id="2" name="Rectangle 1">
            <a:extLst>
              <a:ext uri="{FF2B5EF4-FFF2-40B4-BE49-F238E27FC236}">
                <a16:creationId xmlns:a16="http://schemas.microsoft.com/office/drawing/2014/main" id="{BAAC71C0-654E-49A5-B97F-33F793F79A76}"/>
              </a:ext>
            </a:extLst>
          </p:cNvPr>
          <p:cNvSpPr>
            <a:spLocks noGrp="1"/>
          </p:cNvSpPr>
          <p:nvPr/>
        </p:nvSpPr>
        <p:spPr>
          <a:xfrm>
            <a:off x="333375" y="1047750"/>
            <a:ext cx="2190750" cy="619125"/>
          </a:xfrm>
          <a:prstGeom prst="rect">
            <a:avLst/>
          </a:prstGeom>
          <a:solidFill>
            <a:srgbClr val="DCE6F1"/>
          </a:solidFill>
          <a:ln w="9525">
            <a:solidFill>
              <a:srgbClr val="4F81BD"/>
            </a:solidFill>
          </a:ln>
        </p:spPr>
        <p:txBody>
          <a:bodyPr/>
          <a:lstStyle>
            <a:defPPr>
              <a:defRPr sz="1425">
                <a:solidFill>
                  <a:srgbClr val="222222"/>
                </a:solidFill>
              </a:defRPr>
            </a:defPPr>
          </a:lstStyle>
          <a:p>
            <a:pPr>
              <a:defRPr sz="1425">
                <a:solidFill>
                  <a:srgbClr val="222222"/>
                </a:solidFill>
              </a:defRPr>
            </a:pPr>
            <a:r>
              <a:rPr sz="1425">
                <a:solidFill>
                  <a:srgbClr val="222222"/>
                </a:solidFill>
              </a:rPr>
              <a:t>Operator type</a:t>
            </a:r>
          </a:p>
          <a:p>
            <a:pPr>
              <a:defRPr sz="1425">
                <a:solidFill>
                  <a:srgbClr val="222222"/>
                </a:solidFill>
              </a:defRPr>
            </a:pPr>
            <a:r>
              <a:rPr sz="1425">
                <a:solidFill>
                  <a:srgbClr val="222222"/>
                </a:solidFill>
              </a:rPr>
              <a:t>human or autonomous AI</a:t>
            </a:r>
          </a:p>
        </p:txBody>
      </p:sp>
      <p:sp>
        <p:nvSpPr>
          <p:cNvPr id="3" name="Rectangle 2">
            <a:extLst>
              <a:ext uri="{FF2B5EF4-FFF2-40B4-BE49-F238E27FC236}">
                <a16:creationId xmlns:a16="http://schemas.microsoft.com/office/drawing/2014/main" id="{36D2DED7-AB8F-4A0F-A42C-E28E3CB87743}"/>
              </a:ext>
            </a:extLst>
          </p:cNvPr>
          <p:cNvSpPr>
            <a:spLocks noGrp="1"/>
          </p:cNvSpPr>
          <p:nvPr/>
        </p:nvSpPr>
        <p:spPr>
          <a:xfrm>
            <a:off x="3333750" y="1047750"/>
            <a:ext cx="2190750" cy="619125"/>
          </a:xfrm>
          <a:prstGeom prst="rect">
            <a:avLst/>
          </a:prstGeom>
          <a:solidFill>
            <a:srgbClr val="DCE6F1"/>
          </a:solidFill>
          <a:ln w="9525">
            <a:solidFill>
              <a:srgbClr val="4F81BD"/>
            </a:solidFill>
          </a:ln>
        </p:spPr>
        <p:txBody>
          <a:bodyPr/>
          <a:lstStyle>
            <a:defPPr>
              <a:defRPr sz="1425">
                <a:solidFill>
                  <a:srgbClr val="222222"/>
                </a:solidFill>
              </a:defRPr>
            </a:defPPr>
          </a:lstStyle>
          <a:p>
            <a:pPr>
              <a:defRPr sz="1425">
                <a:solidFill>
                  <a:srgbClr val="222222"/>
                </a:solidFill>
              </a:defRPr>
            </a:pPr>
            <a:r>
              <a:rPr sz="1425">
                <a:solidFill>
                  <a:srgbClr val="222222"/>
                </a:solidFill>
              </a:rPr>
              <a:t>Task and objective</a:t>
            </a:r>
          </a:p>
        </p:txBody>
      </p:sp>
      <p:sp>
        <p:nvSpPr>
          <p:cNvPr id="4" name="Rectangle 3">
            <a:extLst>
              <a:ext uri="{FF2B5EF4-FFF2-40B4-BE49-F238E27FC236}">
                <a16:creationId xmlns:a16="http://schemas.microsoft.com/office/drawing/2014/main" id="{F3894F52-6CAC-42F3-B37D-887912F0CF64}"/>
              </a:ext>
            </a:extLst>
          </p:cNvPr>
          <p:cNvSpPr>
            <a:spLocks noGrp="1"/>
          </p:cNvSpPr>
          <p:nvPr/>
        </p:nvSpPr>
        <p:spPr>
          <a:xfrm>
            <a:off x="6334125" y="1047750"/>
            <a:ext cx="2381250" cy="619125"/>
          </a:xfrm>
          <a:prstGeom prst="rect">
            <a:avLst/>
          </a:prstGeom>
          <a:solidFill>
            <a:srgbClr val="DCE6F1"/>
          </a:solidFill>
          <a:ln w="9525">
            <a:solidFill>
              <a:srgbClr val="4F81BD"/>
            </a:solidFill>
          </a:ln>
        </p:spPr>
        <p:txBody>
          <a:bodyPr/>
          <a:lstStyle>
            <a:defPPr>
              <a:defRPr sz="1425">
                <a:solidFill>
                  <a:srgbClr val="222222"/>
                </a:solidFill>
              </a:defRPr>
            </a:defPPr>
          </a:lstStyle>
          <a:p>
            <a:pPr>
              <a:defRPr sz="1425">
                <a:solidFill>
                  <a:srgbClr val="222222"/>
                </a:solidFill>
              </a:defRPr>
            </a:pPr>
            <a:r>
              <a:rPr sz="1425">
                <a:solidFill>
                  <a:srgbClr val="222222"/>
                </a:solidFill>
              </a:rPr>
              <a:t>Range, tools and route</a:t>
            </a:r>
          </a:p>
        </p:txBody>
      </p:sp>
      <p:sp>
        <p:nvSpPr>
          <p:cNvPr id="5" name="Rectangle 4">
            <a:extLst>
              <a:ext uri="{FF2B5EF4-FFF2-40B4-BE49-F238E27FC236}">
                <a16:creationId xmlns:a16="http://schemas.microsoft.com/office/drawing/2014/main" id="{863E999B-959E-4EC8-9203-7089B1BC221E}"/>
              </a:ext>
            </a:extLst>
          </p:cNvPr>
          <p:cNvSpPr>
            <a:spLocks noGrp="1"/>
          </p:cNvSpPr>
          <p:nvPr/>
        </p:nvSpPr>
        <p:spPr>
          <a:xfrm>
            <a:off x="3333750" y="2190750"/>
            <a:ext cx="2190750" cy="523875"/>
          </a:xfrm>
          <a:prstGeom prst="rect">
            <a:avLst/>
          </a:prstGeom>
          <a:solidFill>
            <a:srgbClr val="DCE6F1"/>
          </a:solidFill>
          <a:ln w="9525">
            <a:solidFill>
              <a:srgbClr val="4F81BD"/>
            </a:solidFill>
          </a:ln>
        </p:spPr>
        <p:txBody>
          <a:bodyPr/>
          <a:lstStyle>
            <a:defPPr>
              <a:defRPr sz="1500">
                <a:solidFill>
                  <a:srgbClr val="222222"/>
                </a:solidFill>
              </a:defRPr>
            </a:defPPr>
          </a:lstStyle>
          <a:p>
            <a:pPr>
              <a:defRPr sz="1500">
                <a:solidFill>
                  <a:srgbClr val="222222"/>
                </a:solidFill>
              </a:defRPr>
            </a:pPr>
            <a:r>
              <a:rPr sz="1500">
                <a:solidFill>
                  <a:srgbClr val="222222"/>
                </a:solidFill>
              </a:rPr>
              <a:t>Behavior</a:t>
            </a:r>
          </a:p>
        </p:txBody>
      </p:sp>
      <p:sp>
        <p:nvSpPr>
          <p:cNvPr id="6" name="Rectangle 5">
            <a:extLst>
              <a:ext uri="{FF2B5EF4-FFF2-40B4-BE49-F238E27FC236}">
                <a16:creationId xmlns:a16="http://schemas.microsoft.com/office/drawing/2014/main" id="{996767AA-3888-466A-9162-B6BEC2FA1291}"/>
              </a:ext>
            </a:extLst>
          </p:cNvPr>
          <p:cNvSpPr>
            <a:spLocks noGrp="1"/>
          </p:cNvSpPr>
          <p:nvPr/>
        </p:nvSpPr>
        <p:spPr>
          <a:xfrm>
            <a:off x="3333750" y="3286125"/>
            <a:ext cx="2190750" cy="619125"/>
          </a:xfrm>
          <a:prstGeom prst="rect">
            <a:avLst/>
          </a:prstGeom>
          <a:solidFill>
            <a:srgbClr val="DCE6F1"/>
          </a:solidFill>
          <a:ln w="9525">
            <a:solidFill>
              <a:srgbClr val="4F81BD"/>
            </a:solidFill>
          </a:ln>
        </p:spPr>
        <p:txBody>
          <a:bodyPr/>
          <a:lstStyle>
            <a:defPPr>
              <a:defRPr sz="1425">
                <a:solidFill>
                  <a:srgbClr val="222222"/>
                </a:solidFill>
              </a:defRPr>
            </a:defPPr>
          </a:lstStyle>
          <a:p>
            <a:pPr>
              <a:defRPr sz="1425">
                <a:solidFill>
                  <a:srgbClr val="222222"/>
                </a:solidFill>
              </a:defRPr>
            </a:pPr>
            <a:r>
              <a:rPr sz="1425">
                <a:solidFill>
                  <a:srgbClr val="222222"/>
                </a:solidFill>
              </a:rPr>
              <a:t>Observed target telemetry</a:t>
            </a:r>
          </a:p>
        </p:txBody>
      </p:sp>
      <p:sp>
        <p:nvSpPr>
          <p:cNvPr id="7" name="Rectangle 6">
            <a:extLst>
              <a:ext uri="{FF2B5EF4-FFF2-40B4-BE49-F238E27FC236}">
                <a16:creationId xmlns:a16="http://schemas.microsoft.com/office/drawing/2014/main" id="{6FF71976-136F-4245-9834-E583B1D39883}"/>
              </a:ext>
            </a:extLst>
          </p:cNvPr>
          <p:cNvSpPr>
            <a:spLocks noGrp="1"/>
          </p:cNvSpPr>
          <p:nvPr/>
        </p:nvSpPr>
        <p:spPr>
          <a:xfrm>
            <a:off x="6334125" y="3286125"/>
            <a:ext cx="2381250" cy="619125"/>
          </a:xfrm>
          <a:prstGeom prst="rect">
            <a:avLst/>
          </a:prstGeom>
          <a:solidFill>
            <a:srgbClr val="DCE6F1"/>
          </a:solidFill>
          <a:ln w="9525">
            <a:solidFill>
              <a:srgbClr val="4F81BD"/>
            </a:solidFill>
          </a:ln>
        </p:spPr>
        <p:txBody>
          <a:bodyPr/>
          <a:lstStyle>
            <a:defPPr>
              <a:defRPr sz="1425">
                <a:solidFill>
                  <a:srgbClr val="222222"/>
                </a:solidFill>
              </a:defRPr>
            </a:defPPr>
          </a:lstStyle>
          <a:p>
            <a:pPr>
              <a:defRPr sz="1425">
                <a:solidFill>
                  <a:srgbClr val="222222"/>
                </a:solidFill>
              </a:defRPr>
            </a:pPr>
            <a:r>
              <a:rPr sz="1425">
                <a:solidFill>
                  <a:srgbClr val="222222"/>
                </a:solidFill>
              </a:rPr>
              <a:t>Sensor quality</a:t>
            </a:r>
          </a:p>
        </p:txBody>
      </p:sp>
      <p:sp>
        <p:nvSpPr>
          <p:cNvPr id="8" name="Rectangle 7">
            <a:extLst>
              <a:ext uri="{FF2B5EF4-FFF2-40B4-BE49-F238E27FC236}">
                <a16:creationId xmlns:a16="http://schemas.microsoft.com/office/drawing/2014/main" id="{87A42446-CF72-4251-8C02-7200EF7E4F5A}"/>
              </a:ext>
            </a:extLst>
          </p:cNvPr>
          <p:cNvSpPr>
            <a:spLocks noGrp="1"/>
          </p:cNvSpPr>
          <p:nvPr/>
        </p:nvSpPr>
        <p:spPr>
          <a:xfrm>
            <a:off x="3333750" y="4429125"/>
            <a:ext cx="2190750" cy="523875"/>
          </a:xfrm>
          <a:prstGeom prst="rect">
            <a:avLst/>
          </a:prstGeom>
          <a:solidFill>
            <a:srgbClr val="DCE6F1"/>
          </a:solidFill>
          <a:ln w="9525">
            <a:solidFill>
              <a:srgbClr val="4F81BD"/>
            </a:solidFill>
          </a:ln>
        </p:spPr>
        <p:txBody>
          <a:bodyPr/>
          <a:lstStyle>
            <a:defPPr>
              <a:defRPr sz="1500">
                <a:solidFill>
                  <a:srgbClr val="222222"/>
                </a:solidFill>
              </a:defRPr>
            </a:defPPr>
          </a:lstStyle>
          <a:p>
            <a:pPr>
              <a:defRPr sz="1500">
                <a:solidFill>
                  <a:srgbClr val="222222"/>
                </a:solidFill>
              </a:defRPr>
            </a:pPr>
            <a:r>
              <a:rPr sz="1500">
                <a:solidFill>
                  <a:srgbClr val="222222"/>
                </a:solidFill>
              </a:rPr>
              <a:t>Trial features</a:t>
            </a:r>
          </a:p>
        </p:txBody>
      </p:sp>
      <p:sp>
        <p:nvSpPr>
          <p:cNvPr id="9" name="Rectangle 8">
            <a:extLst>
              <a:ext uri="{FF2B5EF4-FFF2-40B4-BE49-F238E27FC236}">
                <a16:creationId xmlns:a16="http://schemas.microsoft.com/office/drawing/2014/main" id="{40640176-53D5-499B-BA52-E814C95EDF73}"/>
              </a:ext>
            </a:extLst>
          </p:cNvPr>
          <p:cNvSpPr>
            <a:spLocks noGrp="1"/>
          </p:cNvSpPr>
          <p:nvPr/>
        </p:nvSpPr>
        <p:spPr>
          <a:xfrm>
            <a:off x="6334125" y="4429125"/>
            <a:ext cx="2381250" cy="523875"/>
          </a:xfrm>
          <a:prstGeom prst="rect">
            <a:avLst/>
          </a:prstGeom>
          <a:solidFill>
            <a:srgbClr val="DCE6F1"/>
          </a:solidFill>
          <a:ln w="9525">
            <a:solidFill>
              <a:srgbClr val="4F81BD"/>
            </a:solidFill>
          </a:ln>
        </p:spPr>
        <p:txBody>
          <a:bodyPr/>
          <a:lstStyle>
            <a:defPPr>
              <a:defRPr sz="1500">
                <a:solidFill>
                  <a:srgbClr val="222222"/>
                </a:solidFill>
              </a:defRPr>
            </a:defPPr>
          </a:lstStyle>
          <a:p>
            <a:pPr>
              <a:defRPr sz="1500">
                <a:solidFill>
                  <a:srgbClr val="222222"/>
                </a:solidFill>
              </a:defRPr>
            </a:pPr>
            <a:r>
              <a:rPr sz="1500">
                <a:solidFill>
                  <a:srgbClr val="222222"/>
                </a:solidFill>
              </a:rPr>
              <a:t>Predicted class</a:t>
            </a:r>
          </a:p>
        </p:txBody>
      </p:sp>
      <p:sp>
        <p:nvSpPr>
          <p:cNvPr id="18" name="Rectangle 17">
            <a:extLst>
              <a:ext uri="{FF2B5EF4-FFF2-40B4-BE49-F238E27FC236}">
                <a16:creationId xmlns:a16="http://schemas.microsoft.com/office/drawing/2014/main" id="{710EB665-13A2-43CB-A449-53D30DA19163}"/>
              </a:ext>
            </a:extLst>
          </p:cNvPr>
          <p:cNvSpPr>
            <a:spLocks noGrp="1"/>
          </p:cNvSpPr>
          <p:nvPr/>
        </p:nvSpPr>
        <p:spPr>
          <a:xfrm>
            <a:off x="333375" y="5095875"/>
            <a:ext cx="8382000" cy="400050"/>
          </a:xfrm>
          <a:prstGeom prst="rect">
            <a:avLst/>
          </a:prstGeom>
          <a:noFill/>
          <a:ln w="0">
            <a:noFill/>
          </a:ln>
        </p:spPr>
        <p:txBody>
          <a:bodyPr/>
          <a:lstStyle>
            <a:defPPr>
              <a:defRPr sz="1200">
                <a:solidFill>
                  <a:srgbClr val="222222"/>
                </a:solidFill>
              </a:defRPr>
            </a:defPPr>
          </a:lstStyle>
          <a:p>
            <a:pPr>
              <a:defRPr sz="1200">
                <a:solidFill>
                  <a:srgbClr val="222222"/>
                </a:solidFill>
              </a:defRPr>
            </a:pPr>
            <a:r>
              <a:rPr sz="1200">
                <a:solidFill>
                  <a:srgbClr val="222222"/>
                </a:solidFill>
              </a:rPr>
              <a:t>Conceptual dependencies. The graph does not estimate causal effects.</a:t>
            </a:r>
          </a:p>
          <a:p>
            <a:pPr>
              <a:defRPr sz="1200">
                <a:solidFill>
                  <a:srgbClr val="222222"/>
                </a:solidFill>
              </a:defRPr>
            </a:pPr>
            <a:r>
              <a:rPr sz="1200">
                <a:solidFill>
                  <a:srgbClr val="222222"/>
                </a:solidFill>
              </a:rPr>
              <a:t>Range and sensor controls address alternate paths to classification.</a:t>
            </a:r>
          </a:p>
        </p:txBody>
      </p:sp>
    </p:spTree>
    <p:extLst>
      <p:ext uri="{BB962C8B-B14F-4D97-AF65-F5344CB8AC3E}">
        <p14:creationId xmlns:p14="http://schemas.microsoft.com/office/powerpoint/2010/main" val="1041223685"/>
      </p:ext>
    </p:extLst>
  </p:cSld>
  <p:clrMapOvr>
    <a:masterClrMapping/>
  </p:clrMapOvr>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07C0D7F0-B364-49D3-A0A7-EFC88358E6CA}"/>
              </a:ext>
            </a:extLst>
          </p:cNvPr>
          <p:cNvSpPr>
            <a:spLocks xmlns:a="http://schemas.openxmlformats.org/drawingml/2006/main" noGrp="1"/>
          </p:cNvSpPr>
          <p:nvPr/>
        </p:nvSpPr>
        <p:spPr>
          <a:xfrm xmlns:a="http://schemas.openxmlformats.org/drawingml/2006/main">
            <a:off x="333375" y="2381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a:solidFill>
                  <a:srgbClr val="222222"/>
                </a:solidFill>
              </a:defRPr>
            </a:defPPr>
          </a:lstStyle>
          <a:p xmlns:a="http://schemas.openxmlformats.org/drawingml/2006/main">
            <a:pPr>
              <a:defRPr sz="2250">
                <a:solidFill>
                  <a:srgbClr val="222222"/>
                </a:solidFill>
              </a:defRPr>
            </a:pPr>
            <a:r>
              <a:rPr sz="2250">
                <a:solidFill>
                  <a:srgbClr val="222222"/>
                </a:solidFill>
              </a:rPr>
              <a:t>Dataset Creation: Five-Day Trial Process</a:t>
            </a:r>
          </a:p>
        </p:txBody>
      </p:sp>
      <p:graphicFrame>
        <p:nvGraphicFramePr>
          <p:cNvPr id="2" name="">
            <a:extLst xmlns:a="http://schemas.openxmlformats.org/drawingml/2006/main">
              <a:ext uri="{FF2B5EF4-FFF2-40B4-BE49-F238E27FC236}">
                <a16:creationId xmlns:a16="http://schemas.microsoft.com/office/drawing/2014/main" id="{4B506F3E-1648-4F07-A235-444907F5BD66}"/>
              </a:ext>
            </a:extLst>
          </p:cNvPr>
          <p:cNvGraphicFramePr/>
          <p:nvPr/>
        </p:nvGraphicFramePr>
        <p:xfrm>
          <a:off xmlns:a="http://schemas.openxmlformats.org/drawingml/2006/main" x="333375" y="1000125"/>
          <a:ext xmlns:a="http://schemas.openxmlformats.org/drawingml/2006/main" cx="8477250" cy="3905250"/>
        </p:xfrm>
        <a:graphic xmlns:a="http://schemas.openxmlformats.org/drawingml/2006/main">
          <a:graphicData uri="http://schemas.openxmlformats.org/drawingml/2006/table">
            <a:tbl>
              <a:tblPr/>
              <a:tblGrid>
                <a:gridCol w="1905000"/>
                <a:gridCol w="6572250"/>
              </a:tblGrid>
              <a:tr h="650875">
                <a:tc>
                  <a:txBody>
                    <a:bodyPr/>
                    <a:lstStyle/>
                    <a:p>
                      <a:r>
                        <a:rPr sz="1350" b="1">
                          <a:solidFill>
                            <a:srgbClr val="FFFFFF"/>
                          </a:solidFill>
                        </a:rPr>
                        <a:t>Stage</a:t>
                      </a:r>
                    </a:p>
                  </a:txBody>
                  <a:tcPr marL="91440" marR="91440" marT="45720" marB="45720">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4F81BD"/>
                    </a:solidFill>
                  </a:tcPr>
                </a:tc>
                <a:tc>
                  <a:txBody>
                    <a:bodyPr/>
                    <a:lstStyle/>
                    <a:p>
                      <a:r>
                        <a:rPr sz="1350" b="1">
                          <a:solidFill>
                            <a:srgbClr val="FFFFFF"/>
                          </a:solidFill>
                        </a:rPr>
                        <a:t>Procedure and required evidence</a:t>
                      </a:r>
                    </a:p>
                  </a:txBody>
                  <a:tcPr marL="91440" marR="91440" marT="45720" marB="45720">
                    <a:lnR w="9525">
                      <a:solidFill>
                        <a:srgbClr val="FFFFFF"/>
                      </a:solidFill>
                      <a:prstDash val="solid"/>
                    </a:lnR>
                    <a:lnT w="9525">
                      <a:solidFill>
                        <a:srgbClr val="FFFFFF"/>
                      </a:solidFill>
                      <a:prstDash val="solid"/>
                    </a:lnT>
                    <a:lnB w="9525">
                      <a:solidFill>
                        <a:srgbClr val="FFFFFF"/>
                      </a:solidFill>
                      <a:prstDash val="solid"/>
                    </a:lnB>
                    <a:solidFill>
                      <a:srgbClr val="4F81BD"/>
                    </a:solidFill>
                  </a:tcPr>
                </a:tc>
              </a:tr>
              <a:tr h="650875">
                <a:tc>
                  <a:txBody>
                    <a:bodyPr/>
                    <a:lstStyle/>
                    <a:p>
                      <a:r>
                        <a:rPr sz="1350" b="0">
                          <a:solidFill>
                            <a:srgbClr val="222222"/>
                          </a:solidFill>
                        </a:rPr>
                        <a:t>1. Freeze the design</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D0D8E8"/>
                    </a:solidFill>
                  </a:tcPr>
                </a:tc>
                <a:tc>
                  <a:txBody>
                    <a:bodyPr/>
                    <a:lstStyle/>
                    <a:p>
                      <a:r>
                        <a:rPr sz="1350" b="0">
                          <a:solidFill>
                            <a:srgbClr val="222222"/>
                          </a:solidFill>
                        </a:rPr>
                        <a:t>Pin range commit, target images, scenario, agent scaffold, skills and model digests. Save seeds, runtime settings and the planned group split.</a:t>
                      </a:r>
                    </a:p>
                  </a:txBody>
                  <a:tcPr marL="91440" marR="91440" marT="45720" marB="45720">
                    <a:lnR w="9525">
                      <a:solidFill>
                        <a:srgbClr val="FFFFFF"/>
                      </a:solidFill>
                      <a:prstDash val="solid"/>
                    </a:lnR>
                    <a:lnB w="9525">
                      <a:solidFill>
                        <a:srgbClr val="FFFFFF"/>
                      </a:solidFill>
                      <a:prstDash val="solid"/>
                    </a:lnB>
                    <a:solidFill>
                      <a:srgbClr val="D0D8E8"/>
                    </a:solidFill>
                  </a:tcPr>
                </a:tc>
              </a:tr>
              <a:tr h="650875">
                <a:tc>
                  <a:txBody>
                    <a:bodyPr/>
                    <a:lstStyle/>
                    <a:p>
                      <a:r>
                        <a:rPr sz="1350" b="0">
                          <a:solidFill>
                            <a:srgbClr val="222222"/>
                          </a:solidFill>
                        </a:rPr>
                        <a:t>2. Qualify collection</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E9EDF4"/>
                    </a:solidFill>
                  </a:tcPr>
                </a:tc>
                <a:tc>
                  <a:txBody>
                    <a:bodyPr/>
                    <a:lstStyle/>
                    <a:p>
                      <a:r>
                        <a:rPr sz="1350" b="0">
                          <a:solidFill>
                            <a:srgbClr val="222222"/>
                          </a:solidFill>
                        </a:rPr>
                        <a:t>Pilot both arms. Check equal access, sensor coverage, UTC clocks, reset validity and whether enough independent groups are feasible.</a:t>
                      </a:r>
                    </a:p>
                  </a:txBody>
                  <a:tcPr marL="91440" marR="91440" marT="45720" marB="45720">
                    <a:lnR w="9525">
                      <a:solidFill>
                        <a:srgbClr val="FFFFFF"/>
                      </a:solidFill>
                      <a:prstDash val="solid"/>
                    </a:lnR>
                    <a:lnB w="9525">
                      <a:solidFill>
                        <a:srgbClr val="FFFFFF"/>
                      </a:solidFill>
                      <a:prstDash val="solid"/>
                    </a:lnB>
                    <a:solidFill>
                      <a:srgbClr val="E9EDF4"/>
                    </a:solidFill>
                  </a:tcPr>
                </a:tc>
              </a:tr>
              <a:tr h="650875">
                <a:tc>
                  <a:txBody>
                    <a:bodyPr/>
                    <a:lstStyle/>
                    <a:p>
                      <a:r>
                        <a:rPr sz="1350" b="0">
                          <a:solidFill>
                            <a:srgbClr val="222222"/>
                          </a:solidFill>
                        </a:rPr>
                        <a:t>3. Run matched trials</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D0D8E8"/>
                    </a:solidFill>
                  </a:tcPr>
                </a:tc>
                <a:tc>
                  <a:txBody>
                    <a:bodyPr/>
                    <a:lstStyle/>
                    <a:p>
                      <a:r>
                        <a:rPr sz="1350" b="0">
                          <a:solidFill>
                            <a:srgbClr val="222222"/>
                          </a:solidFill>
                        </a:rPr>
                        <a:t>Balance human and AI runs over five days. Restore target state each time. Record start/end, objective outcome, errors and every intervention.</a:t>
                      </a:r>
                    </a:p>
                  </a:txBody>
                  <a:tcPr marL="91440" marR="91440" marT="45720" marB="45720">
                    <a:lnR w="9525">
                      <a:solidFill>
                        <a:srgbClr val="FFFFFF"/>
                      </a:solidFill>
                      <a:prstDash val="solid"/>
                    </a:lnR>
                    <a:lnB w="9525">
                      <a:solidFill>
                        <a:srgbClr val="FFFFFF"/>
                      </a:solidFill>
                      <a:prstDash val="solid"/>
                    </a:lnB>
                    <a:solidFill>
                      <a:srgbClr val="D0D8E8"/>
                    </a:solidFill>
                  </a:tcPr>
                </a:tc>
              </a:tr>
              <a:tr h="650875">
                <a:tc>
                  <a:txBody>
                    <a:bodyPr/>
                    <a:lstStyle/>
                    <a:p>
                      <a:r>
                        <a:rPr sz="1350" b="0">
                          <a:solidFill>
                            <a:srgbClr val="222222"/>
                          </a:solidFill>
                        </a:rPr>
                        <a:t>4. Validate and label</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E9EDF4"/>
                    </a:solidFill>
                  </a:tcPr>
                </a:tc>
                <a:tc>
                  <a:txBody>
                    <a:bodyPr/>
                    <a:lstStyle/>
                    <a:p>
                      <a:r>
                        <a:rPr sz="1350" b="0">
                          <a:solidFill>
                            <a:srgbClr val="222222"/>
                          </a:solidFill>
                        </a:rPr>
                        <a:t>Join logs to an independent trial manifest. Retain failed runs with valid telemetry. Flag assisted runs and document exclusions before evaluation.</a:t>
                      </a:r>
                    </a:p>
                  </a:txBody>
                  <a:tcPr marL="91440" marR="91440" marT="45720" marB="45720">
                    <a:lnR w="9525">
                      <a:solidFill>
                        <a:srgbClr val="FFFFFF"/>
                      </a:solidFill>
                      <a:prstDash val="solid"/>
                    </a:lnR>
                    <a:lnB w="9525">
                      <a:solidFill>
                        <a:srgbClr val="FFFFFF"/>
                      </a:solidFill>
                      <a:prstDash val="solid"/>
                    </a:lnB>
                    <a:solidFill>
                      <a:srgbClr val="E9EDF4"/>
                    </a:solidFill>
                  </a:tcPr>
                </a:tc>
              </a:tr>
              <a:tr h="650875">
                <a:tc>
                  <a:txBody>
                    <a:bodyPr/>
                    <a:lstStyle/>
                    <a:p>
                      <a:r>
                        <a:rPr sz="1350" b="0">
                          <a:solidFill>
                            <a:srgbClr val="222222"/>
                          </a:solidFill>
                        </a:rPr>
                        <a:t>5. Build the dataset</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D0D8E8"/>
                    </a:solidFill>
                  </a:tcPr>
                </a:tc>
                <a:tc>
                  <a:txBody>
                    <a:bodyPr/>
                    <a:lstStyle/>
                    <a:p>
                      <a:r>
                        <a:rPr sz="1350" b="0">
                          <a:solidFill>
                            <a:srgbClr val="222222"/>
                          </a:solidFill>
                        </a:rPr>
                        <a:t>Normalize events and derive trial-level behavioral features. Remove identity and runner shortcuts. Freeze grouped train/validation/test partitions.</a:t>
                      </a:r>
                    </a:p>
                  </a:txBody>
                  <a:tcPr marL="91440" marR="91440" marT="45720" marB="45720">
                    <a:lnR w="9525">
                      <a:solidFill>
                        <a:srgbClr val="FFFFFF"/>
                      </a:solidFill>
                      <a:prstDash val="solid"/>
                    </a:lnR>
                    <a:lnB w="9525">
                      <a:solidFill>
                        <a:srgbClr val="FFFFFF"/>
                      </a:solidFill>
                      <a:prstDash val="solid"/>
                    </a:lnB>
                    <a:solidFill>
                      <a:srgbClr val="D0D8E8"/>
                    </a:solidFill>
                  </a:tcPr>
                </a:tc>
              </a:tr>
            </a:tbl>
          </a:graphicData>
        </a:graphic>
      </p:graphicFrame>
      <p:sp>
        <p:nvSpPr>
          <p:cNvPr id="3" name="">
            <a:extLst xmlns:a="http://schemas.openxmlformats.org/drawingml/2006/main">
              <a:ext uri="{FF2B5EF4-FFF2-40B4-BE49-F238E27FC236}">
                <a16:creationId xmlns:a16="http://schemas.microsoft.com/office/drawing/2014/main" id="{DECD3FB3-AB38-46CF-A570-EAEA9D865BFB}"/>
              </a:ext>
            </a:extLst>
          </p:cNvPr>
          <p:cNvSpPr>
            <a:spLocks xmlns:a="http://schemas.openxmlformats.org/drawingml/2006/main" noGrp="1"/>
          </p:cNvSpPr>
          <p:nvPr/>
        </p:nvSpPr>
        <p:spPr>
          <a:xfrm xmlns:a="http://schemas.openxmlformats.org/drawingml/2006/main">
            <a:off x="333375" y="5048250"/>
            <a:ext cx="847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a:solidFill>
                  <a:srgbClr val="222222"/>
                </a:solidFill>
              </a:defRPr>
            </a:defPPr>
          </a:lstStyle>
          <a:p xmlns:a="http://schemas.openxmlformats.org/drawingml/2006/main">
            <a:pPr>
              <a:defRPr sz="1275">
                <a:solidFill>
                  <a:srgbClr val="222222"/>
                </a:solidFill>
              </a:defRPr>
            </a:pPr>
            <a:r>
              <a:rPr sz="1275">
                <a:solidFill>
                  <a:srgbClr val="222222"/>
                </a:solidFill>
              </a:rPr>
              <a:t>RQ1: feature relevance. RQ2: performance on unseen groups. RQ3: common classifier comparison. All formal results remain pending.</a:t>
            </a:r>
          </a:p>
        </p:txBody>
      </p:sp>
    </p:spTree>
    <p:extLst>
      <p:ext uri="{BB962C8B-B14F-4D97-AF65-F5344CB8AC3E}">
        <p14:creationId xmlns:p14="http://schemas.microsoft.com/office/powerpoint/2010/main" val="1865243038"/>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1767FE5-E8E3-4C87-AAF9-6816F6F65C2C}"/>
              </a:ext>
            </a:extLst>
          </p:cNvPr>
          <p:cNvSpPr>
            <a:spLocks xmlns:a="http://schemas.openxmlformats.org/drawingml/2006/main" noGrp="1"/>
          </p:cNvSpPr>
          <p:nvPr/>
        </p:nvSpPr>
        <p:spPr>
          <a:xfrm xmlns:a="http://schemas.openxmlformats.org/drawingml/2006/main">
            <a:off x="333375" y="2381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a:solidFill>
                  <a:srgbClr val="222222"/>
                </a:solidFill>
              </a:defRPr>
            </a:defPPr>
          </a:lstStyle>
          <a:p xmlns:a="http://schemas.openxmlformats.org/drawingml/2006/main">
            <a:pPr>
              <a:defRPr sz="2250">
                <a:solidFill>
                  <a:srgbClr val="222222"/>
                </a:solidFill>
              </a:defRPr>
            </a:pPr>
            <a:r>
              <a:rPr sz="2250">
                <a:solidFill>
                  <a:srgbClr val="222222"/>
                </a:solidFill>
              </a:rPr>
              <a:t>Data Source: AWS Range and AI Configuration</a:t>
            </a:r>
          </a:p>
        </p:txBody>
      </p:sp>
      <p:graphicFrame>
        <p:nvGraphicFramePr>
          <p:cNvPr id="2" name="">
            <a:extLst xmlns:a="http://schemas.openxmlformats.org/drawingml/2006/main">
              <a:ext uri="{FF2B5EF4-FFF2-40B4-BE49-F238E27FC236}">
                <a16:creationId xmlns:a16="http://schemas.microsoft.com/office/drawing/2014/main" id="{9DCB3D86-6DD8-4574-93F1-325E13B42658}"/>
              </a:ext>
            </a:extLst>
          </p:cNvPr>
          <p:cNvGraphicFramePr/>
          <p:nvPr/>
        </p:nvGraphicFramePr>
        <p:xfrm>
          <a:off xmlns:a="http://schemas.openxmlformats.org/drawingml/2006/main" x="333375" y="952500"/>
          <a:ext xmlns:a="http://schemas.openxmlformats.org/drawingml/2006/main" cx="8477250" cy="3286125"/>
        </p:xfrm>
        <a:graphic xmlns:a="http://schemas.openxmlformats.org/drawingml/2006/main">
          <a:graphicData uri="http://schemas.openxmlformats.org/drawingml/2006/table">
            <a:tbl>
              <a:tblPr/>
              <a:tblGrid>
                <a:gridCol w="1905000"/>
                <a:gridCol w="6572250"/>
              </a:tblGrid>
              <a:tr h="657225">
                <a:tc>
                  <a:txBody>
                    <a:bodyPr/>
                    <a:lstStyle/>
                    <a:p>
                      <a:r>
                        <a:rPr sz="1350" b="1">
                          <a:solidFill>
                            <a:srgbClr val="FFFFFF"/>
                          </a:solidFill>
                        </a:rPr>
                        <a:t>Component</a:t>
                      </a:r>
                    </a:p>
                  </a:txBody>
                  <a:tcPr marL="91440" marR="91440" marT="45720" marB="45720">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4F81BD"/>
                    </a:solidFill>
                  </a:tcPr>
                </a:tc>
                <a:tc>
                  <a:txBody>
                    <a:bodyPr/>
                    <a:lstStyle/>
                    <a:p>
                      <a:r>
                        <a:rPr sz="1350" b="1">
                          <a:solidFill>
                            <a:srgbClr val="FFFFFF"/>
                          </a:solidFill>
                        </a:rPr>
                        <a:t>Proposed configuration from the working paper</a:t>
                      </a:r>
                    </a:p>
                  </a:txBody>
                  <a:tcPr marL="91440" marR="91440" marT="45720" marB="45720">
                    <a:lnR w="9525">
                      <a:solidFill>
                        <a:srgbClr val="FFFFFF"/>
                      </a:solidFill>
                      <a:prstDash val="solid"/>
                    </a:lnR>
                    <a:lnT w="9525">
                      <a:solidFill>
                        <a:srgbClr val="FFFFFF"/>
                      </a:solidFill>
                      <a:prstDash val="solid"/>
                    </a:lnT>
                    <a:lnB w="9525">
                      <a:solidFill>
                        <a:srgbClr val="FFFFFF"/>
                      </a:solidFill>
                      <a:prstDash val="solid"/>
                    </a:lnB>
                    <a:solidFill>
                      <a:srgbClr val="4F81BD"/>
                    </a:solidFill>
                  </a:tcPr>
                </a:tc>
              </a:tr>
              <a:tr h="657225">
                <a:tc>
                  <a:txBody>
                    <a:bodyPr/>
                    <a:lstStyle/>
                    <a:p>
                      <a:r>
                        <a:rPr sz="1350" b="0">
                          <a:solidFill>
                            <a:srgbClr val="222222"/>
                          </a:solidFill>
                        </a:rPr>
                        <a:t>AWS environment</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D0D8E8"/>
                    </a:solidFill>
                  </a:tcPr>
                </a:tc>
                <a:tc>
                  <a:txBody>
                    <a:bodyPr/>
                    <a:lstStyle/>
                    <a:p>
                      <a:r>
                        <a:rPr sz="1350" b="0">
                          <a:solidFill>
                            <a:srgbClr val="222222"/>
                          </a:solidFill>
                        </a:rPr>
                        <a:t>Splunk Attack Range: Terraform/Ansible infrastructure with instrumented Windows/Linux targets and optional network sensors (Splunk, n.d.).</a:t>
                      </a:r>
                    </a:p>
                  </a:txBody>
                  <a:tcPr marL="91440" marR="91440" marT="45720" marB="45720">
                    <a:lnR w="9525">
                      <a:solidFill>
                        <a:srgbClr val="FFFFFF"/>
                      </a:solidFill>
                      <a:prstDash val="solid"/>
                    </a:lnR>
                    <a:lnB w="9525">
                      <a:solidFill>
                        <a:srgbClr val="FFFFFF"/>
                      </a:solidFill>
                      <a:prstDash val="solid"/>
                    </a:lnB>
                    <a:solidFill>
                      <a:srgbClr val="D0D8E8"/>
                    </a:solidFill>
                  </a:tcPr>
                </a:tc>
              </a:tr>
              <a:tr h="657225">
                <a:tc>
                  <a:txBody>
                    <a:bodyPr/>
                    <a:lstStyle/>
                    <a:p>
                      <a:r>
                        <a:rPr sz="1350" b="0">
                          <a:solidFill>
                            <a:srgbClr val="222222"/>
                          </a:solidFill>
                        </a:rPr>
                        <a:t>Study architecture</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E9EDF4"/>
                    </a:solidFill>
                  </a:tcPr>
                </a:tc>
                <a:tc>
                  <a:txBody>
                    <a:bodyPr/>
                    <a:lstStyle/>
                    <a:p>
                      <a:r>
                        <a:rPr sz="1350" b="0">
                          <a:solidFill>
                            <a:srgbClr val="222222"/>
                          </a:solidFill>
                        </a:rPr>
                        <a:t>Human host and DGX Spark enter through equivalent authorized routes. Keep reset/management access separate. Restore targets and the decoy objective per trial.</a:t>
                      </a:r>
                    </a:p>
                  </a:txBody>
                  <a:tcPr marL="91440" marR="91440" marT="45720" marB="45720">
                    <a:lnR w="9525">
                      <a:solidFill>
                        <a:srgbClr val="FFFFFF"/>
                      </a:solidFill>
                      <a:prstDash val="solid"/>
                    </a:lnR>
                    <a:lnB w="9525">
                      <a:solidFill>
                        <a:srgbClr val="FFFFFF"/>
                      </a:solidFill>
                      <a:prstDash val="solid"/>
                    </a:lnB>
                    <a:solidFill>
                      <a:srgbClr val="E9EDF4"/>
                    </a:solidFill>
                  </a:tcPr>
                </a:tc>
              </a:tr>
              <a:tr h="657225">
                <a:tc>
                  <a:txBody>
                    <a:bodyPr/>
                    <a:lstStyle/>
                    <a:p>
                      <a:r>
                        <a:rPr sz="1350" b="0">
                          <a:solidFill>
                            <a:srgbClr val="222222"/>
                          </a:solidFill>
                        </a:rPr>
                        <a:t>Local AI models</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D0D8E8"/>
                    </a:solidFill>
                  </a:tcPr>
                </a:tc>
                <a:tc>
                  <a:txBody>
                    <a:bodyPr/>
                    <a:lstStyle/>
                    <a:p>
                      <a:r>
                        <a:rPr sz="1350" b="0">
                          <a:solidFill>
                            <a:srgbClr val="222222"/>
                          </a:solidFill>
                        </a:rPr>
                        <a:t>gemma4-ablit:latest</a:t>
                      </a:r>
                    </a:p>
                    <a:p>
                      <a:r>
                        <a:rPr sz="1350" b="0">
                          <a:solidFill>
                            <a:srgbClr val="222222"/>
                          </a:solidFill>
                        </a:rPr>
                        <a:t>huihui_ai/qwen2.5-coder-abliterate:32b</a:t>
                      </a:r>
                    </a:p>
                    <a:p>
                      <a:r>
                        <a:rPr sz="1350" b="0">
                          <a:solidFill>
                            <a:srgbClr val="222222"/>
                          </a:solidFill>
                        </a:rPr>
                        <a:t>Record full digests, provenance, runtime and agent/skill versions.</a:t>
                      </a:r>
                    </a:p>
                  </a:txBody>
                  <a:tcPr marL="91440" marR="91440" marT="45720" marB="45720">
                    <a:lnR w="9525">
                      <a:solidFill>
                        <a:srgbClr val="FFFFFF"/>
                      </a:solidFill>
                      <a:prstDash val="solid"/>
                    </a:lnR>
                    <a:lnB w="9525">
                      <a:solidFill>
                        <a:srgbClr val="FFFFFF"/>
                      </a:solidFill>
                      <a:prstDash val="solid"/>
                    </a:lnB>
                    <a:solidFill>
                      <a:srgbClr val="D0D8E8"/>
                    </a:solidFill>
                  </a:tcPr>
                </a:tc>
              </a:tr>
              <a:tr h="657225">
                <a:tc>
                  <a:txBody>
                    <a:bodyPr/>
                    <a:lstStyle/>
                    <a:p>
                      <a:r>
                        <a:rPr sz="1350" b="0">
                          <a:solidFill>
                            <a:srgbClr val="222222"/>
                          </a:solidFill>
                        </a:rPr>
                        <a:t>Implementation status</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E9EDF4"/>
                    </a:solidFill>
                  </a:tcPr>
                </a:tc>
                <a:tc>
                  <a:txBody>
                    <a:bodyPr/>
                    <a:lstStyle/>
                    <a:p>
                      <a:r>
                        <a:rPr sz="1350" b="0">
                          <a:solidFill>
                            <a:srgbClr val="222222"/>
                          </a:solidFill>
                        </a:rPr>
                        <a:t>Range template, commit, region, images, topology and sensor coverage still require confirmation. Model integration and autonomous operation require pilot validation.</a:t>
                      </a:r>
                    </a:p>
                  </a:txBody>
                  <a:tcPr marL="91440" marR="91440" marT="45720" marB="45720">
                    <a:lnR w="9525">
                      <a:solidFill>
                        <a:srgbClr val="FFFFFF"/>
                      </a:solidFill>
                      <a:prstDash val="solid"/>
                    </a:lnR>
                    <a:lnB w="9525">
                      <a:solidFill>
                        <a:srgbClr val="FFFFFF"/>
                      </a:solidFill>
                      <a:prstDash val="solid"/>
                    </a:lnB>
                    <a:solidFill>
                      <a:srgbClr val="E9EDF4"/>
                    </a:solidFill>
                  </a:tcPr>
                </a:tc>
              </a:tr>
            </a:tbl>
          </a:graphicData>
        </a:graphic>
      </p:graphicFrame>
      <p:sp>
        <p:nvSpPr>
          <p:cNvPr id="3" name="">
            <a:extLst xmlns:a="http://schemas.openxmlformats.org/drawingml/2006/main">
              <a:ext uri="{FF2B5EF4-FFF2-40B4-BE49-F238E27FC236}">
                <a16:creationId xmlns:a16="http://schemas.microsoft.com/office/drawing/2014/main" id="{5629C35E-1255-47C3-8C36-A7AEE83FE8C2}"/>
              </a:ext>
            </a:extLst>
          </p:cNvPr>
          <p:cNvSpPr>
            <a:spLocks xmlns:a="http://schemas.openxmlformats.org/drawingml/2006/main" noGrp="1"/>
          </p:cNvSpPr>
          <p:nvPr/>
        </p:nvSpPr>
        <p:spPr>
          <a:xfrm xmlns:a="http://schemas.openxmlformats.org/drawingml/2006/main">
            <a:off x="333375" y="4429125"/>
            <a:ext cx="8477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a:solidFill>
                  <a:srgbClr val="222222"/>
                </a:solidFill>
              </a:defRPr>
            </a:defPPr>
          </a:lstStyle>
          <a:p xmlns:a="http://schemas.openxmlformats.org/drawingml/2006/main">
            <a:pPr>
              <a:defRPr sz="1275">
                <a:solidFill>
                  <a:srgbClr val="222222"/>
                </a:solidFill>
              </a:defRPr>
            </a:pPr>
            <a:r>
              <a:rPr sz="1275">
                <a:solidFill>
                  <a:srgbClr val="222222"/>
                </a:solidFill>
              </a:rPr>
              <a:t>Splunk. (n.d.). Attack range [Computer software]. GitHub. Retrieved October 24, 2026, from https://github.com/splunk/attack_range</a:t>
            </a:r>
          </a:p>
        </p:txBody>
      </p:sp>
      <p:sp>
        <p:nvSpPr>
          <p:cNvPr id="4" name="">
            <a:extLst xmlns:a="http://schemas.openxmlformats.org/drawingml/2006/main">
              <a:ext uri="{FF2B5EF4-FFF2-40B4-BE49-F238E27FC236}">
                <a16:creationId xmlns:a16="http://schemas.microsoft.com/office/drawing/2014/main" id="{B138BE42-DE59-41AC-BFA3-D78445EAB24F}"/>
              </a:ext>
            </a:extLst>
          </p:cNvPr>
          <p:cNvSpPr>
            <a:spLocks xmlns:a="http://schemas.openxmlformats.org/drawingml/2006/main" noGrp="1"/>
          </p:cNvSpPr>
          <p:nvPr/>
        </p:nvSpPr>
        <p:spPr>
          <a:xfrm xmlns:a="http://schemas.openxmlformats.org/drawingml/2006/main">
            <a:off x="333375" y="5095875"/>
            <a:ext cx="8477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a:solidFill>
                  <a:srgbClr val="222222"/>
                </a:solidFill>
              </a:defRPr>
            </a:defPPr>
          </a:lstStyle>
          <a:p xmlns:a="http://schemas.openxmlformats.org/drawingml/2006/main">
            <a:pPr>
              <a:defRPr sz="1200">
                <a:solidFill>
                  <a:srgbClr val="222222"/>
                </a:solidFill>
              </a:defRPr>
            </a:pPr>
            <a:r>
              <a:rPr sz="1200">
                <a:solidFill>
                  <a:srgbClr val="222222"/>
                </a:solidFill>
              </a:rPr>
              <a:t>NVIDIA. (n.d.). NVIDIA DGX Spark. https://www.nvidia.com/en-us/products/workstations/dgx-spark/</a:t>
            </a:r>
          </a:p>
        </p:txBody>
      </p:sp>
    </p:spTree>
    <p:extLst>
      <p:ext uri="{BB962C8B-B14F-4D97-AF65-F5344CB8AC3E}">
        <p14:creationId xmlns:p14="http://schemas.microsoft.com/office/powerpoint/2010/main" val="384577126"/>
      </p:ext>
    </p:extLst>
  </p:cSld>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18909</TotalTime>
  <Words>7837</Words>
  <Application>Microsoft Office PowerPoint</Application>
  <PresentationFormat>On-screen Show (4:3)</PresentationFormat>
  <Paragraphs>723</Paragraphs>
  <Slides>36</Slides>
  <Notes>16</Notes>
  <HiddenSlides>1</HiddenSlides>
  <MMClips>0</MMClips>
  <ScaleCrop>false</ScaleCrop>
  <HeadingPairs>
    <vt:vector size="6" baseType="variant">
      <vt:variant>
        <vt:lpstr>Fonts Used</vt:lpstr>
      </vt:variant>
      <vt:variant>
        <vt:i4>2</vt:i4>
      </vt:variant>
      <vt:variant>
        <vt:lpstr>Theme</vt:lpstr>
      </vt:variant>
      <vt:variant>
        <vt:i4>2</vt:i4>
      </vt:variant>
      <vt:variant>
        <vt:lpstr>Slide Titles</vt:lpstr>
      </vt:variant>
      <vt:variant>
        <vt:i4>36</vt:i4>
      </vt:variant>
    </vt:vector>
  </HeadingPairs>
  <TitlesOfParts>
    <vt:vector size="40" baseType="lpstr">
      <vt:lpstr>Arial</vt:lpstr>
      <vt:lpstr>Calibri</vt:lpstr>
      <vt:lpstr>Custom Design</vt:lpstr>
      <vt:lpstr>1_Custom Design</vt:lpstr>
      <vt:lpstr>Human vs. Autonomous AI Operator Classification in Advanced Persistent Threat (APT) Intrusions </vt:lpstr>
      <vt:lpstr>Problem Statement:</vt:lpstr>
      <vt:lpstr>Thesis Statement</vt:lpstr>
      <vt:lpstr>Research Questions</vt:lpstr>
      <vt:lpstr>Research Hypotheses (1 of 2)</vt:lpstr>
      <vt:lpstr>Research Hypotheses (2 of 2)</vt:lpstr>
      <vt:lpstr>Data Source – Primary (Dataset 1: Host Telemetry)</vt:lpstr>
      <vt:lpstr>Data Source – Primary (Dataset 2: Network Telemetry)</vt:lpstr>
      <vt:lpstr>Trial Registry Labels (Ground Truth)</vt:lpstr>
      <vt:lpstr>Annotated Bibliography (1 of 5)</vt:lpstr>
      <vt:lpstr>Annotated Bibliography (2 of 5)</vt:lpstr>
      <vt:lpstr>Annotated Bibliography (3 of 5)</vt:lpstr>
      <vt:lpstr>Annotated Bibliography (4 of 5)</vt:lpstr>
      <vt:lpstr>Annotated Bibliography (5 of 5)</vt:lpstr>
      <vt:lpstr>Research Matrix 1/2</vt:lpstr>
      <vt:lpstr>Research Matrix 2/2</vt:lpstr>
      <vt:lpstr>Glossary of Terms</vt:lpstr>
      <vt:lpstr>Acronyms</vt:lpstr>
      <vt:lpstr>Block Diagram (start on this page and continues in subsequent pages) Level 1</vt:lpstr>
      <vt:lpstr>Methodology Steps – Second Level</vt:lpstr>
      <vt:lpstr>Methodology Steps – Second Level</vt:lpstr>
      <vt:lpstr>Methodology Steps – Second Level</vt:lpstr>
      <vt:lpstr>Methodology Steps – Second Level</vt:lpstr>
      <vt:lpstr>Methodology Steps – Second Level</vt:lpstr>
      <vt:lpstr>Methodology Steps – Second Level</vt:lpstr>
      <vt:lpstr>Methodology Steps – Second Level</vt:lpstr>
      <vt:lpstr>Methodology Steps – Second Level</vt:lpstr>
      <vt:lpstr>Methodology Steps – Second Level</vt:lpstr>
      <vt:lpstr>Methodology Steps – Second Level</vt:lpstr>
      <vt:lpstr>PowerPoint Presentation</vt:lpstr>
      <vt:lpstr>PowerPoint Presentation</vt:lpstr>
      <vt:lpstr>Classifier Set (RQ3 / H3)</vt:lpstr>
      <vt:lpstr>PowerPoint Presentation</vt:lpstr>
      <vt:lpstr>Appendix</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Sarkani, Shahryar</dc:creator>
  <cp:lastModifiedBy>gary pagan</cp:lastModifiedBy>
  <cp:revision>27</cp:revision>
  <dcterms:created xsi:type="dcterms:W3CDTF">2020-01-15T21:27:56Z</dcterms:created>
  <dcterms:modified xsi:type="dcterms:W3CDTF">2026-10-24T17:57:41Z</dcterms:modified>
</cp:coreProperties>
</file>